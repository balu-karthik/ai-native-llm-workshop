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591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Part 1 of three. Goal: a clear mental model of how an LLM works, high level, no math and no model-building. About 90 minutes. Part 2 gets hands-on with a real API call. By the end you will be comfortable with prediction, tokens, and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stops. We build the core idea, open the black box, take an optional deeper look under the hood, and end on what has changed and what it means when you build. Tokens, cost and setup move to Part 2. Ask questions anytime.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Everything an LLM does grows from one surprisingly simple idea: predict the next token.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name apart. Large = billions of internal parameters, the knobs tuned during training. Language = it works in human language, including code and JSON. Model = a mathematical predictor of patterns, like a weather model predicts weather. The punchline: not a database, not a search engine, a predictor of language.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more formal. Given the text so far, the model does not choose a single next word; it produces a probability for every token in its vocabulary at once, a full distribution, written p of next given context. We then sample one token from it. Everything else, tokens, embeddings, attention, exists to compute this distribution well.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game. Give the model some text; it produces a probability for every possible next token and picks from the top. After Monday comes... Tuesday, overwhelmingly. Everything else the model does is this step, run over and over. Say it plainly: it is completing text, one piece at a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The same next-token prediction you just saw is what powers autocomplete, phone keyboard suggestions, Gmail Smart Compose, and coding assistants like Copilot. The ghost text in your editor is a next-token guess. LLMs are that idea scaled up enormously.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mental shift. A database looks up a stored record and returns it exactly. An LLM has no stored answer; it generates a likely one, freshly, each time. That is why two runs can differ, why it can be creative, and why it can be confidently wrong. It is a highly educated guess, not fact retrieval.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machine, two shapes of answer. When the next token is near-certain, the distribution is sharp: one tall bar. When many answers are equally good, it is flat: lots of small bars. The model is not more or less sure of itself randomly; the prompt sets the shape. Later we will see we can tune this with temperature.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model predicts plausible text, it can produce plausible text that is simply false. Show the fake function: there is no json.parse_safe in Python, but the model will happily describe one. This is a hallucination. It is not lying; it generated a statistically likely answer that happens to be wrong. Engineer takeaways: treat output as a draft, verify facts, and ground it in your own data. That grounding is RAG, later in the program.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Now we open the box, still at a high level. Four ideas: tokens, numbers, embeddings, attention. No equations.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inside the box. The model does not read letters or whole words; it reads tokens. Text is chopped into pieces: common words become one token, rarer words split into word-pieces. Point at surprisingly, which splits into surprising and ly. Roughly, one token is about four characters of English, or three-quarters of a word.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token maps to an integer ID from a fixed vocabulary of maybe 100 to 200 thousand entries. From here on the model only ever sees numbers. Text in, numbers, math, numbers out, text back. The IDs themselves are arbitrary labels; meaning comes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IDs are just labels. Embeddings give them meaning by placing every token as a point on a huge meaning-map. Tokens used in similar ways land near each other: cat near kitten, king near queen. Relationships become directions: the step from man to king is the same step as woman to queen. The model learns this map from data; nobody hand-labels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one concrete data structure to hold in your head. Each token gets looked up into an embedding, a column of numbers. Line the columns up, one per token, and your whole prompt is a matrix, shaped tokens by dimensions. That matrix of numbers is the actual thing the transformer processes end to end. A matrix goes in, a matrix comes out. No calculus required to get the picture.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reads all tokens at once, in parallel, which is fast but means it has no built-in sense of order; dog chases cat would look like cat chases dog. The fix is positional encoding: a second matrix, same shape as the embeddings, where each column carries a unique signal for that position. We add it in, and now the first twinkle differs from the second.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is simple: add the two matrices together, element by element, same shape in, same shape out. The result is the input matrix, and every column now carries both meaning, from the embedding, and order, from the positional encoding. This combined matrix is what actually enters the first transformer block.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how each token looks at the others to figure out what it means here. Classic example: the trophy did not fit in the suitcase because IT was too big. What does it refer to? Attention lets it look across the sentence and lock onto trophy. Change big to small and it would swing to suitcase. Darker means more attention. This is the mechanism that gives models their sense of context; that is the whole intuition.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together. Tokens become embeddings, then flow through a stack of identical blocks. Each block does two things: attention, where tokens share context, and a feed-forward step, where each token thinks on its own. The output is a probability for the next token. The one thing to remember: modern models stack dozens of these blocks, and that depth is where the capability comes from. That is the transformer; the T in GPT.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knob you will actually touch. Once the model has next-token probabilities, temperature decides how boldly to pick. Low temperature stays on the safe, high-probability words: focused and repeatable, good for extraction and code. High temperature spreads the choice out: more diverse and creative, good for brainstorming. You pass temperature in the API call in Part 2. Zero is effectively always pick the top word.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moments in a model life, often confused. Training is how it learned: read a huge amount of text and slowly tune billions of parameters. Done once, enormously expensive, months on thousands of GPUs. Inference is how it answers you: run the finished model on your prompt. That happens on every API call, in milliseconds to seconds, and it is what you pay for per token. The chef analogy: training is culinary school; inference is cooking your dinner tonight.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deep dive, and the biggest place to manage your time. There are fifteen slides in this section and you will not teach them all live. The next slide is the map: a five-slide live path through the attention story, with the other nine marked for self-study. If you are short on time, teach only the first three of that path. None of this is required to use an LLM; it is the mechanism behind the intuition.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roadmap for this section. Fifteen slides here and about 75 minutes for all of Part 1, so you cannot teach them all live. Walk these five in order: Query-Key-Value, Attention step by step, Multi-head attention, the KV cache, then the assembled Transformer diagram. That is the whole attention story plus why inference costs what it does. If you are short on time, teach only the first three. The other nine are marked Self-study on their own slides; skip them on the projector and let people read them in the shared deck afterward.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tokenizer decide what a token is? Byte pair encoding. Start with raw characters, then repeatedly find the most frequent adjacent pair and merge it into a new token, adding it to the vocabulary. Do that thousands of times. Common words like the collapse to one token; common word-pieces like ing or est become tokens too. The payoff: it can handle any word by falling back to pieces, and the vocabulary stays a manageable size.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embeddings better than plain IDs? The old way, one-hot, gave every word its own slot with zero relationship to any other; king and queen were as unrelated as king and banana. Embeddings are learned from context: you shall know a word by the company it keeps. Train the model to predict a word neighbors, and words that appear in similar contexts end up with similar vectors. Cat and kitten share neighbors like purr and pet, so they land close together. Nobody labels this; it falls out of the data.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built on three vectors per token: query, key, and value. Use the search analogy. The query is what this token is looking for, like your search box text. The key is what each token advertises about itself, like a video title and tags. The value is the actual content you pull once a query matches a key. Each token makes its own Q, K, and V by multiplying its embedding by three learned weight matrices, W-Q, W-K, W-V. Those matrices are part of what the model learns.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attention calculation in five steps. Score: compare a token query against every key with a dot product to get relevance. Scale: divide by the square root of the vector size to keep numbers stable. Mask: hide future tokens so the model cannot cheat by looking ahead. Softmax: turn the scores into weights that sum to one. Blend: take a weighted sum of the values to get the token new, context-aware vector. The one-line formula at the bottom is exactly those five steps; you never write it by hand, but that is all it is.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attention grid for a short prompt. Each row is a token asking its question; each column is a token answering. A filled cell means the row token attends to the column token, and darker means more. Notice the upper right is empty: that is the causal mask, no token may look at words that come after it. Read the bottom row and little draws mostly on the two twinkles.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attention calculation captures one kind of relationship. Multi-head attention runs several in parallel, each with its own Q, K, V. We do not assign jobs; during training the heads specialize on their own. One may track grammar, another may resolve what a pronoun refers to, another may watch word order. Their outputs are concatenated and passed through one more learned matrix, W-O, which blends the experts into a single result. More heads, more kinds of relationship captured in one pass.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efficiency idea engineers feel directly. When the model generates one token at a time, every step it needs the Keys and Values of all previous tokens. Recomputing those every step would be painfully slow, so instead we cache them: compute each token Key and Value once, store it, reuse it. The catch is the cache grows, one Key and Value for every token, every layer, every head. That KV cache is the single biggest memory cost of inference, and it is what makes very long context windows expensive. The next slide is how modern models shrink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modern models shrink that cache: let query heads share Keys and Values. In classic multi-head attention, every query head has its own K and V, best quality but the biggest cache. Grouped-query attention puts query heads into small groups that share one K and V per group, cutting the cache several-fold with almost no quality loss, which is why most current models use it. Multi-query attention is the extreme: all query heads share a single K and V, smallest cache but more quality risk. The names GQA and MQA now show up in model cards; this is what they mean.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attention, each token has gathered context from its neighbors. The feed-forward network is where it processes that on its own. It is a small two-layer network applied to every token independently: expand the vector to about four times its size, apply a non-linear ReLU so it can learn complex patterns, then project back down. The clean way to remember the block: attention is communication, all tokens talking; the FFN is thinking, each token alone. And most of the model parameters actually live in these feed-forward layers.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one block to see how the pieces connect. Data flows up a residual stream. First layer-norm, then masked multi-head attention, and its output is added back to the stream, that add is the residual shortcut. Then layer-norm again, the feed-forward network, and another add. Attention lets tokens communicate; the feed-forward lets each think alone; the residual adds and layer-norms keep it all stable and trainable.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closer look at layer normalization. A transformer is deep, and across dozens of layers the numbers in a vector can blow up or shrink to nothing, and the model stops learning. Layer norm is a statistical reset applied to each token vector: it rescales the numbers back into a clean, stable range after each step. It is the quiet engineering trick that makes deep stacks possible.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deep dive. Here is the famous transformer diagram, and every single box is something we just covered: embeddings, positional encoding, masked multi-head attention, add and norm, feed-forward. Data flows up: tokens in at the bottom, a probability for the next token out at the top. The block in the middle repeats N times, dozens of times in a real model. The 2017 original also had an encoder for translation; modern chat and code models like GPT, Llama, and Claude keep just this decoder-only stack. You have now, conceptually, built one.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mile. After the final block we have an output matrix, but we only need the very last token vector, since it has seen the whole prompt. We project it to a logit, a raw score, for every word in the vocabulary. Softmax turns those scores into probabilities that sum to one. Then a decoding strategy picks one token, and we decode it back to text: Tuesday. The decode step is exactly where temperature, top-k, and top-p live, which is the very next slide.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reshapes the odds; top-k and top-p decide which words are even allowed. Top-k keeps only the k most likely tokens, say the top forty, and ignores the rest, cutting off the long tail of nonsense. It is a fixed size, though. Top-p, also called nucleus sampling, is adaptive: keep the smallest set of tokens whose probabilities add up to p, say ninety percent. When the model is confident that might be two words; when unsure it might be a hundred. In practice you often combine temperature with top-p; that is a common default.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short section. The fundamentals we covered are stable, but a few things have changed recently that shape how you will actually use these models. Then we tie it all together and set up the hands-on part.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shifts worth knowing. One: reasoning models that generate hidden thinking steps before answering, much better at hard multi-step problems but slower and pricier in tokens. Two: context windows in the hundreds of thousands to millions. Three: multimodal is the default now, one model handling text, images, and audio. Four: tool use, where the model can call your functions and APIs; that is the doorway to agents, which is the next part of this whole program. Everything still rests on next-token prediction underneath.</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in one line. Our prompt, After Monday comes, gets tokenized, embedded with position, flows through the stack of blocks where attention and feed-forward do their work, comes out as probabilities over every token, and a decoding step with temperature picks the winner: Tuesday. That is a large language model, end to end. Every ChatGPT reply is this loop, run once per token.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carry into the hands-on work. It predicts, it does not know, so verify and treat output as a draft. Tokens are cost and limits, so measure and trim them. The context window is the memory, so put what matters in it and expect it to forget the rest. Temperature is your control dial, low for reliable, high for creative. And the same mechanism powers your coding assistant, which we will use next. If these five land, Part 1 did its job.</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keep handy. When something looks off with an LLM, it is almost always one of these. Answers keep changing means temperature is too high. A confident falsehood is a hallucination, verify and ground it. Forgetting earlier context is a context-window problem. Slow or costly means too many tokens. Messy formatting means the prompt needs clearer instructions and an example. And not knowing your data or current events is a knowledge gap you fill by retrieving and injecting facts, which is RAG later in the program. Diagnose the symptom, apply the lever.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cheat sheet for the questions people will bring to you now that you are the LLM person on the team. Does it understand? No, it predicts likely tokens from patterns. Why did it make that up? Plausible is not the same as true. Why does it forget? It only sees the context window. Is it deterministic? Not by default; temperature zero gets you close. Can it do math or know today? Not reliably alone, give it tools or data. Why is it expensive at scale? You pay per token, in and out. Short, correct, and enough to hold the room.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Part 1. Up next is Part 2: first we see why tokens drive your cost and your limits, then we get everyone set up with an account, an API key, and a working Python environment. After that a short break, and in Part 3 we make our first real API call.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huggingface.co/learn/nlp-course/chapter6/5"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jalammar.github.io/illustrated-word2vec/"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jalammar.github.io/illustrated-gpt2/"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arxiv.org/abs/2305.13245"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jalammar.github.io/illustrated-transformer/"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nlp.seas.harvard.edu/annotated-transformer/"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paperswithcode.com/method/layer-normalization"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wjZofJX0v4M"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huggingface.co/blog/how-to-generate"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3127400"/>
            <a:ext cx="533400" cy="57150"/>
          </a:xfrm>
          <a:prstGeom prst="rect">
            <a:avLst/>
          </a:prstGeom>
          <a:solidFill>
            <a:srgbClr val="1F6FEB"/>
          </a:solidFill>
          <a:ln/>
        </p:spPr>
        <p:txBody>
          <a:bodyPr/>
          <a:lstStyle/>
          <a:p>
            <a:endParaRPr lang="en-US"/>
          </a:p>
        </p:txBody>
      </p:sp>
      <p:sp>
        <p:nvSpPr>
          <p:cNvPr id="3" name="Text 1"/>
          <p:cNvSpPr/>
          <p:nvPr/>
        </p:nvSpPr>
        <p:spPr>
          <a:xfrm>
            <a:off x="1733550" y="3025006"/>
            <a:ext cx="9004675"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GETTING STARTED WITH LLMS FOR ENGINEERS · PART 1</a:t>
            </a:r>
            <a:endParaRPr lang="en-US" sz="1800" dirty="0"/>
          </a:p>
        </p:txBody>
      </p:sp>
      <p:sp>
        <p:nvSpPr>
          <p:cNvPr id="4" name="Text 2"/>
          <p:cNvSpPr/>
          <p:nvPr/>
        </p:nvSpPr>
        <p:spPr>
          <a:xfrm>
            <a:off x="1047750" y="3572694"/>
            <a:ext cx="16678275" cy="1903363"/>
          </a:xfrm>
          <a:prstGeom prst="rect">
            <a:avLst/>
          </a:prstGeom>
          <a:noFill/>
          <a:ln/>
        </p:spPr>
        <p:txBody>
          <a:bodyPr wrap="square" lIns="25400" tIns="25400" rIns="25400" bIns="25400" rtlCol="0" anchor="t">
            <a:normAutofit/>
          </a:bodyPr>
          <a:lstStyle/>
          <a:p>
            <a:pPr marL="0" indent="0" algn="l">
              <a:lnSpc>
                <a:spcPct val="89835"/>
              </a:lnSpc>
              <a:buNone/>
            </a:pPr>
            <a:r>
              <a:rPr lang="en-US" sz="7200" b="1" kern="0" spc="-72" dirty="0">
                <a:solidFill>
                  <a:srgbClr val="1A1A1A"/>
                </a:solidFill>
                <a:latin typeface="Georgia" pitchFamily="34" charset="0"/>
                <a:ea typeface="Georgia" pitchFamily="34" charset="-122"/>
                <a:cs typeface="Georgia" pitchFamily="34" charset="-120"/>
              </a:rPr>
              <a:t>How a Large Language Model Works</a:t>
            </a:r>
            <a:endParaRPr lang="en-US" sz="7200" dirty="0"/>
          </a:p>
        </p:txBody>
      </p:sp>
      <p:sp>
        <p:nvSpPr>
          <p:cNvPr id="5" name="Text 3"/>
          <p:cNvSpPr/>
          <p:nvPr/>
        </p:nvSpPr>
        <p:spPr>
          <a:xfrm>
            <a:off x="1047750" y="5685606"/>
            <a:ext cx="1257300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A high-level mental model for engineers — no math, no model-building.</a:t>
            </a:r>
            <a:endParaRPr lang="en-US" sz="2700" dirty="0"/>
          </a:p>
        </p:txBody>
      </p:sp>
      <p:sp>
        <p:nvSpPr>
          <p:cNvPr id="6" name="Shape 4"/>
          <p:cNvSpPr/>
          <p:nvPr/>
        </p:nvSpPr>
        <p:spPr>
          <a:xfrm>
            <a:off x="1047750" y="6590481"/>
            <a:ext cx="844004" cy="519113"/>
          </a:xfrm>
          <a:prstGeom prst="roundRect">
            <a:avLst>
              <a:gd name="adj" fmla="val 22018"/>
            </a:avLst>
          </a:prstGeom>
          <a:solidFill>
            <a:srgbClr val="E8F0FE"/>
          </a:solidFill>
          <a:ln/>
        </p:spPr>
        <p:txBody>
          <a:bodyPr/>
          <a:lstStyle/>
          <a:p>
            <a:endParaRPr lang="en-US"/>
          </a:p>
        </p:txBody>
      </p:sp>
      <p:sp>
        <p:nvSpPr>
          <p:cNvPr id="7" name="Text 5"/>
          <p:cNvSpPr/>
          <p:nvPr/>
        </p:nvSpPr>
        <p:spPr>
          <a:xfrm>
            <a:off x="1238250" y="6704781"/>
            <a:ext cx="539204"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Courier New" pitchFamily="34" charset="0"/>
                <a:ea typeface="Courier New" pitchFamily="34" charset="-122"/>
                <a:cs typeface="Courier New" pitchFamily="34" charset="-120"/>
              </a:rPr>
              <a:t>How</a:t>
            </a:r>
            <a:endParaRPr lang="en-US" sz="2025" dirty="0"/>
          </a:p>
        </p:txBody>
      </p:sp>
      <p:sp>
        <p:nvSpPr>
          <p:cNvPr id="8" name="Shape 6"/>
          <p:cNvSpPr/>
          <p:nvPr/>
        </p:nvSpPr>
        <p:spPr>
          <a:xfrm>
            <a:off x="2025104" y="6590481"/>
            <a:ext cx="535335" cy="519113"/>
          </a:xfrm>
          <a:prstGeom prst="roundRect">
            <a:avLst>
              <a:gd name="adj" fmla="val 22018"/>
            </a:avLst>
          </a:prstGeom>
          <a:solidFill>
            <a:srgbClr val="E4F4EB"/>
          </a:solidFill>
          <a:ln/>
        </p:spPr>
        <p:txBody>
          <a:bodyPr/>
          <a:lstStyle/>
          <a:p>
            <a:endParaRPr lang="en-US"/>
          </a:p>
        </p:txBody>
      </p:sp>
      <p:sp>
        <p:nvSpPr>
          <p:cNvPr id="9" name="Text 7"/>
          <p:cNvSpPr/>
          <p:nvPr/>
        </p:nvSpPr>
        <p:spPr>
          <a:xfrm>
            <a:off x="2215604" y="6704781"/>
            <a:ext cx="230535"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78A4C"/>
                </a:solidFill>
                <a:latin typeface="Courier New" pitchFamily="34" charset="0"/>
                <a:ea typeface="Courier New" pitchFamily="34" charset="-122"/>
                <a:cs typeface="Courier New" pitchFamily="34" charset="-120"/>
              </a:rPr>
              <a:t>a</a:t>
            </a:r>
            <a:endParaRPr lang="en-US" sz="2025" dirty="0"/>
          </a:p>
        </p:txBody>
      </p:sp>
      <p:sp>
        <p:nvSpPr>
          <p:cNvPr id="10" name="Shape 8"/>
          <p:cNvSpPr/>
          <p:nvPr/>
        </p:nvSpPr>
        <p:spPr>
          <a:xfrm>
            <a:off x="2693789" y="6590481"/>
            <a:ext cx="1152674" cy="519113"/>
          </a:xfrm>
          <a:prstGeom prst="roundRect">
            <a:avLst>
              <a:gd name="adj" fmla="val 22018"/>
            </a:avLst>
          </a:prstGeom>
          <a:solidFill>
            <a:srgbClr val="FBF0D9"/>
          </a:solidFill>
          <a:ln/>
        </p:spPr>
        <p:txBody>
          <a:bodyPr/>
          <a:lstStyle/>
          <a:p>
            <a:endParaRPr lang="en-US"/>
          </a:p>
        </p:txBody>
      </p:sp>
      <p:sp>
        <p:nvSpPr>
          <p:cNvPr id="11" name="Text 9"/>
          <p:cNvSpPr/>
          <p:nvPr/>
        </p:nvSpPr>
        <p:spPr>
          <a:xfrm>
            <a:off x="2884289" y="6704781"/>
            <a:ext cx="847874"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C77D0A"/>
                </a:solidFill>
                <a:latin typeface="Courier New" pitchFamily="34" charset="0"/>
                <a:ea typeface="Courier New" pitchFamily="34" charset="-122"/>
                <a:cs typeface="Courier New" pitchFamily="34" charset="-120"/>
              </a:rPr>
              <a:t>Large</a:t>
            </a:r>
            <a:endParaRPr lang="en-US" sz="2025" dirty="0"/>
          </a:p>
        </p:txBody>
      </p:sp>
      <p:sp>
        <p:nvSpPr>
          <p:cNvPr id="12" name="Shape 10"/>
          <p:cNvSpPr/>
          <p:nvPr/>
        </p:nvSpPr>
        <p:spPr>
          <a:xfrm>
            <a:off x="3979813" y="6590481"/>
            <a:ext cx="1615678" cy="519113"/>
          </a:xfrm>
          <a:prstGeom prst="roundRect">
            <a:avLst>
              <a:gd name="adj" fmla="val 22018"/>
            </a:avLst>
          </a:prstGeom>
          <a:solidFill>
            <a:srgbClr val="EFE9FB"/>
          </a:solidFill>
          <a:ln/>
        </p:spPr>
        <p:txBody>
          <a:bodyPr/>
          <a:lstStyle/>
          <a:p>
            <a:endParaRPr lang="en-US"/>
          </a:p>
        </p:txBody>
      </p:sp>
      <p:sp>
        <p:nvSpPr>
          <p:cNvPr id="13" name="Text 11"/>
          <p:cNvSpPr/>
          <p:nvPr/>
        </p:nvSpPr>
        <p:spPr>
          <a:xfrm>
            <a:off x="4170313" y="6704781"/>
            <a:ext cx="1310878"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Language</a:t>
            </a:r>
            <a:endParaRPr lang="en-US" sz="2025" dirty="0"/>
          </a:p>
        </p:txBody>
      </p:sp>
      <p:sp>
        <p:nvSpPr>
          <p:cNvPr id="14" name="Shape 12"/>
          <p:cNvSpPr/>
          <p:nvPr/>
        </p:nvSpPr>
        <p:spPr>
          <a:xfrm>
            <a:off x="5728841" y="6590481"/>
            <a:ext cx="1152674" cy="519113"/>
          </a:xfrm>
          <a:prstGeom prst="roundRect">
            <a:avLst>
              <a:gd name="adj" fmla="val 22018"/>
            </a:avLst>
          </a:prstGeom>
          <a:solidFill>
            <a:srgbClr val="FBEBEA"/>
          </a:solidFill>
          <a:ln/>
        </p:spPr>
        <p:txBody>
          <a:bodyPr/>
          <a:lstStyle/>
          <a:p>
            <a:endParaRPr lang="en-US"/>
          </a:p>
        </p:txBody>
      </p:sp>
      <p:sp>
        <p:nvSpPr>
          <p:cNvPr id="15" name="Text 13"/>
          <p:cNvSpPr/>
          <p:nvPr/>
        </p:nvSpPr>
        <p:spPr>
          <a:xfrm>
            <a:off x="5919341" y="6704781"/>
            <a:ext cx="847874"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D64545"/>
                </a:solidFill>
                <a:latin typeface="Courier New" pitchFamily="34" charset="0"/>
                <a:ea typeface="Courier New" pitchFamily="34" charset="-122"/>
                <a:cs typeface="Courier New" pitchFamily="34" charset="-120"/>
              </a:rPr>
              <a:t>Model</a:t>
            </a:r>
            <a:endParaRPr lang="en-US" sz="2025" dirty="0"/>
          </a:p>
        </p:txBody>
      </p:sp>
      <p:sp>
        <p:nvSpPr>
          <p:cNvPr id="16" name="Shape 14"/>
          <p:cNvSpPr/>
          <p:nvPr/>
        </p:nvSpPr>
        <p:spPr>
          <a:xfrm>
            <a:off x="7014865" y="6590481"/>
            <a:ext cx="1152674" cy="519113"/>
          </a:xfrm>
          <a:prstGeom prst="roundRect">
            <a:avLst>
              <a:gd name="adj" fmla="val 22018"/>
            </a:avLst>
          </a:prstGeom>
          <a:solidFill>
            <a:srgbClr val="E8F0FE"/>
          </a:solidFill>
          <a:ln/>
        </p:spPr>
        <p:txBody>
          <a:bodyPr/>
          <a:lstStyle/>
          <a:p>
            <a:endParaRPr lang="en-US"/>
          </a:p>
        </p:txBody>
      </p:sp>
      <p:sp>
        <p:nvSpPr>
          <p:cNvPr id="17" name="Text 15"/>
          <p:cNvSpPr/>
          <p:nvPr/>
        </p:nvSpPr>
        <p:spPr>
          <a:xfrm>
            <a:off x="7205365" y="6704781"/>
            <a:ext cx="847874"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Courier New" pitchFamily="34" charset="0"/>
                <a:ea typeface="Courier New" pitchFamily="34" charset="-122"/>
                <a:cs typeface="Courier New" pitchFamily="34" charset="-120"/>
              </a:rPr>
              <a:t>Works</a:t>
            </a:r>
            <a:endParaRPr lang="en-US" sz="20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343113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PART 1 · ~75 MINUTES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What This Hour Covers</a:t>
            </a:r>
            <a:endParaRPr lang="en-US" sz="4800" dirty="0"/>
          </a:p>
        </p:txBody>
      </p:sp>
      <p:sp>
        <p:nvSpPr>
          <p:cNvPr id="5" name="Shape 3"/>
          <p:cNvSpPr/>
          <p:nvPr/>
        </p:nvSpPr>
        <p:spPr>
          <a:xfrm>
            <a:off x="1047750" y="3019946"/>
            <a:ext cx="13335000" cy="9525"/>
          </a:xfrm>
          <a:prstGeom prst="rect">
            <a:avLst/>
          </a:prstGeom>
          <a:solidFill>
            <a:srgbClr val="E3E1DA"/>
          </a:solidFill>
          <a:ln/>
        </p:spPr>
        <p:txBody>
          <a:bodyPr/>
          <a:lstStyle/>
          <a:p>
            <a:endParaRPr lang="en-US"/>
          </a:p>
        </p:txBody>
      </p:sp>
      <p:sp>
        <p:nvSpPr>
          <p:cNvPr id="6" name="Text 4"/>
          <p:cNvSpPr/>
          <p:nvPr/>
        </p:nvSpPr>
        <p:spPr>
          <a:xfrm>
            <a:off x="1047750" y="2248421"/>
            <a:ext cx="819150" cy="600075"/>
          </a:xfrm>
          <a:prstGeom prst="rect">
            <a:avLst/>
          </a:prstGeom>
          <a:noFill/>
          <a:ln/>
        </p:spPr>
        <p:txBody>
          <a:bodyPr wrap="square" lIns="25400" tIns="25400" rIns="25400" bIns="25400" rtlCol="0" anchor="t">
            <a:normAutofit/>
          </a:bodyPr>
          <a:lstStyle/>
          <a:p>
            <a:pPr marL="0" indent="0" algn="l">
              <a:buNone/>
            </a:pPr>
            <a:r>
              <a:rPr lang="en-US" sz="3900" b="1" dirty="0">
                <a:solidFill>
                  <a:srgbClr val="1F6FEB"/>
                </a:solidFill>
                <a:latin typeface="Georgia" pitchFamily="34" charset="0"/>
                <a:ea typeface="Georgia" pitchFamily="34" charset="-122"/>
                <a:cs typeface="Georgia" pitchFamily="34" charset="-120"/>
              </a:rPr>
              <a:t>01</a:t>
            </a:r>
            <a:endParaRPr lang="en-US" sz="3900" dirty="0"/>
          </a:p>
        </p:txBody>
      </p:sp>
      <p:sp>
        <p:nvSpPr>
          <p:cNvPr id="7" name="Text 5"/>
          <p:cNvSpPr/>
          <p:nvPr/>
        </p:nvSpPr>
        <p:spPr>
          <a:xfrm>
            <a:off x="2114550" y="2386533"/>
            <a:ext cx="7003063"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The core idea — predicting the next token</a:t>
            </a:r>
            <a:endParaRPr lang="en-US" sz="2700" dirty="0"/>
          </a:p>
        </p:txBody>
      </p:sp>
      <p:sp>
        <p:nvSpPr>
          <p:cNvPr id="8" name="Shape 6"/>
          <p:cNvSpPr/>
          <p:nvPr/>
        </p:nvSpPr>
        <p:spPr>
          <a:xfrm>
            <a:off x="1047750" y="4048646"/>
            <a:ext cx="13335000" cy="9525"/>
          </a:xfrm>
          <a:prstGeom prst="rect">
            <a:avLst/>
          </a:prstGeom>
          <a:solidFill>
            <a:srgbClr val="E3E1DA"/>
          </a:solidFill>
          <a:ln/>
        </p:spPr>
        <p:txBody>
          <a:bodyPr/>
          <a:lstStyle/>
          <a:p>
            <a:endParaRPr lang="en-US"/>
          </a:p>
        </p:txBody>
      </p:sp>
      <p:sp>
        <p:nvSpPr>
          <p:cNvPr id="9" name="Text 7"/>
          <p:cNvSpPr/>
          <p:nvPr/>
        </p:nvSpPr>
        <p:spPr>
          <a:xfrm>
            <a:off x="1047750" y="3277121"/>
            <a:ext cx="819150" cy="600075"/>
          </a:xfrm>
          <a:prstGeom prst="rect">
            <a:avLst/>
          </a:prstGeom>
          <a:noFill/>
          <a:ln/>
        </p:spPr>
        <p:txBody>
          <a:bodyPr wrap="square" lIns="25400" tIns="25400" rIns="25400" bIns="25400" rtlCol="0" anchor="t">
            <a:normAutofit/>
          </a:bodyPr>
          <a:lstStyle/>
          <a:p>
            <a:pPr marL="0" indent="0" algn="l">
              <a:buNone/>
            </a:pPr>
            <a:r>
              <a:rPr lang="en-US" sz="3900" b="1" dirty="0">
                <a:solidFill>
                  <a:srgbClr val="7A4FD0"/>
                </a:solidFill>
                <a:latin typeface="Georgia" pitchFamily="34" charset="0"/>
                <a:ea typeface="Georgia" pitchFamily="34" charset="-122"/>
                <a:cs typeface="Georgia" pitchFamily="34" charset="-120"/>
              </a:rPr>
              <a:t>02</a:t>
            </a:r>
            <a:endParaRPr lang="en-US" sz="3900" dirty="0"/>
          </a:p>
        </p:txBody>
      </p:sp>
      <p:sp>
        <p:nvSpPr>
          <p:cNvPr id="10" name="Text 8"/>
          <p:cNvSpPr/>
          <p:nvPr/>
        </p:nvSpPr>
        <p:spPr>
          <a:xfrm>
            <a:off x="2114550" y="3415233"/>
            <a:ext cx="8953351"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Inside the black box — tokens, embeddings, attention</a:t>
            </a:r>
            <a:endParaRPr lang="en-US" sz="2700" dirty="0"/>
          </a:p>
        </p:txBody>
      </p:sp>
      <p:sp>
        <p:nvSpPr>
          <p:cNvPr id="11" name="Shape 9"/>
          <p:cNvSpPr/>
          <p:nvPr/>
        </p:nvSpPr>
        <p:spPr>
          <a:xfrm>
            <a:off x="1047750" y="5077346"/>
            <a:ext cx="13335000" cy="9525"/>
          </a:xfrm>
          <a:prstGeom prst="rect">
            <a:avLst/>
          </a:prstGeom>
          <a:solidFill>
            <a:srgbClr val="E3E1DA"/>
          </a:solidFill>
          <a:ln/>
        </p:spPr>
        <p:txBody>
          <a:bodyPr/>
          <a:lstStyle/>
          <a:p>
            <a:endParaRPr lang="en-US"/>
          </a:p>
        </p:txBody>
      </p:sp>
      <p:sp>
        <p:nvSpPr>
          <p:cNvPr id="12" name="Text 10"/>
          <p:cNvSpPr/>
          <p:nvPr/>
        </p:nvSpPr>
        <p:spPr>
          <a:xfrm>
            <a:off x="1047750" y="4305821"/>
            <a:ext cx="819150" cy="600075"/>
          </a:xfrm>
          <a:prstGeom prst="rect">
            <a:avLst/>
          </a:prstGeom>
          <a:noFill/>
          <a:ln/>
        </p:spPr>
        <p:txBody>
          <a:bodyPr wrap="square" lIns="25400" tIns="25400" rIns="25400" bIns="25400" rtlCol="0" anchor="t">
            <a:normAutofit/>
          </a:bodyPr>
          <a:lstStyle/>
          <a:p>
            <a:pPr marL="0" indent="0" algn="l">
              <a:buNone/>
            </a:pPr>
            <a:r>
              <a:rPr lang="en-US" sz="3900" b="1" dirty="0">
                <a:solidFill>
                  <a:srgbClr val="178A4C"/>
                </a:solidFill>
                <a:latin typeface="Georgia" pitchFamily="34" charset="0"/>
                <a:ea typeface="Georgia" pitchFamily="34" charset="-122"/>
                <a:cs typeface="Georgia" pitchFamily="34" charset="-120"/>
              </a:rPr>
              <a:t>03</a:t>
            </a:r>
            <a:endParaRPr lang="en-US" sz="3900" dirty="0"/>
          </a:p>
        </p:txBody>
      </p:sp>
      <p:sp>
        <p:nvSpPr>
          <p:cNvPr id="13" name="Text 11"/>
          <p:cNvSpPr/>
          <p:nvPr/>
        </p:nvSpPr>
        <p:spPr>
          <a:xfrm>
            <a:off x="2114550" y="4443933"/>
            <a:ext cx="10148768"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Under the hood — an optional deep dive into the mechanism</a:t>
            </a:r>
            <a:endParaRPr lang="en-US" sz="2700" dirty="0"/>
          </a:p>
        </p:txBody>
      </p:sp>
      <p:sp>
        <p:nvSpPr>
          <p:cNvPr id="14" name="Text 12"/>
          <p:cNvSpPr/>
          <p:nvPr/>
        </p:nvSpPr>
        <p:spPr>
          <a:xfrm>
            <a:off x="1047750" y="5334521"/>
            <a:ext cx="819150" cy="600075"/>
          </a:xfrm>
          <a:prstGeom prst="rect">
            <a:avLst/>
          </a:prstGeom>
          <a:noFill/>
          <a:ln/>
        </p:spPr>
        <p:txBody>
          <a:bodyPr wrap="square" lIns="25400" tIns="25400" rIns="25400" bIns="25400" rtlCol="0" anchor="t">
            <a:normAutofit/>
          </a:bodyPr>
          <a:lstStyle/>
          <a:p>
            <a:pPr marL="0" indent="0" algn="l">
              <a:buNone/>
            </a:pPr>
            <a:r>
              <a:rPr lang="en-US" sz="3900" b="1" dirty="0">
                <a:solidFill>
                  <a:srgbClr val="C77D0A"/>
                </a:solidFill>
                <a:latin typeface="Georgia" pitchFamily="34" charset="0"/>
                <a:ea typeface="Georgia" pitchFamily="34" charset="-122"/>
                <a:cs typeface="Georgia" pitchFamily="34" charset="-120"/>
              </a:rPr>
              <a:t>04</a:t>
            </a:r>
            <a:endParaRPr lang="en-US" sz="3900" dirty="0"/>
          </a:p>
        </p:txBody>
      </p:sp>
      <p:sp>
        <p:nvSpPr>
          <p:cNvPr id="15" name="Text 13"/>
          <p:cNvSpPr/>
          <p:nvPr/>
        </p:nvSpPr>
        <p:spPr>
          <a:xfrm>
            <a:off x="2114550" y="5472633"/>
            <a:ext cx="8967103"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What’s changed — and what it means when you build</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F6FEB"/>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01</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79121"/>
              </a:lnSpc>
              <a:buNone/>
            </a:pPr>
            <a:r>
              <a:rPr lang="en-US" sz="15000" b="1" dirty="0">
                <a:solidFill>
                  <a:srgbClr val="1F6FEB"/>
                </a:solidFill>
                <a:latin typeface="Georgia" pitchFamily="34" charset="0"/>
                <a:ea typeface="Georgia" pitchFamily="34" charset="-122"/>
                <a:cs typeface="Georgia" pitchFamily="34" charset="-120"/>
              </a:rPr>
              <a:t>01</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The Core Idea</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One simple mechanism sits underneath everything an LLM does.</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What Is a Large Language Model?</a:t>
            </a:r>
            <a:endParaRPr lang="en-US" sz="4800" dirty="0"/>
          </a:p>
        </p:txBody>
      </p:sp>
      <p:sp>
        <p:nvSpPr>
          <p:cNvPr id="5" name="Text 3"/>
          <p:cNvSpPr/>
          <p:nvPr/>
        </p:nvSpPr>
        <p:spPr>
          <a:xfrm>
            <a:off x="1047750" y="2191271"/>
            <a:ext cx="2828925"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Large</a:t>
            </a:r>
            <a:endParaRPr lang="en-US" sz="3150" dirty="0"/>
          </a:p>
        </p:txBody>
      </p:sp>
      <p:sp>
        <p:nvSpPr>
          <p:cNvPr id="6" name="Text 4"/>
          <p:cNvSpPr/>
          <p:nvPr/>
        </p:nvSpPr>
        <p:spPr>
          <a:xfrm>
            <a:off x="3905250" y="2191271"/>
            <a:ext cx="11772900" cy="742950"/>
          </a:xfrm>
          <a:prstGeom prst="rect">
            <a:avLst/>
          </a:prstGeom>
          <a:noFill/>
          <a:ln/>
        </p:spPr>
        <p:txBody>
          <a:bodyPr wrap="square" lIns="25400" tIns="25400" rIns="25400" bIns="2540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Billions of internal </a:t>
            </a:r>
            <a:r>
              <a:rPr lang="en-US" sz="2400" b="1" dirty="0">
                <a:solidFill>
                  <a:srgbClr val="1A1A1A"/>
                </a:solidFill>
                <a:latin typeface="Arial" pitchFamily="34" charset="0"/>
                <a:ea typeface="Arial" pitchFamily="34" charset="-122"/>
                <a:cs typeface="Arial" pitchFamily="34" charset="-120"/>
              </a:rPr>
              <a:t>parameters </a:t>
            </a:r>
            <a:r>
              <a:rPr lang="en-US" sz="2400" dirty="0">
                <a:solidFill>
                  <a:srgbClr val="3D3D3D"/>
                </a:solidFill>
                <a:latin typeface="Arial" pitchFamily="34" charset="0"/>
                <a:ea typeface="Arial" pitchFamily="34" charset="-122"/>
                <a:cs typeface="Arial" pitchFamily="34" charset="-120"/>
              </a:rPr>
              <a:t>— tiny numeric knobs tuned during training to capture patterns in language.</a:t>
            </a:r>
            <a:endParaRPr lang="en-US" sz="2400" dirty="0"/>
          </a:p>
        </p:txBody>
      </p:sp>
      <p:sp>
        <p:nvSpPr>
          <p:cNvPr id="7" name="Shape 5"/>
          <p:cNvSpPr/>
          <p:nvPr/>
        </p:nvSpPr>
        <p:spPr>
          <a:xfrm>
            <a:off x="1047750" y="3105671"/>
            <a:ext cx="14287500" cy="9525"/>
          </a:xfrm>
          <a:prstGeom prst="rect">
            <a:avLst/>
          </a:prstGeom>
          <a:solidFill>
            <a:srgbClr val="E3E1DA"/>
          </a:solidFill>
          <a:ln/>
        </p:spPr>
        <p:txBody>
          <a:bodyPr/>
          <a:lstStyle/>
          <a:p>
            <a:endParaRPr lang="en-US"/>
          </a:p>
        </p:txBody>
      </p:sp>
      <p:sp>
        <p:nvSpPr>
          <p:cNvPr id="8" name="Text 6"/>
          <p:cNvSpPr/>
          <p:nvPr/>
        </p:nvSpPr>
        <p:spPr>
          <a:xfrm>
            <a:off x="1047750" y="3324746"/>
            <a:ext cx="2828925"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78A4C"/>
                </a:solidFill>
                <a:latin typeface="Georgia" pitchFamily="34" charset="0"/>
                <a:ea typeface="Georgia" pitchFamily="34" charset="-122"/>
                <a:cs typeface="Georgia" pitchFamily="34" charset="-120"/>
              </a:rPr>
              <a:t>Language</a:t>
            </a:r>
            <a:endParaRPr lang="en-US" sz="3150" dirty="0"/>
          </a:p>
        </p:txBody>
      </p:sp>
      <p:sp>
        <p:nvSpPr>
          <p:cNvPr id="9" name="Text 7"/>
          <p:cNvSpPr/>
          <p:nvPr/>
        </p:nvSpPr>
        <p:spPr>
          <a:xfrm>
            <a:off x="3905250" y="3324746"/>
            <a:ext cx="11772900" cy="742950"/>
          </a:xfrm>
          <a:prstGeom prst="rect">
            <a:avLst/>
          </a:prstGeom>
          <a:noFill/>
          <a:ln/>
        </p:spPr>
        <p:txBody>
          <a:bodyPr wrap="square" lIns="25400" tIns="25400" rIns="25400" bIns="2540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What it operates on — ordinary sentences, but also structured formats like </a:t>
            </a:r>
            <a:r>
              <a:rPr lang="en-US" sz="2400" b="1" dirty="0">
                <a:solidFill>
                  <a:srgbClr val="1A1A1A"/>
                </a:solidFill>
                <a:latin typeface="Arial" pitchFamily="34" charset="0"/>
                <a:ea typeface="Arial" pitchFamily="34" charset="-122"/>
                <a:cs typeface="Arial" pitchFamily="34" charset="-120"/>
              </a:rPr>
              <a:t>JSON </a:t>
            </a:r>
            <a:r>
              <a:rPr lang="en-US" sz="2400" dirty="0">
                <a:solidFill>
                  <a:srgbClr val="3D3D3D"/>
                </a:solidFill>
                <a:latin typeface="Arial" pitchFamily="34" charset="0"/>
                <a:ea typeface="Arial" pitchFamily="34" charset="-122"/>
                <a:cs typeface="Arial" pitchFamily="34" charset="-120"/>
              </a:rPr>
              <a:t>and code like </a:t>
            </a:r>
            <a:r>
              <a:rPr lang="en-US" sz="2400" b="1" dirty="0">
                <a:solidFill>
                  <a:srgbClr val="1A1A1A"/>
                </a:solidFill>
                <a:latin typeface="Arial" pitchFamily="34" charset="0"/>
                <a:ea typeface="Arial" pitchFamily="34" charset="-122"/>
                <a:cs typeface="Arial" pitchFamily="34" charset="-120"/>
              </a:rPr>
              <a:t>Python</a:t>
            </a:r>
            <a:r>
              <a:rPr lang="en-US" sz="2400" dirty="0">
                <a:solidFill>
                  <a:srgbClr val="3D3D3D"/>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1047750" y="4239146"/>
            <a:ext cx="14287500" cy="9525"/>
          </a:xfrm>
          <a:prstGeom prst="rect">
            <a:avLst/>
          </a:prstGeom>
          <a:solidFill>
            <a:srgbClr val="E3E1DA"/>
          </a:solidFill>
          <a:ln/>
        </p:spPr>
        <p:txBody>
          <a:bodyPr/>
          <a:lstStyle/>
          <a:p>
            <a:endParaRPr lang="en-US"/>
          </a:p>
        </p:txBody>
      </p:sp>
      <p:sp>
        <p:nvSpPr>
          <p:cNvPr id="11" name="Text 9"/>
          <p:cNvSpPr/>
          <p:nvPr/>
        </p:nvSpPr>
        <p:spPr>
          <a:xfrm>
            <a:off x="1047750" y="4458221"/>
            <a:ext cx="2828925"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7A4FD0"/>
                </a:solidFill>
                <a:latin typeface="Georgia" pitchFamily="34" charset="0"/>
                <a:ea typeface="Georgia" pitchFamily="34" charset="-122"/>
                <a:cs typeface="Georgia" pitchFamily="34" charset="-120"/>
              </a:rPr>
              <a:t>Model</a:t>
            </a:r>
            <a:endParaRPr lang="en-US" sz="3150" dirty="0"/>
          </a:p>
        </p:txBody>
      </p:sp>
      <p:sp>
        <p:nvSpPr>
          <p:cNvPr id="12" name="Text 10"/>
          <p:cNvSpPr/>
          <p:nvPr/>
        </p:nvSpPr>
        <p:spPr>
          <a:xfrm>
            <a:off x="3905250" y="4458221"/>
            <a:ext cx="11772900" cy="742950"/>
          </a:xfrm>
          <a:prstGeom prst="rect">
            <a:avLst/>
          </a:prstGeom>
          <a:noFill/>
          <a:ln/>
        </p:spPr>
        <p:txBody>
          <a:bodyPr wrap="square" lIns="25400" tIns="25400" rIns="25400" bIns="2540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A mathematical predictor. A weather model predicts weather; a language model </a:t>
            </a:r>
            <a:r>
              <a:rPr lang="en-US" sz="2400" b="1" dirty="0">
                <a:solidFill>
                  <a:srgbClr val="1A1A1A"/>
                </a:solidFill>
                <a:latin typeface="Arial" pitchFamily="34" charset="0"/>
                <a:ea typeface="Arial" pitchFamily="34" charset="-122"/>
                <a:cs typeface="Arial" pitchFamily="34" charset="-120"/>
              </a:rPr>
              <a:t>predicts language </a:t>
            </a:r>
            <a:r>
              <a:rPr lang="en-US" sz="2400" dirty="0">
                <a:solidFill>
                  <a:srgbClr val="3D3D3D"/>
                </a:solidFill>
                <a:latin typeface="Arial" pitchFamily="34" charset="0"/>
                <a:ea typeface="Arial" pitchFamily="34" charset="-122"/>
                <a:cs typeface="Arial" pitchFamily="34" charset="-120"/>
              </a:rPr>
              <a:t>from patterns it learned.</a:t>
            </a:r>
            <a:endParaRPr lang="en-US" sz="2400" dirty="0"/>
          </a:p>
        </p:txBody>
      </p:sp>
      <p:sp>
        <p:nvSpPr>
          <p:cNvPr id="13" name="Text 11"/>
          <p:cNvSpPr/>
          <p:nvPr/>
        </p:nvSpPr>
        <p:spPr>
          <a:xfrm>
            <a:off x="1047750" y="5505971"/>
            <a:ext cx="15716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Georgia" pitchFamily="34" charset="0"/>
                <a:ea typeface="Georgia" pitchFamily="34" charset="-122"/>
                <a:cs typeface="Georgia" pitchFamily="34" charset="-120"/>
              </a:rPr>
              <a:t>Not a database. Not a search engine. A </a:t>
            </a:r>
            <a:r>
              <a:rPr lang="en-US" sz="2700" dirty="0">
                <a:solidFill>
                  <a:srgbClr val="1A1A1A"/>
                </a:solidFill>
                <a:highlight>
                  <a:srgbClr val="FFF1A8"/>
                </a:highlight>
                <a:latin typeface="Georgia" pitchFamily="34" charset="0"/>
                <a:ea typeface="Georgia" pitchFamily="34" charset="-122"/>
                <a:cs typeface="Georgia" pitchFamily="34" charset="-120"/>
              </a:rPr>
              <a:t>predictor of language</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4" name="Shape 12"/>
          <p:cNvSpPr/>
          <p:nvPr/>
        </p:nvSpPr>
        <p:spPr>
          <a:xfrm>
            <a:off x="1047750" y="9520238"/>
            <a:ext cx="16192500" cy="9525"/>
          </a:xfrm>
          <a:prstGeom prst="rect">
            <a:avLst/>
          </a:prstGeom>
          <a:solidFill>
            <a:srgbClr val="E3E1DA"/>
          </a:solidFill>
          <a:ln/>
        </p:spPr>
        <p:txBody>
          <a:bodyPr/>
          <a:lstStyle/>
          <a:p>
            <a:endParaRPr lang="en-US"/>
          </a:p>
        </p:txBody>
      </p:sp>
      <p:sp>
        <p:nvSpPr>
          <p:cNvPr id="15" name="Text 1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6" name="Text 14"/>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It Outputs a Whole Distribution</a:t>
            </a:r>
            <a:endParaRPr lang="en-US" sz="4800" dirty="0"/>
          </a:p>
        </p:txBody>
      </p:sp>
      <p:sp>
        <p:nvSpPr>
          <p:cNvPr id="5" name="Shape 3"/>
          <p:cNvSpPr/>
          <p:nvPr/>
        </p:nvSpPr>
        <p:spPr>
          <a:xfrm>
            <a:off x="1047750" y="4853211"/>
            <a:ext cx="4953000" cy="762000"/>
          </a:xfrm>
          <a:prstGeom prst="roundRect">
            <a:avLst>
              <a:gd name="adj" fmla="val 15000"/>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04925" y="5072286"/>
            <a:ext cx="4587240" cy="361950"/>
          </a:xfrm>
          <a:prstGeom prst="rect">
            <a:avLst/>
          </a:prstGeom>
          <a:noFill/>
          <a:ln/>
        </p:spPr>
        <p:txBody>
          <a:bodyPr wrap="square" lIns="25400" tIns="25400" rIns="25400" bIns="25400" rtlCol="0" anchor="t">
            <a:normAutofit/>
          </a:bodyPr>
          <a:lstStyle/>
          <a:p>
            <a:pPr marL="0" indent="0" algn="l">
              <a:buNone/>
            </a:pPr>
            <a:r>
              <a:rPr lang="en-US" sz="2250" dirty="0">
                <a:solidFill>
                  <a:srgbClr val="1A1A1A"/>
                </a:solidFill>
                <a:highlight>
                  <a:srgbClr val="F8F7F3"/>
                </a:highlight>
                <a:latin typeface="Courier New" pitchFamily="34" charset="0"/>
                <a:ea typeface="Courier New" pitchFamily="34" charset="-122"/>
                <a:cs typeface="Courier New" pitchFamily="34" charset="-120"/>
              </a:rPr>
              <a:t>The cat sat on the </a:t>
            </a:r>
            <a:r>
              <a:rPr lang="en-US" sz="2250" dirty="0">
                <a:solidFill>
                  <a:srgbClr val="FFFFFF"/>
                </a:solidFill>
                <a:highlight>
                  <a:srgbClr val="1F6FEB"/>
                </a:highlight>
                <a:latin typeface="Courier New" pitchFamily="34" charset="0"/>
                <a:ea typeface="Courier New" pitchFamily="34" charset="-122"/>
                <a:cs typeface="Courier New" pitchFamily="34" charset="-120"/>
              </a:rPr>
              <a:t>?</a:t>
            </a:r>
            <a:endParaRPr lang="en-US" sz="2250" dirty="0"/>
          </a:p>
        </p:txBody>
      </p:sp>
      <p:sp>
        <p:nvSpPr>
          <p:cNvPr id="7" name="Text 5"/>
          <p:cNvSpPr/>
          <p:nvPr/>
        </p:nvSpPr>
        <p:spPr>
          <a:xfrm>
            <a:off x="1047750" y="5824761"/>
            <a:ext cx="5101590" cy="82867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Not one answer — a probability for </a:t>
            </a:r>
            <a:r>
              <a:rPr lang="en-US" sz="2025" b="1" dirty="0">
                <a:solidFill>
                  <a:srgbClr val="1A1A1A"/>
                </a:solidFill>
                <a:latin typeface="Arial" pitchFamily="34" charset="0"/>
                <a:ea typeface="Arial" pitchFamily="34" charset="-122"/>
                <a:cs typeface="Arial" pitchFamily="34" charset="-120"/>
              </a:rPr>
              <a:t>every </a:t>
            </a:r>
            <a:r>
              <a:rPr lang="en-US" sz="2025" dirty="0">
                <a:solidFill>
                  <a:srgbClr val="3D3D3D"/>
                </a:solidFill>
                <a:latin typeface="Arial" pitchFamily="34" charset="0"/>
                <a:ea typeface="Arial" pitchFamily="34" charset="-122"/>
                <a:cs typeface="Arial" pitchFamily="34" charset="-120"/>
              </a:rPr>
              <a:t>token. We write it </a:t>
            </a:r>
            <a:r>
              <a:rPr lang="en-US" sz="2025" dirty="0">
                <a:solidFill>
                  <a:srgbClr val="3D3D3D"/>
                </a:solidFill>
                <a:highlight>
                  <a:srgbClr val="FFF1A8"/>
                </a:highlight>
                <a:latin typeface="Courier New" pitchFamily="34" charset="0"/>
                <a:ea typeface="Courier New" pitchFamily="34" charset="-122"/>
                <a:cs typeface="Courier New" pitchFamily="34" charset="-120"/>
              </a:rPr>
              <a:t>p(next | context)</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8" name="Text 6"/>
          <p:cNvSpPr/>
          <p:nvPr/>
        </p:nvSpPr>
        <p:spPr>
          <a:xfrm>
            <a:off x="6610350" y="4712717"/>
            <a:ext cx="13620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mat</a:t>
            </a:r>
            <a:endParaRPr lang="en-US" sz="2025" dirty="0"/>
          </a:p>
        </p:txBody>
      </p:sp>
      <p:sp>
        <p:nvSpPr>
          <p:cNvPr id="9" name="Shape 7"/>
          <p:cNvSpPr/>
          <p:nvPr/>
        </p:nvSpPr>
        <p:spPr>
          <a:xfrm>
            <a:off x="8001000" y="4715098"/>
            <a:ext cx="8382000" cy="285750"/>
          </a:xfrm>
          <a:prstGeom prst="roundRect">
            <a:avLst>
              <a:gd name="adj" fmla="val 16667"/>
            </a:avLst>
          </a:prstGeom>
          <a:solidFill>
            <a:srgbClr val="F1EFE9"/>
          </a:solidFill>
          <a:ln/>
        </p:spPr>
        <p:txBody>
          <a:bodyPr/>
          <a:lstStyle/>
          <a:p>
            <a:endParaRPr lang="en-US"/>
          </a:p>
        </p:txBody>
      </p:sp>
      <p:sp>
        <p:nvSpPr>
          <p:cNvPr id="10" name="Shape 8"/>
          <p:cNvSpPr/>
          <p:nvPr/>
        </p:nvSpPr>
        <p:spPr>
          <a:xfrm>
            <a:off x="8001000" y="4715098"/>
            <a:ext cx="7543800" cy="285750"/>
          </a:xfrm>
          <a:prstGeom prst="rect">
            <a:avLst/>
          </a:prstGeom>
          <a:solidFill>
            <a:srgbClr val="1F6FEB"/>
          </a:solidFill>
          <a:ln/>
        </p:spPr>
        <p:txBody>
          <a:bodyPr/>
          <a:lstStyle/>
          <a:p>
            <a:endParaRPr lang="en-US"/>
          </a:p>
        </p:txBody>
      </p:sp>
      <p:sp>
        <p:nvSpPr>
          <p:cNvPr id="11" name="Text 9"/>
          <p:cNvSpPr/>
          <p:nvPr/>
        </p:nvSpPr>
        <p:spPr>
          <a:xfrm>
            <a:off x="16535400" y="4710336"/>
            <a:ext cx="78105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Arial" pitchFamily="34" charset="0"/>
                <a:ea typeface="Arial" pitchFamily="34" charset="-122"/>
                <a:cs typeface="Arial" pitchFamily="34" charset="-120"/>
              </a:rPr>
              <a:t>31%</a:t>
            </a:r>
            <a:endParaRPr lang="en-US" sz="2025" dirty="0"/>
          </a:p>
        </p:txBody>
      </p:sp>
      <p:sp>
        <p:nvSpPr>
          <p:cNvPr id="12" name="Text 10"/>
          <p:cNvSpPr/>
          <p:nvPr/>
        </p:nvSpPr>
        <p:spPr>
          <a:xfrm>
            <a:off x="6610350" y="5160392"/>
            <a:ext cx="13620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floor</a:t>
            </a:r>
            <a:endParaRPr lang="en-US" sz="2025" dirty="0"/>
          </a:p>
        </p:txBody>
      </p:sp>
      <p:sp>
        <p:nvSpPr>
          <p:cNvPr id="13" name="Shape 11"/>
          <p:cNvSpPr/>
          <p:nvPr/>
        </p:nvSpPr>
        <p:spPr>
          <a:xfrm>
            <a:off x="8001000" y="5162773"/>
            <a:ext cx="8382000" cy="285750"/>
          </a:xfrm>
          <a:prstGeom prst="roundRect">
            <a:avLst>
              <a:gd name="adj" fmla="val 16667"/>
            </a:avLst>
          </a:prstGeom>
          <a:solidFill>
            <a:srgbClr val="F1EFE9"/>
          </a:solidFill>
          <a:ln/>
        </p:spPr>
        <p:txBody>
          <a:bodyPr/>
          <a:lstStyle/>
          <a:p>
            <a:endParaRPr lang="en-US"/>
          </a:p>
        </p:txBody>
      </p:sp>
      <p:sp>
        <p:nvSpPr>
          <p:cNvPr id="14" name="Shape 12"/>
          <p:cNvSpPr/>
          <p:nvPr/>
        </p:nvSpPr>
        <p:spPr>
          <a:xfrm>
            <a:off x="8001000" y="5162773"/>
            <a:ext cx="3185145" cy="285750"/>
          </a:xfrm>
          <a:prstGeom prst="rect">
            <a:avLst/>
          </a:prstGeom>
          <a:solidFill>
            <a:srgbClr val="7C7A73"/>
          </a:solidFill>
          <a:ln/>
        </p:spPr>
        <p:txBody>
          <a:bodyPr/>
          <a:lstStyle/>
          <a:p>
            <a:endParaRPr lang="en-US"/>
          </a:p>
        </p:txBody>
      </p:sp>
      <p:sp>
        <p:nvSpPr>
          <p:cNvPr id="15" name="Text 13"/>
          <p:cNvSpPr/>
          <p:nvPr/>
        </p:nvSpPr>
        <p:spPr>
          <a:xfrm>
            <a:off x="16535400" y="5158011"/>
            <a:ext cx="78105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C7A73"/>
                </a:solidFill>
                <a:latin typeface="Arial" pitchFamily="34" charset="0"/>
                <a:ea typeface="Arial" pitchFamily="34" charset="-122"/>
                <a:cs typeface="Arial" pitchFamily="34" charset="-120"/>
              </a:rPr>
              <a:t>13%</a:t>
            </a:r>
            <a:endParaRPr lang="en-US" sz="2025" dirty="0"/>
          </a:p>
        </p:txBody>
      </p:sp>
      <p:sp>
        <p:nvSpPr>
          <p:cNvPr id="16" name="Text 14"/>
          <p:cNvSpPr/>
          <p:nvPr/>
        </p:nvSpPr>
        <p:spPr>
          <a:xfrm>
            <a:off x="6610350" y="5608067"/>
            <a:ext cx="13620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rug</a:t>
            </a:r>
            <a:endParaRPr lang="en-US" sz="2025" dirty="0"/>
          </a:p>
        </p:txBody>
      </p:sp>
      <p:sp>
        <p:nvSpPr>
          <p:cNvPr id="17" name="Shape 15"/>
          <p:cNvSpPr/>
          <p:nvPr/>
        </p:nvSpPr>
        <p:spPr>
          <a:xfrm>
            <a:off x="8001000" y="5610448"/>
            <a:ext cx="8382000" cy="285750"/>
          </a:xfrm>
          <a:prstGeom prst="roundRect">
            <a:avLst>
              <a:gd name="adj" fmla="val 16667"/>
            </a:avLst>
          </a:prstGeom>
          <a:solidFill>
            <a:srgbClr val="F1EFE9"/>
          </a:solidFill>
          <a:ln/>
        </p:spPr>
        <p:txBody>
          <a:bodyPr/>
          <a:lstStyle/>
          <a:p>
            <a:endParaRPr lang="en-US"/>
          </a:p>
        </p:txBody>
      </p:sp>
      <p:sp>
        <p:nvSpPr>
          <p:cNvPr id="18" name="Shape 16"/>
          <p:cNvSpPr/>
          <p:nvPr/>
        </p:nvSpPr>
        <p:spPr>
          <a:xfrm>
            <a:off x="8001000" y="5610448"/>
            <a:ext cx="2179290" cy="285750"/>
          </a:xfrm>
          <a:prstGeom prst="rect">
            <a:avLst/>
          </a:prstGeom>
          <a:solidFill>
            <a:srgbClr val="7C7A73"/>
          </a:solidFill>
          <a:ln/>
        </p:spPr>
        <p:txBody>
          <a:bodyPr/>
          <a:lstStyle/>
          <a:p>
            <a:endParaRPr lang="en-US"/>
          </a:p>
        </p:txBody>
      </p:sp>
      <p:sp>
        <p:nvSpPr>
          <p:cNvPr id="19" name="Text 17"/>
          <p:cNvSpPr/>
          <p:nvPr/>
        </p:nvSpPr>
        <p:spPr>
          <a:xfrm>
            <a:off x="16535400" y="5605686"/>
            <a:ext cx="78105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C7A73"/>
                </a:solidFill>
                <a:latin typeface="Arial" pitchFamily="34" charset="0"/>
                <a:ea typeface="Arial" pitchFamily="34" charset="-122"/>
                <a:cs typeface="Arial" pitchFamily="34" charset="-120"/>
              </a:rPr>
              <a:t>9%</a:t>
            </a:r>
            <a:endParaRPr lang="en-US" sz="2025" dirty="0"/>
          </a:p>
        </p:txBody>
      </p:sp>
      <p:sp>
        <p:nvSpPr>
          <p:cNvPr id="20" name="Text 18"/>
          <p:cNvSpPr/>
          <p:nvPr/>
        </p:nvSpPr>
        <p:spPr>
          <a:xfrm>
            <a:off x="6610350" y="6055742"/>
            <a:ext cx="13620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sofa</a:t>
            </a:r>
            <a:endParaRPr lang="en-US" sz="2025" dirty="0"/>
          </a:p>
        </p:txBody>
      </p:sp>
      <p:sp>
        <p:nvSpPr>
          <p:cNvPr id="21" name="Shape 19"/>
          <p:cNvSpPr/>
          <p:nvPr/>
        </p:nvSpPr>
        <p:spPr>
          <a:xfrm>
            <a:off x="8001000" y="6058123"/>
            <a:ext cx="8382000" cy="285750"/>
          </a:xfrm>
          <a:prstGeom prst="roundRect">
            <a:avLst>
              <a:gd name="adj" fmla="val 16667"/>
            </a:avLst>
          </a:prstGeom>
          <a:solidFill>
            <a:srgbClr val="F1EFE9"/>
          </a:solidFill>
          <a:ln/>
        </p:spPr>
        <p:txBody>
          <a:bodyPr/>
          <a:lstStyle/>
          <a:p>
            <a:endParaRPr lang="en-US"/>
          </a:p>
        </p:txBody>
      </p:sp>
      <p:sp>
        <p:nvSpPr>
          <p:cNvPr id="22" name="Shape 20"/>
          <p:cNvSpPr/>
          <p:nvPr/>
        </p:nvSpPr>
        <p:spPr>
          <a:xfrm>
            <a:off x="8001000" y="6058123"/>
            <a:ext cx="1424880" cy="285750"/>
          </a:xfrm>
          <a:prstGeom prst="rect">
            <a:avLst/>
          </a:prstGeom>
          <a:solidFill>
            <a:srgbClr val="7C7A73"/>
          </a:solidFill>
          <a:ln/>
        </p:spPr>
        <p:txBody>
          <a:bodyPr/>
          <a:lstStyle/>
          <a:p>
            <a:endParaRPr lang="en-US"/>
          </a:p>
        </p:txBody>
      </p:sp>
      <p:sp>
        <p:nvSpPr>
          <p:cNvPr id="23" name="Text 21"/>
          <p:cNvSpPr/>
          <p:nvPr/>
        </p:nvSpPr>
        <p:spPr>
          <a:xfrm>
            <a:off x="16535400" y="6053361"/>
            <a:ext cx="78105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C7A73"/>
                </a:solidFill>
                <a:latin typeface="Arial" pitchFamily="34" charset="0"/>
                <a:ea typeface="Arial" pitchFamily="34" charset="-122"/>
                <a:cs typeface="Arial" pitchFamily="34" charset="-120"/>
              </a:rPr>
              <a:t>6%</a:t>
            </a:r>
            <a:endParaRPr lang="en-US" sz="2025" dirty="0"/>
          </a:p>
        </p:txBody>
      </p:sp>
      <p:sp>
        <p:nvSpPr>
          <p:cNvPr id="24" name="Text 22"/>
          <p:cNvSpPr/>
          <p:nvPr/>
        </p:nvSpPr>
        <p:spPr>
          <a:xfrm>
            <a:off x="6610350" y="6501036"/>
            <a:ext cx="1169289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 + ~50,000 more, each tiny</a:t>
            </a:r>
            <a:endParaRPr lang="en-US" sz="1800" dirty="0"/>
          </a:p>
        </p:txBody>
      </p:sp>
      <p:sp>
        <p:nvSpPr>
          <p:cNvPr id="25" name="Shape 23"/>
          <p:cNvSpPr/>
          <p:nvPr/>
        </p:nvSpPr>
        <p:spPr>
          <a:xfrm>
            <a:off x="1047750" y="9520238"/>
            <a:ext cx="16192500" cy="9525"/>
          </a:xfrm>
          <a:prstGeom prst="rect">
            <a:avLst/>
          </a:prstGeom>
          <a:solidFill>
            <a:srgbClr val="E3E1DA"/>
          </a:solidFill>
          <a:ln/>
        </p:spPr>
        <p:txBody>
          <a:bodyPr/>
          <a:lstStyle/>
          <a:p>
            <a:endParaRPr lang="en-US"/>
          </a:p>
        </p:txBody>
      </p:sp>
      <p:sp>
        <p:nvSpPr>
          <p:cNvPr id="26" name="Text 2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7" name="Text 25"/>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One Job: Predicting the Next Token</a:t>
            </a:r>
            <a:endParaRPr lang="en-US" sz="4800" dirty="0"/>
          </a:p>
        </p:txBody>
      </p:sp>
      <p:sp>
        <p:nvSpPr>
          <p:cNvPr id="5" name="Text 3"/>
          <p:cNvSpPr/>
          <p:nvPr/>
        </p:nvSpPr>
        <p:spPr>
          <a:xfrm>
            <a:off x="1047750" y="4221287"/>
            <a:ext cx="586740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The prompt</a:t>
            </a:r>
            <a:endParaRPr lang="en-US" sz="2025" dirty="0"/>
          </a:p>
        </p:txBody>
      </p:sp>
      <p:sp>
        <p:nvSpPr>
          <p:cNvPr id="6" name="Shape 4"/>
          <p:cNvSpPr/>
          <p:nvPr/>
        </p:nvSpPr>
        <p:spPr>
          <a:xfrm>
            <a:off x="1047750" y="4668962"/>
            <a:ext cx="5334000" cy="1603921"/>
          </a:xfrm>
          <a:prstGeom prst="roundRect">
            <a:avLst>
              <a:gd name="adj" fmla="val 8314"/>
            </a:avLst>
          </a:prstGeom>
          <a:solidFill>
            <a:srgbClr val="F8F7F3"/>
          </a:solidFill>
          <a:ln w="9525">
            <a:solidFill>
              <a:srgbClr val="E3E1DA"/>
            </a:solidFill>
            <a:prstDash val="solid"/>
          </a:ln>
        </p:spPr>
        <p:txBody>
          <a:bodyPr/>
          <a:lstStyle/>
          <a:p>
            <a:endParaRPr lang="en-US"/>
          </a:p>
        </p:txBody>
      </p:sp>
      <p:sp>
        <p:nvSpPr>
          <p:cNvPr id="7" name="Text 5"/>
          <p:cNvSpPr/>
          <p:nvPr/>
        </p:nvSpPr>
        <p:spPr>
          <a:xfrm>
            <a:off x="1362075" y="4964237"/>
            <a:ext cx="4865370" cy="1051471"/>
          </a:xfrm>
          <a:prstGeom prst="rect">
            <a:avLst/>
          </a:prstGeom>
          <a:noFill/>
          <a:ln/>
        </p:spPr>
        <p:txBody>
          <a:bodyPr wrap="square" lIns="25400" tIns="25400" rIns="25400" bIns="25400" rtlCol="0" anchor="t">
            <a:normAutofit/>
          </a:bodyPr>
          <a:lstStyle/>
          <a:p>
            <a:pPr marL="0" indent="0" algn="l">
              <a:lnSpc>
                <a:spcPct val="123721"/>
              </a:lnSpc>
              <a:buNone/>
            </a:pPr>
            <a:r>
              <a:rPr lang="en-US" sz="2850" dirty="0">
                <a:solidFill>
                  <a:srgbClr val="1A1A1A"/>
                </a:solidFill>
                <a:highlight>
                  <a:srgbClr val="F8F7F3"/>
                </a:highlight>
                <a:latin typeface="Courier New" pitchFamily="34" charset="0"/>
                <a:ea typeface="Courier New" pitchFamily="34" charset="-122"/>
                <a:cs typeface="Courier New" pitchFamily="34" charset="-120"/>
              </a:rPr>
              <a:t>After Monday comes </a:t>
            </a:r>
            <a:r>
              <a:rPr lang="en-US" sz="2850" dirty="0">
                <a:solidFill>
                  <a:srgbClr val="FFFFFF"/>
                </a:solidFill>
                <a:highlight>
                  <a:srgbClr val="1F6FEB"/>
                </a:highlight>
                <a:latin typeface="Courier New" pitchFamily="34" charset="0"/>
                <a:ea typeface="Courier New" pitchFamily="34" charset="-122"/>
                <a:cs typeface="Courier New" pitchFamily="34" charset="-120"/>
              </a:rPr>
              <a:t>?</a:t>
            </a:r>
            <a:endParaRPr lang="en-US" sz="2850" dirty="0"/>
          </a:p>
        </p:txBody>
      </p:sp>
      <p:sp>
        <p:nvSpPr>
          <p:cNvPr id="8" name="Text 6"/>
          <p:cNvSpPr/>
          <p:nvPr/>
        </p:nvSpPr>
        <p:spPr>
          <a:xfrm>
            <a:off x="1047750" y="6520532"/>
            <a:ext cx="5494020"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3D3D3D"/>
                </a:solidFill>
                <a:latin typeface="Arial" pitchFamily="34" charset="0"/>
                <a:ea typeface="Arial" pitchFamily="34" charset="-122"/>
                <a:cs typeface="Arial" pitchFamily="34" charset="-120"/>
              </a:rPr>
              <a:t>The model scores </a:t>
            </a:r>
            <a:r>
              <a:rPr lang="en-US" sz="2025" b="1" dirty="0">
                <a:solidFill>
                  <a:srgbClr val="1A1A1A"/>
                </a:solidFill>
                <a:latin typeface="Arial" pitchFamily="34" charset="0"/>
                <a:ea typeface="Arial" pitchFamily="34" charset="-122"/>
                <a:cs typeface="Arial" pitchFamily="34" charset="-120"/>
              </a:rPr>
              <a:t>every </a:t>
            </a:r>
            <a:r>
              <a:rPr lang="en-US" sz="2025" dirty="0">
                <a:solidFill>
                  <a:srgbClr val="3D3D3D"/>
                </a:solidFill>
                <a:latin typeface="Arial" pitchFamily="34" charset="0"/>
                <a:ea typeface="Arial" pitchFamily="34" charset="-122"/>
                <a:cs typeface="Arial" pitchFamily="34" charset="-120"/>
              </a:rPr>
              <a:t>possible next token, then picks from the top.</a:t>
            </a:r>
            <a:endParaRPr lang="en-US" sz="2025" dirty="0"/>
          </a:p>
        </p:txBody>
      </p:sp>
      <p:sp>
        <p:nvSpPr>
          <p:cNvPr id="9" name="Text 7"/>
          <p:cNvSpPr/>
          <p:nvPr/>
        </p:nvSpPr>
        <p:spPr>
          <a:xfrm>
            <a:off x="7048500" y="4510311"/>
            <a:ext cx="1121092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Probability of the next token</a:t>
            </a:r>
            <a:endParaRPr lang="en-US" sz="2025" dirty="0"/>
          </a:p>
        </p:txBody>
      </p:sp>
      <p:sp>
        <p:nvSpPr>
          <p:cNvPr id="10" name="Text 8"/>
          <p:cNvSpPr/>
          <p:nvPr/>
        </p:nvSpPr>
        <p:spPr>
          <a:xfrm>
            <a:off x="7048500" y="5000848"/>
            <a:ext cx="230505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Tuesday</a:t>
            </a:r>
            <a:endParaRPr lang="en-US" sz="2400" dirty="0"/>
          </a:p>
        </p:txBody>
      </p:sp>
      <p:sp>
        <p:nvSpPr>
          <p:cNvPr id="11" name="Shape 9"/>
          <p:cNvSpPr/>
          <p:nvPr/>
        </p:nvSpPr>
        <p:spPr>
          <a:xfrm>
            <a:off x="9353550" y="5000848"/>
            <a:ext cx="6800850" cy="342900"/>
          </a:xfrm>
          <a:prstGeom prst="roundRect">
            <a:avLst>
              <a:gd name="adj" fmla="val 16667"/>
            </a:avLst>
          </a:prstGeom>
          <a:solidFill>
            <a:srgbClr val="F1EFE9"/>
          </a:solidFill>
          <a:ln/>
        </p:spPr>
        <p:txBody>
          <a:bodyPr/>
          <a:lstStyle/>
          <a:p>
            <a:endParaRPr lang="en-US"/>
          </a:p>
        </p:txBody>
      </p:sp>
      <p:sp>
        <p:nvSpPr>
          <p:cNvPr id="12" name="Shape 10"/>
          <p:cNvSpPr/>
          <p:nvPr/>
        </p:nvSpPr>
        <p:spPr>
          <a:xfrm>
            <a:off x="9353550" y="5000848"/>
            <a:ext cx="6324749" cy="342900"/>
          </a:xfrm>
          <a:prstGeom prst="rect">
            <a:avLst/>
          </a:prstGeom>
          <a:solidFill>
            <a:srgbClr val="1F6FEB"/>
          </a:solidFill>
          <a:ln/>
        </p:spPr>
        <p:txBody>
          <a:bodyPr/>
          <a:lstStyle/>
          <a:p>
            <a:endParaRPr lang="en-US"/>
          </a:p>
        </p:txBody>
      </p:sp>
      <p:sp>
        <p:nvSpPr>
          <p:cNvPr id="13" name="Text 11"/>
          <p:cNvSpPr/>
          <p:nvPr/>
        </p:nvSpPr>
        <p:spPr>
          <a:xfrm>
            <a:off x="16363950" y="4996086"/>
            <a:ext cx="95250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Arial" pitchFamily="34" charset="0"/>
                <a:ea typeface="Arial" pitchFamily="34" charset="-122"/>
                <a:cs typeface="Arial" pitchFamily="34" charset="-120"/>
              </a:rPr>
              <a:t>93%</a:t>
            </a:r>
            <a:endParaRPr lang="en-US" sz="2400" dirty="0"/>
          </a:p>
        </p:txBody>
      </p:sp>
      <p:sp>
        <p:nvSpPr>
          <p:cNvPr id="14" name="Text 12"/>
          <p:cNvSpPr/>
          <p:nvPr/>
        </p:nvSpPr>
        <p:spPr>
          <a:xfrm>
            <a:off x="7048500" y="5543773"/>
            <a:ext cx="230505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7C7A73"/>
                </a:solidFill>
                <a:latin typeface="Courier New" pitchFamily="34" charset="0"/>
                <a:ea typeface="Courier New" pitchFamily="34" charset="-122"/>
                <a:cs typeface="Courier New" pitchFamily="34" charset="-120"/>
              </a:rPr>
              <a:t>the</a:t>
            </a:r>
            <a:endParaRPr lang="en-US" sz="2400" dirty="0"/>
          </a:p>
        </p:txBody>
      </p:sp>
      <p:sp>
        <p:nvSpPr>
          <p:cNvPr id="15" name="Shape 13"/>
          <p:cNvSpPr/>
          <p:nvPr/>
        </p:nvSpPr>
        <p:spPr>
          <a:xfrm>
            <a:off x="9353550" y="5543773"/>
            <a:ext cx="6800850" cy="342900"/>
          </a:xfrm>
          <a:prstGeom prst="roundRect">
            <a:avLst>
              <a:gd name="adj" fmla="val 16667"/>
            </a:avLst>
          </a:prstGeom>
          <a:solidFill>
            <a:srgbClr val="F1EFE9"/>
          </a:solidFill>
          <a:ln/>
        </p:spPr>
        <p:txBody>
          <a:bodyPr/>
          <a:lstStyle/>
          <a:p>
            <a:endParaRPr lang="en-US"/>
          </a:p>
        </p:txBody>
      </p:sp>
      <p:sp>
        <p:nvSpPr>
          <p:cNvPr id="16" name="Shape 14"/>
          <p:cNvSpPr/>
          <p:nvPr/>
        </p:nvSpPr>
        <p:spPr>
          <a:xfrm>
            <a:off x="9353550" y="5543773"/>
            <a:ext cx="271983" cy="342900"/>
          </a:xfrm>
          <a:prstGeom prst="rect">
            <a:avLst/>
          </a:prstGeom>
          <a:solidFill>
            <a:srgbClr val="7C7A73"/>
          </a:solidFill>
          <a:ln/>
        </p:spPr>
        <p:txBody>
          <a:bodyPr/>
          <a:lstStyle/>
          <a:p>
            <a:endParaRPr lang="en-US"/>
          </a:p>
        </p:txBody>
      </p:sp>
      <p:sp>
        <p:nvSpPr>
          <p:cNvPr id="17" name="Text 15"/>
          <p:cNvSpPr/>
          <p:nvPr/>
        </p:nvSpPr>
        <p:spPr>
          <a:xfrm>
            <a:off x="16363950" y="5539011"/>
            <a:ext cx="95250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7C7A73"/>
                </a:solidFill>
                <a:latin typeface="Arial" pitchFamily="34" charset="0"/>
                <a:ea typeface="Arial" pitchFamily="34" charset="-122"/>
                <a:cs typeface="Arial" pitchFamily="34" charset="-120"/>
              </a:rPr>
              <a:t>4%</a:t>
            </a:r>
            <a:endParaRPr lang="en-US" sz="2400" dirty="0"/>
          </a:p>
        </p:txBody>
      </p:sp>
      <p:sp>
        <p:nvSpPr>
          <p:cNvPr id="18" name="Text 16"/>
          <p:cNvSpPr/>
          <p:nvPr/>
        </p:nvSpPr>
        <p:spPr>
          <a:xfrm>
            <a:off x="7048500" y="6086698"/>
            <a:ext cx="230505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7C7A73"/>
                </a:solidFill>
                <a:latin typeface="Courier New" pitchFamily="34" charset="0"/>
                <a:ea typeface="Courier New" pitchFamily="34" charset="-122"/>
                <a:cs typeface="Courier New" pitchFamily="34" charset="-120"/>
              </a:rPr>
              <a:t>a</a:t>
            </a:r>
            <a:endParaRPr lang="en-US" sz="2400" dirty="0"/>
          </a:p>
        </p:txBody>
      </p:sp>
      <p:sp>
        <p:nvSpPr>
          <p:cNvPr id="19" name="Shape 17"/>
          <p:cNvSpPr/>
          <p:nvPr/>
        </p:nvSpPr>
        <p:spPr>
          <a:xfrm>
            <a:off x="9353550" y="6086698"/>
            <a:ext cx="6800850" cy="342900"/>
          </a:xfrm>
          <a:prstGeom prst="roundRect">
            <a:avLst>
              <a:gd name="adj" fmla="val 16667"/>
            </a:avLst>
          </a:prstGeom>
          <a:solidFill>
            <a:srgbClr val="F1EFE9"/>
          </a:solidFill>
          <a:ln/>
        </p:spPr>
        <p:txBody>
          <a:bodyPr/>
          <a:lstStyle/>
          <a:p>
            <a:endParaRPr lang="en-US"/>
          </a:p>
        </p:txBody>
      </p:sp>
      <p:sp>
        <p:nvSpPr>
          <p:cNvPr id="20" name="Shape 18"/>
          <p:cNvSpPr/>
          <p:nvPr/>
        </p:nvSpPr>
        <p:spPr>
          <a:xfrm>
            <a:off x="9353550" y="6086698"/>
            <a:ext cx="135954" cy="342900"/>
          </a:xfrm>
          <a:prstGeom prst="rect">
            <a:avLst/>
          </a:prstGeom>
          <a:solidFill>
            <a:srgbClr val="7C7A73"/>
          </a:solidFill>
          <a:ln/>
        </p:spPr>
        <p:txBody>
          <a:bodyPr/>
          <a:lstStyle/>
          <a:p>
            <a:endParaRPr lang="en-US"/>
          </a:p>
        </p:txBody>
      </p:sp>
      <p:sp>
        <p:nvSpPr>
          <p:cNvPr id="21" name="Text 19"/>
          <p:cNvSpPr/>
          <p:nvPr/>
        </p:nvSpPr>
        <p:spPr>
          <a:xfrm>
            <a:off x="16363950" y="6081936"/>
            <a:ext cx="95250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7C7A73"/>
                </a:solidFill>
                <a:latin typeface="Arial" pitchFamily="34" charset="0"/>
                <a:ea typeface="Arial" pitchFamily="34" charset="-122"/>
                <a:cs typeface="Arial" pitchFamily="34" charset="-120"/>
              </a:rPr>
              <a:t>2%</a:t>
            </a:r>
            <a:endParaRPr lang="en-US" sz="2400" dirty="0"/>
          </a:p>
        </p:txBody>
      </p:sp>
      <p:sp>
        <p:nvSpPr>
          <p:cNvPr id="22" name="Text 20"/>
          <p:cNvSpPr/>
          <p:nvPr/>
        </p:nvSpPr>
        <p:spPr>
          <a:xfrm>
            <a:off x="7048500" y="6629623"/>
            <a:ext cx="230505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7C7A73"/>
                </a:solidFill>
                <a:latin typeface="Courier New" pitchFamily="34" charset="0"/>
                <a:ea typeface="Courier New" pitchFamily="34" charset="-122"/>
                <a:cs typeface="Courier New" pitchFamily="34" charset="-120"/>
              </a:rPr>
              <a:t>soon</a:t>
            </a:r>
            <a:endParaRPr lang="en-US" sz="2400" dirty="0"/>
          </a:p>
        </p:txBody>
      </p:sp>
      <p:sp>
        <p:nvSpPr>
          <p:cNvPr id="23" name="Shape 21"/>
          <p:cNvSpPr/>
          <p:nvPr/>
        </p:nvSpPr>
        <p:spPr>
          <a:xfrm>
            <a:off x="9353550" y="6629623"/>
            <a:ext cx="6800850" cy="342900"/>
          </a:xfrm>
          <a:prstGeom prst="roundRect">
            <a:avLst>
              <a:gd name="adj" fmla="val 16667"/>
            </a:avLst>
          </a:prstGeom>
          <a:solidFill>
            <a:srgbClr val="F1EFE9"/>
          </a:solidFill>
          <a:ln/>
        </p:spPr>
        <p:txBody>
          <a:bodyPr/>
          <a:lstStyle/>
          <a:p>
            <a:endParaRPr lang="en-US"/>
          </a:p>
        </p:txBody>
      </p:sp>
      <p:sp>
        <p:nvSpPr>
          <p:cNvPr id="24" name="Shape 22"/>
          <p:cNvSpPr/>
          <p:nvPr/>
        </p:nvSpPr>
        <p:spPr>
          <a:xfrm>
            <a:off x="9353550" y="6629623"/>
            <a:ext cx="67940" cy="342900"/>
          </a:xfrm>
          <a:prstGeom prst="rect">
            <a:avLst/>
          </a:prstGeom>
          <a:solidFill>
            <a:srgbClr val="7C7A73"/>
          </a:solidFill>
          <a:ln/>
        </p:spPr>
        <p:txBody>
          <a:bodyPr/>
          <a:lstStyle/>
          <a:p>
            <a:endParaRPr lang="en-US"/>
          </a:p>
        </p:txBody>
      </p:sp>
      <p:sp>
        <p:nvSpPr>
          <p:cNvPr id="25" name="Text 23"/>
          <p:cNvSpPr/>
          <p:nvPr/>
        </p:nvSpPr>
        <p:spPr>
          <a:xfrm>
            <a:off x="16363950" y="6624861"/>
            <a:ext cx="95250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7C7A73"/>
                </a:solidFill>
                <a:latin typeface="Arial" pitchFamily="34" charset="0"/>
                <a:ea typeface="Arial" pitchFamily="34" charset="-122"/>
                <a:cs typeface="Arial" pitchFamily="34" charset="-120"/>
              </a:rPr>
              <a:t>1%</a:t>
            </a:r>
            <a:endParaRPr lang="en-US" sz="2400" dirty="0"/>
          </a:p>
        </p:txBody>
      </p:sp>
      <p:sp>
        <p:nvSpPr>
          <p:cNvPr id="26" name="Shape 24"/>
          <p:cNvSpPr/>
          <p:nvPr/>
        </p:nvSpPr>
        <p:spPr>
          <a:xfrm>
            <a:off x="1047750" y="9520238"/>
            <a:ext cx="16192500" cy="9525"/>
          </a:xfrm>
          <a:prstGeom prst="rect">
            <a:avLst/>
          </a:prstGeom>
          <a:solidFill>
            <a:srgbClr val="E3E1DA"/>
          </a:solidFill>
          <a:ln/>
        </p:spPr>
        <p:txBody>
          <a:bodyPr/>
          <a:lstStyle/>
          <a:p>
            <a:endParaRPr lang="en-US"/>
          </a:p>
        </p:txBody>
      </p:sp>
      <p:sp>
        <p:nvSpPr>
          <p:cNvPr id="27" name="Text 2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8" name="Text 26"/>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You Already Use This Every Day</a:t>
            </a:r>
            <a:endParaRPr lang="en-US" sz="4800" dirty="0"/>
          </a:p>
        </p:txBody>
      </p:sp>
      <p:sp>
        <p:nvSpPr>
          <p:cNvPr id="5" name="Shape 3"/>
          <p:cNvSpPr/>
          <p:nvPr/>
        </p:nvSpPr>
        <p:spPr>
          <a:xfrm>
            <a:off x="1047750" y="4351734"/>
            <a:ext cx="7239000" cy="2784128"/>
          </a:xfrm>
          <a:prstGeom prst="roundRect">
            <a:avLst>
              <a:gd name="adj" fmla="val 5474"/>
            </a:avLst>
          </a:prstGeom>
          <a:solidFill>
            <a:srgbClr val="F8F7F3"/>
          </a:solidFill>
          <a:ln w="9525">
            <a:solidFill>
              <a:srgbClr val="E3E1DA"/>
            </a:solidFill>
            <a:prstDash val="solid"/>
          </a:ln>
        </p:spPr>
        <p:txBody>
          <a:bodyPr/>
          <a:lstStyle/>
          <a:p>
            <a:endParaRPr lang="en-US"/>
          </a:p>
        </p:txBody>
      </p:sp>
      <p:sp>
        <p:nvSpPr>
          <p:cNvPr id="6" name="Shape 4"/>
          <p:cNvSpPr/>
          <p:nvPr/>
        </p:nvSpPr>
        <p:spPr>
          <a:xfrm>
            <a:off x="1057275" y="4923234"/>
            <a:ext cx="7219950" cy="9525"/>
          </a:xfrm>
          <a:prstGeom prst="rect">
            <a:avLst/>
          </a:prstGeom>
          <a:solidFill>
            <a:srgbClr val="E3E1DA"/>
          </a:solidFill>
          <a:ln/>
        </p:spPr>
        <p:txBody>
          <a:bodyPr/>
          <a:lstStyle/>
          <a:p>
            <a:endParaRPr lang="en-US"/>
          </a:p>
        </p:txBody>
      </p:sp>
      <p:sp>
        <p:nvSpPr>
          <p:cNvPr id="7" name="Shape 5"/>
          <p:cNvSpPr/>
          <p:nvPr/>
        </p:nvSpPr>
        <p:spPr>
          <a:xfrm>
            <a:off x="1266825" y="4575572"/>
            <a:ext cx="133350" cy="133350"/>
          </a:xfrm>
          <a:prstGeom prst="ellipse">
            <a:avLst/>
          </a:prstGeom>
          <a:solidFill>
            <a:srgbClr val="E5695F"/>
          </a:solidFill>
          <a:ln/>
        </p:spPr>
        <p:txBody>
          <a:bodyPr/>
          <a:lstStyle/>
          <a:p>
            <a:endParaRPr lang="en-US"/>
          </a:p>
        </p:txBody>
      </p:sp>
      <p:sp>
        <p:nvSpPr>
          <p:cNvPr id="8" name="Shape 6"/>
          <p:cNvSpPr/>
          <p:nvPr/>
        </p:nvSpPr>
        <p:spPr>
          <a:xfrm>
            <a:off x="1495425" y="4575572"/>
            <a:ext cx="133350" cy="133350"/>
          </a:xfrm>
          <a:prstGeom prst="ellipse">
            <a:avLst/>
          </a:prstGeom>
          <a:solidFill>
            <a:srgbClr val="E6B344"/>
          </a:solidFill>
          <a:ln/>
        </p:spPr>
        <p:txBody>
          <a:bodyPr/>
          <a:lstStyle/>
          <a:p>
            <a:endParaRPr lang="en-US"/>
          </a:p>
        </p:txBody>
      </p:sp>
      <p:sp>
        <p:nvSpPr>
          <p:cNvPr id="9" name="Shape 7"/>
          <p:cNvSpPr/>
          <p:nvPr/>
        </p:nvSpPr>
        <p:spPr>
          <a:xfrm>
            <a:off x="1724025" y="4575572"/>
            <a:ext cx="133350" cy="133350"/>
          </a:xfrm>
          <a:prstGeom prst="ellipse">
            <a:avLst/>
          </a:prstGeom>
          <a:solidFill>
            <a:srgbClr val="69B06A"/>
          </a:solidFill>
          <a:ln/>
        </p:spPr>
        <p:txBody>
          <a:bodyPr/>
          <a:lstStyle/>
          <a:p>
            <a:endParaRPr lang="en-US"/>
          </a:p>
        </p:txBody>
      </p:sp>
      <p:sp>
        <p:nvSpPr>
          <p:cNvPr id="10" name="Text 8"/>
          <p:cNvSpPr/>
          <p:nvPr/>
        </p:nvSpPr>
        <p:spPr>
          <a:xfrm>
            <a:off x="2066925" y="4513659"/>
            <a:ext cx="1036513"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main.py</a:t>
            </a:r>
            <a:endParaRPr lang="en-US" sz="1800" dirty="0"/>
          </a:p>
        </p:txBody>
      </p:sp>
      <p:sp>
        <p:nvSpPr>
          <p:cNvPr id="11" name="Text 9"/>
          <p:cNvSpPr/>
          <p:nvPr/>
        </p:nvSpPr>
        <p:spPr>
          <a:xfrm>
            <a:off x="1362075" y="5256609"/>
            <a:ext cx="6808661" cy="556245"/>
          </a:xfrm>
          <a:prstGeom prst="rect">
            <a:avLst/>
          </a:prstGeom>
          <a:noFill/>
          <a:ln/>
        </p:spPr>
        <p:txBody>
          <a:bodyPr wrap="square" lIns="25400" tIns="25400" rIns="25400" bIns="25400" rtlCol="0" anchor="t">
            <a:normAutofit/>
          </a:bodyPr>
          <a:lstStyle/>
          <a:p>
            <a:pPr marL="0" indent="0" algn="l">
              <a:lnSpc>
                <a:spcPct val="151111"/>
              </a:lnSpc>
              <a:buNone/>
            </a:pPr>
            <a:r>
              <a:rPr lang="en-US" sz="2400" dirty="0">
                <a:solidFill>
                  <a:srgbClr val="7A4FD0"/>
                </a:solidFill>
                <a:latin typeface="Courier New" pitchFamily="34" charset="0"/>
                <a:ea typeface="Courier New" pitchFamily="34" charset="-122"/>
                <a:cs typeface="Courier New" pitchFamily="34" charset="-120"/>
              </a:rPr>
              <a:t>rows </a:t>
            </a:r>
            <a:r>
              <a:rPr lang="en-US" sz="2400" dirty="0">
                <a:solidFill>
                  <a:srgbClr val="1A1A1A"/>
                </a:solidFill>
                <a:latin typeface="Courier New" pitchFamily="34" charset="0"/>
                <a:ea typeface="Courier New" pitchFamily="34" charset="-122"/>
                <a:cs typeface="Courier New" pitchFamily="34" charset="-120"/>
              </a:rPr>
              <a:t>= load_rows(path)</a:t>
            </a:r>
            <a:endParaRPr lang="en-US" sz="2400" dirty="0"/>
          </a:p>
        </p:txBody>
      </p:sp>
      <p:sp>
        <p:nvSpPr>
          <p:cNvPr id="12" name="Text 10"/>
          <p:cNvSpPr/>
          <p:nvPr/>
        </p:nvSpPr>
        <p:spPr>
          <a:xfrm>
            <a:off x="1362075" y="5774754"/>
            <a:ext cx="6808661" cy="556245"/>
          </a:xfrm>
          <a:prstGeom prst="rect">
            <a:avLst/>
          </a:prstGeom>
          <a:noFill/>
          <a:ln/>
        </p:spPr>
        <p:txBody>
          <a:bodyPr wrap="square" lIns="25400" tIns="25400" rIns="25400" bIns="25400" rtlCol="0" anchor="t">
            <a:normAutofit/>
          </a:bodyPr>
          <a:lstStyle/>
          <a:p>
            <a:pPr marL="0" indent="0" algn="l">
              <a:lnSpc>
                <a:spcPct val="151111"/>
              </a:lnSpc>
              <a:buNone/>
            </a:pPr>
            <a:r>
              <a:rPr lang="en-US" sz="2400" dirty="0">
                <a:solidFill>
                  <a:srgbClr val="1F6FEB"/>
                </a:solidFill>
                <a:latin typeface="Courier New" pitchFamily="34" charset="0"/>
                <a:ea typeface="Courier New" pitchFamily="34" charset="-122"/>
                <a:cs typeface="Courier New" pitchFamily="34" charset="-120"/>
              </a:rPr>
              <a:t>for </a:t>
            </a:r>
            <a:r>
              <a:rPr lang="en-US" sz="2400" dirty="0">
                <a:solidFill>
                  <a:srgbClr val="1A1A1A"/>
                </a:solidFill>
                <a:latin typeface="Courier New" pitchFamily="34" charset="0"/>
                <a:ea typeface="Courier New" pitchFamily="34" charset="-122"/>
                <a:cs typeface="Courier New" pitchFamily="34" charset="-120"/>
              </a:rPr>
              <a:t>i </a:t>
            </a:r>
            <a:r>
              <a:rPr lang="en-US" sz="2400" dirty="0">
                <a:solidFill>
                  <a:srgbClr val="1F6FEB"/>
                </a:solidFill>
                <a:latin typeface="Courier New" pitchFamily="34" charset="0"/>
                <a:ea typeface="Courier New" pitchFamily="34" charset="-122"/>
                <a:cs typeface="Courier New" pitchFamily="34" charset="-120"/>
              </a:rPr>
              <a:t>in </a:t>
            </a:r>
            <a:r>
              <a:rPr lang="en-US" sz="2400" dirty="0">
                <a:solidFill>
                  <a:srgbClr val="3D3D3D"/>
                </a:solidFill>
                <a:highlight>
                  <a:srgbClr val="FFF1A8"/>
                </a:highlight>
                <a:latin typeface="Courier New" pitchFamily="34" charset="0"/>
                <a:ea typeface="Courier New" pitchFamily="34" charset="-122"/>
                <a:cs typeface="Courier New" pitchFamily="34" charset="-120"/>
              </a:rPr>
              <a:t>range(len(rows)):</a:t>
            </a:r>
            <a:endParaRPr lang="en-US" sz="2400" dirty="0"/>
          </a:p>
        </p:txBody>
      </p:sp>
      <p:sp>
        <p:nvSpPr>
          <p:cNvPr id="13" name="Text 11"/>
          <p:cNvSpPr/>
          <p:nvPr/>
        </p:nvSpPr>
        <p:spPr>
          <a:xfrm>
            <a:off x="1362075" y="6616750"/>
            <a:ext cx="6826949"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The highlighted ghost text is the model’s next-token guess.</a:t>
            </a:r>
            <a:endParaRPr lang="en-US" sz="1800" dirty="0"/>
          </a:p>
        </p:txBody>
      </p:sp>
      <p:sp>
        <p:nvSpPr>
          <p:cNvPr id="14" name="Text 12"/>
          <p:cNvSpPr/>
          <p:nvPr/>
        </p:nvSpPr>
        <p:spPr>
          <a:xfrm>
            <a:off x="8858250" y="4124548"/>
            <a:ext cx="922020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The same idea, everywhere you already work:</a:t>
            </a:r>
            <a:endParaRPr lang="en-US" sz="2700" dirty="0"/>
          </a:p>
        </p:txBody>
      </p:sp>
      <p:sp>
        <p:nvSpPr>
          <p:cNvPr id="15" name="Shape 13"/>
          <p:cNvSpPr/>
          <p:nvPr/>
        </p:nvSpPr>
        <p:spPr>
          <a:xfrm>
            <a:off x="8858250" y="4881786"/>
            <a:ext cx="114300" cy="114300"/>
          </a:xfrm>
          <a:prstGeom prst="roundRect">
            <a:avLst>
              <a:gd name="adj" fmla="val 25000"/>
            </a:avLst>
          </a:prstGeom>
          <a:solidFill>
            <a:srgbClr val="1F6FEB"/>
          </a:solidFill>
          <a:ln/>
        </p:spPr>
        <p:txBody>
          <a:bodyPr/>
          <a:lstStyle/>
          <a:p>
            <a:endParaRPr lang="en-US"/>
          </a:p>
        </p:txBody>
      </p:sp>
      <p:sp>
        <p:nvSpPr>
          <p:cNvPr id="16" name="Text 14"/>
          <p:cNvSpPr/>
          <p:nvPr/>
        </p:nvSpPr>
        <p:spPr>
          <a:xfrm>
            <a:off x="9144000" y="4767486"/>
            <a:ext cx="4153320" cy="381000"/>
          </a:xfrm>
          <a:prstGeom prst="rect">
            <a:avLst/>
          </a:prstGeom>
          <a:noFill/>
          <a:ln/>
        </p:spPr>
        <p:txBody>
          <a:bodyPr wrap="square" lIns="0" tIns="0" rIns="0" bIns="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Editor autocomplete &amp; Copilot</a:t>
            </a:r>
            <a:endParaRPr lang="en-US" sz="2400" dirty="0"/>
          </a:p>
        </p:txBody>
      </p:sp>
      <p:sp>
        <p:nvSpPr>
          <p:cNvPr id="17" name="Shape 15"/>
          <p:cNvSpPr/>
          <p:nvPr/>
        </p:nvSpPr>
        <p:spPr>
          <a:xfrm>
            <a:off x="8858250" y="5424711"/>
            <a:ext cx="114300" cy="114300"/>
          </a:xfrm>
          <a:prstGeom prst="roundRect">
            <a:avLst>
              <a:gd name="adj" fmla="val 25000"/>
            </a:avLst>
          </a:prstGeom>
          <a:solidFill>
            <a:srgbClr val="178A4C"/>
          </a:solidFill>
          <a:ln/>
        </p:spPr>
        <p:txBody>
          <a:bodyPr/>
          <a:lstStyle/>
          <a:p>
            <a:endParaRPr lang="en-US"/>
          </a:p>
        </p:txBody>
      </p:sp>
      <p:sp>
        <p:nvSpPr>
          <p:cNvPr id="18" name="Text 16"/>
          <p:cNvSpPr/>
          <p:nvPr/>
        </p:nvSpPr>
        <p:spPr>
          <a:xfrm>
            <a:off x="9144000" y="5310411"/>
            <a:ext cx="4049234" cy="381000"/>
          </a:xfrm>
          <a:prstGeom prst="rect">
            <a:avLst/>
          </a:prstGeom>
          <a:noFill/>
          <a:ln/>
        </p:spPr>
        <p:txBody>
          <a:bodyPr wrap="square" lIns="0" tIns="0" rIns="0" bIns="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Phone keyboard suggestions</a:t>
            </a:r>
            <a:endParaRPr lang="en-US" sz="2400" dirty="0"/>
          </a:p>
        </p:txBody>
      </p:sp>
      <p:sp>
        <p:nvSpPr>
          <p:cNvPr id="19" name="Shape 17"/>
          <p:cNvSpPr/>
          <p:nvPr/>
        </p:nvSpPr>
        <p:spPr>
          <a:xfrm>
            <a:off x="8858250" y="5967636"/>
            <a:ext cx="114300" cy="114300"/>
          </a:xfrm>
          <a:prstGeom prst="roundRect">
            <a:avLst>
              <a:gd name="adj" fmla="val 25000"/>
            </a:avLst>
          </a:prstGeom>
          <a:solidFill>
            <a:srgbClr val="C77D0A"/>
          </a:solidFill>
          <a:ln/>
        </p:spPr>
        <p:txBody>
          <a:bodyPr/>
          <a:lstStyle/>
          <a:p>
            <a:endParaRPr lang="en-US"/>
          </a:p>
        </p:txBody>
      </p:sp>
      <p:sp>
        <p:nvSpPr>
          <p:cNvPr id="20" name="Text 18"/>
          <p:cNvSpPr/>
          <p:nvPr/>
        </p:nvSpPr>
        <p:spPr>
          <a:xfrm>
            <a:off x="9144000" y="5853336"/>
            <a:ext cx="3175157" cy="381000"/>
          </a:xfrm>
          <a:prstGeom prst="rect">
            <a:avLst/>
          </a:prstGeom>
          <a:noFill/>
          <a:ln/>
        </p:spPr>
        <p:txBody>
          <a:bodyPr wrap="square" lIns="0" tIns="0" rIns="0" bIns="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Gmail Smart Compose</a:t>
            </a:r>
            <a:endParaRPr lang="en-US" sz="2400" dirty="0"/>
          </a:p>
        </p:txBody>
      </p:sp>
      <p:sp>
        <p:nvSpPr>
          <p:cNvPr id="21" name="Shape 19"/>
          <p:cNvSpPr/>
          <p:nvPr/>
        </p:nvSpPr>
        <p:spPr>
          <a:xfrm>
            <a:off x="8858250" y="6510561"/>
            <a:ext cx="114300" cy="114300"/>
          </a:xfrm>
          <a:prstGeom prst="roundRect">
            <a:avLst>
              <a:gd name="adj" fmla="val 25000"/>
            </a:avLst>
          </a:prstGeom>
          <a:solidFill>
            <a:srgbClr val="7A4FD0"/>
          </a:solidFill>
          <a:ln/>
        </p:spPr>
        <p:txBody>
          <a:bodyPr/>
          <a:lstStyle/>
          <a:p>
            <a:endParaRPr lang="en-US"/>
          </a:p>
        </p:txBody>
      </p:sp>
      <p:sp>
        <p:nvSpPr>
          <p:cNvPr id="22" name="Text 20"/>
          <p:cNvSpPr/>
          <p:nvPr/>
        </p:nvSpPr>
        <p:spPr>
          <a:xfrm>
            <a:off x="9144000" y="6396261"/>
            <a:ext cx="3629978" cy="381000"/>
          </a:xfrm>
          <a:prstGeom prst="rect">
            <a:avLst/>
          </a:prstGeom>
          <a:noFill/>
          <a:ln/>
        </p:spPr>
        <p:txBody>
          <a:bodyPr wrap="square" lIns="0" tIns="0" rIns="0" bIns="0" rtlCol="0" anchor="t">
            <a:normAutofit/>
          </a:bodyPr>
          <a:lstStyle/>
          <a:p>
            <a:pPr marL="0" indent="0" algn="l">
              <a:buNone/>
            </a:pPr>
            <a:r>
              <a:rPr lang="en-US" sz="2400" dirty="0">
                <a:solidFill>
                  <a:srgbClr val="3D3D3D"/>
                </a:solidFill>
                <a:latin typeface="Arial" pitchFamily="34" charset="0"/>
                <a:ea typeface="Arial" pitchFamily="34" charset="-122"/>
                <a:cs typeface="Arial" pitchFamily="34" charset="-120"/>
              </a:rPr>
              <a:t>Search query suggestions</a:t>
            </a:r>
            <a:endParaRPr lang="en-US" sz="2400" dirty="0"/>
          </a:p>
        </p:txBody>
      </p:sp>
      <p:sp>
        <p:nvSpPr>
          <p:cNvPr id="23" name="Text 21"/>
          <p:cNvSpPr/>
          <p:nvPr/>
        </p:nvSpPr>
        <p:spPr>
          <a:xfrm>
            <a:off x="8858250" y="7067773"/>
            <a:ext cx="922020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An LLM is this idea — </a:t>
            </a:r>
            <a:r>
              <a:rPr lang="en-US" sz="2025" dirty="0">
                <a:solidFill>
                  <a:srgbClr val="1A1A1A"/>
                </a:solidFill>
                <a:highlight>
                  <a:srgbClr val="FFF1A8"/>
                </a:highlight>
                <a:latin typeface="Georgia" pitchFamily="34" charset="0"/>
                <a:ea typeface="Georgia" pitchFamily="34" charset="-122"/>
                <a:cs typeface="Georgia" pitchFamily="34" charset="-120"/>
              </a:rPr>
              <a:t>scaled up enormously</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Prediction, Not Lookup</a:t>
            </a:r>
            <a:endParaRPr lang="en-US" sz="4800" dirty="0"/>
          </a:p>
        </p:txBody>
      </p:sp>
      <p:sp>
        <p:nvSpPr>
          <p:cNvPr id="5" name="Shape 3"/>
          <p:cNvSpPr/>
          <p:nvPr/>
        </p:nvSpPr>
        <p:spPr>
          <a:xfrm>
            <a:off x="1047750" y="2153171"/>
            <a:ext cx="7924800" cy="2514600"/>
          </a:xfrm>
          <a:prstGeom prst="roundRect">
            <a:avLst>
              <a:gd name="adj" fmla="val 6061"/>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438275" y="2505596"/>
            <a:ext cx="7858125" cy="30003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7C7A73"/>
                </a:solidFill>
                <a:latin typeface="Arial" pitchFamily="34" charset="0"/>
                <a:ea typeface="Arial" pitchFamily="34" charset="-122"/>
                <a:cs typeface="Arial" pitchFamily="34" charset="-120"/>
              </a:rPr>
              <a:t>DATABASE / SEARCH</a:t>
            </a:r>
            <a:endParaRPr lang="en-US" sz="1800" dirty="0"/>
          </a:p>
        </p:txBody>
      </p:sp>
      <p:sp>
        <p:nvSpPr>
          <p:cNvPr id="7" name="Text 5"/>
          <p:cNvSpPr/>
          <p:nvPr/>
        </p:nvSpPr>
        <p:spPr>
          <a:xfrm>
            <a:off x="1438275" y="2919933"/>
            <a:ext cx="7858125"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A1A1A"/>
                </a:solidFill>
                <a:latin typeface="Georgia" pitchFamily="34" charset="0"/>
                <a:ea typeface="Georgia" pitchFamily="34" charset="-122"/>
                <a:cs typeface="Georgia" pitchFamily="34" charset="-120"/>
              </a:rPr>
              <a:t>Looks it up</a:t>
            </a:r>
            <a:endParaRPr lang="en-US" sz="3150" dirty="0"/>
          </a:p>
        </p:txBody>
      </p:sp>
      <p:sp>
        <p:nvSpPr>
          <p:cNvPr id="8" name="Text 6"/>
          <p:cNvSpPr/>
          <p:nvPr/>
        </p:nvSpPr>
        <p:spPr>
          <a:xfrm>
            <a:off x="1438275" y="3543821"/>
            <a:ext cx="7358063"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Finds the exact stored record and returns it. Same input → same answer, every time.</a:t>
            </a:r>
            <a:endParaRPr lang="en-US" sz="2025" dirty="0"/>
          </a:p>
        </p:txBody>
      </p:sp>
      <p:sp>
        <p:nvSpPr>
          <p:cNvPr id="9" name="Shape 7"/>
          <p:cNvSpPr/>
          <p:nvPr/>
        </p:nvSpPr>
        <p:spPr>
          <a:xfrm>
            <a:off x="9315450" y="2153171"/>
            <a:ext cx="7924800" cy="2514600"/>
          </a:xfrm>
          <a:prstGeom prst="roundRect">
            <a:avLst>
              <a:gd name="adj" fmla="val 6061"/>
            </a:avLst>
          </a:prstGeom>
          <a:solidFill>
            <a:srgbClr val="E8F0FE"/>
          </a:solidFill>
          <a:ln w="9525">
            <a:solidFill>
              <a:srgbClr val="1F6FEB"/>
            </a:solidFill>
            <a:prstDash val="solid"/>
          </a:ln>
        </p:spPr>
        <p:txBody>
          <a:bodyPr/>
          <a:lstStyle/>
          <a:p>
            <a:endParaRPr lang="en-US"/>
          </a:p>
        </p:txBody>
      </p:sp>
      <p:sp>
        <p:nvSpPr>
          <p:cNvPr id="10" name="Text 8"/>
          <p:cNvSpPr/>
          <p:nvPr/>
        </p:nvSpPr>
        <p:spPr>
          <a:xfrm>
            <a:off x="9705975" y="2505596"/>
            <a:ext cx="7858125" cy="30003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6FEB"/>
                </a:solidFill>
                <a:latin typeface="Arial" pitchFamily="34" charset="0"/>
                <a:ea typeface="Arial" pitchFamily="34" charset="-122"/>
                <a:cs typeface="Arial" pitchFamily="34" charset="-120"/>
              </a:rPr>
              <a:t>LARGE LANGUAGE MODEL</a:t>
            </a:r>
            <a:endParaRPr lang="en-US" sz="1800" dirty="0"/>
          </a:p>
        </p:txBody>
      </p:sp>
      <p:sp>
        <p:nvSpPr>
          <p:cNvPr id="11" name="Text 9"/>
          <p:cNvSpPr/>
          <p:nvPr/>
        </p:nvSpPr>
        <p:spPr>
          <a:xfrm>
            <a:off x="9705975" y="2919933"/>
            <a:ext cx="7858125"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F6FEB"/>
                </a:solidFill>
                <a:latin typeface="Georgia" pitchFamily="34" charset="0"/>
                <a:ea typeface="Georgia" pitchFamily="34" charset="-122"/>
                <a:cs typeface="Georgia" pitchFamily="34" charset="-120"/>
              </a:rPr>
              <a:t>Predicts it</a:t>
            </a:r>
            <a:endParaRPr lang="en-US" sz="3150" dirty="0"/>
          </a:p>
        </p:txBody>
      </p:sp>
      <p:sp>
        <p:nvSpPr>
          <p:cNvPr id="12" name="Text 10"/>
          <p:cNvSpPr/>
          <p:nvPr/>
        </p:nvSpPr>
        <p:spPr>
          <a:xfrm>
            <a:off x="9705975" y="3543821"/>
            <a:ext cx="7358063"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No stored answer. A </a:t>
            </a:r>
            <a:r>
              <a:rPr lang="en-US" sz="2025" b="1" dirty="0">
                <a:solidFill>
                  <a:srgbClr val="1A1A1A"/>
                </a:solidFill>
                <a:latin typeface="Arial" pitchFamily="34" charset="0"/>
                <a:ea typeface="Arial" pitchFamily="34" charset="-122"/>
                <a:cs typeface="Arial" pitchFamily="34" charset="-120"/>
              </a:rPr>
              <a:t>mathematical predictor </a:t>
            </a:r>
            <a:r>
              <a:rPr lang="en-US" sz="2025" dirty="0">
                <a:solidFill>
                  <a:srgbClr val="3D3D3D"/>
                </a:solidFill>
                <a:latin typeface="Arial" pitchFamily="34" charset="0"/>
                <a:ea typeface="Arial" pitchFamily="34" charset="-122"/>
                <a:cs typeface="Arial" pitchFamily="34" charset="-120"/>
              </a:rPr>
              <a:t>generating fresh text — a new roll of the dice each call.</a:t>
            </a:r>
            <a:endParaRPr lang="en-US" sz="2025" dirty="0"/>
          </a:p>
        </p:txBody>
      </p:sp>
      <p:sp>
        <p:nvSpPr>
          <p:cNvPr id="13" name="Text 11"/>
          <p:cNvSpPr/>
          <p:nvPr/>
        </p:nvSpPr>
        <p:spPr>
          <a:xfrm>
            <a:off x="1047750" y="4972571"/>
            <a:ext cx="165544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Georgia" pitchFamily="34" charset="0"/>
                <a:ea typeface="Georgia" pitchFamily="34" charset="-122"/>
                <a:cs typeface="Georgia" pitchFamily="34" charset="-120"/>
              </a:rPr>
              <a:t>You’re wired to expect a </a:t>
            </a:r>
            <a:r>
              <a:rPr lang="en-US" sz="2700" dirty="0">
                <a:solidFill>
                  <a:srgbClr val="1A1A1A"/>
                </a:solidFill>
                <a:highlight>
                  <a:srgbClr val="FFF1A8"/>
                </a:highlight>
                <a:latin typeface="Georgia" pitchFamily="34" charset="0"/>
                <a:ea typeface="Georgia" pitchFamily="34" charset="-122"/>
                <a:cs typeface="Georgia" pitchFamily="34" charset="-120"/>
              </a:rPr>
              <a:t>deterministic database</a:t>
            </a:r>
            <a:r>
              <a:rPr lang="en-US" sz="2700" dirty="0">
                <a:solidFill>
                  <a:srgbClr val="1A1A1A"/>
                </a:solidFill>
                <a:latin typeface="Georgia" pitchFamily="34" charset="0"/>
                <a:ea typeface="Georgia" pitchFamily="34" charset="-122"/>
                <a:cs typeface="Georgia" pitchFamily="34" charset="-120"/>
              </a:rPr>
              <a:t>. It isn’t one.</a:t>
            </a:r>
            <a:endParaRPr lang="en-US" sz="2700" dirty="0"/>
          </a:p>
        </p:txBody>
      </p:sp>
      <p:sp>
        <p:nvSpPr>
          <p:cNvPr id="14" name="Text 12"/>
          <p:cNvSpPr/>
          <p:nvPr/>
        </p:nvSpPr>
        <p:spPr>
          <a:xfrm>
            <a:off x="1047750" y="5477396"/>
            <a:ext cx="16554450"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An LLM is a predictor that generates fresh text every call — the one paradigm shift to make </a:t>
            </a:r>
            <a:r>
              <a:rPr lang="en-US" sz="2025" b="1" dirty="0">
                <a:solidFill>
                  <a:srgbClr val="1A1A1A"/>
                </a:solidFill>
                <a:latin typeface="Arial" pitchFamily="34" charset="0"/>
                <a:ea typeface="Arial" pitchFamily="34" charset="-122"/>
                <a:cs typeface="Arial" pitchFamily="34" charset="-120"/>
              </a:rPr>
              <a:t>before you write a line of code</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15" name="Shape 13"/>
          <p:cNvSpPr/>
          <p:nvPr/>
        </p:nvSpPr>
        <p:spPr>
          <a:xfrm>
            <a:off x="1047750" y="9520238"/>
            <a:ext cx="16192500" cy="9525"/>
          </a:xfrm>
          <a:prstGeom prst="rect">
            <a:avLst/>
          </a:prstGeom>
          <a:solidFill>
            <a:srgbClr val="E3E1DA"/>
          </a:solidFill>
          <a:ln/>
        </p:spPr>
        <p:txBody>
          <a:bodyPr/>
          <a:lstStyle/>
          <a:p>
            <a:endParaRPr lang="en-US"/>
          </a:p>
        </p:txBody>
      </p:sp>
      <p:sp>
        <p:nvSpPr>
          <p:cNvPr id="16" name="Text 1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7" name="Text 15"/>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Facts and Creativity</a:t>
            </a:r>
            <a:endParaRPr lang="en-US" sz="4800" dirty="0"/>
          </a:p>
        </p:txBody>
      </p:sp>
      <p:sp>
        <p:nvSpPr>
          <p:cNvPr id="5" name="Shape 3"/>
          <p:cNvSpPr/>
          <p:nvPr/>
        </p:nvSpPr>
        <p:spPr>
          <a:xfrm>
            <a:off x="1047750" y="3657823"/>
            <a:ext cx="7634288" cy="652463"/>
          </a:xfrm>
          <a:prstGeom prst="roundRect">
            <a:avLst>
              <a:gd name="adj" fmla="val 14599"/>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266825" y="3838798"/>
            <a:ext cx="7425166"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After Monday comes ___</a:t>
            </a:r>
            <a:endParaRPr lang="en-US" sz="2025" dirty="0"/>
          </a:p>
        </p:txBody>
      </p:sp>
      <p:sp>
        <p:nvSpPr>
          <p:cNvPr id="7" name="Text 5"/>
          <p:cNvSpPr/>
          <p:nvPr/>
        </p:nvSpPr>
        <p:spPr>
          <a:xfrm>
            <a:off x="1047750" y="4538886"/>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A near-certain answer — sharp</a:t>
            </a:r>
            <a:endParaRPr lang="en-US" sz="1800" dirty="0"/>
          </a:p>
        </p:txBody>
      </p:sp>
      <p:sp>
        <p:nvSpPr>
          <p:cNvPr id="8" name="Shape 6"/>
          <p:cNvSpPr/>
          <p:nvPr/>
        </p:nvSpPr>
        <p:spPr>
          <a:xfrm>
            <a:off x="1047750" y="7810723"/>
            <a:ext cx="7634288" cy="19050"/>
          </a:xfrm>
          <a:prstGeom prst="rect">
            <a:avLst/>
          </a:prstGeom>
          <a:solidFill>
            <a:srgbClr val="E3E1DA"/>
          </a:solidFill>
          <a:ln/>
        </p:spPr>
        <p:txBody>
          <a:bodyPr/>
          <a:lstStyle/>
          <a:p>
            <a:endParaRPr lang="en-US"/>
          </a:p>
        </p:txBody>
      </p:sp>
      <p:sp>
        <p:nvSpPr>
          <p:cNvPr id="9" name="Text 7"/>
          <p:cNvSpPr/>
          <p:nvPr/>
        </p:nvSpPr>
        <p:spPr>
          <a:xfrm>
            <a:off x="2072283" y="4972273"/>
            <a:ext cx="53377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Arial" pitchFamily="34" charset="0"/>
                <a:ea typeface="Arial" pitchFamily="34" charset="-122"/>
                <a:cs typeface="Arial" pitchFamily="34" charset="-120"/>
              </a:rPr>
              <a:t>93%</a:t>
            </a:r>
            <a:endParaRPr lang="en-US" sz="1800" dirty="0"/>
          </a:p>
        </p:txBody>
      </p:sp>
      <p:sp>
        <p:nvSpPr>
          <p:cNvPr id="10" name="Shape 8"/>
          <p:cNvSpPr/>
          <p:nvPr/>
        </p:nvSpPr>
        <p:spPr>
          <a:xfrm>
            <a:off x="1143000" y="5310411"/>
            <a:ext cx="2316138" cy="2128838"/>
          </a:xfrm>
          <a:prstGeom prst="roundRect">
            <a:avLst>
              <a:gd name="adj" fmla="val 2685"/>
            </a:avLst>
          </a:prstGeom>
          <a:solidFill>
            <a:srgbClr val="1F6FEB"/>
          </a:solidFill>
          <a:ln/>
        </p:spPr>
        <p:txBody>
          <a:bodyPr/>
          <a:lstStyle/>
          <a:p>
            <a:endParaRPr lang="en-US"/>
          </a:p>
        </p:txBody>
      </p:sp>
      <p:sp>
        <p:nvSpPr>
          <p:cNvPr id="11" name="Text 9"/>
          <p:cNvSpPr/>
          <p:nvPr/>
        </p:nvSpPr>
        <p:spPr>
          <a:xfrm>
            <a:off x="2095277" y="7553548"/>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Tue</a:t>
            </a:r>
            <a:endParaRPr lang="en-US" sz="1800" dirty="0"/>
          </a:p>
        </p:txBody>
      </p:sp>
      <p:sp>
        <p:nvSpPr>
          <p:cNvPr id="12" name="Text 10"/>
          <p:cNvSpPr/>
          <p:nvPr/>
        </p:nvSpPr>
        <p:spPr>
          <a:xfrm>
            <a:off x="4699695" y="6929661"/>
            <a:ext cx="40659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4%</a:t>
            </a:r>
            <a:endParaRPr lang="en-US" sz="1800" dirty="0"/>
          </a:p>
        </p:txBody>
      </p:sp>
      <p:sp>
        <p:nvSpPr>
          <p:cNvPr id="13" name="Shape 11"/>
          <p:cNvSpPr/>
          <p:nvPr/>
        </p:nvSpPr>
        <p:spPr>
          <a:xfrm>
            <a:off x="3706788" y="7267798"/>
            <a:ext cx="2316212" cy="171450"/>
          </a:xfrm>
          <a:prstGeom prst="roundRect">
            <a:avLst>
              <a:gd name="adj" fmla="val 33333"/>
            </a:avLst>
          </a:prstGeom>
          <a:solidFill>
            <a:srgbClr val="F1EFE9"/>
          </a:solidFill>
          <a:ln/>
        </p:spPr>
        <p:txBody>
          <a:bodyPr/>
          <a:lstStyle/>
          <a:p>
            <a:endParaRPr lang="en-US"/>
          </a:p>
        </p:txBody>
      </p:sp>
      <p:sp>
        <p:nvSpPr>
          <p:cNvPr id="14" name="Text 12"/>
          <p:cNvSpPr/>
          <p:nvPr/>
        </p:nvSpPr>
        <p:spPr>
          <a:xfrm>
            <a:off x="4659064" y="7553548"/>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the</a:t>
            </a:r>
            <a:endParaRPr lang="en-US" sz="1800" dirty="0"/>
          </a:p>
        </p:txBody>
      </p:sp>
      <p:sp>
        <p:nvSpPr>
          <p:cNvPr id="15" name="Text 13"/>
          <p:cNvSpPr/>
          <p:nvPr/>
        </p:nvSpPr>
        <p:spPr>
          <a:xfrm>
            <a:off x="7263482" y="7005861"/>
            <a:ext cx="40659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2%</a:t>
            </a:r>
            <a:endParaRPr lang="en-US" sz="1800" dirty="0"/>
          </a:p>
        </p:txBody>
      </p:sp>
      <p:sp>
        <p:nvSpPr>
          <p:cNvPr id="16" name="Shape 14"/>
          <p:cNvSpPr/>
          <p:nvPr/>
        </p:nvSpPr>
        <p:spPr>
          <a:xfrm>
            <a:off x="6270650" y="7343998"/>
            <a:ext cx="2316138" cy="95250"/>
          </a:xfrm>
          <a:prstGeom prst="roundRect">
            <a:avLst>
              <a:gd name="adj" fmla="val 50000"/>
            </a:avLst>
          </a:prstGeom>
          <a:solidFill>
            <a:srgbClr val="F1EFE9"/>
          </a:solidFill>
          <a:ln/>
        </p:spPr>
        <p:txBody>
          <a:bodyPr/>
          <a:lstStyle/>
          <a:p>
            <a:endParaRPr lang="en-US"/>
          </a:p>
        </p:txBody>
      </p:sp>
      <p:sp>
        <p:nvSpPr>
          <p:cNvPr id="17" name="Text 15"/>
          <p:cNvSpPr/>
          <p:nvPr/>
        </p:nvSpPr>
        <p:spPr>
          <a:xfrm>
            <a:off x="7360072" y="755354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a</a:t>
            </a:r>
            <a:endParaRPr lang="en-US" sz="1800" dirty="0"/>
          </a:p>
        </p:txBody>
      </p:sp>
      <p:sp>
        <p:nvSpPr>
          <p:cNvPr id="18" name="Shape 16"/>
          <p:cNvSpPr/>
          <p:nvPr/>
        </p:nvSpPr>
        <p:spPr>
          <a:xfrm>
            <a:off x="9139238" y="2153171"/>
            <a:ext cx="9525" cy="7181329"/>
          </a:xfrm>
          <a:prstGeom prst="rect">
            <a:avLst/>
          </a:prstGeom>
          <a:solidFill>
            <a:srgbClr val="E3E1DA"/>
          </a:solidFill>
          <a:ln/>
        </p:spPr>
        <p:txBody>
          <a:bodyPr/>
          <a:lstStyle/>
          <a:p>
            <a:endParaRPr lang="en-US"/>
          </a:p>
        </p:txBody>
      </p:sp>
      <p:sp>
        <p:nvSpPr>
          <p:cNvPr id="19" name="Shape 17"/>
          <p:cNvSpPr/>
          <p:nvPr/>
        </p:nvSpPr>
        <p:spPr>
          <a:xfrm>
            <a:off x="9605963" y="3657823"/>
            <a:ext cx="7634288" cy="652463"/>
          </a:xfrm>
          <a:prstGeom prst="roundRect">
            <a:avLst>
              <a:gd name="adj" fmla="val 14599"/>
            </a:avLst>
          </a:prstGeom>
          <a:solidFill>
            <a:srgbClr val="F8F7F3"/>
          </a:solidFill>
          <a:ln w="9525">
            <a:solidFill>
              <a:srgbClr val="E3E1DA"/>
            </a:solidFill>
            <a:prstDash val="solid"/>
          </a:ln>
        </p:spPr>
        <p:txBody>
          <a:bodyPr/>
          <a:lstStyle/>
          <a:p>
            <a:endParaRPr lang="en-US"/>
          </a:p>
        </p:txBody>
      </p:sp>
      <p:sp>
        <p:nvSpPr>
          <p:cNvPr id="20" name="Text 18"/>
          <p:cNvSpPr/>
          <p:nvPr/>
        </p:nvSpPr>
        <p:spPr>
          <a:xfrm>
            <a:off x="9825038" y="3838798"/>
            <a:ext cx="7425166"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For lunch I’ll have ___</a:t>
            </a:r>
            <a:endParaRPr lang="en-US" sz="2025" dirty="0"/>
          </a:p>
        </p:txBody>
      </p:sp>
      <p:sp>
        <p:nvSpPr>
          <p:cNvPr id="21" name="Text 19"/>
          <p:cNvSpPr/>
          <p:nvPr/>
        </p:nvSpPr>
        <p:spPr>
          <a:xfrm>
            <a:off x="9605963" y="4538886"/>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Many good answers — flat</a:t>
            </a:r>
            <a:endParaRPr lang="en-US" sz="1800" dirty="0"/>
          </a:p>
        </p:txBody>
      </p:sp>
      <p:sp>
        <p:nvSpPr>
          <p:cNvPr id="22" name="Shape 20"/>
          <p:cNvSpPr/>
          <p:nvPr/>
        </p:nvSpPr>
        <p:spPr>
          <a:xfrm>
            <a:off x="9605963" y="7810723"/>
            <a:ext cx="7634288" cy="19050"/>
          </a:xfrm>
          <a:prstGeom prst="rect">
            <a:avLst/>
          </a:prstGeom>
          <a:solidFill>
            <a:srgbClr val="E3E1DA"/>
          </a:solidFill>
          <a:ln/>
        </p:spPr>
        <p:txBody>
          <a:bodyPr/>
          <a:lstStyle/>
          <a:p>
            <a:endParaRPr lang="en-US"/>
          </a:p>
        </p:txBody>
      </p:sp>
      <p:sp>
        <p:nvSpPr>
          <p:cNvPr id="23" name="Text 21"/>
          <p:cNvSpPr/>
          <p:nvPr/>
        </p:nvSpPr>
        <p:spPr>
          <a:xfrm>
            <a:off x="10309994" y="5843811"/>
            <a:ext cx="53377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Arial" pitchFamily="34" charset="0"/>
                <a:ea typeface="Arial" pitchFamily="34" charset="-122"/>
                <a:cs typeface="Arial" pitchFamily="34" charset="-120"/>
              </a:rPr>
              <a:t>18%</a:t>
            </a:r>
            <a:endParaRPr lang="en-US" sz="1800" dirty="0"/>
          </a:p>
        </p:txBody>
      </p:sp>
      <p:sp>
        <p:nvSpPr>
          <p:cNvPr id="24" name="Shape 22"/>
          <p:cNvSpPr/>
          <p:nvPr/>
        </p:nvSpPr>
        <p:spPr>
          <a:xfrm>
            <a:off x="9701213" y="6181948"/>
            <a:ext cx="1675209" cy="1257300"/>
          </a:xfrm>
          <a:prstGeom prst="roundRect">
            <a:avLst>
              <a:gd name="adj" fmla="val 4545"/>
            </a:avLst>
          </a:prstGeom>
          <a:solidFill>
            <a:srgbClr val="178A4C"/>
          </a:solidFill>
          <a:ln/>
        </p:spPr>
        <p:txBody>
          <a:bodyPr/>
          <a:lstStyle/>
          <a:p>
            <a:endParaRPr lang="en-US"/>
          </a:p>
        </p:txBody>
      </p:sp>
      <p:sp>
        <p:nvSpPr>
          <p:cNvPr id="25" name="Text 23"/>
          <p:cNvSpPr/>
          <p:nvPr/>
        </p:nvSpPr>
        <p:spPr>
          <a:xfrm>
            <a:off x="10195843" y="7553548"/>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pizza</a:t>
            </a:r>
            <a:endParaRPr lang="en-US" sz="1800" dirty="0"/>
          </a:p>
        </p:txBody>
      </p:sp>
      <p:sp>
        <p:nvSpPr>
          <p:cNvPr id="26" name="Text 24"/>
          <p:cNvSpPr/>
          <p:nvPr/>
        </p:nvSpPr>
        <p:spPr>
          <a:xfrm>
            <a:off x="12232853" y="6053361"/>
            <a:ext cx="53377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C77D0A"/>
                </a:solidFill>
                <a:latin typeface="Arial" pitchFamily="34" charset="0"/>
                <a:ea typeface="Arial" pitchFamily="34" charset="-122"/>
                <a:cs typeface="Arial" pitchFamily="34" charset="-120"/>
              </a:rPr>
              <a:t>15%</a:t>
            </a:r>
            <a:endParaRPr lang="en-US" sz="1800" dirty="0"/>
          </a:p>
        </p:txBody>
      </p:sp>
      <p:sp>
        <p:nvSpPr>
          <p:cNvPr id="27" name="Shape 25"/>
          <p:cNvSpPr/>
          <p:nvPr/>
        </p:nvSpPr>
        <p:spPr>
          <a:xfrm>
            <a:off x="11624072" y="6391498"/>
            <a:ext cx="1675209" cy="1047750"/>
          </a:xfrm>
          <a:prstGeom prst="roundRect">
            <a:avLst>
              <a:gd name="adj" fmla="val 5455"/>
            </a:avLst>
          </a:prstGeom>
          <a:solidFill>
            <a:srgbClr val="C77D0A"/>
          </a:solidFill>
          <a:ln/>
        </p:spPr>
        <p:txBody>
          <a:bodyPr/>
          <a:lstStyle/>
          <a:p>
            <a:endParaRPr lang="en-US"/>
          </a:p>
        </p:txBody>
      </p:sp>
      <p:sp>
        <p:nvSpPr>
          <p:cNvPr id="28" name="Text 26"/>
          <p:cNvSpPr/>
          <p:nvPr/>
        </p:nvSpPr>
        <p:spPr>
          <a:xfrm>
            <a:off x="12118702" y="7553548"/>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salad</a:t>
            </a:r>
            <a:endParaRPr lang="en-US" sz="1800" dirty="0"/>
          </a:p>
        </p:txBody>
      </p:sp>
      <p:sp>
        <p:nvSpPr>
          <p:cNvPr id="29" name="Text 27"/>
          <p:cNvSpPr/>
          <p:nvPr/>
        </p:nvSpPr>
        <p:spPr>
          <a:xfrm>
            <a:off x="14155713" y="6205761"/>
            <a:ext cx="53377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7A4FD0"/>
                </a:solidFill>
                <a:latin typeface="Arial" pitchFamily="34" charset="0"/>
                <a:ea typeface="Arial" pitchFamily="34" charset="-122"/>
                <a:cs typeface="Arial" pitchFamily="34" charset="-120"/>
              </a:rPr>
              <a:t>13%</a:t>
            </a:r>
            <a:endParaRPr lang="en-US" sz="1800" dirty="0"/>
          </a:p>
        </p:txBody>
      </p:sp>
      <p:sp>
        <p:nvSpPr>
          <p:cNvPr id="30" name="Shape 28"/>
          <p:cNvSpPr/>
          <p:nvPr/>
        </p:nvSpPr>
        <p:spPr>
          <a:xfrm>
            <a:off x="13546931" y="6543898"/>
            <a:ext cx="1675209" cy="895350"/>
          </a:xfrm>
          <a:prstGeom prst="roundRect">
            <a:avLst>
              <a:gd name="adj" fmla="val 6383"/>
            </a:avLst>
          </a:prstGeom>
          <a:solidFill>
            <a:srgbClr val="7A4FD0"/>
          </a:solidFill>
          <a:ln/>
        </p:spPr>
        <p:txBody>
          <a:bodyPr/>
          <a:lstStyle/>
          <a:p>
            <a:endParaRPr lang="en-US"/>
          </a:p>
        </p:txBody>
      </p:sp>
      <p:sp>
        <p:nvSpPr>
          <p:cNvPr id="31" name="Text 29"/>
          <p:cNvSpPr/>
          <p:nvPr/>
        </p:nvSpPr>
        <p:spPr>
          <a:xfrm>
            <a:off x="14041562" y="7553548"/>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sushi</a:t>
            </a:r>
            <a:endParaRPr lang="en-US" sz="1800" dirty="0"/>
          </a:p>
        </p:txBody>
      </p:sp>
      <p:sp>
        <p:nvSpPr>
          <p:cNvPr id="32" name="Text 30"/>
          <p:cNvSpPr/>
          <p:nvPr/>
        </p:nvSpPr>
        <p:spPr>
          <a:xfrm>
            <a:off x="16084897" y="6339111"/>
            <a:ext cx="52112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D64545"/>
                </a:solidFill>
                <a:latin typeface="Arial" pitchFamily="34" charset="0"/>
                <a:ea typeface="Arial" pitchFamily="34" charset="-122"/>
                <a:cs typeface="Arial" pitchFamily="34" charset="-120"/>
              </a:rPr>
              <a:t>11%</a:t>
            </a:r>
            <a:endParaRPr lang="en-US" sz="1800" dirty="0"/>
          </a:p>
        </p:txBody>
      </p:sp>
      <p:sp>
        <p:nvSpPr>
          <p:cNvPr id="33" name="Shape 31"/>
          <p:cNvSpPr/>
          <p:nvPr/>
        </p:nvSpPr>
        <p:spPr>
          <a:xfrm>
            <a:off x="15469791" y="6677248"/>
            <a:ext cx="1675209" cy="762000"/>
          </a:xfrm>
          <a:prstGeom prst="roundRect">
            <a:avLst>
              <a:gd name="adj" fmla="val 7500"/>
            </a:avLst>
          </a:prstGeom>
          <a:solidFill>
            <a:srgbClr val="D64545"/>
          </a:solidFill>
          <a:ln/>
        </p:spPr>
        <p:txBody>
          <a:bodyPr/>
          <a:lstStyle/>
          <a:p>
            <a:endParaRPr lang="en-US"/>
          </a:p>
        </p:txBody>
      </p:sp>
      <p:sp>
        <p:nvSpPr>
          <p:cNvPr id="34" name="Text 32"/>
          <p:cNvSpPr/>
          <p:nvPr/>
        </p:nvSpPr>
        <p:spPr>
          <a:xfrm>
            <a:off x="15964421" y="7553548"/>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tacos</a:t>
            </a:r>
            <a:endParaRPr lang="en-US" sz="1800" dirty="0"/>
          </a:p>
        </p:txBody>
      </p:sp>
      <p:sp>
        <p:nvSpPr>
          <p:cNvPr id="35" name="Shape 33"/>
          <p:cNvSpPr/>
          <p:nvPr/>
        </p:nvSpPr>
        <p:spPr>
          <a:xfrm>
            <a:off x="1047750" y="9520238"/>
            <a:ext cx="16192500" cy="9525"/>
          </a:xfrm>
          <a:prstGeom prst="rect">
            <a:avLst/>
          </a:prstGeom>
          <a:solidFill>
            <a:srgbClr val="E3E1DA"/>
          </a:solidFill>
          <a:ln/>
        </p:spPr>
        <p:txBody>
          <a:bodyPr/>
          <a:lstStyle/>
          <a:p>
            <a:endParaRPr lang="en-US"/>
          </a:p>
        </p:txBody>
      </p:sp>
      <p:sp>
        <p:nvSpPr>
          <p:cNvPr id="36" name="Text 3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7" name="Text 35"/>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427669"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THE CORE IDEA</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Why Models Hallucinate</a:t>
            </a:r>
            <a:endParaRPr lang="en-US" sz="4800" dirty="0"/>
          </a:p>
        </p:txBody>
      </p:sp>
      <p:sp>
        <p:nvSpPr>
          <p:cNvPr id="5" name="Shape 3"/>
          <p:cNvSpPr/>
          <p:nvPr/>
        </p:nvSpPr>
        <p:spPr>
          <a:xfrm>
            <a:off x="1047750" y="4036293"/>
            <a:ext cx="7810500" cy="3376910"/>
          </a:xfrm>
          <a:prstGeom prst="roundRect">
            <a:avLst>
              <a:gd name="adj" fmla="val 4513"/>
            </a:avLst>
          </a:prstGeom>
          <a:ln w="9525">
            <a:solidFill>
              <a:srgbClr val="E3E1DA"/>
            </a:solidFill>
            <a:prstDash val="solid"/>
          </a:ln>
        </p:spPr>
        <p:txBody>
          <a:bodyPr/>
          <a:lstStyle/>
          <a:p>
            <a:endParaRPr lang="en-US"/>
          </a:p>
        </p:txBody>
      </p:sp>
      <p:sp>
        <p:nvSpPr>
          <p:cNvPr id="6" name="Shape 4"/>
          <p:cNvSpPr/>
          <p:nvPr/>
        </p:nvSpPr>
        <p:spPr>
          <a:xfrm>
            <a:off x="1057275" y="4045818"/>
            <a:ext cx="7791450" cy="1009650"/>
          </a:xfrm>
          <a:prstGeom prst="rect">
            <a:avLst/>
          </a:prstGeom>
          <a:solidFill>
            <a:srgbClr val="F8F7F3"/>
          </a:solidFill>
          <a:ln/>
        </p:spPr>
        <p:txBody>
          <a:bodyPr/>
          <a:lstStyle/>
          <a:p>
            <a:endParaRPr lang="en-US"/>
          </a:p>
        </p:txBody>
      </p:sp>
      <p:sp>
        <p:nvSpPr>
          <p:cNvPr id="7" name="Shape 5"/>
          <p:cNvSpPr/>
          <p:nvPr/>
        </p:nvSpPr>
        <p:spPr>
          <a:xfrm>
            <a:off x="1057275" y="5045943"/>
            <a:ext cx="7791450" cy="9525"/>
          </a:xfrm>
          <a:prstGeom prst="rect">
            <a:avLst/>
          </a:prstGeom>
          <a:solidFill>
            <a:srgbClr val="E3E1DA"/>
          </a:solidFill>
          <a:ln/>
        </p:spPr>
        <p:txBody>
          <a:bodyPr/>
          <a:lstStyle/>
          <a:p>
            <a:endParaRPr lang="en-US"/>
          </a:p>
        </p:txBody>
      </p:sp>
      <p:sp>
        <p:nvSpPr>
          <p:cNvPr id="8" name="Text 6"/>
          <p:cNvSpPr/>
          <p:nvPr/>
        </p:nvSpPr>
        <p:spPr>
          <a:xfrm>
            <a:off x="1343025" y="4255368"/>
            <a:ext cx="7453694" cy="61912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prompt › </a:t>
            </a:r>
            <a:r>
              <a:rPr lang="en-US" sz="2025" dirty="0">
                <a:solidFill>
                  <a:srgbClr val="1A1A1A"/>
                </a:solidFill>
                <a:highlight>
                  <a:srgbClr val="F8F7F3"/>
                </a:highlight>
                <a:latin typeface="Courier New" pitchFamily="34" charset="0"/>
                <a:ea typeface="Courier New" pitchFamily="34" charset="-122"/>
                <a:cs typeface="Courier New" pitchFamily="34" charset="-120"/>
              </a:rPr>
              <a:t>Explain Python’s </a:t>
            </a:r>
            <a:r>
              <a:rPr lang="en-US" sz="2025" dirty="0">
                <a:solidFill>
                  <a:srgbClr val="1F6FEB"/>
                </a:solidFill>
                <a:latin typeface="Courier New" pitchFamily="34" charset="0"/>
                <a:ea typeface="Courier New" pitchFamily="34" charset="-122"/>
                <a:cs typeface="Courier New" pitchFamily="34" charset="-120"/>
              </a:rPr>
              <a:t>json.parse_safe() </a:t>
            </a:r>
            <a:r>
              <a:rPr lang="en-US" sz="2025" dirty="0">
                <a:solidFill>
                  <a:srgbClr val="1A1A1A"/>
                </a:solidFill>
                <a:highlight>
                  <a:srgbClr val="F8F7F3"/>
                </a:highlight>
                <a:latin typeface="Courier New" pitchFamily="34" charset="0"/>
                <a:ea typeface="Courier New" pitchFamily="34" charset="-122"/>
                <a:cs typeface="Courier New" pitchFamily="34" charset="-120"/>
              </a:rPr>
              <a:t>function.</a:t>
            </a:r>
            <a:endParaRPr lang="en-US" sz="2025" dirty="0"/>
          </a:p>
        </p:txBody>
      </p:sp>
      <p:sp>
        <p:nvSpPr>
          <p:cNvPr id="9" name="Text 7"/>
          <p:cNvSpPr/>
          <p:nvPr/>
        </p:nvSpPr>
        <p:spPr>
          <a:xfrm>
            <a:off x="1343025" y="5303118"/>
            <a:ext cx="7453694" cy="1233785"/>
          </a:xfrm>
          <a:prstGeom prst="rect">
            <a:avLst/>
          </a:prstGeom>
          <a:noFill/>
          <a:ln/>
        </p:spPr>
        <p:txBody>
          <a:bodyPr wrap="square" lIns="25400" tIns="25400" rIns="25400" bIns="25400" rtlCol="0" anchor="t">
            <a:normAutofit/>
          </a:bodyPr>
          <a:lstStyle/>
          <a:p>
            <a:pPr marL="0" indent="0" algn="l">
              <a:lnSpc>
                <a:spcPct val="137213"/>
              </a:lnSpc>
              <a:buNone/>
            </a:pPr>
            <a:r>
              <a:rPr lang="en-US" sz="2025" dirty="0">
                <a:solidFill>
                  <a:srgbClr val="D64545"/>
                </a:solidFill>
                <a:latin typeface="Courier New" pitchFamily="34" charset="0"/>
                <a:ea typeface="Courier New" pitchFamily="34" charset="-122"/>
                <a:cs typeface="Courier New" pitchFamily="34" charset="-120"/>
              </a:rPr>
              <a:t>reply › </a:t>
            </a:r>
            <a:r>
              <a:rPr lang="en-US" sz="2025" dirty="0">
                <a:solidFill>
                  <a:srgbClr val="3D3D3D"/>
                </a:solidFill>
                <a:latin typeface="Courier New" pitchFamily="34" charset="0"/>
                <a:ea typeface="Courier New" pitchFamily="34" charset="-122"/>
                <a:cs typeface="Courier New" pitchFamily="34" charset="-120"/>
              </a:rPr>
              <a:t>It safely parses a JSON string and returns </a:t>
            </a:r>
            <a:r>
              <a:rPr lang="en-US" sz="2025" dirty="0">
                <a:solidFill>
                  <a:srgbClr val="1A1A1A"/>
                </a:solidFill>
                <a:latin typeface="Courier New" pitchFamily="34" charset="0"/>
                <a:ea typeface="Courier New" pitchFamily="34" charset="-122"/>
                <a:cs typeface="Courier New" pitchFamily="34" charset="-120"/>
              </a:rPr>
              <a:t>None </a:t>
            </a:r>
            <a:r>
              <a:rPr lang="en-US" sz="2025" dirty="0">
                <a:solidFill>
                  <a:srgbClr val="3D3D3D"/>
                </a:solidFill>
                <a:latin typeface="Courier New" pitchFamily="34" charset="0"/>
                <a:ea typeface="Courier New" pitchFamily="34" charset="-122"/>
                <a:cs typeface="Courier New" pitchFamily="34" charset="-120"/>
              </a:rPr>
              <a:t>instead of raising on invalid input…</a:t>
            </a:r>
            <a:endParaRPr lang="en-US" sz="2025" dirty="0"/>
          </a:p>
        </p:txBody>
      </p:sp>
      <p:sp>
        <p:nvSpPr>
          <p:cNvPr id="10" name="Shape 8"/>
          <p:cNvSpPr/>
          <p:nvPr/>
        </p:nvSpPr>
        <p:spPr>
          <a:xfrm>
            <a:off x="1057275" y="6746453"/>
            <a:ext cx="7791450" cy="657225"/>
          </a:xfrm>
          <a:prstGeom prst="rect">
            <a:avLst/>
          </a:prstGeom>
          <a:solidFill>
            <a:srgbClr val="FBEBEA"/>
          </a:solidFill>
          <a:ln/>
        </p:spPr>
        <p:txBody>
          <a:bodyPr/>
          <a:lstStyle/>
          <a:p>
            <a:endParaRPr lang="en-US"/>
          </a:p>
        </p:txBody>
      </p:sp>
      <p:sp>
        <p:nvSpPr>
          <p:cNvPr id="11" name="Shape 9"/>
          <p:cNvSpPr/>
          <p:nvPr/>
        </p:nvSpPr>
        <p:spPr>
          <a:xfrm>
            <a:off x="1057275" y="6746453"/>
            <a:ext cx="7791450" cy="9525"/>
          </a:xfrm>
          <a:prstGeom prst="rect">
            <a:avLst/>
          </a:prstGeom>
          <a:solidFill>
            <a:srgbClr val="E3E1DA"/>
          </a:solidFill>
          <a:ln/>
        </p:spPr>
        <p:txBody>
          <a:bodyPr/>
          <a:lstStyle/>
          <a:p>
            <a:endParaRPr lang="en-US"/>
          </a:p>
        </p:txBody>
      </p:sp>
      <p:sp>
        <p:nvSpPr>
          <p:cNvPr id="12" name="Text 10"/>
          <p:cNvSpPr/>
          <p:nvPr/>
        </p:nvSpPr>
        <p:spPr>
          <a:xfrm>
            <a:off x="1343025" y="6908378"/>
            <a:ext cx="7453694" cy="381000"/>
          </a:xfrm>
          <a:prstGeom prst="rect">
            <a:avLst/>
          </a:prstGeom>
          <a:noFill/>
          <a:ln/>
        </p:spPr>
        <p:txBody>
          <a:bodyPr wrap="square" lIns="25400" tIns="25400" rIns="25400" bIns="25400" rtlCol="0" anchor="t">
            <a:normAutofit/>
          </a:bodyPr>
          <a:lstStyle/>
          <a:p>
            <a:pPr marL="0" indent="0" algn="l">
              <a:buNone/>
            </a:pPr>
            <a:r>
              <a:rPr lang="en-US" sz="1800" b="1" dirty="0">
                <a:solidFill>
                  <a:srgbClr val="D64545"/>
                </a:solidFill>
                <a:latin typeface="Arial" pitchFamily="34" charset="0"/>
                <a:ea typeface="Arial" pitchFamily="34" charset="-122"/>
                <a:cs typeface="Arial" pitchFamily="34" charset="-120"/>
              </a:rPr>
              <a:t>⚠ There is no such function. Confident, fluent, and wrong.</a:t>
            </a:r>
            <a:endParaRPr lang="en-US" sz="1800" dirty="0"/>
          </a:p>
        </p:txBody>
      </p:sp>
      <p:sp>
        <p:nvSpPr>
          <p:cNvPr id="13" name="Text 11"/>
          <p:cNvSpPr/>
          <p:nvPr/>
        </p:nvSpPr>
        <p:spPr>
          <a:xfrm>
            <a:off x="9391650" y="4065984"/>
            <a:ext cx="863346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Plausible ≠ true.</a:t>
            </a:r>
            <a:endParaRPr lang="en-US" sz="2700" dirty="0"/>
          </a:p>
        </p:txBody>
      </p:sp>
      <p:sp>
        <p:nvSpPr>
          <p:cNvPr id="14" name="Text 12"/>
          <p:cNvSpPr/>
          <p:nvPr/>
        </p:nvSpPr>
        <p:spPr>
          <a:xfrm>
            <a:off x="9391650" y="4759375"/>
            <a:ext cx="8084058"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It is not lying — it generated a statistically likely answer that happens to be false.</a:t>
            </a:r>
            <a:endParaRPr lang="en-US" sz="2025" dirty="0"/>
          </a:p>
        </p:txBody>
      </p:sp>
      <p:sp>
        <p:nvSpPr>
          <p:cNvPr id="15" name="Text 13"/>
          <p:cNvSpPr/>
          <p:nvPr/>
        </p:nvSpPr>
        <p:spPr>
          <a:xfrm>
            <a:off x="9391650" y="5816650"/>
            <a:ext cx="8633460" cy="30003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7C7A73"/>
                </a:solidFill>
                <a:latin typeface="Arial" pitchFamily="34" charset="0"/>
                <a:ea typeface="Arial" pitchFamily="34" charset="-122"/>
                <a:cs typeface="Arial" pitchFamily="34" charset="-120"/>
              </a:rPr>
              <a:t>WHEN YOU BUILD</a:t>
            </a:r>
            <a:endParaRPr lang="en-US" sz="1800" dirty="0"/>
          </a:p>
        </p:txBody>
      </p:sp>
      <p:sp>
        <p:nvSpPr>
          <p:cNvPr id="16" name="Shape 14"/>
          <p:cNvSpPr/>
          <p:nvPr/>
        </p:nvSpPr>
        <p:spPr>
          <a:xfrm>
            <a:off x="9391650" y="6326237"/>
            <a:ext cx="104775" cy="104775"/>
          </a:xfrm>
          <a:prstGeom prst="roundRect">
            <a:avLst>
              <a:gd name="adj" fmla="val 27273"/>
            </a:avLst>
          </a:prstGeom>
          <a:solidFill>
            <a:srgbClr val="D64545"/>
          </a:solidFill>
          <a:ln/>
        </p:spPr>
        <p:txBody>
          <a:bodyPr/>
          <a:lstStyle/>
          <a:p>
            <a:endParaRPr lang="en-US"/>
          </a:p>
        </p:txBody>
      </p:sp>
      <p:sp>
        <p:nvSpPr>
          <p:cNvPr id="17" name="Text 15"/>
          <p:cNvSpPr/>
          <p:nvPr/>
        </p:nvSpPr>
        <p:spPr>
          <a:xfrm>
            <a:off x="9648825" y="6235750"/>
            <a:ext cx="2596976" cy="323850"/>
          </a:xfrm>
          <a:prstGeom prst="rect">
            <a:avLst/>
          </a:prstGeom>
          <a:noFill/>
          <a:ln/>
        </p:spPr>
        <p:txBody>
          <a:bodyPr wrap="square" lIns="0" tIns="0" rIns="0" bIns="0" rtlCol="0" anchor="t">
            <a:normAutofit/>
          </a:bodyPr>
          <a:lstStyle/>
          <a:p>
            <a:pPr marL="0" indent="0" algn="l">
              <a:buNone/>
            </a:pPr>
            <a:r>
              <a:rPr lang="en-US" sz="2025" dirty="0">
                <a:solidFill>
                  <a:srgbClr val="1A1A1A"/>
                </a:solidFill>
                <a:latin typeface="Arial" pitchFamily="34" charset="0"/>
                <a:ea typeface="Arial" pitchFamily="34" charset="-122"/>
                <a:cs typeface="Arial" pitchFamily="34" charset="-120"/>
              </a:rPr>
              <a:t>Treat output as a draft</a:t>
            </a:r>
            <a:endParaRPr lang="en-US" sz="2025" dirty="0"/>
          </a:p>
        </p:txBody>
      </p:sp>
      <p:sp>
        <p:nvSpPr>
          <p:cNvPr id="18" name="Shape 16"/>
          <p:cNvSpPr/>
          <p:nvPr/>
        </p:nvSpPr>
        <p:spPr>
          <a:xfrm>
            <a:off x="9391650" y="6754862"/>
            <a:ext cx="104775" cy="104775"/>
          </a:xfrm>
          <a:prstGeom prst="roundRect">
            <a:avLst>
              <a:gd name="adj" fmla="val 27273"/>
            </a:avLst>
          </a:prstGeom>
          <a:solidFill>
            <a:srgbClr val="D64545"/>
          </a:solidFill>
          <a:ln/>
        </p:spPr>
        <p:txBody>
          <a:bodyPr/>
          <a:lstStyle/>
          <a:p>
            <a:endParaRPr lang="en-US"/>
          </a:p>
        </p:txBody>
      </p:sp>
      <p:sp>
        <p:nvSpPr>
          <p:cNvPr id="19" name="Text 17"/>
          <p:cNvSpPr/>
          <p:nvPr/>
        </p:nvSpPr>
        <p:spPr>
          <a:xfrm>
            <a:off x="9648825" y="6664375"/>
            <a:ext cx="2592363" cy="323850"/>
          </a:xfrm>
          <a:prstGeom prst="rect">
            <a:avLst/>
          </a:prstGeom>
          <a:noFill/>
          <a:ln/>
        </p:spPr>
        <p:txBody>
          <a:bodyPr wrap="square" lIns="0" tIns="0" rIns="0" bIns="0" rtlCol="0" anchor="t">
            <a:normAutofit/>
          </a:bodyPr>
          <a:lstStyle/>
          <a:p>
            <a:pPr marL="0" indent="0" algn="l">
              <a:buNone/>
            </a:pPr>
            <a:r>
              <a:rPr lang="en-US" sz="2025" dirty="0">
                <a:solidFill>
                  <a:srgbClr val="1A1A1A"/>
                </a:solidFill>
                <a:latin typeface="Arial" pitchFamily="34" charset="0"/>
                <a:ea typeface="Arial" pitchFamily="34" charset="-122"/>
                <a:cs typeface="Arial" pitchFamily="34" charset="-120"/>
              </a:rPr>
              <a:t>Verify anything factual</a:t>
            </a:r>
            <a:endParaRPr lang="en-US" sz="2025" dirty="0"/>
          </a:p>
        </p:txBody>
      </p:sp>
      <p:sp>
        <p:nvSpPr>
          <p:cNvPr id="20" name="Shape 18"/>
          <p:cNvSpPr/>
          <p:nvPr/>
        </p:nvSpPr>
        <p:spPr>
          <a:xfrm>
            <a:off x="9391650" y="7183487"/>
            <a:ext cx="104775" cy="104775"/>
          </a:xfrm>
          <a:prstGeom prst="roundRect">
            <a:avLst>
              <a:gd name="adj" fmla="val 27273"/>
            </a:avLst>
          </a:prstGeom>
          <a:solidFill>
            <a:srgbClr val="D64545"/>
          </a:solidFill>
          <a:ln/>
        </p:spPr>
        <p:txBody>
          <a:bodyPr/>
          <a:lstStyle/>
          <a:p>
            <a:endParaRPr lang="en-US"/>
          </a:p>
        </p:txBody>
      </p:sp>
      <p:sp>
        <p:nvSpPr>
          <p:cNvPr id="21" name="Text 19"/>
          <p:cNvSpPr/>
          <p:nvPr/>
        </p:nvSpPr>
        <p:spPr>
          <a:xfrm>
            <a:off x="9648825" y="7093000"/>
            <a:ext cx="4593424" cy="323850"/>
          </a:xfrm>
          <a:prstGeom prst="rect">
            <a:avLst/>
          </a:prstGeom>
          <a:noFill/>
          <a:ln/>
        </p:spPr>
        <p:txBody>
          <a:bodyPr wrap="square" lIns="0" tIns="0" rIns="0" bIns="0" rtlCol="0" anchor="t">
            <a:normAutofit/>
          </a:bodyPr>
          <a:lstStyle/>
          <a:p>
            <a:pPr marL="0" indent="0" algn="l">
              <a:buNone/>
            </a:pPr>
            <a:r>
              <a:rPr lang="en-US" sz="2025" dirty="0">
                <a:solidFill>
                  <a:srgbClr val="1A1A1A"/>
                </a:solidFill>
                <a:latin typeface="Arial" pitchFamily="34" charset="0"/>
                <a:ea typeface="Arial" pitchFamily="34" charset="-122"/>
                <a:cs typeface="Arial" pitchFamily="34" charset="-120"/>
              </a:rPr>
              <a:t>Ground it in your own data (RAG, later)</a:t>
            </a:r>
            <a:endParaRPr lang="en-US" sz="2025" dirty="0"/>
          </a:p>
        </p:txBody>
      </p:sp>
      <p:sp>
        <p:nvSpPr>
          <p:cNvPr id="22" name="Shape 20"/>
          <p:cNvSpPr/>
          <p:nvPr/>
        </p:nvSpPr>
        <p:spPr>
          <a:xfrm>
            <a:off x="1047750" y="9520238"/>
            <a:ext cx="16192500" cy="9525"/>
          </a:xfrm>
          <a:prstGeom prst="rect">
            <a:avLst/>
          </a:prstGeom>
          <a:solidFill>
            <a:srgbClr val="E3E1DA"/>
          </a:solidFill>
          <a:ln/>
        </p:spPr>
        <p:txBody>
          <a:bodyPr/>
          <a:lstStyle/>
          <a:p>
            <a:endParaRPr lang="en-US"/>
          </a:p>
        </p:txBody>
      </p:sp>
      <p:sp>
        <p:nvSpPr>
          <p:cNvPr id="23" name="Text 21"/>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4" name="Text 22"/>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7A4FD0"/>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02</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79121"/>
              </a:lnSpc>
              <a:buNone/>
            </a:pPr>
            <a:r>
              <a:rPr lang="en-US" sz="15000" b="1" dirty="0">
                <a:solidFill>
                  <a:srgbClr val="7A4FD0"/>
                </a:solidFill>
                <a:latin typeface="Georgia" pitchFamily="34" charset="0"/>
                <a:ea typeface="Georgia" pitchFamily="34" charset="-122"/>
                <a:cs typeface="Georgia" pitchFamily="34" charset="-120"/>
              </a:rPr>
              <a:t>02</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Inside the Black Box</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How text becomes numbers, meaning, and context — no equations.</a:t>
            </a:r>
            <a:endParaRPr 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From Text to Tokens</a:t>
            </a:r>
            <a:endParaRPr lang="en-US" sz="4800" dirty="0"/>
          </a:p>
        </p:txBody>
      </p:sp>
      <p:sp>
        <p:nvSpPr>
          <p:cNvPr id="5" name="Shape 3"/>
          <p:cNvSpPr/>
          <p:nvPr/>
        </p:nvSpPr>
        <p:spPr>
          <a:xfrm>
            <a:off x="1047750" y="4250754"/>
            <a:ext cx="15240000" cy="804863"/>
          </a:xfrm>
          <a:prstGeom prst="roundRect">
            <a:avLst>
              <a:gd name="adj" fmla="val 14201"/>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23975" y="4469829"/>
            <a:ext cx="15144750" cy="404813"/>
          </a:xfrm>
          <a:prstGeom prst="rect">
            <a:avLst/>
          </a:prstGeom>
          <a:noFill/>
          <a:ln/>
        </p:spPr>
        <p:txBody>
          <a:bodyPr wrap="square" lIns="25400" tIns="25400" rIns="25400" bIns="25400" rtlCol="0" anchor="t">
            <a:normAutofit/>
          </a:bodyPr>
          <a:lstStyle/>
          <a:p>
            <a:pPr marL="0" indent="0" algn="l">
              <a:buNone/>
            </a:pPr>
            <a:r>
              <a:rPr lang="en-US" sz="2550" dirty="0">
                <a:solidFill>
                  <a:srgbClr val="7C7A73"/>
                </a:solidFill>
                <a:latin typeface="Courier New" pitchFamily="34" charset="0"/>
                <a:ea typeface="Courier New" pitchFamily="34" charset="-122"/>
                <a:cs typeface="Courier New" pitchFamily="34" charset="-120"/>
              </a:rPr>
              <a:t>Large language models are surprisingly simple.</a:t>
            </a:r>
            <a:endParaRPr lang="en-US" sz="2550" dirty="0"/>
          </a:p>
        </p:txBody>
      </p:sp>
      <p:sp>
        <p:nvSpPr>
          <p:cNvPr id="7" name="Shape 5"/>
          <p:cNvSpPr/>
          <p:nvPr/>
        </p:nvSpPr>
        <p:spPr>
          <a:xfrm>
            <a:off x="1047750" y="5474717"/>
            <a:ext cx="1257449" cy="571500"/>
          </a:xfrm>
          <a:prstGeom prst="roundRect">
            <a:avLst>
              <a:gd name="adj" fmla="val 16667"/>
            </a:avLst>
          </a:prstGeom>
          <a:solidFill>
            <a:srgbClr val="E8F0FE"/>
          </a:solidFill>
          <a:ln/>
        </p:spPr>
        <p:txBody>
          <a:bodyPr/>
          <a:lstStyle/>
          <a:p>
            <a:endParaRPr lang="en-US"/>
          </a:p>
        </p:txBody>
      </p:sp>
      <p:sp>
        <p:nvSpPr>
          <p:cNvPr id="8" name="Text 6"/>
          <p:cNvSpPr/>
          <p:nvPr/>
        </p:nvSpPr>
        <p:spPr>
          <a:xfrm>
            <a:off x="1219200" y="5589017"/>
            <a:ext cx="99074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F6FEB"/>
                </a:solidFill>
                <a:latin typeface="Courier New" pitchFamily="34" charset="0"/>
                <a:ea typeface="Courier New" pitchFamily="34" charset="-122"/>
                <a:cs typeface="Courier New" pitchFamily="34" charset="-120"/>
              </a:rPr>
              <a:t>Large</a:t>
            </a:r>
            <a:endParaRPr lang="en-US" sz="2400" dirty="0"/>
          </a:p>
        </p:txBody>
      </p:sp>
      <p:sp>
        <p:nvSpPr>
          <p:cNvPr id="9" name="Shape 7"/>
          <p:cNvSpPr/>
          <p:nvPr/>
        </p:nvSpPr>
        <p:spPr>
          <a:xfrm>
            <a:off x="2419499" y="5474717"/>
            <a:ext cx="1989088" cy="571500"/>
          </a:xfrm>
          <a:prstGeom prst="roundRect">
            <a:avLst>
              <a:gd name="adj" fmla="val 16667"/>
            </a:avLst>
          </a:prstGeom>
          <a:solidFill>
            <a:srgbClr val="E4F4EB"/>
          </a:solidFill>
          <a:ln/>
        </p:spPr>
        <p:txBody>
          <a:bodyPr/>
          <a:lstStyle/>
          <a:p>
            <a:endParaRPr lang="en-US"/>
          </a:p>
        </p:txBody>
      </p:sp>
      <p:sp>
        <p:nvSpPr>
          <p:cNvPr id="10" name="Text 8"/>
          <p:cNvSpPr/>
          <p:nvPr/>
        </p:nvSpPr>
        <p:spPr>
          <a:xfrm>
            <a:off x="2590949" y="5589017"/>
            <a:ext cx="1722388"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78A4C"/>
                </a:solidFill>
                <a:latin typeface="Courier New" pitchFamily="34" charset="0"/>
                <a:ea typeface="Courier New" pitchFamily="34" charset="-122"/>
                <a:cs typeface="Courier New" pitchFamily="34" charset="-120"/>
              </a:rPr>
              <a:t>·language</a:t>
            </a:r>
            <a:endParaRPr lang="en-US" sz="2400" dirty="0"/>
          </a:p>
        </p:txBody>
      </p:sp>
      <p:sp>
        <p:nvSpPr>
          <p:cNvPr id="11" name="Shape 9"/>
          <p:cNvSpPr/>
          <p:nvPr/>
        </p:nvSpPr>
        <p:spPr>
          <a:xfrm>
            <a:off x="4522887" y="5474717"/>
            <a:ext cx="1623268" cy="571500"/>
          </a:xfrm>
          <a:prstGeom prst="roundRect">
            <a:avLst>
              <a:gd name="adj" fmla="val 16667"/>
            </a:avLst>
          </a:prstGeom>
          <a:solidFill>
            <a:srgbClr val="FBF0D9"/>
          </a:solidFill>
          <a:ln/>
        </p:spPr>
        <p:txBody>
          <a:bodyPr/>
          <a:lstStyle/>
          <a:p>
            <a:endParaRPr lang="en-US"/>
          </a:p>
        </p:txBody>
      </p:sp>
      <p:sp>
        <p:nvSpPr>
          <p:cNvPr id="12" name="Text 10"/>
          <p:cNvSpPr/>
          <p:nvPr/>
        </p:nvSpPr>
        <p:spPr>
          <a:xfrm>
            <a:off x="4694337" y="5589017"/>
            <a:ext cx="1356568" cy="381000"/>
          </a:xfrm>
          <a:prstGeom prst="rect">
            <a:avLst/>
          </a:prstGeom>
          <a:noFill/>
          <a:ln/>
        </p:spPr>
        <p:txBody>
          <a:bodyPr wrap="square" lIns="25400" tIns="25400" rIns="25400" bIns="25400" rtlCol="0" anchor="t">
            <a:normAutofit/>
          </a:bodyPr>
          <a:lstStyle/>
          <a:p>
            <a:pPr marL="0" indent="0" algn="l">
              <a:buNone/>
            </a:pPr>
            <a:r>
              <a:rPr lang="en-US" sz="2400" dirty="0">
                <a:solidFill>
                  <a:srgbClr val="C77D0A"/>
                </a:solidFill>
                <a:latin typeface="Courier New" pitchFamily="34" charset="0"/>
                <a:ea typeface="Courier New" pitchFamily="34" charset="-122"/>
                <a:cs typeface="Courier New" pitchFamily="34" charset="-120"/>
              </a:rPr>
              <a:t>·models</a:t>
            </a:r>
            <a:endParaRPr lang="en-US" sz="2400" dirty="0"/>
          </a:p>
        </p:txBody>
      </p:sp>
      <p:sp>
        <p:nvSpPr>
          <p:cNvPr id="13" name="Shape 11"/>
          <p:cNvSpPr/>
          <p:nvPr/>
        </p:nvSpPr>
        <p:spPr>
          <a:xfrm>
            <a:off x="6260455" y="5474717"/>
            <a:ext cx="1074539" cy="571500"/>
          </a:xfrm>
          <a:prstGeom prst="roundRect">
            <a:avLst>
              <a:gd name="adj" fmla="val 16667"/>
            </a:avLst>
          </a:prstGeom>
          <a:solidFill>
            <a:srgbClr val="EFE9FB"/>
          </a:solidFill>
          <a:ln/>
        </p:spPr>
        <p:txBody>
          <a:bodyPr/>
          <a:lstStyle/>
          <a:p>
            <a:endParaRPr lang="en-US"/>
          </a:p>
        </p:txBody>
      </p:sp>
      <p:sp>
        <p:nvSpPr>
          <p:cNvPr id="14" name="Text 12"/>
          <p:cNvSpPr/>
          <p:nvPr/>
        </p:nvSpPr>
        <p:spPr>
          <a:xfrm>
            <a:off x="6431905" y="5589017"/>
            <a:ext cx="80783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7A4FD0"/>
                </a:solidFill>
                <a:latin typeface="Courier New" pitchFamily="34" charset="0"/>
                <a:ea typeface="Courier New" pitchFamily="34" charset="-122"/>
                <a:cs typeface="Courier New" pitchFamily="34" charset="-120"/>
              </a:rPr>
              <a:t>·are</a:t>
            </a:r>
            <a:endParaRPr lang="en-US" sz="2400" dirty="0"/>
          </a:p>
        </p:txBody>
      </p:sp>
      <p:sp>
        <p:nvSpPr>
          <p:cNvPr id="15" name="Shape 13"/>
          <p:cNvSpPr/>
          <p:nvPr/>
        </p:nvSpPr>
        <p:spPr>
          <a:xfrm>
            <a:off x="7449294" y="5474717"/>
            <a:ext cx="2354907" cy="571500"/>
          </a:xfrm>
          <a:prstGeom prst="roundRect">
            <a:avLst>
              <a:gd name="adj" fmla="val 16667"/>
            </a:avLst>
          </a:prstGeom>
          <a:solidFill>
            <a:srgbClr val="FBEBEA"/>
          </a:solidFill>
          <a:ln/>
        </p:spPr>
        <p:txBody>
          <a:bodyPr/>
          <a:lstStyle/>
          <a:p>
            <a:endParaRPr lang="en-US"/>
          </a:p>
        </p:txBody>
      </p:sp>
      <p:sp>
        <p:nvSpPr>
          <p:cNvPr id="16" name="Text 14"/>
          <p:cNvSpPr/>
          <p:nvPr/>
        </p:nvSpPr>
        <p:spPr>
          <a:xfrm>
            <a:off x="7620744" y="5589017"/>
            <a:ext cx="2088207" cy="381000"/>
          </a:xfrm>
          <a:prstGeom prst="rect">
            <a:avLst/>
          </a:prstGeom>
          <a:noFill/>
          <a:ln/>
        </p:spPr>
        <p:txBody>
          <a:bodyPr wrap="square" lIns="25400" tIns="25400" rIns="25400" bIns="25400" rtlCol="0" anchor="t">
            <a:normAutofit/>
          </a:bodyPr>
          <a:lstStyle/>
          <a:p>
            <a:pPr marL="0" indent="0" algn="l">
              <a:buNone/>
            </a:pPr>
            <a:r>
              <a:rPr lang="en-US" sz="2400" dirty="0">
                <a:solidFill>
                  <a:srgbClr val="D64545"/>
                </a:solidFill>
                <a:latin typeface="Courier New" pitchFamily="34" charset="0"/>
                <a:ea typeface="Courier New" pitchFamily="34" charset="-122"/>
                <a:cs typeface="Courier New" pitchFamily="34" charset="-120"/>
              </a:rPr>
              <a:t>·surprising</a:t>
            </a:r>
            <a:endParaRPr lang="en-US" sz="2400" dirty="0"/>
          </a:p>
        </p:txBody>
      </p:sp>
      <p:sp>
        <p:nvSpPr>
          <p:cNvPr id="17" name="Shape 15"/>
          <p:cNvSpPr/>
          <p:nvPr/>
        </p:nvSpPr>
        <p:spPr>
          <a:xfrm>
            <a:off x="9918502" y="5474717"/>
            <a:ext cx="708720" cy="571500"/>
          </a:xfrm>
          <a:prstGeom prst="roundRect">
            <a:avLst>
              <a:gd name="adj" fmla="val 16667"/>
            </a:avLst>
          </a:prstGeom>
          <a:solidFill>
            <a:srgbClr val="FFF1A8"/>
          </a:solidFill>
          <a:ln/>
        </p:spPr>
        <p:txBody>
          <a:bodyPr/>
          <a:lstStyle/>
          <a:p>
            <a:endParaRPr lang="en-US"/>
          </a:p>
        </p:txBody>
      </p:sp>
      <p:sp>
        <p:nvSpPr>
          <p:cNvPr id="18" name="Text 16"/>
          <p:cNvSpPr/>
          <p:nvPr/>
        </p:nvSpPr>
        <p:spPr>
          <a:xfrm>
            <a:off x="10089952" y="5589017"/>
            <a:ext cx="44202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3D3D3D"/>
                </a:solidFill>
                <a:latin typeface="Courier New" pitchFamily="34" charset="0"/>
                <a:ea typeface="Courier New" pitchFamily="34" charset="-122"/>
                <a:cs typeface="Courier New" pitchFamily="34" charset="-120"/>
              </a:rPr>
              <a:t>ly</a:t>
            </a:r>
            <a:endParaRPr lang="en-US" sz="2400" dirty="0"/>
          </a:p>
        </p:txBody>
      </p:sp>
      <p:sp>
        <p:nvSpPr>
          <p:cNvPr id="19" name="Shape 17"/>
          <p:cNvSpPr/>
          <p:nvPr/>
        </p:nvSpPr>
        <p:spPr>
          <a:xfrm>
            <a:off x="10741521" y="5474717"/>
            <a:ext cx="1623268" cy="571500"/>
          </a:xfrm>
          <a:prstGeom prst="roundRect">
            <a:avLst>
              <a:gd name="adj" fmla="val 16667"/>
            </a:avLst>
          </a:prstGeom>
          <a:solidFill>
            <a:srgbClr val="E8F0FE"/>
          </a:solidFill>
          <a:ln/>
        </p:spPr>
        <p:txBody>
          <a:bodyPr/>
          <a:lstStyle/>
          <a:p>
            <a:endParaRPr lang="en-US"/>
          </a:p>
        </p:txBody>
      </p:sp>
      <p:sp>
        <p:nvSpPr>
          <p:cNvPr id="20" name="Text 18"/>
          <p:cNvSpPr/>
          <p:nvPr/>
        </p:nvSpPr>
        <p:spPr>
          <a:xfrm>
            <a:off x="10912971" y="5589017"/>
            <a:ext cx="1356568"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F6FEB"/>
                </a:solidFill>
                <a:latin typeface="Courier New" pitchFamily="34" charset="0"/>
                <a:ea typeface="Courier New" pitchFamily="34" charset="-122"/>
                <a:cs typeface="Courier New" pitchFamily="34" charset="-120"/>
              </a:rPr>
              <a:t>·simple</a:t>
            </a:r>
            <a:endParaRPr lang="en-US" sz="2400" dirty="0"/>
          </a:p>
        </p:txBody>
      </p:sp>
      <p:sp>
        <p:nvSpPr>
          <p:cNvPr id="21" name="Shape 19"/>
          <p:cNvSpPr/>
          <p:nvPr/>
        </p:nvSpPr>
        <p:spPr>
          <a:xfrm>
            <a:off x="12479089" y="5474717"/>
            <a:ext cx="525810" cy="571500"/>
          </a:xfrm>
          <a:prstGeom prst="roundRect">
            <a:avLst>
              <a:gd name="adj" fmla="val 18115"/>
            </a:avLst>
          </a:prstGeom>
          <a:solidFill>
            <a:srgbClr val="E4F4EB"/>
          </a:solidFill>
          <a:ln/>
        </p:spPr>
        <p:txBody>
          <a:bodyPr/>
          <a:lstStyle/>
          <a:p>
            <a:endParaRPr lang="en-US"/>
          </a:p>
        </p:txBody>
      </p:sp>
      <p:sp>
        <p:nvSpPr>
          <p:cNvPr id="22" name="Text 20"/>
          <p:cNvSpPr/>
          <p:nvPr/>
        </p:nvSpPr>
        <p:spPr>
          <a:xfrm>
            <a:off x="12650539" y="5589017"/>
            <a:ext cx="25911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78A4C"/>
                </a:solidFill>
                <a:latin typeface="Courier New" pitchFamily="34" charset="0"/>
                <a:ea typeface="Courier New" pitchFamily="34" charset="-122"/>
                <a:cs typeface="Courier New" pitchFamily="34" charset="-120"/>
              </a:rPr>
              <a:t>.</a:t>
            </a:r>
            <a:endParaRPr lang="en-US" sz="2400" dirty="0"/>
          </a:p>
        </p:txBody>
      </p:sp>
      <p:sp>
        <p:nvSpPr>
          <p:cNvPr id="23" name="Text 21"/>
          <p:cNvSpPr/>
          <p:nvPr/>
        </p:nvSpPr>
        <p:spPr>
          <a:xfrm>
            <a:off x="1047750" y="6465317"/>
            <a:ext cx="15697200"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Common words are one token; rarer words split into pieces — </a:t>
            </a:r>
            <a:r>
              <a:rPr lang="en-US" sz="2025" dirty="0">
                <a:solidFill>
                  <a:srgbClr val="3D3D3D"/>
                </a:solidFill>
                <a:highlight>
                  <a:srgbClr val="FFF1A8"/>
                </a:highlight>
                <a:latin typeface="Arial" pitchFamily="34" charset="0"/>
                <a:ea typeface="Arial" pitchFamily="34" charset="-122"/>
                <a:cs typeface="Arial" pitchFamily="34" charset="-120"/>
              </a:rPr>
              <a:t>surprising </a:t>
            </a:r>
            <a:r>
              <a:rPr lang="en-US" sz="2025" dirty="0">
                <a:solidFill>
                  <a:srgbClr val="3D3D3D"/>
                </a:solidFill>
                <a:latin typeface="Arial" pitchFamily="34" charset="0"/>
                <a:ea typeface="Arial" pitchFamily="34" charset="-122"/>
                <a:cs typeface="Arial" pitchFamily="34" charset="-120"/>
              </a:rPr>
              <a:t>+ </a:t>
            </a:r>
            <a:r>
              <a:rPr lang="en-US" sz="2025" dirty="0">
                <a:solidFill>
                  <a:srgbClr val="3D3D3D"/>
                </a:solidFill>
                <a:highlight>
                  <a:srgbClr val="FFF1A8"/>
                </a:highlight>
                <a:latin typeface="Arial" pitchFamily="34" charset="0"/>
                <a:ea typeface="Arial" pitchFamily="34" charset="-122"/>
                <a:cs typeface="Arial" pitchFamily="34" charset="-120"/>
              </a:rPr>
              <a:t>ly</a:t>
            </a:r>
            <a:r>
              <a:rPr lang="en-US" sz="2025" dirty="0">
                <a:solidFill>
                  <a:srgbClr val="3D3D3D"/>
                </a:solidFill>
                <a:latin typeface="Arial" pitchFamily="34" charset="0"/>
                <a:ea typeface="Arial" pitchFamily="34" charset="-122"/>
                <a:cs typeface="Arial" pitchFamily="34" charset="-120"/>
              </a:rPr>
              <a:t>. Rule of thumb: </a:t>
            </a:r>
            <a:r>
              <a:rPr lang="en-US" sz="2025" b="1" dirty="0">
                <a:solidFill>
                  <a:srgbClr val="1A1A1A"/>
                </a:solidFill>
                <a:latin typeface="Arial" pitchFamily="34" charset="0"/>
                <a:ea typeface="Arial" pitchFamily="34" charset="-122"/>
                <a:cs typeface="Arial" pitchFamily="34" charset="-120"/>
              </a:rPr>
              <a:t>1 token ≈ 4 characters ≈ ¾ of a word </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Tokens Become Numbers</a:t>
            </a:r>
            <a:endParaRPr lang="en-US" sz="4800" dirty="0"/>
          </a:p>
        </p:txBody>
      </p:sp>
      <p:sp>
        <p:nvSpPr>
          <p:cNvPr id="5" name="Shape 3"/>
          <p:cNvSpPr/>
          <p:nvPr/>
        </p:nvSpPr>
        <p:spPr>
          <a:xfrm>
            <a:off x="1047750" y="4326954"/>
            <a:ext cx="1295549" cy="571500"/>
          </a:xfrm>
          <a:prstGeom prst="roundRect">
            <a:avLst>
              <a:gd name="adj" fmla="val 16667"/>
            </a:avLst>
          </a:prstGeom>
          <a:solidFill>
            <a:srgbClr val="E8F0FE"/>
          </a:solidFill>
          <a:ln/>
        </p:spPr>
        <p:txBody>
          <a:bodyPr/>
          <a:lstStyle/>
          <a:p>
            <a:endParaRPr lang="en-US"/>
          </a:p>
        </p:txBody>
      </p:sp>
      <p:sp>
        <p:nvSpPr>
          <p:cNvPr id="6" name="Text 4"/>
          <p:cNvSpPr/>
          <p:nvPr/>
        </p:nvSpPr>
        <p:spPr>
          <a:xfrm>
            <a:off x="1238250" y="4441254"/>
            <a:ext cx="99074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F6FEB"/>
                </a:solidFill>
                <a:latin typeface="Courier New" pitchFamily="34" charset="0"/>
                <a:ea typeface="Courier New" pitchFamily="34" charset="-122"/>
                <a:cs typeface="Courier New" pitchFamily="34" charset="-120"/>
              </a:rPr>
              <a:t>Large</a:t>
            </a:r>
            <a:endParaRPr lang="en-US" sz="2400" dirty="0"/>
          </a:p>
        </p:txBody>
      </p:sp>
      <p:sp>
        <p:nvSpPr>
          <p:cNvPr id="7" name="Text 5"/>
          <p:cNvSpPr/>
          <p:nvPr/>
        </p:nvSpPr>
        <p:spPr>
          <a:xfrm>
            <a:off x="1595512"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8" name="Text 6"/>
          <p:cNvSpPr/>
          <p:nvPr/>
        </p:nvSpPr>
        <p:spPr>
          <a:xfrm>
            <a:off x="1238250" y="5665217"/>
            <a:ext cx="99074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13831</a:t>
            </a:r>
            <a:endParaRPr lang="en-US" sz="2400" dirty="0"/>
          </a:p>
        </p:txBody>
      </p:sp>
      <p:sp>
        <p:nvSpPr>
          <p:cNvPr id="9" name="Shape 7"/>
          <p:cNvSpPr/>
          <p:nvPr/>
        </p:nvSpPr>
        <p:spPr>
          <a:xfrm>
            <a:off x="2590949" y="4326954"/>
            <a:ext cx="1844278" cy="571500"/>
          </a:xfrm>
          <a:prstGeom prst="roundRect">
            <a:avLst>
              <a:gd name="adj" fmla="val 16667"/>
            </a:avLst>
          </a:prstGeom>
          <a:solidFill>
            <a:srgbClr val="E4F4EB"/>
          </a:solidFill>
          <a:ln/>
        </p:spPr>
        <p:txBody>
          <a:bodyPr/>
          <a:lstStyle/>
          <a:p>
            <a:endParaRPr lang="en-US"/>
          </a:p>
        </p:txBody>
      </p:sp>
      <p:sp>
        <p:nvSpPr>
          <p:cNvPr id="10" name="Text 8"/>
          <p:cNvSpPr/>
          <p:nvPr/>
        </p:nvSpPr>
        <p:spPr>
          <a:xfrm>
            <a:off x="2781449" y="4441254"/>
            <a:ext cx="1539478"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78A4C"/>
                </a:solidFill>
                <a:latin typeface="Courier New" pitchFamily="34" charset="0"/>
                <a:ea typeface="Courier New" pitchFamily="34" charset="-122"/>
                <a:cs typeface="Courier New" pitchFamily="34" charset="-120"/>
              </a:rPr>
              <a:t>language</a:t>
            </a:r>
            <a:endParaRPr lang="en-US" sz="2400" dirty="0"/>
          </a:p>
        </p:txBody>
      </p:sp>
      <p:sp>
        <p:nvSpPr>
          <p:cNvPr id="11" name="Text 9"/>
          <p:cNvSpPr/>
          <p:nvPr/>
        </p:nvSpPr>
        <p:spPr>
          <a:xfrm>
            <a:off x="3413075"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2" name="Text 10"/>
          <p:cNvSpPr/>
          <p:nvPr/>
        </p:nvSpPr>
        <p:spPr>
          <a:xfrm>
            <a:off x="3147268" y="5665217"/>
            <a:ext cx="80783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4086</a:t>
            </a:r>
            <a:endParaRPr lang="en-US" sz="2400" dirty="0"/>
          </a:p>
        </p:txBody>
      </p:sp>
      <p:sp>
        <p:nvSpPr>
          <p:cNvPr id="13" name="Shape 11"/>
          <p:cNvSpPr/>
          <p:nvPr/>
        </p:nvSpPr>
        <p:spPr>
          <a:xfrm>
            <a:off x="4682877" y="4326954"/>
            <a:ext cx="1478459" cy="571500"/>
          </a:xfrm>
          <a:prstGeom prst="roundRect">
            <a:avLst>
              <a:gd name="adj" fmla="val 16667"/>
            </a:avLst>
          </a:prstGeom>
          <a:solidFill>
            <a:srgbClr val="FBF0D9"/>
          </a:solidFill>
          <a:ln/>
        </p:spPr>
        <p:txBody>
          <a:bodyPr/>
          <a:lstStyle/>
          <a:p>
            <a:endParaRPr lang="en-US"/>
          </a:p>
        </p:txBody>
      </p:sp>
      <p:sp>
        <p:nvSpPr>
          <p:cNvPr id="14" name="Text 12"/>
          <p:cNvSpPr/>
          <p:nvPr/>
        </p:nvSpPr>
        <p:spPr>
          <a:xfrm>
            <a:off x="4873377" y="4441254"/>
            <a:ext cx="117365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C77D0A"/>
                </a:solidFill>
                <a:latin typeface="Courier New" pitchFamily="34" charset="0"/>
                <a:ea typeface="Courier New" pitchFamily="34" charset="-122"/>
                <a:cs typeface="Courier New" pitchFamily="34" charset="-120"/>
              </a:rPr>
              <a:t>models</a:t>
            </a:r>
            <a:endParaRPr lang="en-US" sz="2400" dirty="0"/>
          </a:p>
        </p:txBody>
      </p:sp>
      <p:sp>
        <p:nvSpPr>
          <p:cNvPr id="15" name="Text 13"/>
          <p:cNvSpPr/>
          <p:nvPr/>
        </p:nvSpPr>
        <p:spPr>
          <a:xfrm>
            <a:off x="5322094"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6" name="Text 14"/>
          <p:cNvSpPr/>
          <p:nvPr/>
        </p:nvSpPr>
        <p:spPr>
          <a:xfrm>
            <a:off x="5056287" y="5665217"/>
            <a:ext cx="80783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6363</a:t>
            </a:r>
            <a:endParaRPr lang="en-US" sz="2400" dirty="0"/>
          </a:p>
        </p:txBody>
      </p:sp>
      <p:sp>
        <p:nvSpPr>
          <p:cNvPr id="17" name="Shape 15"/>
          <p:cNvSpPr/>
          <p:nvPr/>
        </p:nvSpPr>
        <p:spPr>
          <a:xfrm>
            <a:off x="6408986" y="4326954"/>
            <a:ext cx="929729" cy="571500"/>
          </a:xfrm>
          <a:prstGeom prst="roundRect">
            <a:avLst>
              <a:gd name="adj" fmla="val 16667"/>
            </a:avLst>
          </a:prstGeom>
          <a:solidFill>
            <a:srgbClr val="EFE9FB"/>
          </a:solidFill>
          <a:ln/>
        </p:spPr>
        <p:txBody>
          <a:bodyPr/>
          <a:lstStyle/>
          <a:p>
            <a:endParaRPr lang="en-US"/>
          </a:p>
        </p:txBody>
      </p:sp>
      <p:sp>
        <p:nvSpPr>
          <p:cNvPr id="18" name="Text 16"/>
          <p:cNvSpPr/>
          <p:nvPr/>
        </p:nvSpPr>
        <p:spPr>
          <a:xfrm>
            <a:off x="6599486" y="4441254"/>
            <a:ext cx="62492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7A4FD0"/>
                </a:solidFill>
                <a:latin typeface="Courier New" pitchFamily="34" charset="0"/>
                <a:ea typeface="Courier New" pitchFamily="34" charset="-122"/>
                <a:cs typeface="Courier New" pitchFamily="34" charset="-120"/>
              </a:rPr>
              <a:t>are</a:t>
            </a:r>
            <a:endParaRPr lang="en-US" sz="2400" dirty="0"/>
          </a:p>
        </p:txBody>
      </p:sp>
      <p:sp>
        <p:nvSpPr>
          <p:cNvPr id="19" name="Text 17"/>
          <p:cNvSpPr/>
          <p:nvPr/>
        </p:nvSpPr>
        <p:spPr>
          <a:xfrm>
            <a:off x="6773838"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0" name="Text 18"/>
          <p:cNvSpPr/>
          <p:nvPr/>
        </p:nvSpPr>
        <p:spPr>
          <a:xfrm>
            <a:off x="6599486" y="5665217"/>
            <a:ext cx="62492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527</a:t>
            </a:r>
            <a:endParaRPr lang="en-US" sz="2400" dirty="0"/>
          </a:p>
        </p:txBody>
      </p:sp>
      <p:sp>
        <p:nvSpPr>
          <p:cNvPr id="21" name="Shape 19"/>
          <p:cNvSpPr/>
          <p:nvPr/>
        </p:nvSpPr>
        <p:spPr>
          <a:xfrm>
            <a:off x="7586365" y="4326954"/>
            <a:ext cx="2210098" cy="571500"/>
          </a:xfrm>
          <a:prstGeom prst="roundRect">
            <a:avLst>
              <a:gd name="adj" fmla="val 16667"/>
            </a:avLst>
          </a:prstGeom>
          <a:solidFill>
            <a:srgbClr val="FBEBEA"/>
          </a:solidFill>
          <a:ln/>
        </p:spPr>
        <p:txBody>
          <a:bodyPr/>
          <a:lstStyle/>
          <a:p>
            <a:endParaRPr lang="en-US"/>
          </a:p>
        </p:txBody>
      </p:sp>
      <p:sp>
        <p:nvSpPr>
          <p:cNvPr id="22" name="Text 20"/>
          <p:cNvSpPr/>
          <p:nvPr/>
        </p:nvSpPr>
        <p:spPr>
          <a:xfrm>
            <a:off x="7776865" y="4441254"/>
            <a:ext cx="1905298" cy="381000"/>
          </a:xfrm>
          <a:prstGeom prst="rect">
            <a:avLst/>
          </a:prstGeom>
          <a:noFill/>
          <a:ln/>
        </p:spPr>
        <p:txBody>
          <a:bodyPr wrap="square" lIns="25400" tIns="25400" rIns="25400" bIns="25400" rtlCol="0" anchor="t">
            <a:normAutofit/>
          </a:bodyPr>
          <a:lstStyle/>
          <a:p>
            <a:pPr marL="0" indent="0" algn="l">
              <a:buNone/>
            </a:pPr>
            <a:r>
              <a:rPr lang="en-US" sz="2400" dirty="0">
                <a:solidFill>
                  <a:srgbClr val="D64545"/>
                </a:solidFill>
                <a:latin typeface="Courier New" pitchFamily="34" charset="0"/>
                <a:ea typeface="Courier New" pitchFamily="34" charset="-122"/>
                <a:cs typeface="Courier New" pitchFamily="34" charset="-120"/>
              </a:rPr>
              <a:t>surprising</a:t>
            </a:r>
            <a:endParaRPr lang="en-US" sz="2400" dirty="0"/>
          </a:p>
        </p:txBody>
      </p:sp>
      <p:sp>
        <p:nvSpPr>
          <p:cNvPr id="23" name="Text 21"/>
          <p:cNvSpPr/>
          <p:nvPr/>
        </p:nvSpPr>
        <p:spPr>
          <a:xfrm>
            <a:off x="8591401"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4" name="Text 22"/>
          <p:cNvSpPr/>
          <p:nvPr/>
        </p:nvSpPr>
        <p:spPr>
          <a:xfrm>
            <a:off x="8325594" y="5665217"/>
            <a:ext cx="80783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8258</a:t>
            </a:r>
            <a:endParaRPr lang="en-US" sz="2400" dirty="0"/>
          </a:p>
        </p:txBody>
      </p:sp>
      <p:sp>
        <p:nvSpPr>
          <p:cNvPr id="25" name="Shape 23"/>
          <p:cNvSpPr/>
          <p:nvPr/>
        </p:nvSpPr>
        <p:spPr>
          <a:xfrm>
            <a:off x="10044113" y="4326954"/>
            <a:ext cx="746820" cy="571500"/>
          </a:xfrm>
          <a:prstGeom prst="roundRect">
            <a:avLst>
              <a:gd name="adj" fmla="val 16667"/>
            </a:avLst>
          </a:prstGeom>
          <a:solidFill>
            <a:srgbClr val="FFF1A8"/>
          </a:solidFill>
          <a:ln/>
        </p:spPr>
        <p:txBody>
          <a:bodyPr/>
          <a:lstStyle/>
          <a:p>
            <a:endParaRPr lang="en-US"/>
          </a:p>
        </p:txBody>
      </p:sp>
      <p:sp>
        <p:nvSpPr>
          <p:cNvPr id="26" name="Text 24"/>
          <p:cNvSpPr/>
          <p:nvPr/>
        </p:nvSpPr>
        <p:spPr>
          <a:xfrm>
            <a:off x="10234613" y="4441254"/>
            <a:ext cx="442020" cy="381000"/>
          </a:xfrm>
          <a:prstGeom prst="rect">
            <a:avLst/>
          </a:prstGeom>
          <a:noFill/>
          <a:ln/>
        </p:spPr>
        <p:txBody>
          <a:bodyPr wrap="square" lIns="25400" tIns="25400" rIns="25400" bIns="25400" rtlCol="0" anchor="t">
            <a:normAutofit/>
          </a:bodyPr>
          <a:lstStyle/>
          <a:p>
            <a:pPr marL="0" indent="0" algn="l">
              <a:buNone/>
            </a:pPr>
            <a:r>
              <a:rPr lang="en-US" sz="2400" dirty="0">
                <a:solidFill>
                  <a:srgbClr val="3D3D3D"/>
                </a:solidFill>
                <a:latin typeface="Courier New" pitchFamily="34" charset="0"/>
                <a:ea typeface="Courier New" pitchFamily="34" charset="-122"/>
                <a:cs typeface="Courier New" pitchFamily="34" charset="-120"/>
              </a:rPr>
              <a:t>ly</a:t>
            </a:r>
            <a:endParaRPr lang="en-US" sz="2400" dirty="0"/>
          </a:p>
        </p:txBody>
      </p:sp>
      <p:sp>
        <p:nvSpPr>
          <p:cNvPr id="27" name="Text 25"/>
          <p:cNvSpPr/>
          <p:nvPr/>
        </p:nvSpPr>
        <p:spPr>
          <a:xfrm>
            <a:off x="10317510" y="5050854"/>
            <a:ext cx="276225"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8" name="Text 26"/>
          <p:cNvSpPr/>
          <p:nvPr/>
        </p:nvSpPr>
        <p:spPr>
          <a:xfrm>
            <a:off x="10143158" y="5665217"/>
            <a:ext cx="624929" cy="3810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Courier New" pitchFamily="34" charset="0"/>
                <a:ea typeface="Courier New" pitchFamily="34" charset="-122"/>
                <a:cs typeface="Courier New" pitchFamily="34" charset="-120"/>
              </a:rPr>
              <a:t>356</a:t>
            </a:r>
            <a:endParaRPr lang="en-US" sz="2400" dirty="0"/>
          </a:p>
        </p:txBody>
      </p:sp>
      <p:sp>
        <p:nvSpPr>
          <p:cNvPr id="29" name="Text 27"/>
          <p:cNvSpPr/>
          <p:nvPr/>
        </p:nvSpPr>
        <p:spPr>
          <a:xfrm>
            <a:off x="1047750" y="6389117"/>
            <a:ext cx="14716125"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A fixed vocabulary of ~100,000–200,000 tokens. From here on, the model only ever sees </a:t>
            </a:r>
            <a:r>
              <a:rPr lang="en-US" sz="2025" dirty="0">
                <a:solidFill>
                  <a:srgbClr val="3D3D3D"/>
                </a:solidFill>
                <a:highlight>
                  <a:srgbClr val="FFF1A8"/>
                </a:highlight>
                <a:latin typeface="Arial" pitchFamily="34" charset="0"/>
                <a:ea typeface="Arial" pitchFamily="34" charset="-122"/>
                <a:cs typeface="Arial" pitchFamily="34" charset="-120"/>
              </a:rPr>
              <a:t>numbers </a:t>
            </a:r>
            <a:r>
              <a:rPr lang="en-US" sz="2025" dirty="0">
                <a:solidFill>
                  <a:srgbClr val="3D3D3D"/>
                </a:solidFill>
                <a:latin typeface="Arial" pitchFamily="34" charset="0"/>
                <a:ea typeface="Arial" pitchFamily="34" charset="-122"/>
                <a:cs typeface="Arial" pitchFamily="34" charset="-120"/>
              </a:rPr>
              <a:t>— text in, math in the middle, text back out.</a:t>
            </a:r>
            <a:endParaRPr lang="en-US" sz="2025" dirty="0"/>
          </a:p>
        </p:txBody>
      </p:sp>
      <p:sp>
        <p:nvSpPr>
          <p:cNvPr id="30" name="Shape 28"/>
          <p:cNvSpPr/>
          <p:nvPr/>
        </p:nvSpPr>
        <p:spPr>
          <a:xfrm>
            <a:off x="1047750" y="9520238"/>
            <a:ext cx="16192500" cy="9525"/>
          </a:xfrm>
          <a:prstGeom prst="rect">
            <a:avLst/>
          </a:prstGeom>
          <a:solidFill>
            <a:srgbClr val="E3E1DA"/>
          </a:solidFill>
          <a:ln/>
        </p:spPr>
        <p:txBody>
          <a:bodyPr/>
          <a:lstStyle/>
          <a:p>
            <a:endParaRPr lang="en-US"/>
          </a:p>
        </p:txBody>
      </p:sp>
      <p:sp>
        <p:nvSpPr>
          <p:cNvPr id="31" name="Text 2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2" name="Text 30"/>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From Numbers to Meaning: Embeddings</a:t>
            </a:r>
            <a:endParaRPr lang="en-US" sz="4800" dirty="0"/>
          </a:p>
        </p:txBody>
      </p:sp>
      <p:sp>
        <p:nvSpPr>
          <p:cNvPr id="5" name="Shape 3"/>
          <p:cNvSpPr/>
          <p:nvPr/>
        </p:nvSpPr>
        <p:spPr>
          <a:xfrm>
            <a:off x="1047750" y="3610198"/>
            <a:ext cx="10896600" cy="4191000"/>
          </a:xfrm>
          <a:prstGeom prst="roundRect">
            <a:avLst>
              <a:gd name="adj" fmla="val 3636"/>
            </a:avLst>
          </a:prstGeom>
          <a:solidFill>
            <a:srgbClr val="F8F7F3"/>
          </a:solidFill>
          <a:ln w="9525">
            <a:solidFill>
              <a:srgbClr val="E3E1DA"/>
            </a:solidFill>
            <a:prstDash val="solid"/>
          </a:ln>
        </p:spPr>
        <p:txBody>
          <a:bodyPr/>
          <a:lstStyle/>
          <a:p>
            <a:endParaRPr lang="en-US"/>
          </a:p>
        </p:txBody>
      </p:sp>
      <p:sp>
        <p:nvSpPr>
          <p:cNvPr id="6" name="Shape 4"/>
          <p:cNvSpPr/>
          <p:nvPr/>
        </p:nvSpPr>
        <p:spPr>
          <a:xfrm>
            <a:off x="2158492" y="5694015"/>
            <a:ext cx="190500" cy="190500"/>
          </a:xfrm>
          <a:prstGeom prst="ellipse">
            <a:avLst/>
          </a:prstGeom>
          <a:solidFill>
            <a:srgbClr val="178A4C"/>
          </a:solidFill>
          <a:ln/>
        </p:spPr>
        <p:txBody>
          <a:bodyPr/>
          <a:lstStyle/>
          <a:p>
            <a:endParaRPr lang="en-US"/>
          </a:p>
        </p:txBody>
      </p:sp>
      <p:sp>
        <p:nvSpPr>
          <p:cNvPr id="7" name="Text 5"/>
          <p:cNvSpPr/>
          <p:nvPr/>
        </p:nvSpPr>
        <p:spPr>
          <a:xfrm>
            <a:off x="2047987" y="5960715"/>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cat</a:t>
            </a:r>
            <a:endParaRPr lang="en-US" sz="1800" dirty="0"/>
          </a:p>
        </p:txBody>
      </p:sp>
      <p:sp>
        <p:nvSpPr>
          <p:cNvPr id="8" name="Shape 6"/>
          <p:cNvSpPr/>
          <p:nvPr/>
        </p:nvSpPr>
        <p:spPr>
          <a:xfrm>
            <a:off x="3354995" y="6361584"/>
            <a:ext cx="190500" cy="190500"/>
          </a:xfrm>
          <a:prstGeom prst="ellipse">
            <a:avLst/>
          </a:prstGeom>
          <a:solidFill>
            <a:srgbClr val="178A4C"/>
          </a:solidFill>
          <a:ln/>
        </p:spPr>
        <p:txBody>
          <a:bodyPr/>
          <a:lstStyle/>
          <a:p>
            <a:endParaRPr lang="en-US"/>
          </a:p>
        </p:txBody>
      </p:sp>
      <p:sp>
        <p:nvSpPr>
          <p:cNvPr id="9" name="Text 7"/>
          <p:cNvSpPr/>
          <p:nvPr/>
        </p:nvSpPr>
        <p:spPr>
          <a:xfrm>
            <a:off x="3038735" y="6628284"/>
            <a:ext cx="89929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kitten</a:t>
            </a:r>
            <a:endParaRPr lang="en-US" sz="1800" dirty="0"/>
          </a:p>
        </p:txBody>
      </p:sp>
      <p:sp>
        <p:nvSpPr>
          <p:cNvPr id="10" name="Shape 8"/>
          <p:cNvSpPr/>
          <p:nvPr/>
        </p:nvSpPr>
        <p:spPr>
          <a:xfrm>
            <a:off x="1940905" y="4859685"/>
            <a:ext cx="190500" cy="190500"/>
          </a:xfrm>
          <a:prstGeom prst="ellipse">
            <a:avLst/>
          </a:prstGeom>
          <a:solidFill>
            <a:srgbClr val="178A4C"/>
          </a:solidFill>
          <a:ln/>
        </p:spPr>
        <p:txBody>
          <a:bodyPr/>
          <a:lstStyle/>
          <a:p>
            <a:endParaRPr lang="en-US"/>
          </a:p>
        </p:txBody>
      </p:sp>
      <p:sp>
        <p:nvSpPr>
          <p:cNvPr id="11" name="Text 9"/>
          <p:cNvSpPr/>
          <p:nvPr/>
        </p:nvSpPr>
        <p:spPr>
          <a:xfrm>
            <a:off x="1830400" y="5126385"/>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dog</a:t>
            </a:r>
            <a:endParaRPr lang="en-US" sz="1800" dirty="0"/>
          </a:p>
        </p:txBody>
      </p:sp>
      <p:sp>
        <p:nvSpPr>
          <p:cNvPr id="12" name="Shape 10"/>
          <p:cNvSpPr/>
          <p:nvPr/>
        </p:nvSpPr>
        <p:spPr>
          <a:xfrm>
            <a:off x="7053374" y="6278091"/>
            <a:ext cx="190500" cy="190500"/>
          </a:xfrm>
          <a:prstGeom prst="ellipse">
            <a:avLst/>
          </a:prstGeom>
          <a:solidFill>
            <a:srgbClr val="7A4FD0"/>
          </a:solidFill>
          <a:ln/>
        </p:spPr>
        <p:txBody>
          <a:bodyPr/>
          <a:lstStyle/>
          <a:p>
            <a:endParaRPr lang="en-US"/>
          </a:p>
        </p:txBody>
      </p:sp>
      <p:sp>
        <p:nvSpPr>
          <p:cNvPr id="13" name="Text 11"/>
          <p:cNvSpPr/>
          <p:nvPr/>
        </p:nvSpPr>
        <p:spPr>
          <a:xfrm>
            <a:off x="6942869" y="6544791"/>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man</a:t>
            </a:r>
            <a:endParaRPr lang="en-US" sz="1800" dirty="0"/>
          </a:p>
        </p:txBody>
      </p:sp>
      <p:sp>
        <p:nvSpPr>
          <p:cNvPr id="14" name="Shape 12"/>
          <p:cNvSpPr/>
          <p:nvPr/>
        </p:nvSpPr>
        <p:spPr>
          <a:xfrm>
            <a:off x="7053411" y="4442445"/>
            <a:ext cx="190500" cy="190500"/>
          </a:xfrm>
          <a:prstGeom prst="ellipse">
            <a:avLst/>
          </a:prstGeom>
          <a:solidFill>
            <a:srgbClr val="1F6FEB"/>
          </a:solidFill>
          <a:ln/>
        </p:spPr>
        <p:txBody>
          <a:bodyPr/>
          <a:lstStyle/>
          <a:p>
            <a:endParaRPr lang="en-US"/>
          </a:p>
        </p:txBody>
      </p:sp>
      <p:sp>
        <p:nvSpPr>
          <p:cNvPr id="15" name="Text 13"/>
          <p:cNvSpPr/>
          <p:nvPr/>
        </p:nvSpPr>
        <p:spPr>
          <a:xfrm>
            <a:off x="6874297" y="4709145"/>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king</a:t>
            </a:r>
            <a:endParaRPr lang="en-US" sz="1800" dirty="0"/>
          </a:p>
        </p:txBody>
      </p:sp>
      <p:sp>
        <p:nvSpPr>
          <p:cNvPr id="16" name="Shape 14"/>
          <p:cNvSpPr/>
          <p:nvPr/>
        </p:nvSpPr>
        <p:spPr>
          <a:xfrm>
            <a:off x="9881592" y="6278091"/>
            <a:ext cx="190500" cy="190500"/>
          </a:xfrm>
          <a:prstGeom prst="ellipse">
            <a:avLst/>
          </a:prstGeom>
          <a:solidFill>
            <a:srgbClr val="7A4FD0"/>
          </a:solidFill>
          <a:ln/>
        </p:spPr>
        <p:txBody>
          <a:bodyPr/>
          <a:lstStyle/>
          <a:p>
            <a:endParaRPr lang="en-US"/>
          </a:p>
        </p:txBody>
      </p:sp>
      <p:sp>
        <p:nvSpPr>
          <p:cNvPr id="17" name="Text 15"/>
          <p:cNvSpPr/>
          <p:nvPr/>
        </p:nvSpPr>
        <p:spPr>
          <a:xfrm>
            <a:off x="9633868" y="6544791"/>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woman</a:t>
            </a:r>
            <a:endParaRPr lang="en-US" sz="1800" dirty="0"/>
          </a:p>
        </p:txBody>
      </p:sp>
      <p:sp>
        <p:nvSpPr>
          <p:cNvPr id="18" name="Shape 16"/>
          <p:cNvSpPr/>
          <p:nvPr/>
        </p:nvSpPr>
        <p:spPr>
          <a:xfrm>
            <a:off x="9881592" y="4442445"/>
            <a:ext cx="190500" cy="190500"/>
          </a:xfrm>
          <a:prstGeom prst="ellipse">
            <a:avLst/>
          </a:prstGeom>
          <a:solidFill>
            <a:srgbClr val="1F6FEB"/>
          </a:solidFill>
          <a:ln/>
        </p:spPr>
        <p:txBody>
          <a:bodyPr/>
          <a:lstStyle/>
          <a:p>
            <a:endParaRPr lang="en-US"/>
          </a:p>
        </p:txBody>
      </p:sp>
      <p:sp>
        <p:nvSpPr>
          <p:cNvPr id="19" name="Text 17"/>
          <p:cNvSpPr/>
          <p:nvPr/>
        </p:nvSpPr>
        <p:spPr>
          <a:xfrm>
            <a:off x="9633868" y="4709145"/>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queen</a:t>
            </a:r>
            <a:endParaRPr lang="en-US" sz="1800" dirty="0"/>
          </a:p>
        </p:txBody>
      </p:sp>
      <p:sp>
        <p:nvSpPr>
          <p:cNvPr id="20" name="Shape 18"/>
          <p:cNvSpPr/>
          <p:nvPr/>
        </p:nvSpPr>
        <p:spPr>
          <a:xfrm>
            <a:off x="7148661" y="4912965"/>
            <a:ext cx="19050" cy="1334988"/>
          </a:xfrm>
          <a:prstGeom prst="rect">
            <a:avLst/>
          </a:prstGeom>
          <a:solidFill>
            <a:srgbClr val="7C7A73"/>
          </a:solidFill>
          <a:ln/>
        </p:spPr>
        <p:txBody>
          <a:bodyPr/>
          <a:lstStyle/>
          <a:p>
            <a:endParaRPr lang="en-US"/>
          </a:p>
        </p:txBody>
      </p:sp>
      <p:sp>
        <p:nvSpPr>
          <p:cNvPr id="21" name="Shape 19"/>
          <p:cNvSpPr/>
          <p:nvPr/>
        </p:nvSpPr>
        <p:spPr>
          <a:xfrm>
            <a:off x="9976842" y="4912965"/>
            <a:ext cx="19050" cy="1334988"/>
          </a:xfrm>
          <a:prstGeom prst="rect">
            <a:avLst/>
          </a:prstGeom>
          <a:solidFill>
            <a:srgbClr val="7C7A73"/>
          </a:solidFill>
          <a:ln/>
        </p:spPr>
        <p:txBody>
          <a:bodyPr/>
          <a:lstStyle/>
          <a:p>
            <a:endParaRPr lang="en-US"/>
          </a:p>
        </p:txBody>
      </p:sp>
      <p:sp>
        <p:nvSpPr>
          <p:cNvPr id="22" name="Text 20"/>
          <p:cNvSpPr/>
          <p:nvPr/>
        </p:nvSpPr>
        <p:spPr>
          <a:xfrm>
            <a:off x="2580084" y="7377336"/>
            <a:ext cx="927571"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Arial" pitchFamily="34" charset="0"/>
                <a:ea typeface="Arial" pitchFamily="34" charset="-122"/>
                <a:cs typeface="Arial" pitchFamily="34" charset="-120"/>
              </a:rPr>
              <a:t>animals</a:t>
            </a:r>
            <a:endParaRPr lang="en-US" sz="1800" dirty="0"/>
          </a:p>
        </p:txBody>
      </p:sp>
      <p:sp>
        <p:nvSpPr>
          <p:cNvPr id="23" name="Text 21"/>
          <p:cNvSpPr/>
          <p:nvPr/>
        </p:nvSpPr>
        <p:spPr>
          <a:xfrm>
            <a:off x="9444782" y="3734023"/>
            <a:ext cx="825847"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Arial" pitchFamily="34" charset="0"/>
                <a:ea typeface="Arial" pitchFamily="34" charset="-122"/>
                <a:cs typeface="Arial" pitchFamily="34" charset="-120"/>
              </a:rPr>
              <a:t>royalty</a:t>
            </a:r>
            <a:endParaRPr lang="en-US" sz="1800" dirty="0"/>
          </a:p>
        </p:txBody>
      </p:sp>
      <p:sp>
        <p:nvSpPr>
          <p:cNvPr id="24" name="Text 22"/>
          <p:cNvSpPr/>
          <p:nvPr/>
        </p:nvSpPr>
        <p:spPr>
          <a:xfrm>
            <a:off x="12477750" y="4311253"/>
            <a:ext cx="523875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Meaning becomes location.</a:t>
            </a:r>
            <a:endParaRPr lang="en-US" sz="2700" dirty="0"/>
          </a:p>
        </p:txBody>
      </p:sp>
      <p:sp>
        <p:nvSpPr>
          <p:cNvPr id="25" name="Text 23"/>
          <p:cNvSpPr/>
          <p:nvPr/>
        </p:nvSpPr>
        <p:spPr>
          <a:xfrm>
            <a:off x="12477750" y="4985593"/>
            <a:ext cx="4905375" cy="119538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Tokens used in similar ways sit close together. Relationships become </a:t>
            </a:r>
            <a:r>
              <a:rPr lang="en-US" sz="2025" b="1" dirty="0">
                <a:solidFill>
                  <a:srgbClr val="1A1A1A"/>
                </a:solidFill>
                <a:latin typeface="Arial" pitchFamily="34" charset="0"/>
                <a:ea typeface="Arial" pitchFamily="34" charset="-122"/>
                <a:cs typeface="Arial" pitchFamily="34" charset="-120"/>
              </a:rPr>
              <a:t>directions </a:t>
            </a:r>
            <a:r>
              <a:rPr lang="en-US" sz="2025" dirty="0">
                <a:solidFill>
                  <a:srgbClr val="3D3D3D"/>
                </a:solidFill>
                <a:latin typeface="Arial" pitchFamily="34" charset="0"/>
                <a:ea typeface="Arial" pitchFamily="34" charset="-122"/>
                <a:cs typeface="Arial" pitchFamily="34" charset="-120"/>
              </a:rPr>
              <a:t>on the map.</a:t>
            </a:r>
            <a:endParaRPr lang="en-US" sz="2025" dirty="0"/>
          </a:p>
        </p:txBody>
      </p:sp>
      <p:sp>
        <p:nvSpPr>
          <p:cNvPr id="26" name="Shape 24"/>
          <p:cNvSpPr/>
          <p:nvPr/>
        </p:nvSpPr>
        <p:spPr>
          <a:xfrm>
            <a:off x="12477750" y="6409581"/>
            <a:ext cx="4762500" cy="690563"/>
          </a:xfrm>
          <a:prstGeom prst="roundRect">
            <a:avLst>
              <a:gd name="adj" fmla="val 16552"/>
            </a:avLst>
          </a:prstGeom>
          <a:solidFill>
            <a:srgbClr val="F8F7F3"/>
          </a:solidFill>
          <a:ln w="9525">
            <a:solidFill>
              <a:srgbClr val="E3E1DA"/>
            </a:solidFill>
            <a:prstDash val="solid"/>
          </a:ln>
        </p:spPr>
        <p:txBody>
          <a:bodyPr/>
          <a:lstStyle/>
          <a:p>
            <a:endParaRPr lang="en-US"/>
          </a:p>
        </p:txBody>
      </p:sp>
      <p:sp>
        <p:nvSpPr>
          <p:cNvPr id="27" name="Text 25"/>
          <p:cNvSpPr/>
          <p:nvPr/>
        </p:nvSpPr>
        <p:spPr>
          <a:xfrm>
            <a:off x="12715875" y="6609606"/>
            <a:ext cx="44291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highlight>
                  <a:srgbClr val="F8F7F3"/>
                </a:highlight>
                <a:latin typeface="Courier New" pitchFamily="34" charset="0"/>
                <a:ea typeface="Courier New" pitchFamily="34" charset="-122"/>
                <a:cs typeface="Courier New" pitchFamily="34" charset="-120"/>
              </a:rPr>
              <a:t>king − man + woman </a:t>
            </a:r>
            <a:r>
              <a:rPr lang="en-US" sz="2025" dirty="0">
                <a:solidFill>
                  <a:srgbClr val="1F6FEB"/>
                </a:solidFill>
                <a:latin typeface="Courier New" pitchFamily="34" charset="0"/>
                <a:ea typeface="Courier New" pitchFamily="34" charset="-122"/>
                <a:cs typeface="Courier New" pitchFamily="34" charset="-120"/>
              </a:rPr>
              <a:t>≈ queen</a:t>
            </a:r>
            <a:endParaRPr lang="en-US" sz="2025" dirty="0"/>
          </a:p>
        </p:txBody>
      </p:sp>
      <p:sp>
        <p:nvSpPr>
          <p:cNvPr id="28" name="Shape 26"/>
          <p:cNvSpPr/>
          <p:nvPr/>
        </p:nvSpPr>
        <p:spPr>
          <a:xfrm>
            <a:off x="1047750" y="9520238"/>
            <a:ext cx="16192500" cy="9525"/>
          </a:xfrm>
          <a:prstGeom prst="rect">
            <a:avLst/>
          </a:prstGeom>
          <a:solidFill>
            <a:srgbClr val="E3E1DA"/>
          </a:solidFill>
          <a:ln/>
        </p:spPr>
        <p:txBody>
          <a:bodyPr/>
          <a:lstStyle/>
          <a:p>
            <a:endParaRPr lang="en-US"/>
          </a:p>
        </p:txBody>
      </p:sp>
      <p:sp>
        <p:nvSpPr>
          <p:cNvPr id="29" name="Text 2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0" name="Text 28"/>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Prompt Becomes a Matrix</a:t>
            </a:r>
            <a:endParaRPr lang="en-US" sz="4800" dirty="0"/>
          </a:p>
        </p:txBody>
      </p:sp>
      <p:sp>
        <p:nvSpPr>
          <p:cNvPr id="5" name="Shape 3"/>
          <p:cNvSpPr/>
          <p:nvPr/>
        </p:nvSpPr>
        <p:spPr>
          <a:xfrm>
            <a:off x="1047750" y="4005486"/>
            <a:ext cx="952649" cy="409575"/>
          </a:xfrm>
          <a:prstGeom prst="roundRect">
            <a:avLst>
              <a:gd name="adj" fmla="val 18605"/>
            </a:avLst>
          </a:prstGeom>
          <a:solidFill>
            <a:srgbClr val="E8F0FE"/>
          </a:solidFill>
          <a:ln/>
        </p:spPr>
        <p:txBody>
          <a:bodyPr/>
          <a:lstStyle/>
          <a:p>
            <a:endParaRPr lang="en-US"/>
          </a:p>
        </p:txBody>
      </p:sp>
      <p:sp>
        <p:nvSpPr>
          <p:cNvPr id="6" name="Text 4"/>
          <p:cNvSpPr/>
          <p:nvPr/>
        </p:nvSpPr>
        <p:spPr>
          <a:xfrm>
            <a:off x="1181100" y="4081686"/>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F6FEB"/>
                </a:solidFill>
                <a:latin typeface="Courier New" pitchFamily="34" charset="0"/>
                <a:ea typeface="Courier New" pitchFamily="34" charset="-122"/>
                <a:cs typeface="Courier New" pitchFamily="34" charset="-120"/>
              </a:rPr>
              <a:t>Large</a:t>
            </a:r>
            <a:endParaRPr lang="en-US" sz="1800" dirty="0"/>
          </a:p>
        </p:txBody>
      </p:sp>
      <p:sp>
        <p:nvSpPr>
          <p:cNvPr id="7" name="Text 5"/>
          <p:cNvSpPr/>
          <p:nvPr/>
        </p:nvSpPr>
        <p:spPr>
          <a:xfrm>
            <a:off x="1181100" y="4472211"/>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13831</a:t>
            </a:r>
            <a:endParaRPr lang="en-US" sz="1800" dirty="0"/>
          </a:p>
        </p:txBody>
      </p:sp>
      <p:sp>
        <p:nvSpPr>
          <p:cNvPr id="8" name="Shape 6"/>
          <p:cNvSpPr/>
          <p:nvPr/>
        </p:nvSpPr>
        <p:spPr>
          <a:xfrm>
            <a:off x="2133749" y="4005486"/>
            <a:ext cx="1364159" cy="409575"/>
          </a:xfrm>
          <a:prstGeom prst="roundRect">
            <a:avLst>
              <a:gd name="adj" fmla="val 18605"/>
            </a:avLst>
          </a:prstGeom>
          <a:solidFill>
            <a:srgbClr val="E4F4EB"/>
          </a:solidFill>
          <a:ln/>
        </p:spPr>
        <p:txBody>
          <a:bodyPr/>
          <a:lstStyle/>
          <a:p>
            <a:endParaRPr lang="en-US"/>
          </a:p>
        </p:txBody>
      </p:sp>
      <p:sp>
        <p:nvSpPr>
          <p:cNvPr id="9" name="Text 7"/>
          <p:cNvSpPr/>
          <p:nvPr/>
        </p:nvSpPr>
        <p:spPr>
          <a:xfrm>
            <a:off x="2267099" y="4081686"/>
            <a:ext cx="117365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language</a:t>
            </a:r>
            <a:endParaRPr lang="en-US" sz="1800" dirty="0"/>
          </a:p>
        </p:txBody>
      </p:sp>
      <p:sp>
        <p:nvSpPr>
          <p:cNvPr id="10" name="Text 8"/>
          <p:cNvSpPr/>
          <p:nvPr/>
        </p:nvSpPr>
        <p:spPr>
          <a:xfrm>
            <a:off x="2541463" y="4472211"/>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4086</a:t>
            </a:r>
            <a:endParaRPr lang="en-US" sz="1800" dirty="0"/>
          </a:p>
        </p:txBody>
      </p:sp>
      <p:sp>
        <p:nvSpPr>
          <p:cNvPr id="11" name="Shape 9"/>
          <p:cNvSpPr/>
          <p:nvPr/>
        </p:nvSpPr>
        <p:spPr>
          <a:xfrm>
            <a:off x="3631257" y="4005486"/>
            <a:ext cx="1089794" cy="409575"/>
          </a:xfrm>
          <a:prstGeom prst="roundRect">
            <a:avLst>
              <a:gd name="adj" fmla="val 18605"/>
            </a:avLst>
          </a:prstGeom>
          <a:solidFill>
            <a:srgbClr val="FBF0D9"/>
          </a:solidFill>
          <a:ln/>
        </p:spPr>
        <p:txBody>
          <a:bodyPr/>
          <a:lstStyle/>
          <a:p>
            <a:endParaRPr lang="en-US"/>
          </a:p>
        </p:txBody>
      </p:sp>
      <p:sp>
        <p:nvSpPr>
          <p:cNvPr id="12" name="Text 10"/>
          <p:cNvSpPr/>
          <p:nvPr/>
        </p:nvSpPr>
        <p:spPr>
          <a:xfrm>
            <a:off x="3764607" y="4081686"/>
            <a:ext cx="89929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C77D0A"/>
                </a:solidFill>
                <a:latin typeface="Courier New" pitchFamily="34" charset="0"/>
                <a:ea typeface="Courier New" pitchFamily="34" charset="-122"/>
                <a:cs typeface="Courier New" pitchFamily="34" charset="-120"/>
              </a:rPr>
              <a:t>models</a:t>
            </a:r>
            <a:endParaRPr lang="en-US" sz="1800" dirty="0"/>
          </a:p>
        </p:txBody>
      </p:sp>
      <p:sp>
        <p:nvSpPr>
          <p:cNvPr id="13" name="Text 11"/>
          <p:cNvSpPr/>
          <p:nvPr/>
        </p:nvSpPr>
        <p:spPr>
          <a:xfrm>
            <a:off x="3901753" y="4472211"/>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6363</a:t>
            </a:r>
            <a:endParaRPr lang="en-US" sz="1800" dirty="0"/>
          </a:p>
        </p:txBody>
      </p:sp>
      <p:sp>
        <p:nvSpPr>
          <p:cNvPr id="14" name="Shape 12"/>
          <p:cNvSpPr/>
          <p:nvPr/>
        </p:nvSpPr>
        <p:spPr>
          <a:xfrm>
            <a:off x="4854401" y="4005486"/>
            <a:ext cx="678284" cy="409575"/>
          </a:xfrm>
          <a:prstGeom prst="roundRect">
            <a:avLst>
              <a:gd name="adj" fmla="val 18605"/>
            </a:avLst>
          </a:prstGeom>
          <a:solidFill>
            <a:srgbClr val="EFE9FB"/>
          </a:solidFill>
          <a:ln/>
        </p:spPr>
        <p:txBody>
          <a:bodyPr/>
          <a:lstStyle/>
          <a:p>
            <a:endParaRPr lang="en-US"/>
          </a:p>
        </p:txBody>
      </p:sp>
      <p:sp>
        <p:nvSpPr>
          <p:cNvPr id="15" name="Text 13"/>
          <p:cNvSpPr/>
          <p:nvPr/>
        </p:nvSpPr>
        <p:spPr>
          <a:xfrm>
            <a:off x="4987751" y="4081686"/>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A4FD0"/>
                </a:solidFill>
                <a:latin typeface="Courier New" pitchFamily="34" charset="0"/>
                <a:ea typeface="Courier New" pitchFamily="34" charset="-122"/>
                <a:cs typeface="Courier New" pitchFamily="34" charset="-120"/>
              </a:rPr>
              <a:t>are</a:t>
            </a:r>
            <a:endParaRPr lang="en-US" sz="1800" dirty="0"/>
          </a:p>
        </p:txBody>
      </p:sp>
      <p:sp>
        <p:nvSpPr>
          <p:cNvPr id="16" name="Text 14"/>
          <p:cNvSpPr/>
          <p:nvPr/>
        </p:nvSpPr>
        <p:spPr>
          <a:xfrm>
            <a:off x="4987751" y="4472211"/>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527</a:t>
            </a:r>
            <a:endParaRPr lang="en-US" sz="1800" dirty="0"/>
          </a:p>
        </p:txBody>
      </p:sp>
      <p:sp>
        <p:nvSpPr>
          <p:cNvPr id="17" name="Text 15"/>
          <p:cNvSpPr/>
          <p:nvPr/>
        </p:nvSpPr>
        <p:spPr>
          <a:xfrm>
            <a:off x="1986930" y="4881786"/>
            <a:ext cx="2867152"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 embedding lookup</a:t>
            </a:r>
            <a:endParaRPr lang="en-US" sz="1800" dirty="0"/>
          </a:p>
        </p:txBody>
      </p:sp>
      <p:sp>
        <p:nvSpPr>
          <p:cNvPr id="18" name="Shape 16"/>
          <p:cNvSpPr/>
          <p:nvPr/>
        </p:nvSpPr>
        <p:spPr>
          <a:xfrm>
            <a:off x="1571699" y="6967761"/>
            <a:ext cx="152400" cy="28575"/>
          </a:xfrm>
          <a:prstGeom prst="rect">
            <a:avLst/>
          </a:prstGeom>
          <a:solidFill>
            <a:srgbClr val="3D3D3D"/>
          </a:solidFill>
          <a:ln/>
        </p:spPr>
        <p:txBody>
          <a:bodyPr/>
          <a:lstStyle/>
          <a:p>
            <a:endParaRPr lang="en-US"/>
          </a:p>
        </p:txBody>
      </p:sp>
      <p:sp>
        <p:nvSpPr>
          <p:cNvPr id="19" name="Shape 17"/>
          <p:cNvSpPr/>
          <p:nvPr/>
        </p:nvSpPr>
        <p:spPr>
          <a:xfrm>
            <a:off x="1571699" y="5291361"/>
            <a:ext cx="152400" cy="28575"/>
          </a:xfrm>
          <a:prstGeom prst="rect">
            <a:avLst/>
          </a:prstGeom>
          <a:solidFill>
            <a:srgbClr val="3D3D3D"/>
          </a:solidFill>
          <a:ln/>
        </p:spPr>
        <p:txBody>
          <a:bodyPr/>
          <a:lstStyle/>
          <a:p>
            <a:endParaRPr lang="en-US"/>
          </a:p>
        </p:txBody>
      </p:sp>
      <p:sp>
        <p:nvSpPr>
          <p:cNvPr id="20" name="Shape 18"/>
          <p:cNvSpPr/>
          <p:nvPr/>
        </p:nvSpPr>
        <p:spPr>
          <a:xfrm>
            <a:off x="1571699" y="5291361"/>
            <a:ext cx="28575" cy="1704975"/>
          </a:xfrm>
          <a:prstGeom prst="rect">
            <a:avLst/>
          </a:prstGeom>
          <a:solidFill>
            <a:srgbClr val="3D3D3D"/>
          </a:solidFill>
          <a:ln/>
        </p:spPr>
        <p:txBody>
          <a:bodyPr/>
          <a:lstStyle/>
          <a:p>
            <a:endParaRPr lang="en-US"/>
          </a:p>
        </p:txBody>
      </p:sp>
      <p:sp>
        <p:nvSpPr>
          <p:cNvPr id="21" name="Shape 19"/>
          <p:cNvSpPr/>
          <p:nvPr/>
        </p:nvSpPr>
        <p:spPr>
          <a:xfrm>
            <a:off x="1838399" y="5291361"/>
            <a:ext cx="640184" cy="1704975"/>
          </a:xfrm>
          <a:prstGeom prst="roundRect">
            <a:avLst>
              <a:gd name="adj" fmla="val 11903"/>
            </a:avLst>
          </a:prstGeom>
          <a:solidFill>
            <a:srgbClr val="E8F0FE"/>
          </a:solidFill>
          <a:ln/>
        </p:spPr>
        <p:txBody>
          <a:bodyPr/>
          <a:lstStyle/>
          <a:p>
            <a:endParaRPr lang="en-US"/>
          </a:p>
        </p:txBody>
      </p:sp>
      <p:sp>
        <p:nvSpPr>
          <p:cNvPr id="22" name="Text 20"/>
          <p:cNvSpPr/>
          <p:nvPr/>
        </p:nvSpPr>
        <p:spPr>
          <a:xfrm>
            <a:off x="1914599" y="53485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.30</a:t>
            </a:r>
            <a:endParaRPr lang="en-US" sz="1800" dirty="0"/>
          </a:p>
        </p:txBody>
      </p:sp>
      <p:sp>
        <p:nvSpPr>
          <p:cNvPr id="23" name="Text 21"/>
          <p:cNvSpPr/>
          <p:nvPr/>
        </p:nvSpPr>
        <p:spPr>
          <a:xfrm>
            <a:off x="1914599" y="568188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.98</a:t>
            </a:r>
            <a:endParaRPr lang="en-US" sz="1800" dirty="0"/>
          </a:p>
        </p:txBody>
      </p:sp>
      <p:sp>
        <p:nvSpPr>
          <p:cNvPr id="24" name="Text 22"/>
          <p:cNvSpPr/>
          <p:nvPr/>
        </p:nvSpPr>
        <p:spPr>
          <a:xfrm>
            <a:off x="1914599" y="601526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.41</a:t>
            </a:r>
            <a:endParaRPr lang="en-US" sz="1800" dirty="0"/>
          </a:p>
        </p:txBody>
      </p:sp>
      <p:sp>
        <p:nvSpPr>
          <p:cNvPr id="25" name="Text 23"/>
          <p:cNvSpPr/>
          <p:nvPr/>
        </p:nvSpPr>
        <p:spPr>
          <a:xfrm>
            <a:off x="1914599" y="634863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a:t>
            </a:r>
            <a:endParaRPr lang="en-US" sz="1800" dirty="0"/>
          </a:p>
        </p:txBody>
      </p:sp>
      <p:sp>
        <p:nvSpPr>
          <p:cNvPr id="26" name="Text 24"/>
          <p:cNvSpPr/>
          <p:nvPr/>
        </p:nvSpPr>
        <p:spPr>
          <a:xfrm>
            <a:off x="1914599" y="66820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.68</a:t>
            </a:r>
            <a:endParaRPr lang="en-US" sz="1800" dirty="0"/>
          </a:p>
        </p:txBody>
      </p:sp>
      <p:sp>
        <p:nvSpPr>
          <p:cNvPr id="27" name="Shape 25"/>
          <p:cNvSpPr/>
          <p:nvPr/>
        </p:nvSpPr>
        <p:spPr>
          <a:xfrm>
            <a:off x="2592884" y="5291361"/>
            <a:ext cx="640184" cy="1704975"/>
          </a:xfrm>
          <a:prstGeom prst="roundRect">
            <a:avLst>
              <a:gd name="adj" fmla="val 11903"/>
            </a:avLst>
          </a:prstGeom>
          <a:solidFill>
            <a:srgbClr val="E4F4EB"/>
          </a:solidFill>
          <a:ln/>
        </p:spPr>
        <p:txBody>
          <a:bodyPr/>
          <a:lstStyle/>
          <a:p>
            <a:endParaRPr lang="en-US"/>
          </a:p>
        </p:txBody>
      </p:sp>
      <p:sp>
        <p:nvSpPr>
          <p:cNvPr id="28" name="Text 26"/>
          <p:cNvSpPr/>
          <p:nvPr/>
        </p:nvSpPr>
        <p:spPr>
          <a:xfrm>
            <a:off x="2669084" y="53485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.01</a:t>
            </a:r>
            <a:endParaRPr lang="en-US" sz="1800" dirty="0"/>
          </a:p>
        </p:txBody>
      </p:sp>
      <p:sp>
        <p:nvSpPr>
          <p:cNvPr id="29" name="Text 27"/>
          <p:cNvSpPr/>
          <p:nvPr/>
        </p:nvSpPr>
        <p:spPr>
          <a:xfrm>
            <a:off x="2669084" y="568188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.04</a:t>
            </a:r>
            <a:endParaRPr lang="en-US" sz="1800" dirty="0"/>
          </a:p>
        </p:txBody>
      </p:sp>
      <p:sp>
        <p:nvSpPr>
          <p:cNvPr id="30" name="Text 28"/>
          <p:cNvSpPr/>
          <p:nvPr/>
        </p:nvSpPr>
        <p:spPr>
          <a:xfrm>
            <a:off x="2669084" y="601526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.27</a:t>
            </a:r>
            <a:endParaRPr lang="en-US" sz="1800" dirty="0"/>
          </a:p>
        </p:txBody>
      </p:sp>
      <p:sp>
        <p:nvSpPr>
          <p:cNvPr id="31" name="Text 29"/>
          <p:cNvSpPr/>
          <p:nvPr/>
        </p:nvSpPr>
        <p:spPr>
          <a:xfrm>
            <a:off x="2669084" y="634863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a:t>
            </a:r>
            <a:endParaRPr lang="en-US" sz="1800" dirty="0"/>
          </a:p>
        </p:txBody>
      </p:sp>
      <p:sp>
        <p:nvSpPr>
          <p:cNvPr id="32" name="Text 30"/>
          <p:cNvSpPr/>
          <p:nvPr/>
        </p:nvSpPr>
        <p:spPr>
          <a:xfrm>
            <a:off x="2669084" y="66820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.06</a:t>
            </a:r>
            <a:endParaRPr lang="en-US" sz="1800" dirty="0"/>
          </a:p>
        </p:txBody>
      </p:sp>
      <p:sp>
        <p:nvSpPr>
          <p:cNvPr id="33" name="Shape 31"/>
          <p:cNvSpPr/>
          <p:nvPr/>
        </p:nvSpPr>
        <p:spPr>
          <a:xfrm>
            <a:off x="3347368" y="5291361"/>
            <a:ext cx="640184" cy="1704975"/>
          </a:xfrm>
          <a:prstGeom prst="roundRect">
            <a:avLst>
              <a:gd name="adj" fmla="val 11903"/>
            </a:avLst>
          </a:prstGeom>
          <a:solidFill>
            <a:srgbClr val="FBF0D9"/>
          </a:solidFill>
          <a:ln/>
        </p:spPr>
        <p:txBody>
          <a:bodyPr/>
          <a:lstStyle/>
          <a:p>
            <a:endParaRPr lang="en-US"/>
          </a:p>
        </p:txBody>
      </p:sp>
      <p:sp>
        <p:nvSpPr>
          <p:cNvPr id="34" name="Text 32"/>
          <p:cNvSpPr/>
          <p:nvPr/>
        </p:nvSpPr>
        <p:spPr>
          <a:xfrm>
            <a:off x="3423568" y="53485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.70</a:t>
            </a:r>
            <a:endParaRPr lang="en-US" sz="1800" dirty="0"/>
          </a:p>
        </p:txBody>
      </p:sp>
      <p:sp>
        <p:nvSpPr>
          <p:cNvPr id="35" name="Text 33"/>
          <p:cNvSpPr/>
          <p:nvPr/>
        </p:nvSpPr>
        <p:spPr>
          <a:xfrm>
            <a:off x="3423568" y="568188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.26</a:t>
            </a:r>
            <a:endParaRPr lang="en-US" sz="1800" dirty="0"/>
          </a:p>
        </p:txBody>
      </p:sp>
      <p:sp>
        <p:nvSpPr>
          <p:cNvPr id="36" name="Text 34"/>
          <p:cNvSpPr/>
          <p:nvPr/>
        </p:nvSpPr>
        <p:spPr>
          <a:xfrm>
            <a:off x="3423568" y="601526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.55</a:t>
            </a:r>
            <a:endParaRPr lang="en-US" sz="1800" dirty="0"/>
          </a:p>
        </p:txBody>
      </p:sp>
      <p:sp>
        <p:nvSpPr>
          <p:cNvPr id="37" name="Text 35"/>
          <p:cNvSpPr/>
          <p:nvPr/>
        </p:nvSpPr>
        <p:spPr>
          <a:xfrm>
            <a:off x="3423568" y="634863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a:t>
            </a:r>
            <a:endParaRPr lang="en-US" sz="1800" dirty="0"/>
          </a:p>
        </p:txBody>
      </p:sp>
      <p:sp>
        <p:nvSpPr>
          <p:cNvPr id="38" name="Text 36"/>
          <p:cNvSpPr/>
          <p:nvPr/>
        </p:nvSpPr>
        <p:spPr>
          <a:xfrm>
            <a:off x="3423568" y="66820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.37</a:t>
            </a:r>
            <a:endParaRPr lang="en-US" sz="1800" dirty="0"/>
          </a:p>
        </p:txBody>
      </p:sp>
      <p:sp>
        <p:nvSpPr>
          <p:cNvPr id="39" name="Shape 37"/>
          <p:cNvSpPr/>
          <p:nvPr/>
        </p:nvSpPr>
        <p:spPr>
          <a:xfrm>
            <a:off x="4101852" y="5291361"/>
            <a:ext cx="640184" cy="1704975"/>
          </a:xfrm>
          <a:prstGeom prst="roundRect">
            <a:avLst>
              <a:gd name="adj" fmla="val 11903"/>
            </a:avLst>
          </a:prstGeom>
          <a:solidFill>
            <a:srgbClr val="EFE9FB"/>
          </a:solidFill>
          <a:ln/>
        </p:spPr>
        <p:txBody>
          <a:bodyPr/>
          <a:lstStyle/>
          <a:p>
            <a:endParaRPr lang="en-US"/>
          </a:p>
        </p:txBody>
      </p:sp>
      <p:sp>
        <p:nvSpPr>
          <p:cNvPr id="40" name="Text 38"/>
          <p:cNvSpPr/>
          <p:nvPr/>
        </p:nvSpPr>
        <p:spPr>
          <a:xfrm>
            <a:off x="4178052" y="53485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.82</a:t>
            </a:r>
            <a:endParaRPr lang="en-US" sz="1800" dirty="0"/>
          </a:p>
        </p:txBody>
      </p:sp>
      <p:sp>
        <p:nvSpPr>
          <p:cNvPr id="41" name="Text 39"/>
          <p:cNvSpPr/>
          <p:nvPr/>
        </p:nvSpPr>
        <p:spPr>
          <a:xfrm>
            <a:off x="4178052" y="568188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.00</a:t>
            </a:r>
            <a:endParaRPr lang="en-US" sz="1800" dirty="0"/>
          </a:p>
        </p:txBody>
      </p:sp>
      <p:sp>
        <p:nvSpPr>
          <p:cNvPr id="42" name="Text 40"/>
          <p:cNvSpPr/>
          <p:nvPr/>
        </p:nvSpPr>
        <p:spPr>
          <a:xfrm>
            <a:off x="4178052" y="601526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.19</a:t>
            </a:r>
            <a:endParaRPr lang="en-US" sz="1800" dirty="0"/>
          </a:p>
        </p:txBody>
      </p:sp>
      <p:sp>
        <p:nvSpPr>
          <p:cNvPr id="43" name="Text 41"/>
          <p:cNvSpPr/>
          <p:nvPr/>
        </p:nvSpPr>
        <p:spPr>
          <a:xfrm>
            <a:off x="4178052" y="6348636"/>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a:t>
            </a:r>
            <a:endParaRPr lang="en-US" sz="1800" dirty="0"/>
          </a:p>
        </p:txBody>
      </p:sp>
      <p:sp>
        <p:nvSpPr>
          <p:cNvPr id="44" name="Text 42"/>
          <p:cNvSpPr/>
          <p:nvPr/>
        </p:nvSpPr>
        <p:spPr>
          <a:xfrm>
            <a:off x="4178052" y="6682011"/>
            <a:ext cx="4877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.53</a:t>
            </a:r>
            <a:endParaRPr lang="en-US" sz="1800" dirty="0"/>
          </a:p>
        </p:txBody>
      </p:sp>
      <p:sp>
        <p:nvSpPr>
          <p:cNvPr id="45" name="Shape 43"/>
          <p:cNvSpPr/>
          <p:nvPr/>
        </p:nvSpPr>
        <p:spPr>
          <a:xfrm>
            <a:off x="4856336" y="6967761"/>
            <a:ext cx="152400" cy="28575"/>
          </a:xfrm>
          <a:prstGeom prst="rect">
            <a:avLst/>
          </a:prstGeom>
          <a:solidFill>
            <a:srgbClr val="3D3D3D"/>
          </a:solidFill>
          <a:ln/>
        </p:spPr>
        <p:txBody>
          <a:bodyPr/>
          <a:lstStyle/>
          <a:p>
            <a:endParaRPr lang="en-US"/>
          </a:p>
        </p:txBody>
      </p:sp>
      <p:sp>
        <p:nvSpPr>
          <p:cNvPr id="46" name="Shape 44"/>
          <p:cNvSpPr/>
          <p:nvPr/>
        </p:nvSpPr>
        <p:spPr>
          <a:xfrm>
            <a:off x="4856336" y="5291361"/>
            <a:ext cx="152400" cy="28575"/>
          </a:xfrm>
          <a:prstGeom prst="rect">
            <a:avLst/>
          </a:prstGeom>
          <a:solidFill>
            <a:srgbClr val="3D3D3D"/>
          </a:solidFill>
          <a:ln/>
        </p:spPr>
        <p:txBody>
          <a:bodyPr/>
          <a:lstStyle/>
          <a:p>
            <a:endParaRPr lang="en-US"/>
          </a:p>
        </p:txBody>
      </p:sp>
      <p:sp>
        <p:nvSpPr>
          <p:cNvPr id="47" name="Shape 45"/>
          <p:cNvSpPr/>
          <p:nvPr/>
        </p:nvSpPr>
        <p:spPr>
          <a:xfrm>
            <a:off x="4980161" y="5291361"/>
            <a:ext cx="28575" cy="1704975"/>
          </a:xfrm>
          <a:prstGeom prst="rect">
            <a:avLst/>
          </a:prstGeom>
          <a:solidFill>
            <a:srgbClr val="3D3D3D"/>
          </a:solidFill>
          <a:ln/>
        </p:spPr>
        <p:txBody>
          <a:bodyPr/>
          <a:lstStyle/>
          <a:p>
            <a:endParaRPr lang="en-US"/>
          </a:p>
        </p:txBody>
      </p:sp>
      <p:sp>
        <p:nvSpPr>
          <p:cNvPr id="48" name="Text 46"/>
          <p:cNvSpPr/>
          <p:nvPr/>
        </p:nvSpPr>
        <p:spPr>
          <a:xfrm>
            <a:off x="1369665" y="7148736"/>
            <a:ext cx="4225216"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shape: (tokens × dimensions)</a:t>
            </a:r>
            <a:endParaRPr lang="en-US" sz="1800" dirty="0"/>
          </a:p>
        </p:txBody>
      </p:sp>
      <p:sp>
        <p:nvSpPr>
          <p:cNvPr id="49" name="Text 47"/>
          <p:cNvSpPr/>
          <p:nvPr/>
        </p:nvSpPr>
        <p:spPr>
          <a:xfrm>
            <a:off x="6142286" y="4897041"/>
            <a:ext cx="12207761"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Meaning becomes a grid of numbers.</a:t>
            </a:r>
            <a:endParaRPr lang="en-US" sz="2700" dirty="0"/>
          </a:p>
        </p:txBody>
      </p:sp>
      <p:sp>
        <p:nvSpPr>
          <p:cNvPr id="50" name="Text 48"/>
          <p:cNvSpPr/>
          <p:nvPr/>
        </p:nvSpPr>
        <p:spPr>
          <a:xfrm>
            <a:off x="6142286" y="5552331"/>
            <a:ext cx="12207761"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Each </a:t>
            </a:r>
            <a:r>
              <a:rPr lang="en-US" sz="2025" b="1" dirty="0">
                <a:solidFill>
                  <a:srgbClr val="1A1A1A"/>
                </a:solidFill>
                <a:latin typeface="Arial" pitchFamily="34" charset="0"/>
                <a:ea typeface="Arial" pitchFamily="34" charset="-122"/>
                <a:cs typeface="Arial" pitchFamily="34" charset="-120"/>
              </a:rPr>
              <a:t>column </a:t>
            </a:r>
            <a:r>
              <a:rPr lang="en-US" sz="2025" dirty="0">
                <a:solidFill>
                  <a:srgbClr val="3D3D3D"/>
                </a:solidFill>
                <a:latin typeface="Arial" pitchFamily="34" charset="0"/>
                <a:ea typeface="Arial" pitchFamily="34" charset="-122"/>
                <a:cs typeface="Arial" pitchFamily="34" charset="-120"/>
              </a:rPr>
              <a:t>is one token’s vector. Line them up and your whole prompt is a single matrix.</a:t>
            </a:r>
            <a:endParaRPr lang="en-US" sz="2025" dirty="0"/>
          </a:p>
        </p:txBody>
      </p:sp>
      <p:sp>
        <p:nvSpPr>
          <p:cNvPr id="51" name="Text 49"/>
          <p:cNvSpPr/>
          <p:nvPr/>
        </p:nvSpPr>
        <p:spPr>
          <a:xfrm>
            <a:off x="6142286" y="6128593"/>
            <a:ext cx="12207761"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That matrix is the real thing the transformer works on — a </a:t>
            </a:r>
            <a:r>
              <a:rPr lang="en-US" sz="2025" dirty="0">
                <a:solidFill>
                  <a:srgbClr val="3D3D3D"/>
                </a:solidFill>
                <a:highlight>
                  <a:srgbClr val="FFF1A8"/>
                </a:highlight>
                <a:latin typeface="Arial" pitchFamily="34" charset="0"/>
                <a:ea typeface="Arial" pitchFamily="34" charset="-122"/>
                <a:cs typeface="Arial" pitchFamily="34" charset="-120"/>
              </a:rPr>
              <a:t>matrix in, a matrix out</a:t>
            </a:r>
            <a:r>
              <a:rPr lang="en-US" sz="2025" dirty="0">
                <a:solidFill>
                  <a:srgbClr val="3D3D3D"/>
                </a:solidFill>
                <a:latin typeface="Arial" pitchFamily="34" charset="0"/>
                <a:ea typeface="Arial" pitchFamily="34" charset="-122"/>
                <a:cs typeface="Arial" pitchFamily="34" charset="-120"/>
              </a:rPr>
              <a:t>, at every layer.</a:t>
            </a:r>
            <a:endParaRPr lang="en-US" sz="2025" dirty="0"/>
          </a:p>
        </p:txBody>
      </p:sp>
      <p:sp>
        <p:nvSpPr>
          <p:cNvPr id="52" name="Shape 50"/>
          <p:cNvSpPr/>
          <p:nvPr/>
        </p:nvSpPr>
        <p:spPr>
          <a:xfrm>
            <a:off x="1047750" y="9520238"/>
            <a:ext cx="16192500" cy="9525"/>
          </a:xfrm>
          <a:prstGeom prst="rect">
            <a:avLst/>
          </a:prstGeom>
          <a:solidFill>
            <a:srgbClr val="E3E1DA"/>
          </a:solidFill>
          <a:ln/>
        </p:spPr>
        <p:txBody>
          <a:bodyPr/>
          <a:lstStyle/>
          <a:p>
            <a:endParaRPr lang="en-US"/>
          </a:p>
        </p:txBody>
      </p:sp>
      <p:sp>
        <p:nvSpPr>
          <p:cNvPr id="53" name="Text 51"/>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54" name="Text 52"/>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Positional Encoding: Injecting Order</a:t>
            </a:r>
            <a:endParaRPr lang="en-US" sz="4800" dirty="0"/>
          </a:p>
        </p:txBody>
      </p:sp>
      <p:sp>
        <p:nvSpPr>
          <p:cNvPr id="5" name="Text 3"/>
          <p:cNvSpPr/>
          <p:nvPr/>
        </p:nvSpPr>
        <p:spPr>
          <a:xfrm>
            <a:off x="1047750" y="4318397"/>
            <a:ext cx="670560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Parallel is fast — but order is lost.</a:t>
            </a:r>
            <a:endParaRPr lang="en-US" sz="2700" dirty="0"/>
          </a:p>
        </p:txBody>
      </p:sp>
      <p:sp>
        <p:nvSpPr>
          <p:cNvPr id="6" name="Text 4"/>
          <p:cNvSpPr/>
          <p:nvPr/>
        </p:nvSpPr>
        <p:spPr>
          <a:xfrm>
            <a:off x="1047750" y="4954637"/>
            <a:ext cx="6278880" cy="123348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All tokens are processed at once, so the model has no innate sense of sequence — </a:t>
            </a:r>
            <a:r>
              <a:rPr lang="en-US" sz="2025" dirty="0">
                <a:solidFill>
                  <a:srgbClr val="3D3D3D"/>
                </a:solidFill>
                <a:latin typeface="Courier New" pitchFamily="34" charset="0"/>
                <a:ea typeface="Courier New" pitchFamily="34" charset="-122"/>
                <a:cs typeface="Courier New" pitchFamily="34" charset="-120"/>
              </a:rPr>
              <a:t>dog chases cat </a:t>
            </a:r>
            <a:r>
              <a:rPr lang="en-US" sz="2025" dirty="0">
                <a:solidFill>
                  <a:srgbClr val="3D3D3D"/>
                </a:solidFill>
                <a:latin typeface="Arial" pitchFamily="34" charset="0"/>
                <a:ea typeface="Arial" pitchFamily="34" charset="-122"/>
                <a:cs typeface="Arial" pitchFamily="34" charset="-120"/>
              </a:rPr>
              <a:t>would look like </a:t>
            </a:r>
            <a:r>
              <a:rPr lang="en-US" sz="2025" dirty="0">
                <a:solidFill>
                  <a:srgbClr val="3D3D3D"/>
                </a:solidFill>
                <a:latin typeface="Courier New" pitchFamily="34" charset="0"/>
                <a:ea typeface="Courier New" pitchFamily="34" charset="-122"/>
                <a:cs typeface="Courier New" pitchFamily="34" charset="-120"/>
              </a:rPr>
              <a:t>cat chases dog</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7" name="Text 5"/>
          <p:cNvSpPr/>
          <p:nvPr/>
        </p:nvSpPr>
        <p:spPr>
          <a:xfrm>
            <a:off x="1047750" y="6321475"/>
            <a:ext cx="6278880"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We </a:t>
            </a:r>
            <a:r>
              <a:rPr lang="en-US" sz="2025" b="1" dirty="0">
                <a:solidFill>
                  <a:srgbClr val="1A1A1A"/>
                </a:solidFill>
                <a:latin typeface="Arial" pitchFamily="34" charset="0"/>
                <a:ea typeface="Arial" pitchFamily="34" charset="-122"/>
                <a:cs typeface="Arial" pitchFamily="34" charset="-120"/>
              </a:rPr>
              <a:t>add a position signal </a:t>
            </a:r>
            <a:r>
              <a:rPr lang="en-US" sz="2025" dirty="0">
                <a:solidFill>
                  <a:srgbClr val="3D3D3D"/>
                </a:solidFill>
                <a:latin typeface="Arial" pitchFamily="34" charset="0"/>
                <a:ea typeface="Arial" pitchFamily="34" charset="-122"/>
                <a:cs typeface="Arial" pitchFamily="34" charset="-120"/>
              </a:rPr>
              <a:t>to each column — a unique wave per slot.</a:t>
            </a:r>
            <a:endParaRPr lang="en-US" sz="2025" dirty="0"/>
          </a:p>
        </p:txBody>
      </p:sp>
      <p:sp>
        <p:nvSpPr>
          <p:cNvPr id="8" name="Shape 6"/>
          <p:cNvSpPr/>
          <p:nvPr/>
        </p:nvSpPr>
        <p:spPr>
          <a:xfrm>
            <a:off x="11049000" y="4543648"/>
            <a:ext cx="495300" cy="1619250"/>
          </a:xfrm>
          <a:prstGeom prst="roundRect">
            <a:avLst>
              <a:gd name="adj" fmla="val 15385"/>
            </a:avLst>
          </a:prstGeom>
          <a:gradFill rotWithShape="1">
            <a:gsLst>
              <a:gs pos="0">
                <a:srgbClr val="1F6FEB">
                  <a:alpha val="100000"/>
                </a:srgbClr>
              </a:gs>
              <a:gs pos="40000">
                <a:srgbClr val="7A4FD0">
                  <a:alpha val="100000"/>
                </a:srgbClr>
              </a:gs>
              <a:gs pos="70000">
                <a:srgbClr val="178A4C">
                  <a:alpha val="100000"/>
                </a:srgbClr>
              </a:gs>
              <a:gs pos="100000">
                <a:srgbClr val="C77D0A">
                  <a:alpha val="100000"/>
                </a:srgbClr>
              </a:gs>
            </a:gsLst>
            <a:lin ang="5400000" scaled="0"/>
          </a:gradFill>
          <a:ln/>
        </p:spPr>
        <p:txBody>
          <a:bodyPr/>
          <a:lstStyle/>
          <a:p>
            <a:endParaRPr lang="en-US"/>
          </a:p>
        </p:txBody>
      </p:sp>
      <p:sp>
        <p:nvSpPr>
          <p:cNvPr id="9" name="Text 7"/>
          <p:cNvSpPr/>
          <p:nvPr/>
        </p:nvSpPr>
        <p:spPr>
          <a:xfrm>
            <a:off x="11228040" y="623909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1</a:t>
            </a:r>
            <a:endParaRPr lang="en-US" sz="1800" dirty="0"/>
          </a:p>
        </p:txBody>
      </p:sp>
      <p:sp>
        <p:nvSpPr>
          <p:cNvPr id="10" name="Shape 8"/>
          <p:cNvSpPr/>
          <p:nvPr/>
        </p:nvSpPr>
        <p:spPr>
          <a:xfrm>
            <a:off x="11639550" y="4543648"/>
            <a:ext cx="495300" cy="1619250"/>
          </a:xfrm>
          <a:prstGeom prst="roundRect">
            <a:avLst>
              <a:gd name="adj" fmla="val 15385"/>
            </a:avLst>
          </a:prstGeom>
          <a:gradFill rotWithShape="1">
            <a:gsLst>
              <a:gs pos="0">
                <a:srgbClr val="178A4C">
                  <a:alpha val="100000"/>
                </a:srgbClr>
              </a:gs>
              <a:gs pos="45000">
                <a:srgbClr val="C77D0A">
                  <a:alpha val="100000"/>
                </a:srgbClr>
              </a:gs>
              <a:gs pos="75000">
                <a:srgbClr val="1F6FEB">
                  <a:alpha val="100000"/>
                </a:srgbClr>
              </a:gs>
              <a:gs pos="100000">
                <a:srgbClr val="D64545">
                  <a:alpha val="100000"/>
                </a:srgbClr>
              </a:gs>
            </a:gsLst>
            <a:lin ang="5400000" scaled="0"/>
          </a:gradFill>
          <a:ln/>
        </p:spPr>
        <p:txBody>
          <a:bodyPr/>
          <a:lstStyle/>
          <a:p>
            <a:endParaRPr lang="en-US"/>
          </a:p>
        </p:txBody>
      </p:sp>
      <p:sp>
        <p:nvSpPr>
          <p:cNvPr id="11" name="Text 9"/>
          <p:cNvSpPr/>
          <p:nvPr/>
        </p:nvSpPr>
        <p:spPr>
          <a:xfrm>
            <a:off x="11818590" y="623909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2</a:t>
            </a:r>
            <a:endParaRPr lang="en-US" sz="1800" dirty="0"/>
          </a:p>
        </p:txBody>
      </p:sp>
      <p:sp>
        <p:nvSpPr>
          <p:cNvPr id="12" name="Shape 10"/>
          <p:cNvSpPr/>
          <p:nvPr/>
        </p:nvSpPr>
        <p:spPr>
          <a:xfrm>
            <a:off x="12230100" y="4543648"/>
            <a:ext cx="495300" cy="1619250"/>
          </a:xfrm>
          <a:prstGeom prst="roundRect">
            <a:avLst>
              <a:gd name="adj" fmla="val 15385"/>
            </a:avLst>
          </a:prstGeom>
          <a:gradFill rotWithShape="1">
            <a:gsLst>
              <a:gs pos="0">
                <a:srgbClr val="C77D0A">
                  <a:alpha val="100000"/>
                </a:srgbClr>
              </a:gs>
              <a:gs pos="50000">
                <a:srgbClr val="1F6FEB">
                  <a:alpha val="100000"/>
                </a:srgbClr>
              </a:gs>
              <a:gs pos="80000">
                <a:srgbClr val="D64545">
                  <a:alpha val="100000"/>
                </a:srgbClr>
              </a:gs>
              <a:gs pos="100000">
                <a:srgbClr val="7A4FD0">
                  <a:alpha val="100000"/>
                </a:srgbClr>
              </a:gs>
            </a:gsLst>
            <a:lin ang="5400000" scaled="0"/>
          </a:gradFill>
          <a:ln/>
        </p:spPr>
        <p:txBody>
          <a:bodyPr/>
          <a:lstStyle/>
          <a:p>
            <a:endParaRPr lang="en-US"/>
          </a:p>
        </p:txBody>
      </p:sp>
      <p:sp>
        <p:nvSpPr>
          <p:cNvPr id="13" name="Text 11"/>
          <p:cNvSpPr/>
          <p:nvPr/>
        </p:nvSpPr>
        <p:spPr>
          <a:xfrm>
            <a:off x="12409140" y="623909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3</a:t>
            </a:r>
            <a:endParaRPr lang="en-US" sz="1800" dirty="0"/>
          </a:p>
        </p:txBody>
      </p:sp>
      <p:sp>
        <p:nvSpPr>
          <p:cNvPr id="14" name="Shape 12"/>
          <p:cNvSpPr/>
          <p:nvPr/>
        </p:nvSpPr>
        <p:spPr>
          <a:xfrm>
            <a:off x="12820650" y="4543648"/>
            <a:ext cx="495300" cy="1619250"/>
          </a:xfrm>
          <a:prstGeom prst="roundRect">
            <a:avLst>
              <a:gd name="adj" fmla="val 15385"/>
            </a:avLst>
          </a:prstGeom>
          <a:gradFill rotWithShape="1">
            <a:gsLst>
              <a:gs pos="0">
                <a:srgbClr val="D64545">
                  <a:alpha val="100000"/>
                </a:srgbClr>
              </a:gs>
              <a:gs pos="40000">
                <a:srgbClr val="178A4C">
                  <a:alpha val="100000"/>
                </a:srgbClr>
              </a:gs>
              <a:gs pos="70000">
                <a:srgbClr val="7A4FD0">
                  <a:alpha val="100000"/>
                </a:srgbClr>
              </a:gs>
              <a:gs pos="100000">
                <a:srgbClr val="1F6FEB">
                  <a:alpha val="100000"/>
                </a:srgbClr>
              </a:gs>
            </a:gsLst>
            <a:lin ang="5400000" scaled="0"/>
          </a:gradFill>
          <a:ln/>
        </p:spPr>
        <p:txBody>
          <a:bodyPr/>
          <a:lstStyle/>
          <a:p>
            <a:endParaRPr lang="en-US"/>
          </a:p>
        </p:txBody>
      </p:sp>
      <p:sp>
        <p:nvSpPr>
          <p:cNvPr id="15" name="Text 13"/>
          <p:cNvSpPr/>
          <p:nvPr/>
        </p:nvSpPr>
        <p:spPr>
          <a:xfrm>
            <a:off x="12999690" y="623909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4</a:t>
            </a:r>
            <a:endParaRPr lang="en-US" sz="1800" dirty="0"/>
          </a:p>
        </p:txBody>
      </p:sp>
      <p:sp>
        <p:nvSpPr>
          <p:cNvPr id="16" name="Shape 14"/>
          <p:cNvSpPr/>
          <p:nvPr/>
        </p:nvSpPr>
        <p:spPr>
          <a:xfrm>
            <a:off x="13411200" y="4543648"/>
            <a:ext cx="495300" cy="1619250"/>
          </a:xfrm>
          <a:prstGeom prst="roundRect">
            <a:avLst>
              <a:gd name="adj" fmla="val 15385"/>
            </a:avLst>
          </a:prstGeom>
          <a:gradFill rotWithShape="1">
            <a:gsLst>
              <a:gs pos="0">
                <a:srgbClr val="7A4FD0">
                  <a:alpha val="100000"/>
                </a:srgbClr>
              </a:gs>
              <a:gs pos="45000">
                <a:srgbClr val="D64545">
                  <a:alpha val="100000"/>
                </a:srgbClr>
              </a:gs>
              <a:gs pos="75000">
                <a:srgbClr val="178A4C">
                  <a:alpha val="100000"/>
                </a:srgbClr>
              </a:gs>
              <a:gs pos="100000">
                <a:srgbClr val="C77D0A">
                  <a:alpha val="100000"/>
                </a:srgbClr>
              </a:gs>
            </a:gsLst>
            <a:lin ang="5400000" scaled="0"/>
          </a:gradFill>
          <a:ln/>
        </p:spPr>
        <p:txBody>
          <a:bodyPr/>
          <a:lstStyle/>
          <a:p>
            <a:endParaRPr lang="en-US"/>
          </a:p>
        </p:txBody>
      </p:sp>
      <p:sp>
        <p:nvSpPr>
          <p:cNvPr id="17" name="Text 15"/>
          <p:cNvSpPr/>
          <p:nvPr/>
        </p:nvSpPr>
        <p:spPr>
          <a:xfrm>
            <a:off x="13590240" y="6239098"/>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5</a:t>
            </a:r>
            <a:endParaRPr lang="en-US" sz="1800" dirty="0"/>
          </a:p>
        </p:txBody>
      </p:sp>
      <p:sp>
        <p:nvSpPr>
          <p:cNvPr id="18" name="Text 16"/>
          <p:cNvSpPr/>
          <p:nvPr/>
        </p:nvSpPr>
        <p:spPr>
          <a:xfrm>
            <a:off x="10557197" y="6610573"/>
            <a:ext cx="4225216"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a unique signal per position</a:t>
            </a:r>
            <a:endParaRPr lang="en-US" sz="1800" dirty="0"/>
          </a:p>
        </p:txBody>
      </p:sp>
      <p:sp>
        <p:nvSpPr>
          <p:cNvPr id="19" name="Shape 17"/>
          <p:cNvSpPr/>
          <p:nvPr/>
        </p:nvSpPr>
        <p:spPr>
          <a:xfrm>
            <a:off x="1047750" y="9520238"/>
            <a:ext cx="16192500" cy="9525"/>
          </a:xfrm>
          <a:prstGeom prst="rect">
            <a:avLst/>
          </a:prstGeom>
          <a:solidFill>
            <a:srgbClr val="E3E1DA"/>
          </a:solidFill>
          <a:ln/>
        </p:spPr>
        <p:txBody>
          <a:bodyPr/>
          <a:lstStyle/>
          <a:p>
            <a:endParaRPr lang="en-US"/>
          </a:p>
        </p:txBody>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Meaning + Order = Input Matrix</a:t>
            </a:r>
            <a:endParaRPr lang="en-US" sz="4800" dirty="0"/>
          </a:p>
        </p:txBody>
      </p:sp>
      <p:sp>
        <p:nvSpPr>
          <p:cNvPr id="5" name="Shape 3"/>
          <p:cNvSpPr/>
          <p:nvPr/>
        </p:nvSpPr>
        <p:spPr>
          <a:xfrm>
            <a:off x="5802064" y="4724623"/>
            <a:ext cx="1552575" cy="1219200"/>
          </a:xfrm>
          <a:prstGeom prst="roundRect">
            <a:avLst>
              <a:gd name="adj" fmla="val 7813"/>
            </a:avLst>
          </a:prstGeom>
          <a:solidFill>
            <a:srgbClr val="E8F0FE"/>
          </a:solidFill>
          <a:ln w="19050">
            <a:solidFill>
              <a:srgbClr val="1F6FEB"/>
            </a:solidFill>
            <a:prstDash val="solid"/>
          </a:ln>
        </p:spPr>
        <p:txBody>
          <a:bodyPr/>
          <a:lstStyle/>
          <a:p>
            <a:endParaRPr lang="en-US"/>
          </a:p>
        </p:txBody>
      </p:sp>
      <p:sp>
        <p:nvSpPr>
          <p:cNvPr id="6" name="Shape 4"/>
          <p:cNvSpPr/>
          <p:nvPr/>
        </p:nvSpPr>
        <p:spPr>
          <a:xfrm>
            <a:off x="5935414" y="4857973"/>
            <a:ext cx="285750" cy="285750"/>
          </a:xfrm>
          <a:prstGeom prst="roundRect">
            <a:avLst>
              <a:gd name="adj" fmla="val 13333"/>
            </a:avLst>
          </a:prstGeom>
          <a:solidFill>
            <a:srgbClr val="BCD6FB"/>
          </a:solidFill>
          <a:ln/>
        </p:spPr>
        <p:txBody>
          <a:bodyPr/>
          <a:lstStyle/>
          <a:p>
            <a:endParaRPr lang="en-US"/>
          </a:p>
        </p:txBody>
      </p:sp>
      <p:sp>
        <p:nvSpPr>
          <p:cNvPr id="7" name="Shape 5"/>
          <p:cNvSpPr/>
          <p:nvPr/>
        </p:nvSpPr>
        <p:spPr>
          <a:xfrm>
            <a:off x="6268789" y="4857973"/>
            <a:ext cx="285750" cy="285750"/>
          </a:xfrm>
          <a:prstGeom prst="roundRect">
            <a:avLst>
              <a:gd name="adj" fmla="val 13333"/>
            </a:avLst>
          </a:prstGeom>
          <a:solidFill>
            <a:srgbClr val="CFE1FC"/>
          </a:solidFill>
          <a:ln/>
        </p:spPr>
        <p:txBody>
          <a:bodyPr/>
          <a:lstStyle/>
          <a:p>
            <a:endParaRPr lang="en-US"/>
          </a:p>
        </p:txBody>
      </p:sp>
      <p:sp>
        <p:nvSpPr>
          <p:cNvPr id="8" name="Shape 6"/>
          <p:cNvSpPr/>
          <p:nvPr/>
        </p:nvSpPr>
        <p:spPr>
          <a:xfrm>
            <a:off x="6602164" y="4857973"/>
            <a:ext cx="285750" cy="285750"/>
          </a:xfrm>
          <a:prstGeom prst="roundRect">
            <a:avLst>
              <a:gd name="adj" fmla="val 13333"/>
            </a:avLst>
          </a:prstGeom>
          <a:solidFill>
            <a:srgbClr val="A9CBFA"/>
          </a:solidFill>
          <a:ln/>
        </p:spPr>
        <p:txBody>
          <a:bodyPr/>
          <a:lstStyle/>
          <a:p>
            <a:endParaRPr lang="en-US"/>
          </a:p>
        </p:txBody>
      </p:sp>
      <p:sp>
        <p:nvSpPr>
          <p:cNvPr id="9" name="Shape 7"/>
          <p:cNvSpPr/>
          <p:nvPr/>
        </p:nvSpPr>
        <p:spPr>
          <a:xfrm>
            <a:off x="6935539" y="4857973"/>
            <a:ext cx="285750" cy="285750"/>
          </a:xfrm>
          <a:prstGeom prst="roundRect">
            <a:avLst>
              <a:gd name="adj" fmla="val 13333"/>
            </a:avLst>
          </a:prstGeom>
          <a:solidFill>
            <a:srgbClr val="DBEAFD"/>
          </a:solidFill>
          <a:ln/>
        </p:spPr>
        <p:txBody>
          <a:bodyPr/>
          <a:lstStyle/>
          <a:p>
            <a:endParaRPr lang="en-US"/>
          </a:p>
        </p:txBody>
      </p:sp>
      <p:sp>
        <p:nvSpPr>
          <p:cNvPr id="10" name="Shape 8"/>
          <p:cNvSpPr/>
          <p:nvPr/>
        </p:nvSpPr>
        <p:spPr>
          <a:xfrm>
            <a:off x="5935414" y="5191348"/>
            <a:ext cx="285750" cy="285750"/>
          </a:xfrm>
          <a:prstGeom prst="roundRect">
            <a:avLst>
              <a:gd name="adj" fmla="val 13333"/>
            </a:avLst>
          </a:prstGeom>
          <a:solidFill>
            <a:srgbClr val="CFE1FC"/>
          </a:solidFill>
          <a:ln/>
        </p:spPr>
        <p:txBody>
          <a:bodyPr/>
          <a:lstStyle/>
          <a:p>
            <a:endParaRPr lang="en-US"/>
          </a:p>
        </p:txBody>
      </p:sp>
      <p:sp>
        <p:nvSpPr>
          <p:cNvPr id="11" name="Shape 9"/>
          <p:cNvSpPr/>
          <p:nvPr/>
        </p:nvSpPr>
        <p:spPr>
          <a:xfrm>
            <a:off x="6268789" y="5191348"/>
            <a:ext cx="285750" cy="285750"/>
          </a:xfrm>
          <a:prstGeom prst="roundRect">
            <a:avLst>
              <a:gd name="adj" fmla="val 13333"/>
            </a:avLst>
          </a:prstGeom>
          <a:solidFill>
            <a:srgbClr val="A9CBFA"/>
          </a:solidFill>
          <a:ln/>
        </p:spPr>
        <p:txBody>
          <a:bodyPr/>
          <a:lstStyle/>
          <a:p>
            <a:endParaRPr lang="en-US"/>
          </a:p>
        </p:txBody>
      </p:sp>
      <p:sp>
        <p:nvSpPr>
          <p:cNvPr id="12" name="Shape 10"/>
          <p:cNvSpPr/>
          <p:nvPr/>
        </p:nvSpPr>
        <p:spPr>
          <a:xfrm>
            <a:off x="6602164" y="5191348"/>
            <a:ext cx="285750" cy="285750"/>
          </a:xfrm>
          <a:prstGeom prst="roundRect">
            <a:avLst>
              <a:gd name="adj" fmla="val 13333"/>
            </a:avLst>
          </a:prstGeom>
          <a:solidFill>
            <a:srgbClr val="DBEAFD"/>
          </a:solidFill>
          <a:ln/>
        </p:spPr>
        <p:txBody>
          <a:bodyPr/>
          <a:lstStyle/>
          <a:p>
            <a:endParaRPr lang="en-US"/>
          </a:p>
        </p:txBody>
      </p:sp>
      <p:sp>
        <p:nvSpPr>
          <p:cNvPr id="13" name="Shape 11"/>
          <p:cNvSpPr/>
          <p:nvPr/>
        </p:nvSpPr>
        <p:spPr>
          <a:xfrm>
            <a:off x="6935539" y="5191348"/>
            <a:ext cx="285750" cy="285750"/>
          </a:xfrm>
          <a:prstGeom prst="roundRect">
            <a:avLst>
              <a:gd name="adj" fmla="val 13333"/>
            </a:avLst>
          </a:prstGeom>
          <a:solidFill>
            <a:srgbClr val="BCD6FB"/>
          </a:solidFill>
          <a:ln/>
        </p:spPr>
        <p:txBody>
          <a:bodyPr/>
          <a:lstStyle/>
          <a:p>
            <a:endParaRPr lang="en-US"/>
          </a:p>
        </p:txBody>
      </p:sp>
      <p:sp>
        <p:nvSpPr>
          <p:cNvPr id="14" name="Shape 12"/>
          <p:cNvSpPr/>
          <p:nvPr/>
        </p:nvSpPr>
        <p:spPr>
          <a:xfrm>
            <a:off x="5935414" y="5524723"/>
            <a:ext cx="285750" cy="285750"/>
          </a:xfrm>
          <a:prstGeom prst="roundRect">
            <a:avLst>
              <a:gd name="adj" fmla="val 13333"/>
            </a:avLst>
          </a:prstGeom>
          <a:solidFill>
            <a:srgbClr val="DBEAFD"/>
          </a:solidFill>
          <a:ln/>
        </p:spPr>
        <p:txBody>
          <a:bodyPr/>
          <a:lstStyle/>
          <a:p>
            <a:endParaRPr lang="en-US"/>
          </a:p>
        </p:txBody>
      </p:sp>
      <p:sp>
        <p:nvSpPr>
          <p:cNvPr id="15" name="Shape 13"/>
          <p:cNvSpPr/>
          <p:nvPr/>
        </p:nvSpPr>
        <p:spPr>
          <a:xfrm>
            <a:off x="6268789" y="5524723"/>
            <a:ext cx="285750" cy="285750"/>
          </a:xfrm>
          <a:prstGeom prst="roundRect">
            <a:avLst>
              <a:gd name="adj" fmla="val 13333"/>
            </a:avLst>
          </a:prstGeom>
          <a:solidFill>
            <a:srgbClr val="BCD6FB"/>
          </a:solidFill>
          <a:ln/>
        </p:spPr>
        <p:txBody>
          <a:bodyPr/>
          <a:lstStyle/>
          <a:p>
            <a:endParaRPr lang="en-US"/>
          </a:p>
        </p:txBody>
      </p:sp>
      <p:sp>
        <p:nvSpPr>
          <p:cNvPr id="16" name="Shape 14"/>
          <p:cNvSpPr/>
          <p:nvPr/>
        </p:nvSpPr>
        <p:spPr>
          <a:xfrm>
            <a:off x="6602164" y="5524723"/>
            <a:ext cx="285750" cy="285750"/>
          </a:xfrm>
          <a:prstGeom prst="roundRect">
            <a:avLst>
              <a:gd name="adj" fmla="val 13333"/>
            </a:avLst>
          </a:prstGeom>
          <a:solidFill>
            <a:srgbClr val="CFE1FC"/>
          </a:solidFill>
          <a:ln/>
        </p:spPr>
        <p:txBody>
          <a:bodyPr/>
          <a:lstStyle/>
          <a:p>
            <a:endParaRPr lang="en-US"/>
          </a:p>
        </p:txBody>
      </p:sp>
      <p:sp>
        <p:nvSpPr>
          <p:cNvPr id="17" name="Shape 15"/>
          <p:cNvSpPr/>
          <p:nvPr/>
        </p:nvSpPr>
        <p:spPr>
          <a:xfrm>
            <a:off x="6935539" y="5524723"/>
            <a:ext cx="285750" cy="285750"/>
          </a:xfrm>
          <a:prstGeom prst="roundRect">
            <a:avLst>
              <a:gd name="adj" fmla="val 13333"/>
            </a:avLst>
          </a:prstGeom>
          <a:solidFill>
            <a:srgbClr val="A9CBFA"/>
          </a:solidFill>
          <a:ln/>
        </p:spPr>
        <p:txBody>
          <a:bodyPr/>
          <a:lstStyle/>
          <a:p>
            <a:endParaRPr lang="en-US"/>
          </a:p>
        </p:txBody>
      </p:sp>
      <p:sp>
        <p:nvSpPr>
          <p:cNvPr id="18" name="Text 16"/>
          <p:cNvSpPr/>
          <p:nvPr/>
        </p:nvSpPr>
        <p:spPr>
          <a:xfrm>
            <a:off x="5961013" y="6058123"/>
            <a:ext cx="1358146"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F6FEB"/>
                </a:solidFill>
                <a:latin typeface="Courier New" pitchFamily="34" charset="0"/>
                <a:ea typeface="Courier New" pitchFamily="34" charset="-122"/>
                <a:cs typeface="Courier New" pitchFamily="34" charset="-120"/>
              </a:rPr>
              <a:t>embedding</a:t>
            </a:r>
            <a:endParaRPr lang="en-US" sz="1800" dirty="0"/>
          </a:p>
        </p:txBody>
      </p:sp>
      <p:sp>
        <p:nvSpPr>
          <p:cNvPr id="19" name="Text 17"/>
          <p:cNvSpPr/>
          <p:nvPr/>
        </p:nvSpPr>
        <p:spPr>
          <a:xfrm>
            <a:off x="7678489" y="5238973"/>
            <a:ext cx="394767" cy="600075"/>
          </a:xfrm>
          <a:prstGeom prst="rect">
            <a:avLst/>
          </a:prstGeom>
          <a:noFill/>
          <a:ln/>
        </p:spPr>
        <p:txBody>
          <a:bodyPr wrap="square" lIns="25400" tIns="25400" rIns="25400" bIns="25400" rtlCol="0" anchor="t">
            <a:normAutofit/>
          </a:bodyPr>
          <a:lstStyle/>
          <a:p>
            <a:pPr marL="0" indent="0" algn="l">
              <a:buNone/>
            </a:pPr>
            <a:r>
              <a:rPr lang="en-US" sz="3900" dirty="0">
                <a:solidFill>
                  <a:srgbClr val="7C7A73"/>
                </a:solidFill>
                <a:latin typeface="Georgia" pitchFamily="34" charset="0"/>
                <a:ea typeface="Georgia" pitchFamily="34" charset="-122"/>
                <a:cs typeface="Georgia" pitchFamily="34" charset="-120"/>
              </a:rPr>
              <a:t>+</a:t>
            </a:r>
            <a:endParaRPr lang="en-US" sz="3900" dirty="0"/>
          </a:p>
        </p:txBody>
      </p:sp>
      <p:sp>
        <p:nvSpPr>
          <p:cNvPr id="20" name="Shape 18"/>
          <p:cNvSpPr/>
          <p:nvPr/>
        </p:nvSpPr>
        <p:spPr>
          <a:xfrm>
            <a:off x="8320906" y="4724623"/>
            <a:ext cx="1552575" cy="1219200"/>
          </a:xfrm>
          <a:prstGeom prst="roundRect">
            <a:avLst>
              <a:gd name="adj" fmla="val 7813"/>
            </a:avLst>
          </a:prstGeom>
          <a:solidFill>
            <a:srgbClr val="FBF0D9"/>
          </a:solidFill>
          <a:ln w="19050">
            <a:solidFill>
              <a:srgbClr val="C77D0A"/>
            </a:solidFill>
            <a:prstDash val="solid"/>
          </a:ln>
        </p:spPr>
        <p:txBody>
          <a:bodyPr/>
          <a:lstStyle/>
          <a:p>
            <a:endParaRPr lang="en-US"/>
          </a:p>
        </p:txBody>
      </p:sp>
      <p:sp>
        <p:nvSpPr>
          <p:cNvPr id="21" name="Shape 19"/>
          <p:cNvSpPr/>
          <p:nvPr/>
        </p:nvSpPr>
        <p:spPr>
          <a:xfrm>
            <a:off x="8454256" y="4857973"/>
            <a:ext cx="285750" cy="285750"/>
          </a:xfrm>
          <a:prstGeom prst="roundRect">
            <a:avLst>
              <a:gd name="adj" fmla="val 13333"/>
            </a:avLst>
          </a:prstGeom>
          <a:solidFill>
            <a:srgbClr val="F3D79A"/>
          </a:solidFill>
          <a:ln/>
        </p:spPr>
        <p:txBody>
          <a:bodyPr/>
          <a:lstStyle/>
          <a:p>
            <a:endParaRPr lang="en-US"/>
          </a:p>
        </p:txBody>
      </p:sp>
      <p:sp>
        <p:nvSpPr>
          <p:cNvPr id="22" name="Shape 20"/>
          <p:cNvSpPr/>
          <p:nvPr/>
        </p:nvSpPr>
        <p:spPr>
          <a:xfrm>
            <a:off x="8787631" y="4857973"/>
            <a:ext cx="285750" cy="285750"/>
          </a:xfrm>
          <a:prstGeom prst="roundRect">
            <a:avLst>
              <a:gd name="adj" fmla="val 13333"/>
            </a:avLst>
          </a:prstGeom>
          <a:solidFill>
            <a:srgbClr val="E9C574"/>
          </a:solidFill>
          <a:ln/>
        </p:spPr>
        <p:txBody>
          <a:bodyPr/>
          <a:lstStyle/>
          <a:p>
            <a:endParaRPr lang="en-US"/>
          </a:p>
        </p:txBody>
      </p:sp>
      <p:sp>
        <p:nvSpPr>
          <p:cNvPr id="23" name="Shape 21"/>
          <p:cNvSpPr/>
          <p:nvPr/>
        </p:nvSpPr>
        <p:spPr>
          <a:xfrm>
            <a:off x="9121006" y="4857973"/>
            <a:ext cx="285750" cy="285750"/>
          </a:xfrm>
          <a:prstGeom prst="roundRect">
            <a:avLst>
              <a:gd name="adj" fmla="val 13333"/>
            </a:avLst>
          </a:prstGeom>
          <a:solidFill>
            <a:srgbClr val="F7E4B8"/>
          </a:solidFill>
          <a:ln/>
        </p:spPr>
        <p:txBody>
          <a:bodyPr/>
          <a:lstStyle/>
          <a:p>
            <a:endParaRPr lang="en-US"/>
          </a:p>
        </p:txBody>
      </p:sp>
      <p:sp>
        <p:nvSpPr>
          <p:cNvPr id="24" name="Shape 22"/>
          <p:cNvSpPr/>
          <p:nvPr/>
        </p:nvSpPr>
        <p:spPr>
          <a:xfrm>
            <a:off x="9454381" y="4857973"/>
            <a:ext cx="285750" cy="285750"/>
          </a:xfrm>
          <a:prstGeom prst="roundRect">
            <a:avLst>
              <a:gd name="adj" fmla="val 13333"/>
            </a:avLst>
          </a:prstGeom>
          <a:solidFill>
            <a:srgbClr val="E9C574"/>
          </a:solidFill>
          <a:ln/>
        </p:spPr>
        <p:txBody>
          <a:bodyPr/>
          <a:lstStyle/>
          <a:p>
            <a:endParaRPr lang="en-US"/>
          </a:p>
        </p:txBody>
      </p:sp>
      <p:sp>
        <p:nvSpPr>
          <p:cNvPr id="25" name="Shape 23"/>
          <p:cNvSpPr/>
          <p:nvPr/>
        </p:nvSpPr>
        <p:spPr>
          <a:xfrm>
            <a:off x="8454256" y="5191348"/>
            <a:ext cx="285750" cy="285750"/>
          </a:xfrm>
          <a:prstGeom prst="roundRect">
            <a:avLst>
              <a:gd name="adj" fmla="val 13333"/>
            </a:avLst>
          </a:prstGeom>
          <a:solidFill>
            <a:srgbClr val="F7E4B8"/>
          </a:solidFill>
          <a:ln/>
        </p:spPr>
        <p:txBody>
          <a:bodyPr/>
          <a:lstStyle/>
          <a:p>
            <a:endParaRPr lang="en-US"/>
          </a:p>
        </p:txBody>
      </p:sp>
      <p:sp>
        <p:nvSpPr>
          <p:cNvPr id="26" name="Shape 24"/>
          <p:cNvSpPr/>
          <p:nvPr/>
        </p:nvSpPr>
        <p:spPr>
          <a:xfrm>
            <a:off x="8787631" y="5191348"/>
            <a:ext cx="285750" cy="285750"/>
          </a:xfrm>
          <a:prstGeom prst="roundRect">
            <a:avLst>
              <a:gd name="adj" fmla="val 13333"/>
            </a:avLst>
          </a:prstGeom>
          <a:solidFill>
            <a:srgbClr val="F3D79A"/>
          </a:solidFill>
          <a:ln/>
        </p:spPr>
        <p:txBody>
          <a:bodyPr/>
          <a:lstStyle/>
          <a:p>
            <a:endParaRPr lang="en-US"/>
          </a:p>
        </p:txBody>
      </p:sp>
      <p:sp>
        <p:nvSpPr>
          <p:cNvPr id="27" name="Shape 25"/>
          <p:cNvSpPr/>
          <p:nvPr/>
        </p:nvSpPr>
        <p:spPr>
          <a:xfrm>
            <a:off x="9121006" y="5191348"/>
            <a:ext cx="285750" cy="285750"/>
          </a:xfrm>
          <a:prstGeom prst="roundRect">
            <a:avLst>
              <a:gd name="adj" fmla="val 13333"/>
            </a:avLst>
          </a:prstGeom>
          <a:solidFill>
            <a:srgbClr val="E9C574"/>
          </a:solidFill>
          <a:ln/>
        </p:spPr>
        <p:txBody>
          <a:bodyPr/>
          <a:lstStyle/>
          <a:p>
            <a:endParaRPr lang="en-US"/>
          </a:p>
        </p:txBody>
      </p:sp>
      <p:sp>
        <p:nvSpPr>
          <p:cNvPr id="28" name="Shape 26"/>
          <p:cNvSpPr/>
          <p:nvPr/>
        </p:nvSpPr>
        <p:spPr>
          <a:xfrm>
            <a:off x="9454381" y="5191348"/>
            <a:ext cx="285750" cy="285750"/>
          </a:xfrm>
          <a:prstGeom prst="roundRect">
            <a:avLst>
              <a:gd name="adj" fmla="val 13333"/>
            </a:avLst>
          </a:prstGeom>
          <a:solidFill>
            <a:srgbClr val="F7E4B8"/>
          </a:solidFill>
          <a:ln/>
        </p:spPr>
        <p:txBody>
          <a:bodyPr/>
          <a:lstStyle/>
          <a:p>
            <a:endParaRPr lang="en-US"/>
          </a:p>
        </p:txBody>
      </p:sp>
      <p:sp>
        <p:nvSpPr>
          <p:cNvPr id="29" name="Shape 27"/>
          <p:cNvSpPr/>
          <p:nvPr/>
        </p:nvSpPr>
        <p:spPr>
          <a:xfrm>
            <a:off x="8454256" y="5524723"/>
            <a:ext cx="285750" cy="285750"/>
          </a:xfrm>
          <a:prstGeom prst="roundRect">
            <a:avLst>
              <a:gd name="adj" fmla="val 13333"/>
            </a:avLst>
          </a:prstGeom>
          <a:solidFill>
            <a:srgbClr val="F3D79A"/>
          </a:solidFill>
          <a:ln/>
        </p:spPr>
        <p:txBody>
          <a:bodyPr/>
          <a:lstStyle/>
          <a:p>
            <a:endParaRPr lang="en-US"/>
          </a:p>
        </p:txBody>
      </p:sp>
      <p:sp>
        <p:nvSpPr>
          <p:cNvPr id="30" name="Shape 28"/>
          <p:cNvSpPr/>
          <p:nvPr/>
        </p:nvSpPr>
        <p:spPr>
          <a:xfrm>
            <a:off x="8787631" y="5524723"/>
            <a:ext cx="285750" cy="285750"/>
          </a:xfrm>
          <a:prstGeom prst="roundRect">
            <a:avLst>
              <a:gd name="adj" fmla="val 13333"/>
            </a:avLst>
          </a:prstGeom>
          <a:solidFill>
            <a:srgbClr val="E9C574"/>
          </a:solidFill>
          <a:ln/>
        </p:spPr>
        <p:txBody>
          <a:bodyPr/>
          <a:lstStyle/>
          <a:p>
            <a:endParaRPr lang="en-US"/>
          </a:p>
        </p:txBody>
      </p:sp>
      <p:sp>
        <p:nvSpPr>
          <p:cNvPr id="31" name="Shape 29"/>
          <p:cNvSpPr/>
          <p:nvPr/>
        </p:nvSpPr>
        <p:spPr>
          <a:xfrm>
            <a:off x="9121006" y="5524723"/>
            <a:ext cx="285750" cy="285750"/>
          </a:xfrm>
          <a:prstGeom prst="roundRect">
            <a:avLst>
              <a:gd name="adj" fmla="val 13333"/>
            </a:avLst>
          </a:prstGeom>
          <a:solidFill>
            <a:srgbClr val="F7E4B8"/>
          </a:solidFill>
          <a:ln/>
        </p:spPr>
        <p:txBody>
          <a:bodyPr/>
          <a:lstStyle/>
          <a:p>
            <a:endParaRPr lang="en-US"/>
          </a:p>
        </p:txBody>
      </p:sp>
      <p:sp>
        <p:nvSpPr>
          <p:cNvPr id="32" name="Shape 30"/>
          <p:cNvSpPr/>
          <p:nvPr/>
        </p:nvSpPr>
        <p:spPr>
          <a:xfrm>
            <a:off x="9454381" y="5524723"/>
            <a:ext cx="285750" cy="285750"/>
          </a:xfrm>
          <a:prstGeom prst="roundRect">
            <a:avLst>
              <a:gd name="adj" fmla="val 13333"/>
            </a:avLst>
          </a:prstGeom>
          <a:solidFill>
            <a:srgbClr val="F3D79A"/>
          </a:solidFill>
          <a:ln/>
        </p:spPr>
        <p:txBody>
          <a:bodyPr/>
          <a:lstStyle/>
          <a:p>
            <a:endParaRPr lang="en-US"/>
          </a:p>
        </p:txBody>
      </p:sp>
      <p:sp>
        <p:nvSpPr>
          <p:cNvPr id="33" name="Text 31"/>
          <p:cNvSpPr/>
          <p:nvPr/>
        </p:nvSpPr>
        <p:spPr>
          <a:xfrm>
            <a:off x="8411245" y="6058123"/>
            <a:ext cx="1509006" cy="295275"/>
          </a:xfrm>
          <a:prstGeom prst="rect">
            <a:avLst/>
          </a:prstGeom>
          <a:noFill/>
          <a:ln/>
        </p:spPr>
        <p:txBody>
          <a:bodyPr wrap="square" lIns="25400" tIns="25400" rIns="25400" bIns="25400" rtlCol="0" anchor="t">
            <a:normAutofit/>
          </a:bodyPr>
          <a:lstStyle/>
          <a:p>
            <a:pPr marL="0" indent="0" algn="l">
              <a:buNone/>
            </a:pPr>
            <a:r>
              <a:rPr lang="en-US" sz="1800" dirty="0">
                <a:solidFill>
                  <a:srgbClr val="C77D0A"/>
                </a:solidFill>
                <a:latin typeface="Courier New" pitchFamily="34" charset="0"/>
                <a:ea typeface="Courier New" pitchFamily="34" charset="-122"/>
                <a:cs typeface="Courier New" pitchFamily="34" charset="-120"/>
              </a:rPr>
              <a:t>positional</a:t>
            </a:r>
            <a:endParaRPr lang="en-US" sz="1800" dirty="0"/>
          </a:p>
        </p:txBody>
      </p:sp>
      <p:sp>
        <p:nvSpPr>
          <p:cNvPr id="34" name="Text 32"/>
          <p:cNvSpPr/>
          <p:nvPr/>
        </p:nvSpPr>
        <p:spPr>
          <a:xfrm>
            <a:off x="10197331" y="5238973"/>
            <a:ext cx="394767" cy="600075"/>
          </a:xfrm>
          <a:prstGeom prst="rect">
            <a:avLst/>
          </a:prstGeom>
          <a:noFill/>
          <a:ln/>
        </p:spPr>
        <p:txBody>
          <a:bodyPr wrap="square" lIns="25400" tIns="25400" rIns="25400" bIns="25400" rtlCol="0" anchor="t">
            <a:normAutofit/>
          </a:bodyPr>
          <a:lstStyle/>
          <a:p>
            <a:pPr marL="0" indent="0" algn="l">
              <a:buNone/>
            </a:pPr>
            <a:r>
              <a:rPr lang="en-US" sz="3900" dirty="0">
                <a:solidFill>
                  <a:srgbClr val="7C7A73"/>
                </a:solidFill>
                <a:latin typeface="Georgia" pitchFamily="34" charset="0"/>
                <a:ea typeface="Georgia" pitchFamily="34" charset="-122"/>
                <a:cs typeface="Georgia" pitchFamily="34" charset="-120"/>
              </a:rPr>
              <a:t>=</a:t>
            </a:r>
            <a:endParaRPr lang="en-US" sz="3900" dirty="0"/>
          </a:p>
        </p:txBody>
      </p:sp>
      <p:sp>
        <p:nvSpPr>
          <p:cNvPr id="35" name="Shape 33"/>
          <p:cNvSpPr/>
          <p:nvPr/>
        </p:nvSpPr>
        <p:spPr>
          <a:xfrm>
            <a:off x="10886554" y="4724623"/>
            <a:ext cx="1552575" cy="1219200"/>
          </a:xfrm>
          <a:prstGeom prst="roundRect">
            <a:avLst>
              <a:gd name="adj" fmla="val 7813"/>
            </a:avLst>
          </a:prstGeom>
          <a:solidFill>
            <a:srgbClr val="EFE9FB"/>
          </a:solidFill>
          <a:ln w="19050">
            <a:solidFill>
              <a:srgbClr val="7A4FD0"/>
            </a:solidFill>
            <a:prstDash val="solid"/>
          </a:ln>
          <a:effectLst>
            <a:outerShdw blurRad="101600" dist="94293" dir="2700000" algn="bl" rotWithShape="0">
              <a:srgbClr val="7A4FD0">
                <a:alpha val="16000"/>
              </a:srgbClr>
            </a:outerShdw>
          </a:effectLst>
        </p:spPr>
        <p:txBody>
          <a:bodyPr/>
          <a:lstStyle/>
          <a:p>
            <a:endParaRPr lang="en-US"/>
          </a:p>
        </p:txBody>
      </p:sp>
      <p:sp>
        <p:nvSpPr>
          <p:cNvPr id="36" name="Shape 34"/>
          <p:cNvSpPr/>
          <p:nvPr/>
        </p:nvSpPr>
        <p:spPr>
          <a:xfrm>
            <a:off x="11019904" y="4857973"/>
            <a:ext cx="285750" cy="285750"/>
          </a:xfrm>
          <a:prstGeom prst="roundRect">
            <a:avLst>
              <a:gd name="adj" fmla="val 13333"/>
            </a:avLst>
          </a:prstGeom>
          <a:solidFill>
            <a:srgbClr val="C9B6EF"/>
          </a:solidFill>
          <a:ln/>
        </p:spPr>
        <p:txBody>
          <a:bodyPr/>
          <a:lstStyle/>
          <a:p>
            <a:endParaRPr lang="en-US"/>
          </a:p>
        </p:txBody>
      </p:sp>
      <p:sp>
        <p:nvSpPr>
          <p:cNvPr id="37" name="Shape 35"/>
          <p:cNvSpPr/>
          <p:nvPr/>
        </p:nvSpPr>
        <p:spPr>
          <a:xfrm>
            <a:off x="11353279" y="4857973"/>
            <a:ext cx="285750" cy="285750"/>
          </a:xfrm>
          <a:prstGeom prst="roundRect">
            <a:avLst>
              <a:gd name="adj" fmla="val 13333"/>
            </a:avLst>
          </a:prstGeom>
          <a:solidFill>
            <a:srgbClr val="D8CAF3"/>
          </a:solidFill>
          <a:ln/>
        </p:spPr>
        <p:txBody>
          <a:bodyPr/>
          <a:lstStyle/>
          <a:p>
            <a:endParaRPr lang="en-US"/>
          </a:p>
        </p:txBody>
      </p:sp>
      <p:sp>
        <p:nvSpPr>
          <p:cNvPr id="38" name="Shape 36"/>
          <p:cNvSpPr/>
          <p:nvPr/>
        </p:nvSpPr>
        <p:spPr>
          <a:xfrm>
            <a:off x="11686654" y="4857973"/>
            <a:ext cx="285750" cy="285750"/>
          </a:xfrm>
          <a:prstGeom prst="roundRect">
            <a:avLst>
              <a:gd name="adj" fmla="val 13333"/>
            </a:avLst>
          </a:prstGeom>
          <a:solidFill>
            <a:srgbClr val="BDA6EA"/>
          </a:solidFill>
          <a:ln/>
        </p:spPr>
        <p:txBody>
          <a:bodyPr/>
          <a:lstStyle/>
          <a:p>
            <a:endParaRPr lang="en-US"/>
          </a:p>
        </p:txBody>
      </p:sp>
      <p:sp>
        <p:nvSpPr>
          <p:cNvPr id="39" name="Shape 37"/>
          <p:cNvSpPr/>
          <p:nvPr/>
        </p:nvSpPr>
        <p:spPr>
          <a:xfrm>
            <a:off x="12020029" y="4857973"/>
            <a:ext cx="285750" cy="285750"/>
          </a:xfrm>
          <a:prstGeom prst="roundRect">
            <a:avLst>
              <a:gd name="adj" fmla="val 13333"/>
            </a:avLst>
          </a:prstGeom>
          <a:solidFill>
            <a:srgbClr val="D8CAF3"/>
          </a:solidFill>
          <a:ln/>
        </p:spPr>
        <p:txBody>
          <a:bodyPr/>
          <a:lstStyle/>
          <a:p>
            <a:endParaRPr lang="en-US"/>
          </a:p>
        </p:txBody>
      </p:sp>
      <p:sp>
        <p:nvSpPr>
          <p:cNvPr id="40" name="Shape 38"/>
          <p:cNvSpPr/>
          <p:nvPr/>
        </p:nvSpPr>
        <p:spPr>
          <a:xfrm>
            <a:off x="11019904" y="5191348"/>
            <a:ext cx="285750" cy="285750"/>
          </a:xfrm>
          <a:prstGeom prst="roundRect">
            <a:avLst>
              <a:gd name="adj" fmla="val 13333"/>
            </a:avLst>
          </a:prstGeom>
          <a:solidFill>
            <a:srgbClr val="C9B6EF"/>
          </a:solidFill>
          <a:ln/>
        </p:spPr>
        <p:txBody>
          <a:bodyPr/>
          <a:lstStyle/>
          <a:p>
            <a:endParaRPr lang="en-US"/>
          </a:p>
        </p:txBody>
      </p:sp>
      <p:sp>
        <p:nvSpPr>
          <p:cNvPr id="41" name="Shape 39"/>
          <p:cNvSpPr/>
          <p:nvPr/>
        </p:nvSpPr>
        <p:spPr>
          <a:xfrm>
            <a:off x="11353279" y="5191348"/>
            <a:ext cx="285750" cy="285750"/>
          </a:xfrm>
          <a:prstGeom prst="roundRect">
            <a:avLst>
              <a:gd name="adj" fmla="val 13333"/>
            </a:avLst>
          </a:prstGeom>
          <a:solidFill>
            <a:srgbClr val="BDA6EA"/>
          </a:solidFill>
          <a:ln/>
        </p:spPr>
        <p:txBody>
          <a:bodyPr/>
          <a:lstStyle/>
          <a:p>
            <a:endParaRPr lang="en-US"/>
          </a:p>
        </p:txBody>
      </p:sp>
      <p:sp>
        <p:nvSpPr>
          <p:cNvPr id="42" name="Shape 40"/>
          <p:cNvSpPr/>
          <p:nvPr/>
        </p:nvSpPr>
        <p:spPr>
          <a:xfrm>
            <a:off x="11686654" y="5191348"/>
            <a:ext cx="285750" cy="285750"/>
          </a:xfrm>
          <a:prstGeom prst="roundRect">
            <a:avLst>
              <a:gd name="adj" fmla="val 13333"/>
            </a:avLst>
          </a:prstGeom>
          <a:solidFill>
            <a:srgbClr val="D8CAF3"/>
          </a:solidFill>
          <a:ln/>
        </p:spPr>
        <p:txBody>
          <a:bodyPr/>
          <a:lstStyle/>
          <a:p>
            <a:endParaRPr lang="en-US"/>
          </a:p>
        </p:txBody>
      </p:sp>
      <p:sp>
        <p:nvSpPr>
          <p:cNvPr id="43" name="Shape 41"/>
          <p:cNvSpPr/>
          <p:nvPr/>
        </p:nvSpPr>
        <p:spPr>
          <a:xfrm>
            <a:off x="12020029" y="5191348"/>
            <a:ext cx="285750" cy="285750"/>
          </a:xfrm>
          <a:prstGeom prst="roundRect">
            <a:avLst>
              <a:gd name="adj" fmla="val 13333"/>
            </a:avLst>
          </a:prstGeom>
          <a:solidFill>
            <a:srgbClr val="C9B6EF"/>
          </a:solidFill>
          <a:ln/>
        </p:spPr>
        <p:txBody>
          <a:bodyPr/>
          <a:lstStyle/>
          <a:p>
            <a:endParaRPr lang="en-US"/>
          </a:p>
        </p:txBody>
      </p:sp>
      <p:sp>
        <p:nvSpPr>
          <p:cNvPr id="44" name="Shape 42"/>
          <p:cNvSpPr/>
          <p:nvPr/>
        </p:nvSpPr>
        <p:spPr>
          <a:xfrm>
            <a:off x="11019904" y="5524723"/>
            <a:ext cx="285750" cy="285750"/>
          </a:xfrm>
          <a:prstGeom prst="roundRect">
            <a:avLst>
              <a:gd name="adj" fmla="val 13333"/>
            </a:avLst>
          </a:prstGeom>
          <a:solidFill>
            <a:srgbClr val="BDA6EA"/>
          </a:solidFill>
          <a:ln/>
        </p:spPr>
        <p:txBody>
          <a:bodyPr/>
          <a:lstStyle/>
          <a:p>
            <a:endParaRPr lang="en-US"/>
          </a:p>
        </p:txBody>
      </p:sp>
      <p:sp>
        <p:nvSpPr>
          <p:cNvPr id="45" name="Shape 43"/>
          <p:cNvSpPr/>
          <p:nvPr/>
        </p:nvSpPr>
        <p:spPr>
          <a:xfrm>
            <a:off x="11353279" y="5524723"/>
            <a:ext cx="285750" cy="285750"/>
          </a:xfrm>
          <a:prstGeom prst="roundRect">
            <a:avLst>
              <a:gd name="adj" fmla="val 13333"/>
            </a:avLst>
          </a:prstGeom>
          <a:solidFill>
            <a:srgbClr val="D8CAF3"/>
          </a:solidFill>
          <a:ln/>
        </p:spPr>
        <p:txBody>
          <a:bodyPr/>
          <a:lstStyle/>
          <a:p>
            <a:endParaRPr lang="en-US"/>
          </a:p>
        </p:txBody>
      </p:sp>
      <p:sp>
        <p:nvSpPr>
          <p:cNvPr id="46" name="Shape 44"/>
          <p:cNvSpPr/>
          <p:nvPr/>
        </p:nvSpPr>
        <p:spPr>
          <a:xfrm>
            <a:off x="11686654" y="5524723"/>
            <a:ext cx="285750" cy="285750"/>
          </a:xfrm>
          <a:prstGeom prst="roundRect">
            <a:avLst>
              <a:gd name="adj" fmla="val 13333"/>
            </a:avLst>
          </a:prstGeom>
          <a:solidFill>
            <a:srgbClr val="C9B6EF"/>
          </a:solidFill>
          <a:ln/>
        </p:spPr>
        <p:txBody>
          <a:bodyPr/>
          <a:lstStyle/>
          <a:p>
            <a:endParaRPr lang="en-US"/>
          </a:p>
        </p:txBody>
      </p:sp>
      <p:sp>
        <p:nvSpPr>
          <p:cNvPr id="47" name="Shape 45"/>
          <p:cNvSpPr/>
          <p:nvPr/>
        </p:nvSpPr>
        <p:spPr>
          <a:xfrm>
            <a:off x="12020029" y="5524723"/>
            <a:ext cx="285750" cy="285750"/>
          </a:xfrm>
          <a:prstGeom prst="roundRect">
            <a:avLst>
              <a:gd name="adj" fmla="val 13333"/>
            </a:avLst>
          </a:prstGeom>
          <a:solidFill>
            <a:srgbClr val="BDA6EA"/>
          </a:solidFill>
          <a:ln/>
        </p:spPr>
        <p:txBody>
          <a:bodyPr/>
          <a:lstStyle/>
          <a:p>
            <a:endParaRPr lang="en-US"/>
          </a:p>
        </p:txBody>
      </p:sp>
      <p:sp>
        <p:nvSpPr>
          <p:cNvPr id="48" name="Text 46"/>
          <p:cNvSpPr/>
          <p:nvPr/>
        </p:nvSpPr>
        <p:spPr>
          <a:xfrm>
            <a:off x="10839748" y="6058123"/>
            <a:ext cx="1810807"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A4FD0"/>
                </a:solidFill>
                <a:latin typeface="Courier New" pitchFamily="34" charset="0"/>
                <a:ea typeface="Courier New" pitchFamily="34" charset="-122"/>
                <a:cs typeface="Courier New" pitchFamily="34" charset="-120"/>
              </a:rPr>
              <a:t>input matrix</a:t>
            </a:r>
            <a:endParaRPr lang="en-US" sz="1800" dirty="0"/>
          </a:p>
        </p:txBody>
      </p:sp>
      <p:sp>
        <p:nvSpPr>
          <p:cNvPr id="49" name="Text 47"/>
          <p:cNvSpPr/>
          <p:nvPr/>
        </p:nvSpPr>
        <p:spPr>
          <a:xfrm>
            <a:off x="238125" y="9039225"/>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Georgia" pitchFamily="34" charset="0"/>
                <a:ea typeface="Georgia" pitchFamily="34" charset="-122"/>
                <a:cs typeface="Georgia" pitchFamily="34" charset="-120"/>
              </a:rPr>
              <a:t>Add element-by-element — every column now carries </a:t>
            </a:r>
            <a:r>
              <a:rPr lang="en-US" sz="2025" dirty="0">
                <a:solidFill>
                  <a:srgbClr val="1A1A1A"/>
                </a:solidFill>
                <a:highlight>
                  <a:srgbClr val="FFF1A8"/>
                </a:highlight>
                <a:latin typeface="Georgia" pitchFamily="34" charset="0"/>
                <a:ea typeface="Georgia" pitchFamily="34" charset="-122"/>
                <a:cs typeface="Georgia" pitchFamily="34" charset="-120"/>
              </a:rPr>
              <a:t>meaning + order</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50" name="Shape 48"/>
          <p:cNvSpPr/>
          <p:nvPr/>
        </p:nvSpPr>
        <p:spPr>
          <a:xfrm>
            <a:off x="1047750" y="9520238"/>
            <a:ext cx="16192500" cy="9525"/>
          </a:xfrm>
          <a:prstGeom prst="rect">
            <a:avLst/>
          </a:prstGeom>
          <a:solidFill>
            <a:srgbClr val="E3E1DA"/>
          </a:solidFill>
          <a:ln/>
        </p:spPr>
        <p:txBody>
          <a:bodyPr/>
          <a:lstStyle/>
          <a:p>
            <a:endParaRPr lang="en-US"/>
          </a:p>
        </p:txBody>
      </p:sp>
      <p:sp>
        <p:nvSpPr>
          <p:cNvPr id="51" name="Text 4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52" name="Text 50"/>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Reading in Context: Attention</a:t>
            </a:r>
            <a:endParaRPr lang="en-US" sz="4800" dirty="0"/>
          </a:p>
        </p:txBody>
      </p:sp>
      <p:sp>
        <p:nvSpPr>
          <p:cNvPr id="5" name="Text 3"/>
          <p:cNvSpPr/>
          <p:nvPr/>
        </p:nvSpPr>
        <p:spPr>
          <a:xfrm>
            <a:off x="1047750" y="4465067"/>
            <a:ext cx="17811750" cy="35242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Which word does </a:t>
            </a:r>
            <a:r>
              <a:rPr lang="en-US" sz="2025" dirty="0">
                <a:solidFill>
                  <a:srgbClr val="1A1A1A"/>
                </a:solidFill>
                <a:highlight>
                  <a:srgbClr val="FFF1A8"/>
                </a:highlight>
                <a:latin typeface="Courier New" pitchFamily="34" charset="0"/>
                <a:ea typeface="Courier New" pitchFamily="34" charset="-122"/>
                <a:cs typeface="Courier New" pitchFamily="34" charset="-120"/>
              </a:rPr>
              <a:t>it </a:t>
            </a:r>
            <a:r>
              <a:rPr lang="en-US" sz="2025" dirty="0">
                <a:solidFill>
                  <a:srgbClr val="7C7A73"/>
                </a:solidFill>
                <a:latin typeface="Arial" pitchFamily="34" charset="0"/>
                <a:ea typeface="Arial" pitchFamily="34" charset="-122"/>
                <a:cs typeface="Arial" pitchFamily="34" charset="-120"/>
              </a:rPr>
              <a:t>refer to? Darker = more attention from </a:t>
            </a:r>
            <a:r>
              <a:rPr lang="en-US" sz="2025" dirty="0">
                <a:solidFill>
                  <a:srgbClr val="7C7A73"/>
                </a:solidFill>
                <a:latin typeface="Courier New" pitchFamily="34" charset="0"/>
                <a:ea typeface="Courier New" pitchFamily="34" charset="-122"/>
                <a:cs typeface="Courier New" pitchFamily="34" charset="-120"/>
              </a:rPr>
              <a:t>it</a:t>
            </a:r>
            <a:r>
              <a:rPr lang="en-US" sz="2025" dirty="0">
                <a:solidFill>
                  <a:srgbClr val="7C7A73"/>
                </a:solidFill>
                <a:latin typeface="Arial" pitchFamily="34" charset="0"/>
                <a:ea typeface="Arial" pitchFamily="34" charset="-122"/>
                <a:cs typeface="Arial" pitchFamily="34" charset="-120"/>
              </a:rPr>
              <a:t>.</a:t>
            </a:r>
            <a:endParaRPr lang="en-US" sz="2025" dirty="0"/>
          </a:p>
        </p:txBody>
      </p:sp>
      <p:sp>
        <p:nvSpPr>
          <p:cNvPr id="6" name="Shape 4"/>
          <p:cNvSpPr/>
          <p:nvPr/>
        </p:nvSpPr>
        <p:spPr>
          <a:xfrm>
            <a:off x="1047750" y="5179442"/>
            <a:ext cx="925934" cy="595313"/>
          </a:xfrm>
          <a:prstGeom prst="roundRect">
            <a:avLst>
              <a:gd name="adj" fmla="val 16000"/>
            </a:avLst>
          </a:prstGeom>
          <a:solidFill>
            <a:srgbClr val="1F6FEB">
              <a:alpha val="8000"/>
            </a:srgbClr>
          </a:solidFill>
          <a:ln/>
        </p:spPr>
        <p:txBody>
          <a:bodyPr/>
          <a:lstStyle/>
          <a:p>
            <a:endParaRPr lang="en-US"/>
          </a:p>
        </p:txBody>
      </p:sp>
      <p:sp>
        <p:nvSpPr>
          <p:cNvPr id="7" name="Text 5"/>
          <p:cNvSpPr/>
          <p:nvPr/>
        </p:nvSpPr>
        <p:spPr>
          <a:xfrm>
            <a:off x="1219200"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The</a:t>
            </a:r>
            <a:endParaRPr lang="en-US" sz="2550" dirty="0"/>
          </a:p>
        </p:txBody>
      </p:sp>
      <p:sp>
        <p:nvSpPr>
          <p:cNvPr id="8" name="Shape 6"/>
          <p:cNvSpPr/>
          <p:nvPr/>
        </p:nvSpPr>
        <p:spPr>
          <a:xfrm>
            <a:off x="2107034" y="5179442"/>
            <a:ext cx="1508968" cy="595313"/>
          </a:xfrm>
          <a:prstGeom prst="roundRect">
            <a:avLst>
              <a:gd name="adj" fmla="val 16000"/>
            </a:avLst>
          </a:prstGeom>
          <a:solidFill>
            <a:srgbClr val="1F6FEB">
              <a:alpha val="85000"/>
            </a:srgbClr>
          </a:solidFill>
          <a:ln/>
        </p:spPr>
        <p:txBody>
          <a:bodyPr/>
          <a:lstStyle/>
          <a:p>
            <a:endParaRPr lang="en-US"/>
          </a:p>
        </p:txBody>
      </p:sp>
      <p:sp>
        <p:nvSpPr>
          <p:cNvPr id="9" name="Text 7"/>
          <p:cNvSpPr/>
          <p:nvPr/>
        </p:nvSpPr>
        <p:spPr>
          <a:xfrm>
            <a:off x="2278484" y="5293742"/>
            <a:ext cx="1242268" cy="404813"/>
          </a:xfrm>
          <a:prstGeom prst="rect">
            <a:avLst/>
          </a:prstGeom>
          <a:noFill/>
          <a:ln/>
        </p:spPr>
        <p:txBody>
          <a:bodyPr wrap="square" lIns="25400" tIns="25400" rIns="25400" bIns="25400" rtlCol="0" anchor="t">
            <a:normAutofit/>
          </a:bodyPr>
          <a:lstStyle/>
          <a:p>
            <a:pPr marL="0" indent="0" algn="l">
              <a:buNone/>
            </a:pPr>
            <a:r>
              <a:rPr lang="en-US" sz="2550" dirty="0">
                <a:solidFill>
                  <a:srgbClr val="FFFFFF"/>
                </a:solidFill>
                <a:latin typeface="Courier New" pitchFamily="34" charset="0"/>
                <a:ea typeface="Courier New" pitchFamily="34" charset="-122"/>
                <a:cs typeface="Courier New" pitchFamily="34" charset="-120"/>
              </a:rPr>
              <a:t>trophy</a:t>
            </a:r>
            <a:endParaRPr lang="en-US" sz="2550" dirty="0"/>
          </a:p>
        </p:txBody>
      </p:sp>
      <p:sp>
        <p:nvSpPr>
          <p:cNvPr id="10" name="Shape 8"/>
          <p:cNvSpPr/>
          <p:nvPr/>
        </p:nvSpPr>
        <p:spPr>
          <a:xfrm>
            <a:off x="3749353" y="5179442"/>
            <a:ext cx="1508968" cy="595313"/>
          </a:xfrm>
          <a:prstGeom prst="roundRect">
            <a:avLst>
              <a:gd name="adj" fmla="val 16000"/>
            </a:avLst>
          </a:prstGeom>
          <a:solidFill>
            <a:srgbClr val="1F6FEB">
              <a:alpha val="8000"/>
            </a:srgbClr>
          </a:solidFill>
          <a:ln/>
        </p:spPr>
        <p:txBody>
          <a:bodyPr/>
          <a:lstStyle/>
          <a:p>
            <a:endParaRPr lang="en-US"/>
          </a:p>
        </p:txBody>
      </p:sp>
      <p:sp>
        <p:nvSpPr>
          <p:cNvPr id="11" name="Text 9"/>
          <p:cNvSpPr/>
          <p:nvPr/>
        </p:nvSpPr>
        <p:spPr>
          <a:xfrm>
            <a:off x="3920803" y="5293742"/>
            <a:ext cx="1242268"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didn’t</a:t>
            </a:r>
            <a:endParaRPr lang="en-US" sz="2550" dirty="0"/>
          </a:p>
        </p:txBody>
      </p:sp>
      <p:sp>
        <p:nvSpPr>
          <p:cNvPr id="12" name="Shape 10"/>
          <p:cNvSpPr/>
          <p:nvPr/>
        </p:nvSpPr>
        <p:spPr>
          <a:xfrm>
            <a:off x="5391671" y="5179442"/>
            <a:ext cx="925934" cy="595313"/>
          </a:xfrm>
          <a:prstGeom prst="roundRect">
            <a:avLst>
              <a:gd name="adj" fmla="val 16000"/>
            </a:avLst>
          </a:prstGeom>
          <a:solidFill>
            <a:srgbClr val="1F6FEB">
              <a:alpha val="8000"/>
            </a:srgbClr>
          </a:solidFill>
          <a:ln/>
        </p:spPr>
        <p:txBody>
          <a:bodyPr/>
          <a:lstStyle/>
          <a:p>
            <a:endParaRPr lang="en-US"/>
          </a:p>
        </p:txBody>
      </p:sp>
      <p:sp>
        <p:nvSpPr>
          <p:cNvPr id="13" name="Text 11"/>
          <p:cNvSpPr/>
          <p:nvPr/>
        </p:nvSpPr>
        <p:spPr>
          <a:xfrm>
            <a:off x="5563121"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fit</a:t>
            </a:r>
            <a:endParaRPr lang="en-US" sz="2550" dirty="0"/>
          </a:p>
        </p:txBody>
      </p:sp>
      <p:sp>
        <p:nvSpPr>
          <p:cNvPr id="14" name="Shape 12"/>
          <p:cNvSpPr/>
          <p:nvPr/>
        </p:nvSpPr>
        <p:spPr>
          <a:xfrm>
            <a:off x="6450955" y="5179442"/>
            <a:ext cx="731639" cy="595313"/>
          </a:xfrm>
          <a:prstGeom prst="roundRect">
            <a:avLst>
              <a:gd name="adj" fmla="val 16000"/>
            </a:avLst>
          </a:prstGeom>
          <a:solidFill>
            <a:srgbClr val="1F6FEB">
              <a:alpha val="8000"/>
            </a:srgbClr>
          </a:solidFill>
          <a:ln/>
        </p:spPr>
        <p:txBody>
          <a:bodyPr/>
          <a:lstStyle/>
          <a:p>
            <a:endParaRPr lang="en-US"/>
          </a:p>
        </p:txBody>
      </p:sp>
      <p:sp>
        <p:nvSpPr>
          <p:cNvPr id="15" name="Text 13"/>
          <p:cNvSpPr/>
          <p:nvPr/>
        </p:nvSpPr>
        <p:spPr>
          <a:xfrm>
            <a:off x="6622405" y="5293742"/>
            <a:ext cx="464939"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in</a:t>
            </a:r>
            <a:endParaRPr lang="en-US" sz="2550" dirty="0"/>
          </a:p>
        </p:txBody>
      </p:sp>
      <p:sp>
        <p:nvSpPr>
          <p:cNvPr id="16" name="Shape 14"/>
          <p:cNvSpPr/>
          <p:nvPr/>
        </p:nvSpPr>
        <p:spPr>
          <a:xfrm>
            <a:off x="7315944" y="5179442"/>
            <a:ext cx="925934" cy="595313"/>
          </a:xfrm>
          <a:prstGeom prst="roundRect">
            <a:avLst>
              <a:gd name="adj" fmla="val 16000"/>
            </a:avLst>
          </a:prstGeom>
          <a:solidFill>
            <a:srgbClr val="1F6FEB">
              <a:alpha val="8000"/>
            </a:srgbClr>
          </a:solidFill>
          <a:ln/>
        </p:spPr>
        <p:txBody>
          <a:bodyPr/>
          <a:lstStyle/>
          <a:p>
            <a:endParaRPr lang="en-US"/>
          </a:p>
        </p:txBody>
      </p:sp>
      <p:sp>
        <p:nvSpPr>
          <p:cNvPr id="17" name="Text 15"/>
          <p:cNvSpPr/>
          <p:nvPr/>
        </p:nvSpPr>
        <p:spPr>
          <a:xfrm>
            <a:off x="7487394"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the</a:t>
            </a:r>
            <a:endParaRPr lang="en-US" sz="2550" dirty="0"/>
          </a:p>
        </p:txBody>
      </p:sp>
      <p:sp>
        <p:nvSpPr>
          <p:cNvPr id="18" name="Shape 16"/>
          <p:cNvSpPr/>
          <p:nvPr/>
        </p:nvSpPr>
        <p:spPr>
          <a:xfrm>
            <a:off x="8375228" y="5179442"/>
            <a:ext cx="1897633" cy="595313"/>
          </a:xfrm>
          <a:prstGeom prst="roundRect">
            <a:avLst>
              <a:gd name="adj" fmla="val 16000"/>
            </a:avLst>
          </a:prstGeom>
          <a:solidFill>
            <a:srgbClr val="1F6FEB">
              <a:alpha val="30000"/>
            </a:srgbClr>
          </a:solidFill>
          <a:ln/>
        </p:spPr>
        <p:txBody>
          <a:bodyPr/>
          <a:lstStyle/>
          <a:p>
            <a:endParaRPr lang="en-US"/>
          </a:p>
        </p:txBody>
      </p:sp>
      <p:sp>
        <p:nvSpPr>
          <p:cNvPr id="19" name="Text 17"/>
          <p:cNvSpPr/>
          <p:nvPr/>
        </p:nvSpPr>
        <p:spPr>
          <a:xfrm>
            <a:off x="8546678" y="5293742"/>
            <a:ext cx="1630933"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suitcase</a:t>
            </a:r>
            <a:endParaRPr lang="en-US" sz="2550" dirty="0"/>
          </a:p>
        </p:txBody>
      </p:sp>
      <p:sp>
        <p:nvSpPr>
          <p:cNvPr id="20" name="Shape 18"/>
          <p:cNvSpPr/>
          <p:nvPr/>
        </p:nvSpPr>
        <p:spPr>
          <a:xfrm>
            <a:off x="10406211" y="5179442"/>
            <a:ext cx="1703338" cy="595313"/>
          </a:xfrm>
          <a:prstGeom prst="roundRect">
            <a:avLst>
              <a:gd name="adj" fmla="val 16000"/>
            </a:avLst>
          </a:prstGeom>
          <a:solidFill>
            <a:srgbClr val="1F6FEB">
              <a:alpha val="8000"/>
            </a:srgbClr>
          </a:solidFill>
          <a:ln/>
        </p:spPr>
        <p:txBody>
          <a:bodyPr/>
          <a:lstStyle/>
          <a:p>
            <a:endParaRPr lang="en-US"/>
          </a:p>
        </p:txBody>
      </p:sp>
      <p:sp>
        <p:nvSpPr>
          <p:cNvPr id="21" name="Text 19"/>
          <p:cNvSpPr/>
          <p:nvPr/>
        </p:nvSpPr>
        <p:spPr>
          <a:xfrm>
            <a:off x="10577661" y="5293742"/>
            <a:ext cx="1436638"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because</a:t>
            </a:r>
            <a:endParaRPr lang="en-US" sz="2550" dirty="0"/>
          </a:p>
        </p:txBody>
      </p:sp>
      <p:sp>
        <p:nvSpPr>
          <p:cNvPr id="22" name="Shape 20"/>
          <p:cNvSpPr/>
          <p:nvPr/>
        </p:nvSpPr>
        <p:spPr>
          <a:xfrm>
            <a:off x="12242899" y="5160392"/>
            <a:ext cx="769739" cy="633413"/>
          </a:xfrm>
          <a:prstGeom prst="roundRect">
            <a:avLst>
              <a:gd name="adj" fmla="val 15038"/>
            </a:avLst>
          </a:prstGeom>
          <a:solidFill>
            <a:srgbClr val="FFF1A8"/>
          </a:solidFill>
          <a:ln w="19050">
            <a:solidFill>
              <a:srgbClr val="C77D0A"/>
            </a:solidFill>
            <a:prstDash val="solid"/>
          </a:ln>
        </p:spPr>
        <p:txBody>
          <a:bodyPr/>
          <a:lstStyle/>
          <a:p>
            <a:endParaRPr lang="en-US"/>
          </a:p>
        </p:txBody>
      </p:sp>
      <p:sp>
        <p:nvSpPr>
          <p:cNvPr id="23" name="Text 21"/>
          <p:cNvSpPr/>
          <p:nvPr/>
        </p:nvSpPr>
        <p:spPr>
          <a:xfrm>
            <a:off x="12433399" y="5293742"/>
            <a:ext cx="464939"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it</a:t>
            </a:r>
            <a:endParaRPr lang="en-US" sz="2550" dirty="0"/>
          </a:p>
        </p:txBody>
      </p:sp>
      <p:sp>
        <p:nvSpPr>
          <p:cNvPr id="24" name="Shape 22"/>
          <p:cNvSpPr/>
          <p:nvPr/>
        </p:nvSpPr>
        <p:spPr>
          <a:xfrm>
            <a:off x="13145988" y="5179442"/>
            <a:ext cx="925934" cy="595313"/>
          </a:xfrm>
          <a:prstGeom prst="roundRect">
            <a:avLst>
              <a:gd name="adj" fmla="val 16000"/>
            </a:avLst>
          </a:prstGeom>
          <a:solidFill>
            <a:srgbClr val="1F6FEB">
              <a:alpha val="8000"/>
            </a:srgbClr>
          </a:solidFill>
          <a:ln/>
        </p:spPr>
        <p:txBody>
          <a:bodyPr/>
          <a:lstStyle/>
          <a:p>
            <a:endParaRPr lang="en-US"/>
          </a:p>
        </p:txBody>
      </p:sp>
      <p:sp>
        <p:nvSpPr>
          <p:cNvPr id="25" name="Text 23"/>
          <p:cNvSpPr/>
          <p:nvPr/>
        </p:nvSpPr>
        <p:spPr>
          <a:xfrm>
            <a:off x="13317438"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was</a:t>
            </a:r>
            <a:endParaRPr lang="en-US" sz="2550" dirty="0"/>
          </a:p>
        </p:txBody>
      </p:sp>
      <p:sp>
        <p:nvSpPr>
          <p:cNvPr id="26" name="Shape 24"/>
          <p:cNvSpPr/>
          <p:nvPr/>
        </p:nvSpPr>
        <p:spPr>
          <a:xfrm>
            <a:off x="14205272" y="5179442"/>
            <a:ext cx="925934" cy="595313"/>
          </a:xfrm>
          <a:prstGeom prst="roundRect">
            <a:avLst>
              <a:gd name="adj" fmla="val 16000"/>
            </a:avLst>
          </a:prstGeom>
          <a:solidFill>
            <a:srgbClr val="1F6FEB">
              <a:alpha val="45000"/>
            </a:srgbClr>
          </a:solidFill>
          <a:ln/>
        </p:spPr>
        <p:txBody>
          <a:bodyPr/>
          <a:lstStyle/>
          <a:p>
            <a:endParaRPr lang="en-US"/>
          </a:p>
        </p:txBody>
      </p:sp>
      <p:sp>
        <p:nvSpPr>
          <p:cNvPr id="27" name="Text 25"/>
          <p:cNvSpPr/>
          <p:nvPr/>
        </p:nvSpPr>
        <p:spPr>
          <a:xfrm>
            <a:off x="14376722"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too</a:t>
            </a:r>
            <a:endParaRPr lang="en-US" sz="2550" dirty="0"/>
          </a:p>
        </p:txBody>
      </p:sp>
      <p:sp>
        <p:nvSpPr>
          <p:cNvPr id="28" name="Shape 26"/>
          <p:cNvSpPr/>
          <p:nvPr/>
        </p:nvSpPr>
        <p:spPr>
          <a:xfrm>
            <a:off x="15264557" y="5179442"/>
            <a:ext cx="925934" cy="595313"/>
          </a:xfrm>
          <a:prstGeom prst="roundRect">
            <a:avLst>
              <a:gd name="adj" fmla="val 16000"/>
            </a:avLst>
          </a:prstGeom>
          <a:solidFill>
            <a:srgbClr val="1F6FEB">
              <a:alpha val="55000"/>
            </a:srgbClr>
          </a:solidFill>
          <a:ln/>
        </p:spPr>
        <p:txBody>
          <a:bodyPr/>
          <a:lstStyle/>
          <a:p>
            <a:endParaRPr lang="en-US"/>
          </a:p>
        </p:txBody>
      </p:sp>
      <p:sp>
        <p:nvSpPr>
          <p:cNvPr id="29" name="Text 27"/>
          <p:cNvSpPr/>
          <p:nvPr/>
        </p:nvSpPr>
        <p:spPr>
          <a:xfrm>
            <a:off x="15436007" y="5293742"/>
            <a:ext cx="659234" cy="404813"/>
          </a:xfrm>
          <a:prstGeom prst="rect">
            <a:avLst/>
          </a:prstGeom>
          <a:noFill/>
          <a:ln/>
        </p:spPr>
        <p:txBody>
          <a:bodyPr wrap="square" lIns="25400" tIns="25400" rIns="25400" bIns="25400" rtlCol="0" anchor="t">
            <a:normAutofit/>
          </a:bodyPr>
          <a:lstStyle/>
          <a:p>
            <a:pPr marL="0" indent="0" algn="l">
              <a:buNone/>
            </a:pPr>
            <a:r>
              <a:rPr lang="en-US" sz="2550" dirty="0">
                <a:solidFill>
                  <a:srgbClr val="1A1A1A"/>
                </a:solidFill>
                <a:latin typeface="Courier New" pitchFamily="34" charset="0"/>
                <a:ea typeface="Courier New" pitchFamily="34" charset="-122"/>
                <a:cs typeface="Courier New" pitchFamily="34" charset="-120"/>
              </a:rPr>
              <a:t>big</a:t>
            </a:r>
            <a:endParaRPr lang="en-US" sz="2550" dirty="0"/>
          </a:p>
        </p:txBody>
      </p:sp>
      <p:sp>
        <p:nvSpPr>
          <p:cNvPr id="30" name="Text 28"/>
          <p:cNvSpPr/>
          <p:nvPr/>
        </p:nvSpPr>
        <p:spPr>
          <a:xfrm>
            <a:off x="1047750" y="6174804"/>
            <a:ext cx="14716125" cy="8477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Each token looks across the sentence and weights the others. Here </a:t>
            </a:r>
            <a:r>
              <a:rPr lang="en-US" sz="2025" dirty="0">
                <a:solidFill>
                  <a:srgbClr val="3D3D3D"/>
                </a:solidFill>
                <a:latin typeface="Courier New" pitchFamily="34" charset="0"/>
                <a:ea typeface="Courier New" pitchFamily="34" charset="-122"/>
                <a:cs typeface="Courier New" pitchFamily="34" charset="-120"/>
              </a:rPr>
              <a:t>it </a:t>
            </a:r>
            <a:r>
              <a:rPr lang="en-US" sz="2025" dirty="0">
                <a:solidFill>
                  <a:srgbClr val="3D3D3D"/>
                </a:solidFill>
                <a:latin typeface="Arial" pitchFamily="34" charset="0"/>
                <a:ea typeface="Arial" pitchFamily="34" charset="-122"/>
                <a:cs typeface="Arial" pitchFamily="34" charset="-120"/>
              </a:rPr>
              <a:t>locks onto </a:t>
            </a:r>
            <a:r>
              <a:rPr lang="en-US" sz="2025" b="1" dirty="0">
                <a:solidFill>
                  <a:srgbClr val="1F6FEB"/>
                </a:solidFill>
                <a:latin typeface="Arial" pitchFamily="34" charset="0"/>
                <a:ea typeface="Arial" pitchFamily="34" charset="-122"/>
                <a:cs typeface="Arial" pitchFamily="34" charset="-120"/>
              </a:rPr>
              <a:t>trophy</a:t>
            </a:r>
            <a:r>
              <a:rPr lang="en-US" sz="2025" dirty="0">
                <a:solidFill>
                  <a:srgbClr val="3D3D3D"/>
                </a:solidFill>
                <a:latin typeface="Arial" pitchFamily="34" charset="0"/>
                <a:ea typeface="Arial" pitchFamily="34" charset="-122"/>
                <a:cs typeface="Arial" pitchFamily="34" charset="-120"/>
              </a:rPr>
              <a:t>. Swap </a:t>
            </a:r>
            <a:r>
              <a:rPr lang="en-US" sz="2025" dirty="0">
                <a:solidFill>
                  <a:srgbClr val="3D3D3D"/>
                </a:solidFill>
                <a:latin typeface="Courier New" pitchFamily="34" charset="0"/>
                <a:ea typeface="Courier New" pitchFamily="34" charset="-122"/>
                <a:cs typeface="Courier New" pitchFamily="34" charset="-120"/>
              </a:rPr>
              <a:t>big </a:t>
            </a:r>
            <a:r>
              <a:rPr lang="en-US" sz="2025" dirty="0">
                <a:solidFill>
                  <a:srgbClr val="3D3D3D"/>
                </a:solidFill>
                <a:latin typeface="Arial" pitchFamily="34" charset="0"/>
                <a:ea typeface="Arial" pitchFamily="34" charset="-122"/>
                <a:cs typeface="Arial" pitchFamily="34" charset="-120"/>
              </a:rPr>
              <a:t>for </a:t>
            </a:r>
            <a:r>
              <a:rPr lang="en-US" sz="2025" dirty="0">
                <a:solidFill>
                  <a:srgbClr val="3D3D3D"/>
                </a:solidFill>
                <a:latin typeface="Courier New" pitchFamily="34" charset="0"/>
                <a:ea typeface="Courier New" pitchFamily="34" charset="-122"/>
                <a:cs typeface="Courier New" pitchFamily="34" charset="-120"/>
              </a:rPr>
              <a:t>small </a:t>
            </a:r>
            <a:r>
              <a:rPr lang="en-US" sz="2025" dirty="0">
                <a:solidFill>
                  <a:srgbClr val="3D3D3D"/>
                </a:solidFill>
                <a:latin typeface="Arial" pitchFamily="34" charset="0"/>
                <a:ea typeface="Arial" pitchFamily="34" charset="-122"/>
                <a:cs typeface="Arial" pitchFamily="34" charset="-120"/>
              </a:rPr>
              <a:t>and it swings to </a:t>
            </a:r>
            <a:r>
              <a:rPr lang="en-US" sz="2025" dirty="0">
                <a:solidFill>
                  <a:srgbClr val="3D3D3D"/>
                </a:solidFill>
                <a:latin typeface="Courier New" pitchFamily="34" charset="0"/>
                <a:ea typeface="Courier New" pitchFamily="34" charset="-122"/>
                <a:cs typeface="Courier New" pitchFamily="34" charset="-120"/>
              </a:rPr>
              <a:t>suitcase</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31" name="Shape 29"/>
          <p:cNvSpPr/>
          <p:nvPr/>
        </p:nvSpPr>
        <p:spPr>
          <a:xfrm>
            <a:off x="1047750" y="9520238"/>
            <a:ext cx="16192500" cy="9525"/>
          </a:xfrm>
          <a:prstGeom prst="rect">
            <a:avLst/>
          </a:prstGeom>
          <a:solidFill>
            <a:srgbClr val="E3E1DA"/>
          </a:solidFill>
          <a:ln/>
        </p:spPr>
        <p:txBody>
          <a:bodyPr/>
          <a:lstStyle/>
          <a:p>
            <a:endParaRPr lang="en-US"/>
          </a:p>
        </p:txBody>
      </p:sp>
      <p:sp>
        <p:nvSpPr>
          <p:cNvPr id="32" name="Text 3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3" name="Text 31"/>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Transformer in One Picture</a:t>
            </a:r>
            <a:endParaRPr lang="en-US" sz="4800" dirty="0"/>
          </a:p>
        </p:txBody>
      </p:sp>
      <p:sp>
        <p:nvSpPr>
          <p:cNvPr id="5" name="Shape 3"/>
          <p:cNvSpPr/>
          <p:nvPr/>
        </p:nvSpPr>
        <p:spPr>
          <a:xfrm>
            <a:off x="1047750" y="4412679"/>
            <a:ext cx="1530921" cy="1085850"/>
          </a:xfrm>
          <a:prstGeom prst="roundRect">
            <a:avLst>
              <a:gd name="adj" fmla="val 12281"/>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228725" y="4650804"/>
            <a:ext cx="1168971" cy="328613"/>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Courier New" pitchFamily="34" charset="0"/>
                <a:ea typeface="Courier New" pitchFamily="34" charset="-122"/>
                <a:cs typeface="Courier New" pitchFamily="34" charset="-120"/>
              </a:rPr>
              <a:t>tokens</a:t>
            </a:r>
            <a:endParaRPr lang="en-US" sz="2025" dirty="0"/>
          </a:p>
        </p:txBody>
      </p:sp>
      <p:sp>
        <p:nvSpPr>
          <p:cNvPr id="7" name="Text 5"/>
          <p:cNvSpPr/>
          <p:nvPr/>
        </p:nvSpPr>
        <p:spPr>
          <a:xfrm>
            <a:off x="1228725" y="4998467"/>
            <a:ext cx="1168971"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the prompt</a:t>
            </a:r>
            <a:endParaRPr lang="en-US" sz="1800" dirty="0"/>
          </a:p>
        </p:txBody>
      </p:sp>
      <p:sp>
        <p:nvSpPr>
          <p:cNvPr id="8" name="Text 6"/>
          <p:cNvSpPr/>
          <p:nvPr/>
        </p:nvSpPr>
        <p:spPr>
          <a:xfrm>
            <a:off x="2769171" y="4724623"/>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9" name="Shape 7"/>
          <p:cNvSpPr/>
          <p:nvPr/>
        </p:nvSpPr>
        <p:spPr>
          <a:xfrm>
            <a:off x="3359721" y="4412679"/>
            <a:ext cx="2109267" cy="1085850"/>
          </a:xfrm>
          <a:prstGeom prst="roundRect">
            <a:avLst>
              <a:gd name="adj" fmla="val 12281"/>
            </a:avLst>
          </a:prstGeom>
          <a:solidFill>
            <a:srgbClr val="E4F4EB"/>
          </a:solidFill>
          <a:ln w="9525">
            <a:solidFill>
              <a:srgbClr val="178A4C"/>
            </a:solidFill>
            <a:prstDash val="solid"/>
          </a:ln>
        </p:spPr>
        <p:txBody>
          <a:bodyPr/>
          <a:lstStyle/>
          <a:p>
            <a:endParaRPr lang="en-US"/>
          </a:p>
        </p:txBody>
      </p:sp>
      <p:sp>
        <p:nvSpPr>
          <p:cNvPr id="10" name="Text 8"/>
          <p:cNvSpPr/>
          <p:nvPr/>
        </p:nvSpPr>
        <p:spPr>
          <a:xfrm>
            <a:off x="3495240" y="4650804"/>
            <a:ext cx="1838228" cy="328613"/>
          </a:xfrm>
          <a:prstGeom prst="rect">
            <a:avLst/>
          </a:prstGeom>
          <a:noFill/>
          <a:ln/>
        </p:spPr>
        <p:txBody>
          <a:bodyPr wrap="square" lIns="25400" tIns="25400" rIns="25400" bIns="25400" rtlCol="0" anchor="t">
            <a:normAutofit/>
          </a:bodyPr>
          <a:lstStyle/>
          <a:p>
            <a:pPr marL="0" indent="0" algn="ctr">
              <a:buNone/>
            </a:pPr>
            <a:r>
              <a:rPr lang="en-US" sz="2025" dirty="0">
                <a:solidFill>
                  <a:srgbClr val="178A4C"/>
                </a:solidFill>
                <a:latin typeface="Courier New" pitchFamily="34" charset="0"/>
                <a:ea typeface="Courier New" pitchFamily="34" charset="-122"/>
                <a:cs typeface="Courier New" pitchFamily="34" charset="-120"/>
              </a:rPr>
              <a:t>embeddings</a:t>
            </a:r>
            <a:endParaRPr lang="en-US" sz="2025" dirty="0"/>
          </a:p>
        </p:txBody>
      </p:sp>
      <p:sp>
        <p:nvSpPr>
          <p:cNvPr id="11" name="Text 9"/>
          <p:cNvSpPr/>
          <p:nvPr/>
        </p:nvSpPr>
        <p:spPr>
          <a:xfrm>
            <a:off x="3495240" y="4998467"/>
            <a:ext cx="1838228"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meaning + order</a:t>
            </a:r>
            <a:endParaRPr lang="en-US" sz="1800" dirty="0"/>
          </a:p>
        </p:txBody>
      </p:sp>
      <p:sp>
        <p:nvSpPr>
          <p:cNvPr id="12" name="Text 10"/>
          <p:cNvSpPr/>
          <p:nvPr/>
        </p:nvSpPr>
        <p:spPr>
          <a:xfrm>
            <a:off x="5659487" y="4724623"/>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3" name="Shape 11"/>
          <p:cNvSpPr/>
          <p:nvPr/>
        </p:nvSpPr>
        <p:spPr>
          <a:xfrm>
            <a:off x="6250037" y="4172173"/>
            <a:ext cx="8227665" cy="1566863"/>
          </a:xfrm>
          <a:prstGeom prst="roundRect">
            <a:avLst>
              <a:gd name="adj" fmla="val 8511"/>
            </a:avLst>
          </a:prstGeom>
          <a:solidFill>
            <a:srgbClr val="EFE9FB"/>
          </a:solidFill>
          <a:ln w="19050">
            <a:solidFill>
              <a:srgbClr val="7A4FD0"/>
            </a:solidFill>
            <a:prstDash val="solid"/>
          </a:ln>
          <a:effectLst>
            <a:outerShdw blurRad="101600" dist="134704" dir="2700000" algn="bl" rotWithShape="0">
              <a:srgbClr val="7A4FD0">
                <a:alpha val="22000"/>
              </a:srgbClr>
            </a:outerShdw>
          </a:effectLst>
        </p:spPr>
        <p:txBody>
          <a:bodyPr/>
          <a:lstStyle/>
          <a:p>
            <a:endParaRPr lang="en-US"/>
          </a:p>
        </p:txBody>
      </p:sp>
      <p:sp>
        <p:nvSpPr>
          <p:cNvPr id="14" name="Text 12"/>
          <p:cNvSpPr/>
          <p:nvPr/>
        </p:nvSpPr>
        <p:spPr>
          <a:xfrm>
            <a:off x="6090114" y="4438873"/>
            <a:ext cx="8547512" cy="490538"/>
          </a:xfrm>
          <a:prstGeom prst="rect">
            <a:avLst/>
          </a:prstGeom>
          <a:noFill/>
          <a:ln/>
        </p:spPr>
        <p:txBody>
          <a:bodyPr wrap="square" lIns="25400" tIns="25400" rIns="25400" bIns="25400" rtlCol="0" anchor="t">
            <a:normAutofit/>
          </a:bodyPr>
          <a:lstStyle/>
          <a:p>
            <a:pPr marL="0" indent="0" algn="ctr">
              <a:buNone/>
            </a:pPr>
            <a:r>
              <a:rPr lang="en-US" sz="3150" b="1" dirty="0">
                <a:solidFill>
                  <a:srgbClr val="7A4FD0"/>
                </a:solidFill>
                <a:latin typeface="Georgia" pitchFamily="34" charset="0"/>
                <a:ea typeface="Georgia" pitchFamily="34" charset="-122"/>
                <a:cs typeface="Georgia" pitchFamily="34" charset="-120"/>
              </a:rPr>
              <a:t>N× Transformer block</a:t>
            </a:r>
            <a:endParaRPr lang="en-US" sz="3150" dirty="0"/>
          </a:p>
        </p:txBody>
      </p:sp>
      <p:sp>
        <p:nvSpPr>
          <p:cNvPr id="15" name="Shape 13"/>
          <p:cNvSpPr/>
          <p:nvPr/>
        </p:nvSpPr>
        <p:spPr>
          <a:xfrm>
            <a:off x="8571012" y="5043711"/>
            <a:ext cx="1520428" cy="428625"/>
          </a:xfrm>
          <a:prstGeom prst="roundRect">
            <a:avLst>
              <a:gd name="adj" fmla="val 17778"/>
            </a:avLst>
          </a:prstGeom>
          <a:solidFill>
            <a:srgbClr val="FFFFFF"/>
          </a:solidFill>
          <a:ln w="9525">
            <a:solidFill>
              <a:srgbClr val="7A4FD0"/>
            </a:solidFill>
            <a:prstDash val="solid"/>
          </a:ln>
        </p:spPr>
        <p:txBody>
          <a:bodyPr/>
          <a:lstStyle/>
          <a:p>
            <a:endParaRPr lang="en-US"/>
          </a:p>
        </p:txBody>
      </p:sp>
      <p:sp>
        <p:nvSpPr>
          <p:cNvPr id="16" name="Text 14"/>
          <p:cNvSpPr/>
          <p:nvPr/>
        </p:nvSpPr>
        <p:spPr>
          <a:xfrm>
            <a:off x="8675787" y="5129436"/>
            <a:ext cx="1310878"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attention</a:t>
            </a:r>
            <a:endParaRPr lang="en-US" sz="1800" dirty="0"/>
          </a:p>
        </p:txBody>
      </p:sp>
      <p:sp>
        <p:nvSpPr>
          <p:cNvPr id="17" name="Shape 15"/>
          <p:cNvSpPr/>
          <p:nvPr/>
        </p:nvSpPr>
        <p:spPr>
          <a:xfrm>
            <a:off x="10224790" y="5043711"/>
            <a:ext cx="1931938" cy="428625"/>
          </a:xfrm>
          <a:prstGeom prst="roundRect">
            <a:avLst>
              <a:gd name="adj" fmla="val 17778"/>
            </a:avLst>
          </a:prstGeom>
          <a:solidFill>
            <a:srgbClr val="FFFFFF"/>
          </a:solidFill>
          <a:ln w="9525">
            <a:solidFill>
              <a:srgbClr val="7A4FD0"/>
            </a:solidFill>
            <a:prstDash val="solid"/>
          </a:ln>
        </p:spPr>
        <p:txBody>
          <a:bodyPr/>
          <a:lstStyle/>
          <a:p>
            <a:endParaRPr lang="en-US"/>
          </a:p>
        </p:txBody>
      </p:sp>
      <p:sp>
        <p:nvSpPr>
          <p:cNvPr id="18" name="Text 16"/>
          <p:cNvSpPr/>
          <p:nvPr/>
        </p:nvSpPr>
        <p:spPr>
          <a:xfrm>
            <a:off x="10329565" y="5129436"/>
            <a:ext cx="1722388"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feed-forward</a:t>
            </a:r>
            <a:endParaRPr lang="en-US" sz="1800" dirty="0"/>
          </a:p>
        </p:txBody>
      </p:sp>
      <p:sp>
        <p:nvSpPr>
          <p:cNvPr id="19" name="Text 17"/>
          <p:cNvSpPr/>
          <p:nvPr/>
        </p:nvSpPr>
        <p:spPr>
          <a:xfrm>
            <a:off x="14668202" y="4724623"/>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0" name="Shape 18"/>
          <p:cNvSpPr/>
          <p:nvPr/>
        </p:nvSpPr>
        <p:spPr>
          <a:xfrm>
            <a:off x="15258752" y="4412679"/>
            <a:ext cx="1981498" cy="1085850"/>
          </a:xfrm>
          <a:prstGeom prst="roundRect">
            <a:avLst>
              <a:gd name="adj" fmla="val 12281"/>
            </a:avLst>
          </a:prstGeom>
          <a:solidFill>
            <a:srgbClr val="E8F0FE"/>
          </a:solidFill>
          <a:ln w="9525">
            <a:solidFill>
              <a:srgbClr val="1F6FEB"/>
            </a:solidFill>
            <a:prstDash val="solid"/>
          </a:ln>
        </p:spPr>
        <p:txBody>
          <a:bodyPr/>
          <a:lstStyle/>
          <a:p>
            <a:endParaRPr lang="en-US"/>
          </a:p>
        </p:txBody>
      </p:sp>
      <p:sp>
        <p:nvSpPr>
          <p:cNvPr id="21" name="Text 19"/>
          <p:cNvSpPr/>
          <p:nvPr/>
        </p:nvSpPr>
        <p:spPr>
          <a:xfrm>
            <a:off x="15400660" y="4650804"/>
            <a:ext cx="1697682" cy="328613"/>
          </a:xfrm>
          <a:prstGeom prst="rect">
            <a:avLst/>
          </a:prstGeom>
          <a:noFill/>
          <a:ln/>
        </p:spPr>
        <p:txBody>
          <a:bodyPr wrap="square" lIns="25400" tIns="25400" rIns="25400" bIns="25400" rtlCol="0" anchor="t">
            <a:normAutofit/>
          </a:bodyPr>
          <a:lstStyle/>
          <a:p>
            <a:pPr marL="0" indent="0" algn="ctr">
              <a:buNone/>
            </a:pPr>
            <a:r>
              <a:rPr lang="en-US" sz="2025" dirty="0">
                <a:solidFill>
                  <a:srgbClr val="1F6FEB"/>
                </a:solidFill>
                <a:latin typeface="Courier New" pitchFamily="34" charset="0"/>
                <a:ea typeface="Courier New" pitchFamily="34" charset="-122"/>
                <a:cs typeface="Courier New" pitchFamily="34" charset="-120"/>
              </a:rPr>
              <a:t>next token</a:t>
            </a:r>
            <a:endParaRPr lang="en-US" sz="2025" dirty="0"/>
          </a:p>
        </p:txBody>
      </p:sp>
      <p:sp>
        <p:nvSpPr>
          <p:cNvPr id="22" name="Text 20"/>
          <p:cNvSpPr/>
          <p:nvPr/>
        </p:nvSpPr>
        <p:spPr>
          <a:xfrm>
            <a:off x="15400660" y="4998467"/>
            <a:ext cx="1697682"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probabilities</a:t>
            </a:r>
            <a:endParaRPr lang="en-US" sz="1800" dirty="0"/>
          </a:p>
        </p:txBody>
      </p:sp>
      <p:sp>
        <p:nvSpPr>
          <p:cNvPr id="23" name="Text 21"/>
          <p:cNvSpPr/>
          <p:nvPr/>
        </p:nvSpPr>
        <p:spPr>
          <a:xfrm>
            <a:off x="1047750" y="6120036"/>
            <a:ext cx="8172450"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b="1" dirty="0">
                <a:solidFill>
                  <a:srgbClr val="1A1A1A"/>
                </a:solidFill>
                <a:latin typeface="Arial" pitchFamily="34" charset="0"/>
                <a:ea typeface="Arial" pitchFamily="34" charset="-122"/>
                <a:cs typeface="Arial" pitchFamily="34" charset="-120"/>
              </a:rPr>
              <a:t>Attention </a:t>
            </a:r>
            <a:r>
              <a:rPr lang="en-US" sz="2025" dirty="0">
                <a:solidFill>
                  <a:srgbClr val="3D3D3D"/>
                </a:solidFill>
                <a:latin typeface="Arial" pitchFamily="34" charset="0"/>
                <a:ea typeface="Arial" pitchFamily="34" charset="-122"/>
                <a:cs typeface="Arial" pitchFamily="34" charset="-120"/>
              </a:rPr>
              <a:t>— tokens share context (all-to-all).</a:t>
            </a:r>
            <a:endParaRPr lang="en-US" sz="2025" dirty="0"/>
          </a:p>
        </p:txBody>
      </p:sp>
      <p:sp>
        <p:nvSpPr>
          <p:cNvPr id="24" name="Text 22"/>
          <p:cNvSpPr/>
          <p:nvPr/>
        </p:nvSpPr>
        <p:spPr>
          <a:xfrm>
            <a:off x="8858250" y="6120036"/>
            <a:ext cx="8172450"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b="1" dirty="0">
                <a:solidFill>
                  <a:srgbClr val="1A1A1A"/>
                </a:solidFill>
                <a:latin typeface="Arial" pitchFamily="34" charset="0"/>
                <a:ea typeface="Arial" pitchFamily="34" charset="-122"/>
                <a:cs typeface="Arial" pitchFamily="34" charset="-120"/>
              </a:rPr>
              <a:t>Feed-forward </a:t>
            </a:r>
            <a:r>
              <a:rPr lang="en-US" sz="2025" dirty="0">
                <a:solidFill>
                  <a:srgbClr val="3D3D3D"/>
                </a:solidFill>
                <a:latin typeface="Arial" pitchFamily="34" charset="0"/>
                <a:ea typeface="Arial" pitchFamily="34" charset="-122"/>
                <a:cs typeface="Arial" pitchFamily="34" charset="-120"/>
              </a:rPr>
              <a:t>— each token processes on its own.</a:t>
            </a:r>
            <a:endParaRPr lang="en-US" sz="2025" dirty="0"/>
          </a:p>
        </p:txBody>
      </p:sp>
      <p:sp>
        <p:nvSpPr>
          <p:cNvPr id="25" name="Text 23"/>
          <p:cNvSpPr/>
          <p:nvPr/>
        </p:nvSpPr>
        <p:spPr>
          <a:xfrm>
            <a:off x="1047750" y="6886798"/>
            <a:ext cx="178117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Georgia" pitchFamily="34" charset="0"/>
                <a:ea typeface="Georgia" pitchFamily="34" charset="-122"/>
                <a:cs typeface="Georgia" pitchFamily="34" charset="-120"/>
              </a:rPr>
              <a:t>Modern models stack </a:t>
            </a:r>
            <a:r>
              <a:rPr lang="en-US" sz="2700" dirty="0">
                <a:solidFill>
                  <a:srgbClr val="1A1A1A"/>
                </a:solidFill>
                <a:highlight>
                  <a:srgbClr val="FFF1A8"/>
                </a:highlight>
                <a:latin typeface="Georgia" pitchFamily="34" charset="0"/>
                <a:ea typeface="Georgia" pitchFamily="34" charset="-122"/>
                <a:cs typeface="Georgia" pitchFamily="34" charset="-120"/>
              </a:rPr>
              <a:t>dozens of these blocks</a:t>
            </a:r>
            <a:r>
              <a:rPr lang="en-US" sz="2700" dirty="0">
                <a:solidFill>
                  <a:srgbClr val="1A1A1A"/>
                </a:solidFill>
                <a:latin typeface="Georgia" pitchFamily="34" charset="0"/>
                <a:ea typeface="Georgia" pitchFamily="34" charset="-122"/>
                <a:cs typeface="Georgia" pitchFamily="34" charset="-120"/>
              </a:rPr>
              <a:t>. That depth is the capability — the “T” in GPT.</a:t>
            </a:r>
            <a:endParaRPr lang="en-US" sz="2700" dirty="0"/>
          </a:p>
        </p:txBody>
      </p:sp>
      <p:sp>
        <p:nvSpPr>
          <p:cNvPr id="26" name="Shape 24"/>
          <p:cNvSpPr/>
          <p:nvPr/>
        </p:nvSpPr>
        <p:spPr>
          <a:xfrm>
            <a:off x="1047750" y="9520238"/>
            <a:ext cx="16192500" cy="9525"/>
          </a:xfrm>
          <a:prstGeom prst="rect">
            <a:avLst/>
          </a:prstGeom>
          <a:solidFill>
            <a:srgbClr val="E3E1DA"/>
          </a:solidFill>
          <a:ln/>
        </p:spPr>
        <p:txBody>
          <a:bodyPr/>
          <a:lstStyle/>
          <a:p>
            <a:endParaRPr lang="en-US"/>
          </a:p>
        </p:txBody>
      </p:sp>
      <p:sp>
        <p:nvSpPr>
          <p:cNvPr id="27" name="Text 2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8" name="Text 26"/>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Choosing the Next Word: Temperature</a:t>
            </a:r>
            <a:endParaRPr lang="en-US" sz="4800" dirty="0"/>
          </a:p>
        </p:txBody>
      </p:sp>
      <p:sp>
        <p:nvSpPr>
          <p:cNvPr id="5" name="Shape 3"/>
          <p:cNvSpPr/>
          <p:nvPr/>
        </p:nvSpPr>
        <p:spPr>
          <a:xfrm>
            <a:off x="1047750" y="3990529"/>
            <a:ext cx="16192500" cy="247650"/>
          </a:xfrm>
          <a:prstGeom prst="roundRect">
            <a:avLst>
              <a:gd name="adj" fmla="val 50000"/>
            </a:avLst>
          </a:prstGeom>
          <a:gradFill rotWithShape="1">
            <a:gsLst>
              <a:gs pos="0">
                <a:srgbClr val="1F6FEB">
                  <a:alpha val="100000"/>
                </a:srgbClr>
              </a:gs>
              <a:gs pos="33333">
                <a:srgbClr val="178A4C">
                  <a:alpha val="100000"/>
                </a:srgbClr>
              </a:gs>
              <a:gs pos="66667">
                <a:srgbClr val="C77D0A">
                  <a:alpha val="100000"/>
                </a:srgbClr>
              </a:gs>
              <a:gs pos="100000">
                <a:srgbClr val="D64545">
                  <a:alpha val="100000"/>
                </a:srgbClr>
              </a:gs>
            </a:gsLst>
            <a:lin ang="0" scaled="0"/>
          </a:gradFill>
          <a:ln/>
        </p:spPr>
        <p:txBody>
          <a:bodyPr/>
          <a:lstStyle/>
          <a:p>
            <a:endParaRPr lang="en-US"/>
          </a:p>
        </p:txBody>
      </p:sp>
      <p:sp>
        <p:nvSpPr>
          <p:cNvPr id="6" name="Text 4"/>
          <p:cNvSpPr/>
          <p:nvPr/>
        </p:nvSpPr>
        <p:spPr>
          <a:xfrm>
            <a:off x="1047750" y="4314379"/>
            <a:ext cx="1810807"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0.0 focused</a:t>
            </a:r>
            <a:endParaRPr lang="en-US" sz="1800" dirty="0"/>
          </a:p>
        </p:txBody>
      </p:sp>
      <p:sp>
        <p:nvSpPr>
          <p:cNvPr id="7" name="Text 5"/>
          <p:cNvSpPr/>
          <p:nvPr/>
        </p:nvSpPr>
        <p:spPr>
          <a:xfrm>
            <a:off x="15456843" y="4314379"/>
            <a:ext cx="1961748"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creative 1.5</a:t>
            </a:r>
            <a:endParaRPr lang="en-US" sz="1800" dirty="0"/>
          </a:p>
        </p:txBody>
      </p:sp>
      <p:sp>
        <p:nvSpPr>
          <p:cNvPr id="8" name="Shape 6"/>
          <p:cNvSpPr/>
          <p:nvPr/>
        </p:nvSpPr>
        <p:spPr>
          <a:xfrm>
            <a:off x="1047750" y="4809679"/>
            <a:ext cx="7924800" cy="1954039"/>
          </a:xfrm>
          <a:prstGeom prst="roundRect">
            <a:avLst>
              <a:gd name="adj" fmla="val 7799"/>
            </a:avLst>
          </a:prstGeom>
          <a:solidFill>
            <a:srgbClr val="E8F0FE"/>
          </a:solidFill>
          <a:ln w="9525">
            <a:solidFill>
              <a:srgbClr val="1F6FEB"/>
            </a:solidFill>
            <a:prstDash val="solid"/>
          </a:ln>
        </p:spPr>
        <p:txBody>
          <a:bodyPr/>
          <a:lstStyle/>
          <a:p>
            <a:endParaRPr lang="en-US"/>
          </a:p>
        </p:txBody>
      </p:sp>
      <p:sp>
        <p:nvSpPr>
          <p:cNvPr id="9" name="Text 7"/>
          <p:cNvSpPr/>
          <p:nvPr/>
        </p:nvSpPr>
        <p:spPr>
          <a:xfrm>
            <a:off x="1381125" y="5104954"/>
            <a:ext cx="7983855"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Courier New" pitchFamily="34" charset="0"/>
                <a:ea typeface="Courier New" pitchFamily="34" charset="-122"/>
                <a:cs typeface="Courier New" pitchFamily="34" charset="-120"/>
              </a:rPr>
              <a:t>temperature 0.2</a:t>
            </a:r>
            <a:endParaRPr lang="en-US" sz="2025" dirty="0"/>
          </a:p>
        </p:txBody>
      </p:sp>
      <p:sp>
        <p:nvSpPr>
          <p:cNvPr id="10" name="Text 8"/>
          <p:cNvSpPr/>
          <p:nvPr/>
        </p:nvSpPr>
        <p:spPr>
          <a:xfrm>
            <a:off x="1381125" y="5528816"/>
            <a:ext cx="7983855"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A1A1A"/>
                </a:solidFill>
                <a:latin typeface="Georgia" pitchFamily="34" charset="0"/>
                <a:ea typeface="Georgia" pitchFamily="34" charset="-122"/>
                <a:cs typeface="Georgia" pitchFamily="34" charset="-120"/>
              </a:rPr>
              <a:t>Focused &amp; repeatable</a:t>
            </a:r>
            <a:endParaRPr lang="en-US" sz="3150" dirty="0"/>
          </a:p>
        </p:txBody>
      </p:sp>
      <p:sp>
        <p:nvSpPr>
          <p:cNvPr id="11" name="Text 9"/>
          <p:cNvSpPr/>
          <p:nvPr/>
        </p:nvSpPr>
        <p:spPr>
          <a:xfrm>
            <a:off x="1381125" y="6095554"/>
            <a:ext cx="7983855"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3D3D3D"/>
                </a:solidFill>
                <a:latin typeface="Arial" pitchFamily="34" charset="0"/>
                <a:ea typeface="Arial" pitchFamily="34" charset="-122"/>
                <a:cs typeface="Arial" pitchFamily="34" charset="-120"/>
              </a:rPr>
              <a:t>Sticks to the top words. Best for extraction, classification, code.</a:t>
            </a:r>
            <a:endParaRPr lang="en-US" sz="2025" dirty="0"/>
          </a:p>
        </p:txBody>
      </p:sp>
      <p:sp>
        <p:nvSpPr>
          <p:cNvPr id="12" name="Shape 10"/>
          <p:cNvSpPr/>
          <p:nvPr/>
        </p:nvSpPr>
        <p:spPr>
          <a:xfrm>
            <a:off x="9315450" y="4809679"/>
            <a:ext cx="7924800" cy="1954039"/>
          </a:xfrm>
          <a:prstGeom prst="roundRect">
            <a:avLst>
              <a:gd name="adj" fmla="val 7799"/>
            </a:avLst>
          </a:prstGeom>
          <a:solidFill>
            <a:srgbClr val="FBEBEA"/>
          </a:solidFill>
          <a:ln w="9525">
            <a:solidFill>
              <a:srgbClr val="D64545"/>
            </a:solidFill>
            <a:prstDash val="solid"/>
          </a:ln>
        </p:spPr>
        <p:txBody>
          <a:bodyPr/>
          <a:lstStyle/>
          <a:p>
            <a:endParaRPr lang="en-US"/>
          </a:p>
        </p:txBody>
      </p:sp>
      <p:sp>
        <p:nvSpPr>
          <p:cNvPr id="13" name="Text 11"/>
          <p:cNvSpPr/>
          <p:nvPr/>
        </p:nvSpPr>
        <p:spPr>
          <a:xfrm>
            <a:off x="9648825" y="5104954"/>
            <a:ext cx="7983855"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D64545"/>
                </a:solidFill>
                <a:latin typeface="Courier New" pitchFamily="34" charset="0"/>
                <a:ea typeface="Courier New" pitchFamily="34" charset="-122"/>
                <a:cs typeface="Courier New" pitchFamily="34" charset="-120"/>
              </a:rPr>
              <a:t>temperature 1.0</a:t>
            </a:r>
            <a:endParaRPr lang="en-US" sz="2025" dirty="0"/>
          </a:p>
        </p:txBody>
      </p:sp>
      <p:sp>
        <p:nvSpPr>
          <p:cNvPr id="14" name="Text 12"/>
          <p:cNvSpPr/>
          <p:nvPr/>
        </p:nvSpPr>
        <p:spPr>
          <a:xfrm>
            <a:off x="9648825" y="5528816"/>
            <a:ext cx="7983855"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A1A1A"/>
                </a:solidFill>
                <a:latin typeface="Georgia" pitchFamily="34" charset="0"/>
                <a:ea typeface="Georgia" pitchFamily="34" charset="-122"/>
                <a:cs typeface="Georgia" pitchFamily="34" charset="-120"/>
              </a:rPr>
              <a:t>Diverse &amp; creative</a:t>
            </a:r>
            <a:endParaRPr lang="en-US" sz="3150" dirty="0"/>
          </a:p>
        </p:txBody>
      </p:sp>
      <p:sp>
        <p:nvSpPr>
          <p:cNvPr id="15" name="Text 13"/>
          <p:cNvSpPr/>
          <p:nvPr/>
        </p:nvSpPr>
        <p:spPr>
          <a:xfrm>
            <a:off x="9648825" y="6095554"/>
            <a:ext cx="7983855"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3D3D3D"/>
                </a:solidFill>
                <a:latin typeface="Arial" pitchFamily="34" charset="0"/>
                <a:ea typeface="Arial" pitchFamily="34" charset="-122"/>
                <a:cs typeface="Arial" pitchFamily="34" charset="-120"/>
              </a:rPr>
              <a:t>Willing to take chances. Best for brainstorming and varied copy.</a:t>
            </a:r>
            <a:endParaRPr lang="en-US" sz="2025" dirty="0"/>
          </a:p>
        </p:txBody>
      </p:sp>
      <p:sp>
        <p:nvSpPr>
          <p:cNvPr id="16" name="Text 14"/>
          <p:cNvSpPr/>
          <p:nvPr/>
        </p:nvSpPr>
        <p:spPr>
          <a:xfrm>
            <a:off x="1047750" y="7144717"/>
            <a:ext cx="17811750" cy="35242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You set </a:t>
            </a:r>
            <a:r>
              <a:rPr lang="en-US" sz="2025" dirty="0">
                <a:solidFill>
                  <a:srgbClr val="3D3D3D"/>
                </a:solidFill>
                <a:highlight>
                  <a:srgbClr val="FFF1A8"/>
                </a:highlight>
                <a:latin typeface="Courier New" pitchFamily="34" charset="0"/>
                <a:ea typeface="Courier New" pitchFamily="34" charset="-122"/>
                <a:cs typeface="Courier New" pitchFamily="34" charset="-120"/>
              </a:rPr>
              <a:t>temperature </a:t>
            </a:r>
            <a:r>
              <a:rPr lang="en-US" sz="2025" dirty="0">
                <a:solidFill>
                  <a:srgbClr val="3D3D3D"/>
                </a:solidFill>
                <a:latin typeface="Arial" pitchFamily="34" charset="0"/>
                <a:ea typeface="Arial" pitchFamily="34" charset="-122"/>
                <a:cs typeface="Arial" pitchFamily="34" charset="-120"/>
              </a:rPr>
              <a:t>in your API call — you will do exactly this in Part 2.</a:t>
            </a:r>
            <a:endParaRPr lang="en-US" sz="2025" dirty="0"/>
          </a:p>
        </p:txBody>
      </p:sp>
      <p:sp>
        <p:nvSpPr>
          <p:cNvPr id="17" name="Shape 15"/>
          <p:cNvSpPr/>
          <p:nvPr/>
        </p:nvSpPr>
        <p:spPr>
          <a:xfrm>
            <a:off x="1047750" y="9520238"/>
            <a:ext cx="16192500" cy="9525"/>
          </a:xfrm>
          <a:prstGeom prst="rect">
            <a:avLst/>
          </a:prstGeom>
          <a:solidFill>
            <a:srgbClr val="E3E1DA"/>
          </a:solidFill>
          <a:ln/>
        </p:spPr>
        <p:txBody>
          <a:bodyPr/>
          <a:lstStyle/>
          <a:p>
            <a:endParaRPr lang="en-US"/>
          </a:p>
        </p:txBody>
      </p:sp>
      <p:sp>
        <p:nvSpPr>
          <p:cNvPr id="18" name="Text 16"/>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9" name="Text 17"/>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367989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INSIDE THE BLACK BOX</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Training vs. Inference</a:t>
            </a:r>
            <a:endParaRPr lang="en-US" sz="4800" dirty="0"/>
          </a:p>
        </p:txBody>
      </p:sp>
      <p:sp>
        <p:nvSpPr>
          <p:cNvPr id="5" name="Shape 3"/>
          <p:cNvSpPr/>
          <p:nvPr/>
        </p:nvSpPr>
        <p:spPr>
          <a:xfrm>
            <a:off x="1047750" y="3610198"/>
            <a:ext cx="7896225" cy="4229100"/>
          </a:xfrm>
          <a:prstGeom prst="roundRect">
            <a:avLst>
              <a:gd name="adj" fmla="val 3604"/>
            </a:avLst>
          </a:prstGeom>
          <a:ln w="9525">
            <a:solidFill>
              <a:srgbClr val="E3E1DA"/>
            </a:solidFill>
            <a:prstDash val="solid"/>
          </a:ln>
        </p:spPr>
        <p:txBody>
          <a:bodyPr/>
          <a:lstStyle/>
          <a:p>
            <a:endParaRPr lang="en-US"/>
          </a:p>
        </p:txBody>
      </p:sp>
      <p:sp>
        <p:nvSpPr>
          <p:cNvPr id="6" name="Text 4"/>
          <p:cNvSpPr/>
          <p:nvPr/>
        </p:nvSpPr>
        <p:spPr>
          <a:xfrm>
            <a:off x="1495425" y="4038823"/>
            <a:ext cx="7700963" cy="30003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7A4FD0"/>
                </a:solidFill>
                <a:latin typeface="Arial" pitchFamily="34" charset="0"/>
                <a:ea typeface="Arial" pitchFamily="34" charset="-122"/>
                <a:cs typeface="Arial" pitchFamily="34" charset="-120"/>
              </a:rPr>
              <a:t>TRAINING — HOW IT LEARNED</a:t>
            </a:r>
            <a:endParaRPr lang="en-US" sz="1800" dirty="0"/>
          </a:p>
        </p:txBody>
      </p:sp>
      <p:sp>
        <p:nvSpPr>
          <p:cNvPr id="7" name="Text 5"/>
          <p:cNvSpPr/>
          <p:nvPr/>
        </p:nvSpPr>
        <p:spPr>
          <a:xfrm>
            <a:off x="1495425" y="4453161"/>
            <a:ext cx="7700963"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A1A1A"/>
                </a:solidFill>
                <a:latin typeface="Georgia" pitchFamily="34" charset="0"/>
                <a:ea typeface="Georgia" pitchFamily="34" charset="-122"/>
                <a:cs typeface="Georgia" pitchFamily="34" charset="-120"/>
              </a:rPr>
              <a:t>Read everything, tune the knobs</a:t>
            </a:r>
            <a:endParaRPr lang="en-US" sz="3150" dirty="0"/>
          </a:p>
        </p:txBody>
      </p:sp>
      <p:sp>
        <p:nvSpPr>
          <p:cNvPr id="8" name="Text 6"/>
          <p:cNvSpPr/>
          <p:nvPr/>
        </p:nvSpPr>
        <p:spPr>
          <a:xfrm>
            <a:off x="1495425" y="5057998"/>
            <a:ext cx="7210901"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Slowly adjust billions of parameters over a huge corpus of text.</a:t>
            </a:r>
            <a:endParaRPr lang="en-US" sz="2025" dirty="0"/>
          </a:p>
        </p:txBody>
      </p:sp>
      <p:sp>
        <p:nvSpPr>
          <p:cNvPr id="9" name="Shape 7"/>
          <p:cNvSpPr/>
          <p:nvPr/>
        </p:nvSpPr>
        <p:spPr>
          <a:xfrm>
            <a:off x="1495425" y="6058123"/>
            <a:ext cx="7000875" cy="9525"/>
          </a:xfrm>
          <a:prstGeom prst="rect">
            <a:avLst/>
          </a:prstGeom>
          <a:solidFill>
            <a:srgbClr val="E3E1DA"/>
          </a:solidFill>
          <a:ln/>
        </p:spPr>
        <p:txBody>
          <a:bodyPr/>
          <a:lstStyle/>
          <a:p>
            <a:endParaRPr lang="en-US"/>
          </a:p>
        </p:txBody>
      </p:sp>
      <p:sp>
        <p:nvSpPr>
          <p:cNvPr id="10" name="Text 8"/>
          <p:cNvSpPr/>
          <p:nvPr/>
        </p:nvSpPr>
        <p:spPr>
          <a:xfrm>
            <a:off x="1495425" y="6258148"/>
            <a:ext cx="770096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 Happens once, up front</a:t>
            </a:r>
            <a:endParaRPr lang="en-US" sz="2025" dirty="0"/>
          </a:p>
        </p:txBody>
      </p:sp>
      <p:sp>
        <p:nvSpPr>
          <p:cNvPr id="11" name="Text 9"/>
          <p:cNvSpPr/>
          <p:nvPr/>
        </p:nvSpPr>
        <p:spPr>
          <a:xfrm>
            <a:off x="1495425" y="6686773"/>
            <a:ext cx="770096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 Months on thousands of GPUs</a:t>
            </a:r>
            <a:endParaRPr lang="en-US" sz="2025" dirty="0"/>
          </a:p>
        </p:txBody>
      </p:sp>
      <p:sp>
        <p:nvSpPr>
          <p:cNvPr id="13" name="Shape 11"/>
          <p:cNvSpPr/>
          <p:nvPr/>
        </p:nvSpPr>
        <p:spPr>
          <a:xfrm>
            <a:off x="9324975" y="3610198"/>
            <a:ext cx="7915275" cy="4229100"/>
          </a:xfrm>
          <a:prstGeom prst="roundRect">
            <a:avLst>
              <a:gd name="adj" fmla="val 3604"/>
            </a:avLst>
          </a:prstGeom>
          <a:solidFill>
            <a:srgbClr val="E8F0FE"/>
          </a:solidFill>
          <a:ln w="19050">
            <a:solidFill>
              <a:srgbClr val="1F6FEB"/>
            </a:solidFill>
            <a:prstDash val="solid"/>
          </a:ln>
        </p:spPr>
        <p:txBody>
          <a:bodyPr/>
          <a:lstStyle/>
          <a:p>
            <a:endParaRPr lang="en-US"/>
          </a:p>
        </p:txBody>
      </p:sp>
      <p:sp>
        <p:nvSpPr>
          <p:cNvPr id="14" name="Text 12"/>
          <p:cNvSpPr/>
          <p:nvPr/>
        </p:nvSpPr>
        <p:spPr>
          <a:xfrm>
            <a:off x="9782175" y="4048348"/>
            <a:ext cx="7700963" cy="30003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6FEB"/>
                </a:solidFill>
                <a:latin typeface="Arial" pitchFamily="34" charset="0"/>
                <a:ea typeface="Arial" pitchFamily="34" charset="-122"/>
                <a:cs typeface="Arial" pitchFamily="34" charset="-120"/>
              </a:rPr>
              <a:t>INFERENCE — HOW IT ANSWERS YOU</a:t>
            </a:r>
            <a:endParaRPr lang="en-US" sz="1800" dirty="0"/>
          </a:p>
        </p:txBody>
      </p:sp>
      <p:sp>
        <p:nvSpPr>
          <p:cNvPr id="15" name="Text 13"/>
          <p:cNvSpPr/>
          <p:nvPr/>
        </p:nvSpPr>
        <p:spPr>
          <a:xfrm>
            <a:off x="9782175" y="4462686"/>
            <a:ext cx="7700963" cy="490538"/>
          </a:xfrm>
          <a:prstGeom prst="rect">
            <a:avLst/>
          </a:prstGeom>
          <a:noFill/>
          <a:ln/>
        </p:spPr>
        <p:txBody>
          <a:bodyPr wrap="square" lIns="25400" tIns="25400" rIns="25400" bIns="25400" rtlCol="0" anchor="t">
            <a:normAutofit/>
          </a:bodyPr>
          <a:lstStyle/>
          <a:p>
            <a:pPr marL="0" indent="0" algn="l">
              <a:buNone/>
            </a:pPr>
            <a:r>
              <a:rPr lang="en-US" sz="3150" dirty="0">
                <a:solidFill>
                  <a:srgbClr val="1F6FEB"/>
                </a:solidFill>
                <a:latin typeface="Georgia" pitchFamily="34" charset="0"/>
                <a:ea typeface="Georgia" pitchFamily="34" charset="-122"/>
                <a:cs typeface="Georgia" pitchFamily="34" charset="-120"/>
              </a:rPr>
              <a:t>Run the finished model on a prompt</a:t>
            </a:r>
            <a:endParaRPr lang="en-US" sz="3150" dirty="0"/>
          </a:p>
        </p:txBody>
      </p:sp>
      <p:sp>
        <p:nvSpPr>
          <p:cNvPr id="16" name="Text 14"/>
          <p:cNvSpPr/>
          <p:nvPr/>
        </p:nvSpPr>
        <p:spPr>
          <a:xfrm>
            <a:off x="9782175" y="5067523"/>
            <a:ext cx="7700963"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This is what your </a:t>
            </a:r>
            <a:r>
              <a:rPr lang="en-US" sz="2025" b="1" dirty="0">
                <a:solidFill>
                  <a:srgbClr val="1A1A1A"/>
                </a:solidFill>
                <a:latin typeface="Arial" pitchFamily="34" charset="0"/>
                <a:ea typeface="Arial" pitchFamily="34" charset="-122"/>
                <a:cs typeface="Arial" pitchFamily="34" charset="-120"/>
              </a:rPr>
              <a:t>API call </a:t>
            </a:r>
            <a:r>
              <a:rPr lang="en-US" sz="2025" dirty="0">
                <a:solidFill>
                  <a:srgbClr val="3D3D3D"/>
                </a:solidFill>
                <a:latin typeface="Arial" pitchFamily="34" charset="0"/>
                <a:ea typeface="Arial" pitchFamily="34" charset="-122"/>
                <a:cs typeface="Arial" pitchFamily="34" charset="-120"/>
              </a:rPr>
              <a:t>triggers — on every request.</a:t>
            </a:r>
            <a:endParaRPr lang="en-US" sz="2025" dirty="0"/>
          </a:p>
        </p:txBody>
      </p:sp>
      <p:sp>
        <p:nvSpPr>
          <p:cNvPr id="17" name="Shape 15"/>
          <p:cNvSpPr/>
          <p:nvPr/>
        </p:nvSpPr>
        <p:spPr>
          <a:xfrm>
            <a:off x="9782175" y="5681886"/>
            <a:ext cx="7000875" cy="9525"/>
          </a:xfrm>
          <a:prstGeom prst="rect">
            <a:avLst/>
          </a:prstGeom>
          <a:solidFill>
            <a:srgbClr val="1F6FEB">
              <a:alpha val="28000"/>
            </a:srgbClr>
          </a:solidFill>
          <a:ln/>
        </p:spPr>
        <p:txBody>
          <a:bodyPr/>
          <a:lstStyle/>
          <a:p>
            <a:endParaRPr lang="en-US"/>
          </a:p>
        </p:txBody>
      </p:sp>
      <p:sp>
        <p:nvSpPr>
          <p:cNvPr id="18" name="Text 16"/>
          <p:cNvSpPr/>
          <p:nvPr/>
        </p:nvSpPr>
        <p:spPr>
          <a:xfrm>
            <a:off x="9782175" y="5881911"/>
            <a:ext cx="770096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 Milliseconds to seconds</a:t>
            </a:r>
            <a:endParaRPr lang="en-US" sz="2025" dirty="0"/>
          </a:p>
        </p:txBody>
      </p:sp>
      <p:sp>
        <p:nvSpPr>
          <p:cNvPr id="19" name="Text 17"/>
          <p:cNvSpPr/>
          <p:nvPr/>
        </p:nvSpPr>
        <p:spPr>
          <a:xfrm>
            <a:off x="9782175" y="6310536"/>
            <a:ext cx="770096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 What you pay for, per token</a:t>
            </a:r>
            <a:endParaRPr lang="en-US" sz="2025" dirty="0"/>
          </a:p>
        </p:txBody>
      </p:sp>
      <p:sp>
        <p:nvSpPr>
          <p:cNvPr id="21" name="Shape 19"/>
          <p:cNvSpPr/>
          <p:nvPr/>
        </p:nvSpPr>
        <p:spPr>
          <a:xfrm>
            <a:off x="1047750" y="9520238"/>
            <a:ext cx="16192500" cy="9525"/>
          </a:xfrm>
          <a:prstGeom prst="rect">
            <a:avLst/>
          </a:prstGeom>
          <a:solidFill>
            <a:srgbClr val="E3E1DA"/>
          </a:solidFill>
          <a:ln/>
        </p:spPr>
        <p:txBody>
          <a:bodyPr/>
          <a:lstStyle/>
          <a:p>
            <a:endParaRPr lang="en-US"/>
          </a:p>
        </p:txBody>
      </p:sp>
      <p:sp>
        <p:nvSpPr>
          <p:cNvPr id="22" name="Text 2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3" name="Text 21"/>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7A4FD0"/>
          </a:solidFill>
          <a:ln/>
        </p:spPr>
        <p:txBody>
          <a:bodyPr/>
          <a:lstStyle/>
          <a:p>
            <a:endParaRPr lang="en-US"/>
          </a:p>
        </p:txBody>
      </p:sp>
      <p:sp>
        <p:nvSpPr>
          <p:cNvPr id="3" name="Shape 1"/>
          <p:cNvSpPr/>
          <p:nvPr/>
        </p:nvSpPr>
        <p:spPr>
          <a:xfrm>
            <a:off x="1200150" y="3783806"/>
            <a:ext cx="3419103" cy="376238"/>
          </a:xfrm>
          <a:prstGeom prst="roundRect">
            <a:avLst>
              <a:gd name="adj" fmla="val 50000"/>
            </a:avLst>
          </a:prstGeom>
          <a:solidFill>
            <a:srgbClr val="EFE9FB"/>
          </a:solidFill>
          <a:ln/>
        </p:spPr>
        <p:txBody>
          <a:bodyPr/>
          <a:lstStyle/>
          <a:p>
            <a:endParaRPr lang="en-US"/>
          </a:p>
        </p:txBody>
      </p:sp>
      <p:sp>
        <p:nvSpPr>
          <p:cNvPr id="4" name="Text 2"/>
          <p:cNvSpPr/>
          <p:nvPr/>
        </p:nvSpPr>
        <p:spPr>
          <a:xfrm>
            <a:off x="1352550" y="3840956"/>
            <a:ext cx="3216876"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A4FD0"/>
                </a:solidFill>
                <a:latin typeface="Arial" pitchFamily="34" charset="0"/>
                <a:ea typeface="Arial" pitchFamily="34" charset="-122"/>
                <a:cs typeface="Arial" pitchFamily="34" charset="-120"/>
              </a:rPr>
              <a:t>OPTIONAL DEEP DIVE</a:t>
            </a:r>
            <a:endParaRPr lang="en-US" sz="1800" dirty="0"/>
          </a:p>
        </p:txBody>
      </p:sp>
      <p:sp>
        <p:nvSpPr>
          <p:cNvPr id="5" name="Text 3"/>
          <p:cNvSpPr/>
          <p:nvPr/>
        </p:nvSpPr>
        <p:spPr>
          <a:xfrm>
            <a:off x="1200150" y="4312444"/>
            <a:ext cx="17644110" cy="1104900"/>
          </a:xfrm>
          <a:prstGeom prst="rect">
            <a:avLst/>
          </a:prstGeom>
          <a:noFill/>
          <a:ln/>
        </p:spPr>
        <p:txBody>
          <a:bodyPr wrap="square" lIns="25400" tIns="25400" rIns="25400" bIns="25400" rtlCol="0" anchor="t">
            <a:normAutofit/>
          </a:bodyPr>
          <a:lstStyle/>
          <a:p>
            <a:pPr marL="0" indent="0" algn="l">
              <a:lnSpc>
                <a:spcPct val="88189"/>
              </a:lnSpc>
              <a:buNone/>
            </a:pPr>
            <a:r>
              <a:rPr lang="en-US" sz="8400" b="1" dirty="0">
                <a:solidFill>
                  <a:srgbClr val="1A1A1A"/>
                </a:solidFill>
                <a:latin typeface="Georgia" pitchFamily="34" charset="0"/>
                <a:ea typeface="Georgia" pitchFamily="34" charset="-122"/>
                <a:cs typeface="Georgia" pitchFamily="34" charset="-120"/>
              </a:rPr>
              <a:t>Under the Hood</a:t>
            </a:r>
            <a:endParaRPr lang="en-US" sz="8400" dirty="0"/>
          </a:p>
        </p:txBody>
      </p:sp>
      <p:sp>
        <p:nvSpPr>
          <p:cNvPr id="6" name="Text 4"/>
          <p:cNvSpPr/>
          <p:nvPr/>
        </p:nvSpPr>
        <p:spPr>
          <a:xfrm>
            <a:off x="1200150" y="5569744"/>
            <a:ext cx="11772900" cy="819150"/>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The mechanism behind the intuition.</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678656"/>
            <a:ext cx="123825" cy="123825"/>
          </a:xfrm>
          <a:prstGeom prst="ellipse">
            <a:avLst/>
          </a:prstGeom>
          <a:solidFill>
            <a:srgbClr val="7A4FD0"/>
          </a:solidFill>
          <a:ln/>
        </p:spPr>
        <p:txBody>
          <a:bodyPr/>
          <a:lstStyle/>
          <a:p>
            <a:endParaRPr lang="en-US"/>
          </a:p>
        </p:txBody>
      </p:sp>
      <p:sp>
        <p:nvSpPr>
          <p:cNvPr id="3" name="Text 1"/>
          <p:cNvSpPr/>
          <p:nvPr/>
        </p:nvSpPr>
        <p:spPr>
          <a:xfrm>
            <a:off x="1304925" y="609600"/>
            <a:ext cx="778846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 </a:t>
            </a:r>
            <a:endParaRPr lang="en-US" sz="1800" dirty="0"/>
          </a:p>
        </p:txBody>
      </p:sp>
      <p:sp>
        <p:nvSpPr>
          <p:cNvPr id="4" name="Text 2"/>
          <p:cNvSpPr/>
          <p:nvPr/>
        </p:nvSpPr>
        <p:spPr>
          <a:xfrm>
            <a:off x="1047750" y="9667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Deep-Dive Map</a:t>
            </a:r>
            <a:endParaRPr lang="en-US" sz="4800" dirty="0"/>
          </a:p>
        </p:txBody>
      </p:sp>
      <p:sp>
        <p:nvSpPr>
          <p:cNvPr id="6" name="Shape 4"/>
          <p:cNvSpPr/>
          <p:nvPr/>
        </p:nvSpPr>
        <p:spPr>
          <a:xfrm>
            <a:off x="1047750" y="2276996"/>
            <a:ext cx="2148036" cy="357188"/>
          </a:xfrm>
          <a:prstGeom prst="roundRect">
            <a:avLst>
              <a:gd name="adj" fmla="val 50000"/>
            </a:avLst>
          </a:prstGeom>
          <a:solidFill>
            <a:srgbClr val="E4F4EB"/>
          </a:solidFill>
          <a:ln/>
        </p:spPr>
        <p:txBody>
          <a:bodyPr/>
          <a:lstStyle/>
          <a:p>
            <a:endParaRPr lang="en-US"/>
          </a:p>
        </p:txBody>
      </p:sp>
      <p:sp>
        <p:nvSpPr>
          <p:cNvPr id="7" name="Text 5"/>
          <p:cNvSpPr/>
          <p:nvPr/>
        </p:nvSpPr>
        <p:spPr>
          <a:xfrm>
            <a:off x="1181100" y="2324621"/>
            <a:ext cx="2096140"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 · 5</a:t>
            </a:r>
            <a:endParaRPr lang="en-US" sz="1800" dirty="0"/>
          </a:p>
        </p:txBody>
      </p:sp>
      <p:sp>
        <p:nvSpPr>
          <p:cNvPr id="9" name="Shape 7"/>
          <p:cNvSpPr/>
          <p:nvPr/>
        </p:nvSpPr>
        <p:spPr>
          <a:xfrm>
            <a:off x="1047750" y="3329508"/>
            <a:ext cx="8026152" cy="9525"/>
          </a:xfrm>
          <a:prstGeom prst="rect">
            <a:avLst/>
          </a:prstGeom>
          <a:solidFill>
            <a:srgbClr val="E3E1DA"/>
          </a:solidFill>
          <a:ln/>
        </p:spPr>
        <p:txBody>
          <a:bodyPr/>
          <a:lstStyle/>
          <a:p>
            <a:endParaRPr lang="en-US"/>
          </a:p>
        </p:txBody>
      </p:sp>
      <p:sp>
        <p:nvSpPr>
          <p:cNvPr id="10" name="Text 8"/>
          <p:cNvSpPr/>
          <p:nvPr/>
        </p:nvSpPr>
        <p:spPr>
          <a:xfrm>
            <a:off x="1047750" y="2824683"/>
            <a:ext cx="457200" cy="428625"/>
          </a:xfrm>
          <a:prstGeom prst="rect">
            <a:avLst/>
          </a:prstGeom>
          <a:noFill/>
          <a:ln/>
        </p:spPr>
        <p:txBody>
          <a:bodyPr wrap="square" lIns="25400" tIns="25400" rIns="25400" bIns="25400" rtlCol="0" anchor="t">
            <a:normAutofit/>
          </a:bodyPr>
          <a:lstStyle/>
          <a:p>
            <a:pPr marL="0" indent="0" algn="l">
              <a:buNone/>
            </a:pPr>
            <a:r>
              <a:rPr lang="en-US" sz="2700" b="1" dirty="0">
                <a:solidFill>
                  <a:srgbClr val="178A4C"/>
                </a:solidFill>
                <a:latin typeface="Georgia" pitchFamily="34" charset="0"/>
                <a:ea typeface="Georgia" pitchFamily="34" charset="-122"/>
                <a:cs typeface="Georgia" pitchFamily="34" charset="-120"/>
              </a:rPr>
              <a:t>1</a:t>
            </a:r>
            <a:endParaRPr lang="en-US" sz="2700" dirty="0"/>
          </a:p>
        </p:txBody>
      </p:sp>
      <p:sp>
        <p:nvSpPr>
          <p:cNvPr id="11" name="Text 9"/>
          <p:cNvSpPr/>
          <p:nvPr/>
        </p:nvSpPr>
        <p:spPr>
          <a:xfrm>
            <a:off x="1619250" y="2858021"/>
            <a:ext cx="739400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Query, Key, Value </a:t>
            </a:r>
            <a:r>
              <a:rPr lang="en-US" sz="2025" dirty="0">
                <a:solidFill>
                  <a:srgbClr val="7C7A73"/>
                </a:solidFill>
                <a:latin typeface="Arial" pitchFamily="34" charset="0"/>
                <a:ea typeface="Arial" pitchFamily="34" charset="-122"/>
                <a:cs typeface="Arial" pitchFamily="34" charset="-120"/>
              </a:rPr>
              <a:t>— the three vectors attention runs on</a:t>
            </a:r>
            <a:endParaRPr lang="en-US" sz="2400" dirty="0"/>
          </a:p>
        </p:txBody>
      </p:sp>
      <p:sp>
        <p:nvSpPr>
          <p:cNvPr id="12" name="Shape 10"/>
          <p:cNvSpPr/>
          <p:nvPr/>
        </p:nvSpPr>
        <p:spPr>
          <a:xfrm>
            <a:off x="1047750" y="3967683"/>
            <a:ext cx="8026152" cy="9525"/>
          </a:xfrm>
          <a:prstGeom prst="rect">
            <a:avLst/>
          </a:prstGeom>
          <a:solidFill>
            <a:srgbClr val="E3E1DA"/>
          </a:solidFill>
          <a:ln/>
        </p:spPr>
        <p:txBody>
          <a:bodyPr/>
          <a:lstStyle/>
          <a:p>
            <a:endParaRPr lang="en-US"/>
          </a:p>
        </p:txBody>
      </p:sp>
      <p:sp>
        <p:nvSpPr>
          <p:cNvPr id="13" name="Text 11"/>
          <p:cNvSpPr/>
          <p:nvPr/>
        </p:nvSpPr>
        <p:spPr>
          <a:xfrm>
            <a:off x="1047750" y="3462858"/>
            <a:ext cx="457200" cy="428625"/>
          </a:xfrm>
          <a:prstGeom prst="rect">
            <a:avLst/>
          </a:prstGeom>
          <a:noFill/>
          <a:ln/>
        </p:spPr>
        <p:txBody>
          <a:bodyPr wrap="square" lIns="25400" tIns="25400" rIns="25400" bIns="25400" rtlCol="0" anchor="t">
            <a:normAutofit/>
          </a:bodyPr>
          <a:lstStyle/>
          <a:p>
            <a:pPr marL="0" indent="0" algn="l">
              <a:buNone/>
            </a:pPr>
            <a:r>
              <a:rPr lang="en-US" sz="2700" b="1" dirty="0">
                <a:solidFill>
                  <a:srgbClr val="178A4C"/>
                </a:solidFill>
                <a:latin typeface="Georgia" pitchFamily="34" charset="0"/>
                <a:ea typeface="Georgia" pitchFamily="34" charset="-122"/>
                <a:cs typeface="Georgia" pitchFamily="34" charset="-120"/>
              </a:rPr>
              <a:t>2</a:t>
            </a:r>
            <a:endParaRPr lang="en-US" sz="2700" dirty="0"/>
          </a:p>
        </p:txBody>
      </p:sp>
      <p:sp>
        <p:nvSpPr>
          <p:cNvPr id="14" name="Text 12"/>
          <p:cNvSpPr/>
          <p:nvPr/>
        </p:nvSpPr>
        <p:spPr>
          <a:xfrm>
            <a:off x="1619250" y="3496196"/>
            <a:ext cx="7176678"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Attention, step by step </a:t>
            </a:r>
            <a:r>
              <a:rPr lang="en-US" sz="2025" dirty="0">
                <a:solidFill>
                  <a:srgbClr val="7C7A73"/>
                </a:solidFill>
                <a:latin typeface="Arial" pitchFamily="34" charset="0"/>
                <a:ea typeface="Arial" pitchFamily="34" charset="-122"/>
                <a:cs typeface="Arial" pitchFamily="34" charset="-120"/>
              </a:rPr>
              <a:t>— the five steps + the formula</a:t>
            </a:r>
            <a:endParaRPr lang="en-US" sz="2400" dirty="0"/>
          </a:p>
        </p:txBody>
      </p:sp>
      <p:sp>
        <p:nvSpPr>
          <p:cNvPr id="15" name="Shape 13"/>
          <p:cNvSpPr/>
          <p:nvPr/>
        </p:nvSpPr>
        <p:spPr>
          <a:xfrm>
            <a:off x="1047750" y="4605858"/>
            <a:ext cx="8026152" cy="9525"/>
          </a:xfrm>
          <a:prstGeom prst="rect">
            <a:avLst/>
          </a:prstGeom>
          <a:solidFill>
            <a:srgbClr val="E3E1DA"/>
          </a:solidFill>
          <a:ln/>
        </p:spPr>
        <p:txBody>
          <a:bodyPr/>
          <a:lstStyle/>
          <a:p>
            <a:endParaRPr lang="en-US"/>
          </a:p>
        </p:txBody>
      </p:sp>
      <p:sp>
        <p:nvSpPr>
          <p:cNvPr id="16" name="Text 14"/>
          <p:cNvSpPr/>
          <p:nvPr/>
        </p:nvSpPr>
        <p:spPr>
          <a:xfrm>
            <a:off x="1047750" y="4101033"/>
            <a:ext cx="457200" cy="428625"/>
          </a:xfrm>
          <a:prstGeom prst="rect">
            <a:avLst/>
          </a:prstGeom>
          <a:noFill/>
          <a:ln/>
        </p:spPr>
        <p:txBody>
          <a:bodyPr wrap="square" lIns="25400" tIns="25400" rIns="25400" bIns="25400" rtlCol="0" anchor="t">
            <a:normAutofit/>
          </a:bodyPr>
          <a:lstStyle/>
          <a:p>
            <a:pPr marL="0" indent="0" algn="l">
              <a:buNone/>
            </a:pPr>
            <a:r>
              <a:rPr lang="en-US" sz="2700" b="1" dirty="0">
                <a:solidFill>
                  <a:srgbClr val="178A4C"/>
                </a:solidFill>
                <a:latin typeface="Georgia" pitchFamily="34" charset="0"/>
                <a:ea typeface="Georgia" pitchFamily="34" charset="-122"/>
                <a:cs typeface="Georgia" pitchFamily="34" charset="-120"/>
              </a:rPr>
              <a:t>3</a:t>
            </a:r>
            <a:endParaRPr lang="en-US" sz="2700" dirty="0"/>
          </a:p>
        </p:txBody>
      </p:sp>
      <p:sp>
        <p:nvSpPr>
          <p:cNvPr id="17" name="Text 15"/>
          <p:cNvSpPr/>
          <p:nvPr/>
        </p:nvSpPr>
        <p:spPr>
          <a:xfrm>
            <a:off x="1619250" y="4134371"/>
            <a:ext cx="6996596"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Multi-Head Attention </a:t>
            </a:r>
            <a:r>
              <a:rPr lang="en-US" sz="2025" dirty="0">
                <a:solidFill>
                  <a:srgbClr val="7C7A73"/>
                </a:solidFill>
                <a:latin typeface="Arial" pitchFamily="34" charset="0"/>
                <a:ea typeface="Arial" pitchFamily="34" charset="-122"/>
                <a:cs typeface="Arial" pitchFamily="34" charset="-120"/>
              </a:rPr>
              <a:t>— why several heads beat one</a:t>
            </a:r>
            <a:endParaRPr lang="en-US" sz="2400" dirty="0"/>
          </a:p>
        </p:txBody>
      </p:sp>
      <p:sp>
        <p:nvSpPr>
          <p:cNvPr id="18" name="Shape 16"/>
          <p:cNvSpPr/>
          <p:nvPr/>
        </p:nvSpPr>
        <p:spPr>
          <a:xfrm>
            <a:off x="1047750" y="5244033"/>
            <a:ext cx="8026152" cy="9525"/>
          </a:xfrm>
          <a:prstGeom prst="rect">
            <a:avLst/>
          </a:prstGeom>
          <a:solidFill>
            <a:srgbClr val="E3E1DA"/>
          </a:solidFill>
          <a:ln/>
        </p:spPr>
        <p:txBody>
          <a:bodyPr/>
          <a:lstStyle/>
          <a:p>
            <a:endParaRPr lang="en-US"/>
          </a:p>
        </p:txBody>
      </p:sp>
      <p:sp>
        <p:nvSpPr>
          <p:cNvPr id="19" name="Text 17"/>
          <p:cNvSpPr/>
          <p:nvPr/>
        </p:nvSpPr>
        <p:spPr>
          <a:xfrm>
            <a:off x="1047750" y="4739208"/>
            <a:ext cx="457200" cy="428625"/>
          </a:xfrm>
          <a:prstGeom prst="rect">
            <a:avLst/>
          </a:prstGeom>
          <a:noFill/>
          <a:ln/>
        </p:spPr>
        <p:txBody>
          <a:bodyPr wrap="square" lIns="25400" tIns="25400" rIns="25400" bIns="25400" rtlCol="0" anchor="t">
            <a:normAutofit/>
          </a:bodyPr>
          <a:lstStyle/>
          <a:p>
            <a:pPr marL="0" indent="0" algn="l">
              <a:buNone/>
            </a:pPr>
            <a:r>
              <a:rPr lang="en-US" sz="2700" b="1" dirty="0">
                <a:solidFill>
                  <a:srgbClr val="178A4C"/>
                </a:solidFill>
                <a:latin typeface="Georgia" pitchFamily="34" charset="0"/>
                <a:ea typeface="Georgia" pitchFamily="34" charset="-122"/>
                <a:cs typeface="Georgia" pitchFamily="34" charset="-120"/>
              </a:rPr>
              <a:t>4</a:t>
            </a:r>
            <a:endParaRPr lang="en-US" sz="2700" dirty="0"/>
          </a:p>
        </p:txBody>
      </p:sp>
      <p:sp>
        <p:nvSpPr>
          <p:cNvPr id="20" name="Text 18"/>
          <p:cNvSpPr/>
          <p:nvPr/>
        </p:nvSpPr>
        <p:spPr>
          <a:xfrm>
            <a:off x="1619250" y="4772546"/>
            <a:ext cx="690058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KV cache </a:t>
            </a:r>
            <a:r>
              <a:rPr lang="en-US" sz="2025" dirty="0">
                <a:solidFill>
                  <a:srgbClr val="7C7A73"/>
                </a:solidFill>
                <a:latin typeface="Arial" pitchFamily="34" charset="0"/>
                <a:ea typeface="Arial" pitchFamily="34" charset="-122"/>
                <a:cs typeface="Arial" pitchFamily="34" charset="-120"/>
              </a:rPr>
              <a:t>— why long chats get slow and costly</a:t>
            </a:r>
            <a:endParaRPr lang="en-US" sz="2400" dirty="0"/>
          </a:p>
        </p:txBody>
      </p:sp>
      <p:sp>
        <p:nvSpPr>
          <p:cNvPr id="21" name="Text 19"/>
          <p:cNvSpPr/>
          <p:nvPr/>
        </p:nvSpPr>
        <p:spPr>
          <a:xfrm>
            <a:off x="1047750" y="5377383"/>
            <a:ext cx="457200" cy="428625"/>
          </a:xfrm>
          <a:prstGeom prst="rect">
            <a:avLst/>
          </a:prstGeom>
          <a:noFill/>
          <a:ln/>
        </p:spPr>
        <p:txBody>
          <a:bodyPr wrap="square" lIns="25400" tIns="25400" rIns="25400" bIns="25400" rtlCol="0" anchor="t">
            <a:normAutofit/>
          </a:bodyPr>
          <a:lstStyle/>
          <a:p>
            <a:pPr marL="0" indent="0" algn="l">
              <a:buNone/>
            </a:pPr>
            <a:r>
              <a:rPr lang="en-US" sz="2700" b="1" dirty="0">
                <a:solidFill>
                  <a:srgbClr val="178A4C"/>
                </a:solidFill>
                <a:latin typeface="Georgia" pitchFamily="34" charset="0"/>
                <a:ea typeface="Georgia" pitchFamily="34" charset="-122"/>
                <a:cs typeface="Georgia" pitchFamily="34" charset="-120"/>
              </a:rPr>
              <a:t>5</a:t>
            </a:r>
            <a:endParaRPr lang="en-US" sz="2700" dirty="0"/>
          </a:p>
        </p:txBody>
      </p:sp>
      <p:sp>
        <p:nvSpPr>
          <p:cNvPr id="22" name="Text 20"/>
          <p:cNvSpPr/>
          <p:nvPr/>
        </p:nvSpPr>
        <p:spPr>
          <a:xfrm>
            <a:off x="1619250" y="5410721"/>
            <a:ext cx="777160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What we built: the Transformer </a:t>
            </a:r>
            <a:r>
              <a:rPr lang="en-US" sz="2025" dirty="0">
                <a:solidFill>
                  <a:srgbClr val="7C7A73"/>
                </a:solidFill>
                <a:latin typeface="Arial" pitchFamily="34" charset="0"/>
                <a:ea typeface="Arial" pitchFamily="34" charset="-122"/>
                <a:cs typeface="Arial" pitchFamily="34" charset="-120"/>
              </a:rPr>
              <a:t>— every box, assembled</a:t>
            </a:r>
            <a:endParaRPr lang="en-US" sz="2400" dirty="0"/>
          </a:p>
        </p:txBody>
      </p:sp>
      <p:sp>
        <p:nvSpPr>
          <p:cNvPr id="23" name="Shape 21"/>
          <p:cNvSpPr/>
          <p:nvPr/>
        </p:nvSpPr>
        <p:spPr>
          <a:xfrm>
            <a:off x="9569202" y="2276996"/>
            <a:ext cx="9525" cy="7009879"/>
          </a:xfrm>
          <a:prstGeom prst="rect">
            <a:avLst/>
          </a:prstGeom>
          <a:solidFill>
            <a:srgbClr val="E3E1DA"/>
          </a:solidFill>
          <a:ln/>
        </p:spPr>
        <p:txBody>
          <a:bodyPr/>
          <a:lstStyle/>
          <a:p>
            <a:endParaRPr lang="en-US"/>
          </a:p>
        </p:txBody>
      </p:sp>
      <p:sp>
        <p:nvSpPr>
          <p:cNvPr id="24" name="Shape 22"/>
          <p:cNvSpPr/>
          <p:nvPr/>
        </p:nvSpPr>
        <p:spPr>
          <a:xfrm>
            <a:off x="10074027" y="2276996"/>
            <a:ext cx="2219995" cy="357188"/>
          </a:xfrm>
          <a:prstGeom prst="roundRect">
            <a:avLst>
              <a:gd name="adj" fmla="val 50000"/>
            </a:avLst>
          </a:prstGeom>
          <a:solidFill>
            <a:srgbClr val="F1EFE9"/>
          </a:solidFill>
          <a:ln/>
        </p:spPr>
        <p:txBody>
          <a:bodyPr/>
          <a:lstStyle/>
          <a:p>
            <a:endParaRPr lang="en-US"/>
          </a:p>
        </p:txBody>
      </p:sp>
      <p:sp>
        <p:nvSpPr>
          <p:cNvPr id="25" name="Text 23"/>
          <p:cNvSpPr/>
          <p:nvPr/>
        </p:nvSpPr>
        <p:spPr>
          <a:xfrm>
            <a:off x="10207377" y="2324621"/>
            <a:ext cx="217529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 · 9</a:t>
            </a:r>
            <a:endParaRPr lang="en-US" sz="1800" dirty="0"/>
          </a:p>
        </p:txBody>
      </p:sp>
      <p:sp>
        <p:nvSpPr>
          <p:cNvPr id="27" name="Shape 25"/>
          <p:cNvSpPr/>
          <p:nvPr/>
        </p:nvSpPr>
        <p:spPr>
          <a:xfrm>
            <a:off x="10074027" y="2986608"/>
            <a:ext cx="76200" cy="76200"/>
          </a:xfrm>
          <a:prstGeom prst="roundRect">
            <a:avLst>
              <a:gd name="adj" fmla="val 25000"/>
            </a:avLst>
          </a:prstGeom>
          <a:solidFill>
            <a:srgbClr val="7C7A73"/>
          </a:solidFill>
          <a:ln/>
        </p:spPr>
        <p:txBody>
          <a:bodyPr/>
          <a:lstStyle/>
          <a:p>
            <a:endParaRPr lang="en-US"/>
          </a:p>
        </p:txBody>
      </p:sp>
      <p:sp>
        <p:nvSpPr>
          <p:cNvPr id="28" name="Text 26"/>
          <p:cNvSpPr/>
          <p:nvPr/>
        </p:nvSpPr>
        <p:spPr>
          <a:xfrm>
            <a:off x="10283577" y="2824683"/>
            <a:ext cx="411954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How the tokenizer learns — BPE</a:t>
            </a:r>
            <a:endParaRPr lang="en-US" sz="2025" dirty="0"/>
          </a:p>
        </p:txBody>
      </p:sp>
      <p:sp>
        <p:nvSpPr>
          <p:cNvPr id="29" name="Shape 27"/>
          <p:cNvSpPr/>
          <p:nvPr/>
        </p:nvSpPr>
        <p:spPr>
          <a:xfrm>
            <a:off x="10074027" y="3396183"/>
            <a:ext cx="76200" cy="76200"/>
          </a:xfrm>
          <a:prstGeom prst="roundRect">
            <a:avLst>
              <a:gd name="adj" fmla="val 25000"/>
            </a:avLst>
          </a:prstGeom>
          <a:solidFill>
            <a:srgbClr val="7C7A73"/>
          </a:solidFill>
          <a:ln/>
        </p:spPr>
        <p:txBody>
          <a:bodyPr/>
          <a:lstStyle/>
          <a:p>
            <a:endParaRPr lang="en-US"/>
          </a:p>
        </p:txBody>
      </p:sp>
      <p:sp>
        <p:nvSpPr>
          <p:cNvPr id="30" name="Text 28"/>
          <p:cNvSpPr/>
          <p:nvPr/>
        </p:nvSpPr>
        <p:spPr>
          <a:xfrm>
            <a:off x="10283577" y="3234258"/>
            <a:ext cx="3695611"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How embeddings are learned</a:t>
            </a:r>
            <a:endParaRPr lang="en-US" sz="2025" dirty="0"/>
          </a:p>
        </p:txBody>
      </p:sp>
      <p:sp>
        <p:nvSpPr>
          <p:cNvPr id="31" name="Shape 29"/>
          <p:cNvSpPr/>
          <p:nvPr/>
        </p:nvSpPr>
        <p:spPr>
          <a:xfrm>
            <a:off x="10074027" y="3805758"/>
            <a:ext cx="76200" cy="76200"/>
          </a:xfrm>
          <a:prstGeom prst="roundRect">
            <a:avLst>
              <a:gd name="adj" fmla="val 25000"/>
            </a:avLst>
          </a:prstGeom>
          <a:solidFill>
            <a:srgbClr val="7C7A73"/>
          </a:solidFill>
          <a:ln/>
        </p:spPr>
        <p:txBody>
          <a:bodyPr/>
          <a:lstStyle/>
          <a:p>
            <a:endParaRPr lang="en-US"/>
          </a:p>
        </p:txBody>
      </p:sp>
      <p:sp>
        <p:nvSpPr>
          <p:cNvPr id="32" name="Text 30"/>
          <p:cNvSpPr/>
          <p:nvPr/>
        </p:nvSpPr>
        <p:spPr>
          <a:xfrm>
            <a:off x="10283577" y="3643833"/>
            <a:ext cx="4214001"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The attention grid — causal mask</a:t>
            </a:r>
            <a:endParaRPr lang="en-US" sz="2025" dirty="0"/>
          </a:p>
        </p:txBody>
      </p:sp>
      <p:sp>
        <p:nvSpPr>
          <p:cNvPr id="33" name="Shape 31"/>
          <p:cNvSpPr/>
          <p:nvPr/>
        </p:nvSpPr>
        <p:spPr>
          <a:xfrm>
            <a:off x="10074027" y="4215333"/>
            <a:ext cx="76200" cy="76200"/>
          </a:xfrm>
          <a:prstGeom prst="roundRect">
            <a:avLst>
              <a:gd name="adj" fmla="val 25000"/>
            </a:avLst>
          </a:prstGeom>
          <a:solidFill>
            <a:srgbClr val="7C7A73"/>
          </a:solidFill>
          <a:ln/>
        </p:spPr>
        <p:txBody>
          <a:bodyPr/>
          <a:lstStyle/>
          <a:p>
            <a:endParaRPr lang="en-US"/>
          </a:p>
        </p:txBody>
      </p:sp>
      <p:sp>
        <p:nvSpPr>
          <p:cNvPr id="34" name="Text 32"/>
          <p:cNvSpPr/>
          <p:nvPr/>
        </p:nvSpPr>
        <p:spPr>
          <a:xfrm>
            <a:off x="10283577" y="4053408"/>
            <a:ext cx="5675531"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Shrinking the cache — MHA → GQA → MQA</a:t>
            </a:r>
            <a:endParaRPr lang="en-US" sz="2025" dirty="0"/>
          </a:p>
        </p:txBody>
      </p:sp>
      <p:sp>
        <p:nvSpPr>
          <p:cNvPr id="35" name="Shape 33"/>
          <p:cNvSpPr/>
          <p:nvPr/>
        </p:nvSpPr>
        <p:spPr>
          <a:xfrm>
            <a:off x="10074027" y="4624908"/>
            <a:ext cx="76200" cy="76200"/>
          </a:xfrm>
          <a:prstGeom prst="roundRect">
            <a:avLst>
              <a:gd name="adj" fmla="val 25000"/>
            </a:avLst>
          </a:prstGeom>
          <a:solidFill>
            <a:srgbClr val="7C7A73"/>
          </a:solidFill>
          <a:ln/>
        </p:spPr>
        <p:txBody>
          <a:bodyPr/>
          <a:lstStyle/>
          <a:p>
            <a:endParaRPr lang="en-US"/>
          </a:p>
        </p:txBody>
      </p:sp>
      <p:sp>
        <p:nvSpPr>
          <p:cNvPr id="36" name="Text 34"/>
          <p:cNvSpPr/>
          <p:nvPr/>
        </p:nvSpPr>
        <p:spPr>
          <a:xfrm>
            <a:off x="10283577" y="4462983"/>
            <a:ext cx="322330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The feed-forward network</a:t>
            </a:r>
            <a:endParaRPr lang="en-US" sz="2025" dirty="0"/>
          </a:p>
        </p:txBody>
      </p:sp>
      <p:sp>
        <p:nvSpPr>
          <p:cNvPr id="37" name="Shape 35"/>
          <p:cNvSpPr/>
          <p:nvPr/>
        </p:nvSpPr>
        <p:spPr>
          <a:xfrm>
            <a:off x="10074027" y="5034483"/>
            <a:ext cx="76200" cy="76200"/>
          </a:xfrm>
          <a:prstGeom prst="roundRect">
            <a:avLst>
              <a:gd name="adj" fmla="val 25000"/>
            </a:avLst>
          </a:prstGeom>
          <a:solidFill>
            <a:srgbClr val="7C7A73"/>
          </a:solidFill>
          <a:ln/>
        </p:spPr>
        <p:txBody>
          <a:bodyPr/>
          <a:lstStyle/>
          <a:p>
            <a:endParaRPr lang="en-US"/>
          </a:p>
        </p:txBody>
      </p:sp>
      <p:sp>
        <p:nvSpPr>
          <p:cNvPr id="38" name="Text 36"/>
          <p:cNvSpPr/>
          <p:nvPr/>
        </p:nvSpPr>
        <p:spPr>
          <a:xfrm>
            <a:off x="10283577" y="4872558"/>
            <a:ext cx="325465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Inside a transformer block</a:t>
            </a:r>
            <a:endParaRPr lang="en-US" sz="2025" dirty="0"/>
          </a:p>
        </p:txBody>
      </p:sp>
      <p:sp>
        <p:nvSpPr>
          <p:cNvPr id="39" name="Shape 37"/>
          <p:cNvSpPr/>
          <p:nvPr/>
        </p:nvSpPr>
        <p:spPr>
          <a:xfrm>
            <a:off x="10074027" y="5444058"/>
            <a:ext cx="76200" cy="76200"/>
          </a:xfrm>
          <a:prstGeom prst="roundRect">
            <a:avLst>
              <a:gd name="adj" fmla="val 25000"/>
            </a:avLst>
          </a:prstGeom>
          <a:solidFill>
            <a:srgbClr val="7C7A73"/>
          </a:solidFill>
          <a:ln/>
        </p:spPr>
        <p:txBody>
          <a:bodyPr/>
          <a:lstStyle/>
          <a:p>
            <a:endParaRPr lang="en-US"/>
          </a:p>
        </p:txBody>
      </p:sp>
      <p:sp>
        <p:nvSpPr>
          <p:cNvPr id="40" name="Text 38"/>
          <p:cNvSpPr/>
          <p:nvPr/>
        </p:nvSpPr>
        <p:spPr>
          <a:xfrm>
            <a:off x="10283577" y="5282133"/>
            <a:ext cx="2468679"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Layer normalization</a:t>
            </a:r>
            <a:endParaRPr lang="en-US" sz="2025" dirty="0"/>
          </a:p>
        </p:txBody>
      </p:sp>
      <p:sp>
        <p:nvSpPr>
          <p:cNvPr id="41" name="Shape 39"/>
          <p:cNvSpPr/>
          <p:nvPr/>
        </p:nvSpPr>
        <p:spPr>
          <a:xfrm>
            <a:off x="10074027" y="5853633"/>
            <a:ext cx="76200" cy="76200"/>
          </a:xfrm>
          <a:prstGeom prst="roundRect">
            <a:avLst>
              <a:gd name="adj" fmla="val 25000"/>
            </a:avLst>
          </a:prstGeom>
          <a:solidFill>
            <a:srgbClr val="7C7A73"/>
          </a:solidFill>
          <a:ln/>
        </p:spPr>
        <p:txBody>
          <a:bodyPr/>
          <a:lstStyle/>
          <a:p>
            <a:endParaRPr lang="en-US"/>
          </a:p>
        </p:txBody>
      </p:sp>
      <p:sp>
        <p:nvSpPr>
          <p:cNvPr id="42" name="Text 40"/>
          <p:cNvSpPr/>
          <p:nvPr/>
        </p:nvSpPr>
        <p:spPr>
          <a:xfrm>
            <a:off x="10283577" y="5691708"/>
            <a:ext cx="44967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The output layer — matrix to a word</a:t>
            </a:r>
            <a:endParaRPr lang="en-US" sz="2025" dirty="0"/>
          </a:p>
        </p:txBody>
      </p:sp>
      <p:sp>
        <p:nvSpPr>
          <p:cNvPr id="43" name="Shape 41"/>
          <p:cNvSpPr/>
          <p:nvPr/>
        </p:nvSpPr>
        <p:spPr>
          <a:xfrm>
            <a:off x="10074027" y="6263208"/>
            <a:ext cx="76200" cy="76200"/>
          </a:xfrm>
          <a:prstGeom prst="roundRect">
            <a:avLst>
              <a:gd name="adj" fmla="val 25000"/>
            </a:avLst>
          </a:prstGeom>
          <a:solidFill>
            <a:srgbClr val="7C7A73"/>
          </a:solidFill>
          <a:ln/>
        </p:spPr>
        <p:txBody>
          <a:bodyPr/>
          <a:lstStyle/>
          <a:p>
            <a:endParaRPr lang="en-US"/>
          </a:p>
        </p:txBody>
      </p:sp>
      <p:sp>
        <p:nvSpPr>
          <p:cNvPr id="44" name="Text 42"/>
          <p:cNvSpPr/>
          <p:nvPr/>
        </p:nvSpPr>
        <p:spPr>
          <a:xfrm>
            <a:off x="10283577" y="6101283"/>
            <a:ext cx="352240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Sampling — top-k and top-p</a:t>
            </a:r>
            <a:endParaRPr lang="en-US" sz="20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4115172"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4238627"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Hugging Face · Byte-Pair Encoding</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How the Tokenizer Learns: BPE</a:t>
            </a:r>
            <a:endParaRPr lang="en-US" sz="4800" dirty="0"/>
          </a:p>
        </p:txBody>
      </p:sp>
      <p:sp>
        <p:nvSpPr>
          <p:cNvPr id="9" name="Text 7"/>
          <p:cNvSpPr/>
          <p:nvPr/>
        </p:nvSpPr>
        <p:spPr>
          <a:xfrm>
            <a:off x="1047750" y="4400773"/>
            <a:ext cx="754380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Repeatedly merge the most frequent adjacent pair</a:t>
            </a:r>
            <a:endParaRPr lang="en-US" sz="1800" dirty="0"/>
          </a:p>
        </p:txBody>
      </p:sp>
      <p:sp>
        <p:nvSpPr>
          <p:cNvPr id="10" name="Shape 8"/>
          <p:cNvSpPr/>
          <p:nvPr/>
        </p:nvSpPr>
        <p:spPr>
          <a:xfrm>
            <a:off x="1047750" y="4853211"/>
            <a:ext cx="421035" cy="442913"/>
          </a:xfrm>
          <a:prstGeom prst="roundRect">
            <a:avLst>
              <a:gd name="adj" fmla="val 18098"/>
            </a:avLst>
          </a:prstGeom>
          <a:solidFill>
            <a:srgbClr val="F1EFE9"/>
          </a:solidFill>
          <a:ln/>
        </p:spPr>
        <p:txBody>
          <a:bodyPr/>
          <a:lstStyle/>
          <a:p>
            <a:endParaRPr lang="en-US"/>
          </a:p>
        </p:txBody>
      </p:sp>
      <p:sp>
        <p:nvSpPr>
          <p:cNvPr id="11" name="Text 9"/>
          <p:cNvSpPr/>
          <p:nvPr/>
        </p:nvSpPr>
        <p:spPr>
          <a:xfrm>
            <a:off x="1181100"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l</a:t>
            </a:r>
            <a:endParaRPr lang="en-US" sz="2025" dirty="0"/>
          </a:p>
        </p:txBody>
      </p:sp>
      <p:sp>
        <p:nvSpPr>
          <p:cNvPr id="12" name="Shape 10"/>
          <p:cNvSpPr/>
          <p:nvPr/>
        </p:nvSpPr>
        <p:spPr>
          <a:xfrm>
            <a:off x="1564035" y="4853211"/>
            <a:ext cx="421035" cy="442913"/>
          </a:xfrm>
          <a:prstGeom prst="roundRect">
            <a:avLst>
              <a:gd name="adj" fmla="val 18098"/>
            </a:avLst>
          </a:prstGeom>
          <a:solidFill>
            <a:srgbClr val="F1EFE9"/>
          </a:solidFill>
          <a:ln/>
        </p:spPr>
        <p:txBody>
          <a:bodyPr/>
          <a:lstStyle/>
          <a:p>
            <a:endParaRPr lang="en-US"/>
          </a:p>
        </p:txBody>
      </p:sp>
      <p:sp>
        <p:nvSpPr>
          <p:cNvPr id="13" name="Text 11"/>
          <p:cNvSpPr/>
          <p:nvPr/>
        </p:nvSpPr>
        <p:spPr>
          <a:xfrm>
            <a:off x="1697385"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o</a:t>
            </a:r>
            <a:endParaRPr lang="en-US" sz="2025" dirty="0"/>
          </a:p>
        </p:txBody>
      </p:sp>
      <p:sp>
        <p:nvSpPr>
          <p:cNvPr id="14" name="Shape 12"/>
          <p:cNvSpPr/>
          <p:nvPr/>
        </p:nvSpPr>
        <p:spPr>
          <a:xfrm>
            <a:off x="2080320" y="4853211"/>
            <a:ext cx="421035" cy="442913"/>
          </a:xfrm>
          <a:prstGeom prst="roundRect">
            <a:avLst>
              <a:gd name="adj" fmla="val 18098"/>
            </a:avLst>
          </a:prstGeom>
          <a:solidFill>
            <a:srgbClr val="F1EFE9"/>
          </a:solidFill>
          <a:ln/>
        </p:spPr>
        <p:txBody>
          <a:bodyPr/>
          <a:lstStyle/>
          <a:p>
            <a:endParaRPr lang="en-US"/>
          </a:p>
        </p:txBody>
      </p:sp>
      <p:sp>
        <p:nvSpPr>
          <p:cNvPr id="15" name="Text 13"/>
          <p:cNvSpPr/>
          <p:nvPr/>
        </p:nvSpPr>
        <p:spPr>
          <a:xfrm>
            <a:off x="2213670"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w</a:t>
            </a:r>
            <a:endParaRPr lang="en-US" sz="2025" dirty="0"/>
          </a:p>
        </p:txBody>
      </p:sp>
      <p:sp>
        <p:nvSpPr>
          <p:cNvPr id="16" name="Shape 14"/>
          <p:cNvSpPr/>
          <p:nvPr/>
        </p:nvSpPr>
        <p:spPr>
          <a:xfrm>
            <a:off x="2596604" y="4853211"/>
            <a:ext cx="421035" cy="442913"/>
          </a:xfrm>
          <a:prstGeom prst="roundRect">
            <a:avLst>
              <a:gd name="adj" fmla="val 18098"/>
            </a:avLst>
          </a:prstGeom>
          <a:solidFill>
            <a:srgbClr val="FFF1A8"/>
          </a:solidFill>
          <a:ln/>
        </p:spPr>
        <p:txBody>
          <a:bodyPr/>
          <a:lstStyle/>
          <a:p>
            <a:endParaRPr lang="en-US"/>
          </a:p>
        </p:txBody>
      </p:sp>
      <p:sp>
        <p:nvSpPr>
          <p:cNvPr id="17" name="Text 15"/>
          <p:cNvSpPr/>
          <p:nvPr/>
        </p:nvSpPr>
        <p:spPr>
          <a:xfrm>
            <a:off x="2729954"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e</a:t>
            </a:r>
            <a:endParaRPr lang="en-US" sz="2025" dirty="0"/>
          </a:p>
        </p:txBody>
      </p:sp>
      <p:sp>
        <p:nvSpPr>
          <p:cNvPr id="18" name="Shape 16"/>
          <p:cNvSpPr/>
          <p:nvPr/>
        </p:nvSpPr>
        <p:spPr>
          <a:xfrm>
            <a:off x="3112889" y="4853211"/>
            <a:ext cx="421035" cy="442913"/>
          </a:xfrm>
          <a:prstGeom prst="roundRect">
            <a:avLst>
              <a:gd name="adj" fmla="val 18098"/>
            </a:avLst>
          </a:prstGeom>
          <a:solidFill>
            <a:srgbClr val="FFF1A8"/>
          </a:solidFill>
          <a:ln/>
        </p:spPr>
        <p:txBody>
          <a:bodyPr/>
          <a:lstStyle/>
          <a:p>
            <a:endParaRPr lang="en-US"/>
          </a:p>
        </p:txBody>
      </p:sp>
      <p:sp>
        <p:nvSpPr>
          <p:cNvPr id="19" name="Text 17"/>
          <p:cNvSpPr/>
          <p:nvPr/>
        </p:nvSpPr>
        <p:spPr>
          <a:xfrm>
            <a:off x="3246239"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s</a:t>
            </a:r>
            <a:endParaRPr lang="en-US" sz="2025" dirty="0"/>
          </a:p>
        </p:txBody>
      </p:sp>
      <p:sp>
        <p:nvSpPr>
          <p:cNvPr id="20" name="Shape 18"/>
          <p:cNvSpPr/>
          <p:nvPr/>
        </p:nvSpPr>
        <p:spPr>
          <a:xfrm>
            <a:off x="3629174" y="4853211"/>
            <a:ext cx="421035" cy="442913"/>
          </a:xfrm>
          <a:prstGeom prst="roundRect">
            <a:avLst>
              <a:gd name="adj" fmla="val 18098"/>
            </a:avLst>
          </a:prstGeom>
          <a:solidFill>
            <a:srgbClr val="F1EFE9"/>
          </a:solidFill>
          <a:ln/>
        </p:spPr>
        <p:txBody>
          <a:bodyPr/>
          <a:lstStyle/>
          <a:p>
            <a:endParaRPr lang="en-US"/>
          </a:p>
        </p:txBody>
      </p:sp>
      <p:sp>
        <p:nvSpPr>
          <p:cNvPr id="21" name="Text 19"/>
          <p:cNvSpPr/>
          <p:nvPr/>
        </p:nvSpPr>
        <p:spPr>
          <a:xfrm>
            <a:off x="3762524" y="4929411"/>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t</a:t>
            </a:r>
            <a:endParaRPr lang="en-US" sz="2025" dirty="0"/>
          </a:p>
        </p:txBody>
      </p:sp>
      <p:sp>
        <p:nvSpPr>
          <p:cNvPr id="22" name="Text 20"/>
          <p:cNvSpPr/>
          <p:nvPr/>
        </p:nvSpPr>
        <p:spPr>
          <a:xfrm>
            <a:off x="4145459" y="4929411"/>
            <a:ext cx="220698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merge (e,s)</a:t>
            </a:r>
            <a:endParaRPr lang="en-US" sz="2025" dirty="0"/>
          </a:p>
        </p:txBody>
      </p:sp>
      <p:sp>
        <p:nvSpPr>
          <p:cNvPr id="23" name="Shape 21"/>
          <p:cNvSpPr/>
          <p:nvPr/>
        </p:nvSpPr>
        <p:spPr>
          <a:xfrm>
            <a:off x="1047750" y="5467573"/>
            <a:ext cx="421035" cy="442913"/>
          </a:xfrm>
          <a:prstGeom prst="roundRect">
            <a:avLst>
              <a:gd name="adj" fmla="val 18098"/>
            </a:avLst>
          </a:prstGeom>
          <a:solidFill>
            <a:srgbClr val="F1EFE9"/>
          </a:solidFill>
          <a:ln/>
        </p:spPr>
        <p:txBody>
          <a:bodyPr/>
          <a:lstStyle/>
          <a:p>
            <a:endParaRPr lang="en-US"/>
          </a:p>
        </p:txBody>
      </p:sp>
      <p:sp>
        <p:nvSpPr>
          <p:cNvPr id="24" name="Text 22"/>
          <p:cNvSpPr/>
          <p:nvPr/>
        </p:nvSpPr>
        <p:spPr>
          <a:xfrm>
            <a:off x="1181100" y="5543773"/>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l</a:t>
            </a:r>
            <a:endParaRPr lang="en-US" sz="2025" dirty="0"/>
          </a:p>
        </p:txBody>
      </p:sp>
      <p:sp>
        <p:nvSpPr>
          <p:cNvPr id="25" name="Shape 23"/>
          <p:cNvSpPr/>
          <p:nvPr/>
        </p:nvSpPr>
        <p:spPr>
          <a:xfrm>
            <a:off x="1564035" y="5467573"/>
            <a:ext cx="421035" cy="442913"/>
          </a:xfrm>
          <a:prstGeom prst="roundRect">
            <a:avLst>
              <a:gd name="adj" fmla="val 18098"/>
            </a:avLst>
          </a:prstGeom>
          <a:solidFill>
            <a:srgbClr val="F1EFE9"/>
          </a:solidFill>
          <a:ln/>
        </p:spPr>
        <p:txBody>
          <a:bodyPr/>
          <a:lstStyle/>
          <a:p>
            <a:endParaRPr lang="en-US"/>
          </a:p>
        </p:txBody>
      </p:sp>
      <p:sp>
        <p:nvSpPr>
          <p:cNvPr id="26" name="Text 24"/>
          <p:cNvSpPr/>
          <p:nvPr/>
        </p:nvSpPr>
        <p:spPr>
          <a:xfrm>
            <a:off x="1697385" y="5543773"/>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o</a:t>
            </a:r>
            <a:endParaRPr lang="en-US" sz="2025" dirty="0"/>
          </a:p>
        </p:txBody>
      </p:sp>
      <p:sp>
        <p:nvSpPr>
          <p:cNvPr id="27" name="Shape 25"/>
          <p:cNvSpPr/>
          <p:nvPr/>
        </p:nvSpPr>
        <p:spPr>
          <a:xfrm>
            <a:off x="2080320" y="5467573"/>
            <a:ext cx="421035" cy="442913"/>
          </a:xfrm>
          <a:prstGeom prst="roundRect">
            <a:avLst>
              <a:gd name="adj" fmla="val 18098"/>
            </a:avLst>
          </a:prstGeom>
          <a:solidFill>
            <a:srgbClr val="F1EFE9"/>
          </a:solidFill>
          <a:ln/>
        </p:spPr>
        <p:txBody>
          <a:bodyPr/>
          <a:lstStyle/>
          <a:p>
            <a:endParaRPr lang="en-US"/>
          </a:p>
        </p:txBody>
      </p:sp>
      <p:sp>
        <p:nvSpPr>
          <p:cNvPr id="28" name="Text 26"/>
          <p:cNvSpPr/>
          <p:nvPr/>
        </p:nvSpPr>
        <p:spPr>
          <a:xfrm>
            <a:off x="2213670" y="5543773"/>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w</a:t>
            </a:r>
            <a:endParaRPr lang="en-US" sz="2025" dirty="0"/>
          </a:p>
        </p:txBody>
      </p:sp>
      <p:sp>
        <p:nvSpPr>
          <p:cNvPr id="29" name="Shape 27"/>
          <p:cNvSpPr/>
          <p:nvPr/>
        </p:nvSpPr>
        <p:spPr>
          <a:xfrm>
            <a:off x="2596604" y="5467573"/>
            <a:ext cx="575370" cy="442913"/>
          </a:xfrm>
          <a:prstGeom prst="roundRect">
            <a:avLst>
              <a:gd name="adj" fmla="val 17204"/>
            </a:avLst>
          </a:prstGeom>
          <a:solidFill>
            <a:srgbClr val="E4F4EB"/>
          </a:solidFill>
          <a:ln/>
        </p:spPr>
        <p:txBody>
          <a:bodyPr/>
          <a:lstStyle/>
          <a:p>
            <a:endParaRPr lang="en-US"/>
          </a:p>
        </p:txBody>
      </p:sp>
      <p:sp>
        <p:nvSpPr>
          <p:cNvPr id="30" name="Text 28"/>
          <p:cNvSpPr/>
          <p:nvPr/>
        </p:nvSpPr>
        <p:spPr>
          <a:xfrm>
            <a:off x="2729954" y="5543773"/>
            <a:ext cx="384870"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78A4C"/>
                </a:solidFill>
                <a:latin typeface="Courier New" pitchFamily="34" charset="0"/>
                <a:ea typeface="Courier New" pitchFamily="34" charset="-122"/>
                <a:cs typeface="Courier New" pitchFamily="34" charset="-120"/>
              </a:rPr>
              <a:t>es</a:t>
            </a:r>
            <a:endParaRPr lang="en-US" sz="2025" dirty="0"/>
          </a:p>
        </p:txBody>
      </p:sp>
      <p:sp>
        <p:nvSpPr>
          <p:cNvPr id="31" name="Shape 29"/>
          <p:cNvSpPr/>
          <p:nvPr/>
        </p:nvSpPr>
        <p:spPr>
          <a:xfrm>
            <a:off x="3267224" y="5467573"/>
            <a:ext cx="421035" cy="442913"/>
          </a:xfrm>
          <a:prstGeom prst="roundRect">
            <a:avLst>
              <a:gd name="adj" fmla="val 18098"/>
            </a:avLst>
          </a:prstGeom>
          <a:solidFill>
            <a:srgbClr val="FFF1A8"/>
          </a:solidFill>
          <a:ln/>
        </p:spPr>
        <p:txBody>
          <a:bodyPr/>
          <a:lstStyle/>
          <a:p>
            <a:endParaRPr lang="en-US"/>
          </a:p>
        </p:txBody>
      </p:sp>
      <p:sp>
        <p:nvSpPr>
          <p:cNvPr id="32" name="Text 30"/>
          <p:cNvSpPr/>
          <p:nvPr/>
        </p:nvSpPr>
        <p:spPr>
          <a:xfrm>
            <a:off x="3400574" y="5543773"/>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t</a:t>
            </a:r>
            <a:endParaRPr lang="en-US" sz="2025" dirty="0"/>
          </a:p>
        </p:txBody>
      </p:sp>
      <p:sp>
        <p:nvSpPr>
          <p:cNvPr id="33" name="Text 31"/>
          <p:cNvSpPr/>
          <p:nvPr/>
        </p:nvSpPr>
        <p:spPr>
          <a:xfrm>
            <a:off x="3783509" y="5543773"/>
            <a:ext cx="237675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merge (es,t)</a:t>
            </a:r>
            <a:endParaRPr lang="en-US" sz="2025" dirty="0"/>
          </a:p>
        </p:txBody>
      </p:sp>
      <p:sp>
        <p:nvSpPr>
          <p:cNvPr id="34" name="Shape 32"/>
          <p:cNvSpPr/>
          <p:nvPr/>
        </p:nvSpPr>
        <p:spPr>
          <a:xfrm>
            <a:off x="1047750" y="6081936"/>
            <a:ext cx="421035" cy="442913"/>
          </a:xfrm>
          <a:prstGeom prst="roundRect">
            <a:avLst>
              <a:gd name="adj" fmla="val 18098"/>
            </a:avLst>
          </a:prstGeom>
          <a:solidFill>
            <a:srgbClr val="FFF1A8"/>
          </a:solidFill>
          <a:ln/>
        </p:spPr>
        <p:txBody>
          <a:bodyPr/>
          <a:lstStyle/>
          <a:p>
            <a:endParaRPr lang="en-US"/>
          </a:p>
        </p:txBody>
      </p:sp>
      <p:sp>
        <p:nvSpPr>
          <p:cNvPr id="35" name="Text 33"/>
          <p:cNvSpPr/>
          <p:nvPr/>
        </p:nvSpPr>
        <p:spPr>
          <a:xfrm>
            <a:off x="1181100" y="61581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l</a:t>
            </a:r>
            <a:endParaRPr lang="en-US" sz="2025" dirty="0"/>
          </a:p>
        </p:txBody>
      </p:sp>
      <p:sp>
        <p:nvSpPr>
          <p:cNvPr id="36" name="Shape 34"/>
          <p:cNvSpPr/>
          <p:nvPr/>
        </p:nvSpPr>
        <p:spPr>
          <a:xfrm>
            <a:off x="1564035" y="6081936"/>
            <a:ext cx="421035" cy="442913"/>
          </a:xfrm>
          <a:prstGeom prst="roundRect">
            <a:avLst>
              <a:gd name="adj" fmla="val 18098"/>
            </a:avLst>
          </a:prstGeom>
          <a:solidFill>
            <a:srgbClr val="FFF1A8"/>
          </a:solidFill>
          <a:ln/>
        </p:spPr>
        <p:txBody>
          <a:bodyPr/>
          <a:lstStyle/>
          <a:p>
            <a:endParaRPr lang="en-US"/>
          </a:p>
        </p:txBody>
      </p:sp>
      <p:sp>
        <p:nvSpPr>
          <p:cNvPr id="37" name="Text 35"/>
          <p:cNvSpPr/>
          <p:nvPr/>
        </p:nvSpPr>
        <p:spPr>
          <a:xfrm>
            <a:off x="1697385" y="61581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o</a:t>
            </a:r>
            <a:endParaRPr lang="en-US" sz="2025" dirty="0"/>
          </a:p>
        </p:txBody>
      </p:sp>
      <p:sp>
        <p:nvSpPr>
          <p:cNvPr id="38" name="Shape 36"/>
          <p:cNvSpPr/>
          <p:nvPr/>
        </p:nvSpPr>
        <p:spPr>
          <a:xfrm>
            <a:off x="2080320" y="6081936"/>
            <a:ext cx="421035" cy="442913"/>
          </a:xfrm>
          <a:prstGeom prst="roundRect">
            <a:avLst>
              <a:gd name="adj" fmla="val 18098"/>
            </a:avLst>
          </a:prstGeom>
          <a:solidFill>
            <a:srgbClr val="F1EFE9"/>
          </a:solidFill>
          <a:ln/>
        </p:spPr>
        <p:txBody>
          <a:bodyPr/>
          <a:lstStyle/>
          <a:p>
            <a:endParaRPr lang="en-US"/>
          </a:p>
        </p:txBody>
      </p:sp>
      <p:sp>
        <p:nvSpPr>
          <p:cNvPr id="39" name="Text 37"/>
          <p:cNvSpPr/>
          <p:nvPr/>
        </p:nvSpPr>
        <p:spPr>
          <a:xfrm>
            <a:off x="2213670" y="61581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w</a:t>
            </a:r>
            <a:endParaRPr lang="en-US" sz="2025" dirty="0"/>
          </a:p>
        </p:txBody>
      </p:sp>
      <p:sp>
        <p:nvSpPr>
          <p:cNvPr id="40" name="Shape 38"/>
          <p:cNvSpPr/>
          <p:nvPr/>
        </p:nvSpPr>
        <p:spPr>
          <a:xfrm>
            <a:off x="2596604" y="6081936"/>
            <a:ext cx="729704" cy="442913"/>
          </a:xfrm>
          <a:prstGeom prst="roundRect">
            <a:avLst>
              <a:gd name="adj" fmla="val 17204"/>
            </a:avLst>
          </a:prstGeom>
          <a:solidFill>
            <a:srgbClr val="E4F4EB"/>
          </a:solidFill>
          <a:ln/>
        </p:spPr>
        <p:txBody>
          <a:bodyPr/>
          <a:lstStyle/>
          <a:p>
            <a:endParaRPr lang="en-US"/>
          </a:p>
        </p:txBody>
      </p:sp>
      <p:sp>
        <p:nvSpPr>
          <p:cNvPr id="41" name="Text 39"/>
          <p:cNvSpPr/>
          <p:nvPr/>
        </p:nvSpPr>
        <p:spPr>
          <a:xfrm>
            <a:off x="2729954" y="6158136"/>
            <a:ext cx="539204"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78A4C"/>
                </a:solidFill>
                <a:latin typeface="Courier New" pitchFamily="34" charset="0"/>
                <a:ea typeface="Courier New" pitchFamily="34" charset="-122"/>
                <a:cs typeface="Courier New" pitchFamily="34" charset="-120"/>
              </a:rPr>
              <a:t>est</a:t>
            </a:r>
            <a:endParaRPr lang="en-US" sz="2025" dirty="0"/>
          </a:p>
        </p:txBody>
      </p:sp>
      <p:sp>
        <p:nvSpPr>
          <p:cNvPr id="42" name="Text 40"/>
          <p:cNvSpPr/>
          <p:nvPr/>
        </p:nvSpPr>
        <p:spPr>
          <a:xfrm>
            <a:off x="3421559" y="6158136"/>
            <a:ext cx="220698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merge (l,o)</a:t>
            </a:r>
            <a:endParaRPr lang="en-US" sz="2025" dirty="0"/>
          </a:p>
        </p:txBody>
      </p:sp>
      <p:sp>
        <p:nvSpPr>
          <p:cNvPr id="43" name="Shape 41"/>
          <p:cNvSpPr/>
          <p:nvPr/>
        </p:nvSpPr>
        <p:spPr>
          <a:xfrm>
            <a:off x="1047750" y="6696298"/>
            <a:ext cx="575370" cy="442913"/>
          </a:xfrm>
          <a:prstGeom prst="roundRect">
            <a:avLst>
              <a:gd name="adj" fmla="val 17204"/>
            </a:avLst>
          </a:prstGeom>
          <a:solidFill>
            <a:srgbClr val="E8F0FE"/>
          </a:solidFill>
          <a:ln/>
        </p:spPr>
        <p:txBody>
          <a:bodyPr/>
          <a:lstStyle/>
          <a:p>
            <a:endParaRPr lang="en-US"/>
          </a:p>
        </p:txBody>
      </p:sp>
      <p:sp>
        <p:nvSpPr>
          <p:cNvPr id="44" name="Text 42"/>
          <p:cNvSpPr/>
          <p:nvPr/>
        </p:nvSpPr>
        <p:spPr>
          <a:xfrm>
            <a:off x="1181100" y="6772498"/>
            <a:ext cx="384870"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F6FEB"/>
                </a:solidFill>
                <a:latin typeface="Courier New" pitchFamily="34" charset="0"/>
                <a:ea typeface="Courier New" pitchFamily="34" charset="-122"/>
                <a:cs typeface="Courier New" pitchFamily="34" charset="-120"/>
              </a:rPr>
              <a:t>lo</a:t>
            </a:r>
            <a:endParaRPr lang="en-US" sz="2025" dirty="0"/>
          </a:p>
        </p:txBody>
      </p:sp>
      <p:sp>
        <p:nvSpPr>
          <p:cNvPr id="45" name="Shape 43"/>
          <p:cNvSpPr/>
          <p:nvPr/>
        </p:nvSpPr>
        <p:spPr>
          <a:xfrm>
            <a:off x="1718370" y="6696298"/>
            <a:ext cx="421035" cy="442913"/>
          </a:xfrm>
          <a:prstGeom prst="roundRect">
            <a:avLst>
              <a:gd name="adj" fmla="val 18098"/>
            </a:avLst>
          </a:prstGeom>
          <a:solidFill>
            <a:srgbClr val="F1EFE9"/>
          </a:solidFill>
          <a:ln/>
        </p:spPr>
        <p:txBody>
          <a:bodyPr/>
          <a:lstStyle/>
          <a:p>
            <a:endParaRPr lang="en-US"/>
          </a:p>
        </p:txBody>
      </p:sp>
      <p:sp>
        <p:nvSpPr>
          <p:cNvPr id="46" name="Text 44"/>
          <p:cNvSpPr/>
          <p:nvPr/>
        </p:nvSpPr>
        <p:spPr>
          <a:xfrm>
            <a:off x="1851720" y="6772498"/>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w</a:t>
            </a:r>
            <a:endParaRPr lang="en-US" sz="2025" dirty="0"/>
          </a:p>
        </p:txBody>
      </p:sp>
      <p:sp>
        <p:nvSpPr>
          <p:cNvPr id="47" name="Shape 45"/>
          <p:cNvSpPr/>
          <p:nvPr/>
        </p:nvSpPr>
        <p:spPr>
          <a:xfrm>
            <a:off x="2234654" y="6696298"/>
            <a:ext cx="729704" cy="442913"/>
          </a:xfrm>
          <a:prstGeom prst="roundRect">
            <a:avLst>
              <a:gd name="adj" fmla="val 17204"/>
            </a:avLst>
          </a:prstGeom>
          <a:solidFill>
            <a:srgbClr val="E4F4EB"/>
          </a:solidFill>
          <a:ln/>
        </p:spPr>
        <p:txBody>
          <a:bodyPr/>
          <a:lstStyle/>
          <a:p>
            <a:endParaRPr lang="en-US"/>
          </a:p>
        </p:txBody>
      </p:sp>
      <p:sp>
        <p:nvSpPr>
          <p:cNvPr id="48" name="Text 46"/>
          <p:cNvSpPr/>
          <p:nvPr/>
        </p:nvSpPr>
        <p:spPr>
          <a:xfrm>
            <a:off x="2368004" y="6772498"/>
            <a:ext cx="539204"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78A4C"/>
                </a:solidFill>
                <a:latin typeface="Courier New" pitchFamily="34" charset="0"/>
                <a:ea typeface="Courier New" pitchFamily="34" charset="-122"/>
                <a:cs typeface="Courier New" pitchFamily="34" charset="-120"/>
              </a:rPr>
              <a:t>est</a:t>
            </a:r>
            <a:endParaRPr lang="en-US" sz="2025" dirty="0"/>
          </a:p>
        </p:txBody>
      </p:sp>
      <p:sp>
        <p:nvSpPr>
          <p:cNvPr id="49" name="Text 47"/>
          <p:cNvSpPr/>
          <p:nvPr/>
        </p:nvSpPr>
        <p:spPr>
          <a:xfrm>
            <a:off x="3059609" y="6772498"/>
            <a:ext cx="237675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 keep going</a:t>
            </a:r>
            <a:endParaRPr lang="en-US" sz="2025" dirty="0"/>
          </a:p>
        </p:txBody>
      </p:sp>
      <p:sp>
        <p:nvSpPr>
          <p:cNvPr id="50" name="Text 48"/>
          <p:cNvSpPr/>
          <p:nvPr/>
        </p:nvSpPr>
        <p:spPr>
          <a:xfrm>
            <a:off x="8439150" y="4556522"/>
            <a:ext cx="968121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Why pieces, not </a:t>
            </a:r>
            <a:r>
              <a:rPr lang="en-US" sz="2700" dirty="0">
                <a:solidFill>
                  <a:srgbClr val="1A1A1A"/>
                </a:solidFill>
                <a:highlight>
                  <a:srgbClr val="FFF1A8"/>
                </a:highlight>
                <a:latin typeface="Georgia" pitchFamily="34" charset="0"/>
                <a:ea typeface="Georgia" pitchFamily="34" charset="-122"/>
                <a:cs typeface="Georgia" pitchFamily="34" charset="-120"/>
              </a:rPr>
              <a:t>whole words</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51" name="Text 49"/>
          <p:cNvSpPr/>
          <p:nvPr/>
        </p:nvSpPr>
        <p:spPr>
          <a:xfrm>
            <a:off x="8439150" y="5211812"/>
            <a:ext cx="9681210" cy="44291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Common words (</a:t>
            </a:r>
            <a:r>
              <a:rPr lang="en-US" sz="2025" dirty="0">
                <a:solidFill>
                  <a:srgbClr val="3D3D3D"/>
                </a:solidFill>
                <a:latin typeface="Courier New" pitchFamily="34" charset="0"/>
                <a:ea typeface="Courier New" pitchFamily="34" charset="-122"/>
                <a:cs typeface="Courier New" pitchFamily="34" charset="-120"/>
              </a:rPr>
              <a:t>the</a:t>
            </a:r>
            <a:r>
              <a:rPr lang="en-US" sz="2025" dirty="0">
                <a:solidFill>
                  <a:srgbClr val="3D3D3D"/>
                </a:solidFill>
                <a:latin typeface="Arial" pitchFamily="34" charset="0"/>
                <a:ea typeface="Arial" pitchFamily="34" charset="-122"/>
                <a:cs typeface="Arial" pitchFamily="34" charset="-120"/>
              </a:rPr>
              <a:t>) and word-pieces (</a:t>
            </a:r>
            <a:r>
              <a:rPr lang="en-US" sz="2025" dirty="0">
                <a:solidFill>
                  <a:srgbClr val="3D3D3D"/>
                </a:solidFill>
                <a:latin typeface="Courier New" pitchFamily="34" charset="0"/>
                <a:ea typeface="Courier New" pitchFamily="34" charset="-122"/>
                <a:cs typeface="Courier New" pitchFamily="34" charset="-120"/>
              </a:rPr>
              <a:t>ing</a:t>
            </a:r>
            <a:r>
              <a:rPr lang="en-US" sz="2025" dirty="0">
                <a:solidFill>
                  <a:srgbClr val="3D3D3D"/>
                </a:solidFill>
                <a:latin typeface="Arial" pitchFamily="34" charset="0"/>
                <a:ea typeface="Arial" pitchFamily="34" charset="-122"/>
                <a:cs typeface="Arial" pitchFamily="34" charset="-120"/>
              </a:rPr>
              <a:t>, </a:t>
            </a:r>
            <a:r>
              <a:rPr lang="en-US" sz="2025" dirty="0">
                <a:solidFill>
                  <a:srgbClr val="3D3D3D"/>
                </a:solidFill>
                <a:latin typeface="Courier New" pitchFamily="34" charset="0"/>
                <a:ea typeface="Courier New" pitchFamily="34" charset="-122"/>
                <a:cs typeface="Courier New" pitchFamily="34" charset="-120"/>
              </a:rPr>
              <a:t>est</a:t>
            </a:r>
            <a:r>
              <a:rPr lang="en-US" sz="2025" dirty="0">
                <a:solidFill>
                  <a:srgbClr val="3D3D3D"/>
                </a:solidFill>
                <a:latin typeface="Arial" pitchFamily="34" charset="0"/>
                <a:ea typeface="Arial" pitchFamily="34" charset="-122"/>
                <a:cs typeface="Arial" pitchFamily="34" charset="-120"/>
              </a:rPr>
              <a:t>) collapse to one token.</a:t>
            </a:r>
            <a:endParaRPr lang="en-US" sz="2025" dirty="0"/>
          </a:p>
        </p:txBody>
      </p:sp>
      <p:sp>
        <p:nvSpPr>
          <p:cNvPr id="52" name="Text 50"/>
          <p:cNvSpPr/>
          <p:nvPr/>
        </p:nvSpPr>
        <p:spPr>
          <a:xfrm>
            <a:off x="8439150" y="5807125"/>
            <a:ext cx="9065133" cy="121443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Whole-word systems break on an unknown word. Pieces never do — </a:t>
            </a:r>
            <a:r>
              <a:rPr lang="en-US" sz="2025" dirty="0">
                <a:solidFill>
                  <a:srgbClr val="3D3D3D"/>
                </a:solidFill>
                <a:latin typeface="Courier New" pitchFamily="34" charset="0"/>
                <a:ea typeface="Courier New" pitchFamily="34" charset="-122"/>
                <a:cs typeface="Courier New" pitchFamily="34" charset="-120"/>
              </a:rPr>
              <a:t>technobabble → techno + babble </a:t>
            </a:r>
            <a:r>
              <a:rPr lang="en-US" sz="2025" dirty="0">
                <a:solidFill>
                  <a:srgbClr val="3D3D3D"/>
                </a:solidFill>
                <a:latin typeface="Arial" pitchFamily="34" charset="0"/>
                <a:ea typeface="Arial" pitchFamily="34" charset="-122"/>
                <a:cs typeface="Arial" pitchFamily="34" charset="-120"/>
              </a:rPr>
              <a:t>— and the vocabulary stays a fixed </a:t>
            </a:r>
            <a:r>
              <a:rPr lang="en-US" sz="2025" dirty="0">
                <a:solidFill>
                  <a:srgbClr val="3D3D3D"/>
                </a:solidFill>
                <a:highlight>
                  <a:srgbClr val="FFF1A8"/>
                </a:highlight>
                <a:latin typeface="Arial" pitchFamily="34" charset="0"/>
                <a:ea typeface="Arial" pitchFamily="34" charset="-122"/>
                <a:cs typeface="Arial" pitchFamily="34" charset="-120"/>
              </a:rPr>
              <a:t>~100–200k</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53" name="Shape 51"/>
          <p:cNvSpPr/>
          <p:nvPr/>
        </p:nvSpPr>
        <p:spPr>
          <a:xfrm>
            <a:off x="1047750" y="9520238"/>
            <a:ext cx="16192500" cy="9525"/>
          </a:xfrm>
          <a:prstGeom prst="rect">
            <a:avLst/>
          </a:prstGeom>
          <a:solidFill>
            <a:srgbClr val="E3E1DA"/>
          </a:solidFill>
          <a:ln/>
        </p:spPr>
        <p:txBody>
          <a:bodyPr/>
          <a:lstStyle/>
          <a:p>
            <a:endParaRPr lang="en-US"/>
          </a:p>
        </p:txBody>
      </p:sp>
      <p:sp>
        <p:nvSpPr>
          <p:cNvPr id="54" name="Text 5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55" name="Text 53"/>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3006403"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3096595"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The Illustrated Word2vec</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How Embeddings Are Learned</a:t>
            </a:r>
            <a:endParaRPr lang="en-US" sz="4800" dirty="0"/>
          </a:p>
        </p:txBody>
      </p:sp>
      <p:sp>
        <p:nvSpPr>
          <p:cNvPr id="9" name="Text 7"/>
          <p:cNvSpPr/>
          <p:nvPr/>
        </p:nvSpPr>
        <p:spPr>
          <a:xfrm>
            <a:off x="1047750" y="4451747"/>
            <a:ext cx="8182928"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7C7A73"/>
                </a:solidFill>
                <a:latin typeface="Arial" pitchFamily="34" charset="0"/>
                <a:ea typeface="Arial" pitchFamily="34" charset="-122"/>
                <a:cs typeface="Arial" pitchFamily="34" charset="-120"/>
              </a:rPr>
              <a:t>OLD WAY — ONE-HOT</a:t>
            </a:r>
            <a:endParaRPr lang="en-US" sz="1800" dirty="0"/>
          </a:p>
        </p:txBody>
      </p:sp>
      <p:sp>
        <p:nvSpPr>
          <p:cNvPr id="10" name="Shape 8"/>
          <p:cNvSpPr/>
          <p:nvPr/>
        </p:nvSpPr>
        <p:spPr>
          <a:xfrm>
            <a:off x="1047750" y="4885134"/>
            <a:ext cx="7439025" cy="1312515"/>
          </a:xfrm>
          <a:prstGeom prst="roundRect">
            <a:avLst>
              <a:gd name="adj" fmla="val 8708"/>
            </a:avLst>
          </a:prstGeom>
          <a:solidFill>
            <a:srgbClr val="F8F7F3"/>
          </a:solidFill>
          <a:ln w="9525">
            <a:solidFill>
              <a:srgbClr val="E3E1DA"/>
            </a:solidFill>
            <a:prstDash val="solid"/>
          </a:ln>
        </p:spPr>
        <p:txBody>
          <a:bodyPr/>
          <a:lstStyle/>
          <a:p>
            <a:endParaRPr lang="en-US"/>
          </a:p>
        </p:txBody>
      </p:sp>
      <p:sp>
        <p:nvSpPr>
          <p:cNvPr id="11" name="Text 9"/>
          <p:cNvSpPr/>
          <p:nvPr/>
        </p:nvSpPr>
        <p:spPr>
          <a:xfrm>
            <a:off x="1285875" y="5104209"/>
            <a:ext cx="7171658" cy="475283"/>
          </a:xfrm>
          <a:prstGeom prst="rect">
            <a:avLst/>
          </a:prstGeom>
          <a:noFill/>
          <a:ln/>
        </p:spPr>
        <p:txBody>
          <a:bodyPr wrap="square" lIns="25400" tIns="25400" rIns="25400" bIns="25400" rtlCol="0" anchor="t">
            <a:normAutofit/>
          </a:bodyPr>
          <a:lstStyle/>
          <a:p>
            <a:pPr marL="0" indent="0" algn="l">
              <a:lnSpc>
                <a:spcPct val="150492"/>
              </a:lnSpc>
              <a:buNone/>
            </a:pPr>
            <a:r>
              <a:rPr lang="en-US" sz="2025" dirty="0">
                <a:solidFill>
                  <a:srgbClr val="1A1A1A"/>
                </a:solidFill>
                <a:latin typeface="Courier New" pitchFamily="34" charset="0"/>
                <a:ea typeface="Courier New" pitchFamily="34" charset="-122"/>
                <a:cs typeface="Courier New" pitchFamily="34" charset="-120"/>
              </a:rPr>
              <a:t>cat = [0 0 </a:t>
            </a:r>
            <a:r>
              <a:rPr lang="en-US" sz="2025" dirty="0">
                <a:solidFill>
                  <a:srgbClr val="D64545"/>
                </a:solidFill>
                <a:latin typeface="Courier New" pitchFamily="34" charset="0"/>
                <a:ea typeface="Courier New" pitchFamily="34" charset="-122"/>
                <a:cs typeface="Courier New" pitchFamily="34" charset="-120"/>
              </a:rPr>
              <a:t>1 </a:t>
            </a:r>
            <a:r>
              <a:rPr lang="en-US" sz="2025" dirty="0">
                <a:solidFill>
                  <a:srgbClr val="1A1A1A"/>
                </a:solidFill>
                <a:latin typeface="Courier New" pitchFamily="34" charset="0"/>
                <a:ea typeface="Courier New" pitchFamily="34" charset="-122"/>
                <a:cs typeface="Courier New" pitchFamily="34" charset="-120"/>
              </a:rPr>
              <a:t>0 0 0]</a:t>
            </a:r>
            <a:endParaRPr lang="en-US" sz="2025" dirty="0"/>
          </a:p>
        </p:txBody>
      </p:sp>
      <p:sp>
        <p:nvSpPr>
          <p:cNvPr id="12" name="Text 10"/>
          <p:cNvSpPr/>
          <p:nvPr/>
        </p:nvSpPr>
        <p:spPr>
          <a:xfrm>
            <a:off x="1285875" y="5541392"/>
            <a:ext cx="7171658" cy="475283"/>
          </a:xfrm>
          <a:prstGeom prst="rect">
            <a:avLst/>
          </a:prstGeom>
          <a:noFill/>
          <a:ln/>
        </p:spPr>
        <p:txBody>
          <a:bodyPr wrap="square" lIns="25400" tIns="25400" rIns="25400" bIns="25400" rtlCol="0" anchor="t">
            <a:normAutofit/>
          </a:bodyPr>
          <a:lstStyle/>
          <a:p>
            <a:pPr marL="0" indent="0" algn="l">
              <a:lnSpc>
                <a:spcPct val="150492"/>
              </a:lnSpc>
              <a:buNone/>
            </a:pPr>
            <a:r>
              <a:rPr lang="en-US" sz="2025" dirty="0">
                <a:solidFill>
                  <a:srgbClr val="1A1A1A"/>
                </a:solidFill>
                <a:latin typeface="Courier New" pitchFamily="34" charset="0"/>
                <a:ea typeface="Courier New" pitchFamily="34" charset="-122"/>
                <a:cs typeface="Courier New" pitchFamily="34" charset="-120"/>
              </a:rPr>
              <a:t>king = [</a:t>
            </a:r>
            <a:r>
              <a:rPr lang="en-US" sz="2025" dirty="0">
                <a:solidFill>
                  <a:srgbClr val="D64545"/>
                </a:solidFill>
                <a:latin typeface="Courier New" pitchFamily="34" charset="0"/>
                <a:ea typeface="Courier New" pitchFamily="34" charset="-122"/>
                <a:cs typeface="Courier New" pitchFamily="34" charset="-120"/>
              </a:rPr>
              <a:t>1 </a:t>
            </a:r>
            <a:r>
              <a:rPr lang="en-US" sz="2025" dirty="0">
                <a:solidFill>
                  <a:srgbClr val="1A1A1A"/>
                </a:solidFill>
                <a:latin typeface="Courier New" pitchFamily="34" charset="0"/>
                <a:ea typeface="Courier New" pitchFamily="34" charset="-122"/>
                <a:cs typeface="Courier New" pitchFamily="34" charset="-120"/>
              </a:rPr>
              <a:t>0 0 0 0 0]</a:t>
            </a:r>
            <a:endParaRPr lang="en-US" sz="2025" dirty="0"/>
          </a:p>
        </p:txBody>
      </p:sp>
      <p:sp>
        <p:nvSpPr>
          <p:cNvPr id="13" name="Text 11"/>
          <p:cNvSpPr/>
          <p:nvPr/>
        </p:nvSpPr>
        <p:spPr>
          <a:xfrm>
            <a:off x="1047750" y="6331000"/>
            <a:ext cx="818292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D64545"/>
                </a:solidFill>
                <a:latin typeface="Arial" pitchFamily="34" charset="0"/>
                <a:ea typeface="Arial" pitchFamily="34" charset="-122"/>
                <a:cs typeface="Arial" pitchFamily="34" charset="-120"/>
              </a:rPr>
              <a:t>Every word equally unrelated.</a:t>
            </a:r>
            <a:endParaRPr lang="en-US" sz="1800" dirty="0"/>
          </a:p>
        </p:txBody>
      </p:sp>
      <p:sp>
        <p:nvSpPr>
          <p:cNvPr id="14" name="Text 12"/>
          <p:cNvSpPr/>
          <p:nvPr/>
        </p:nvSpPr>
        <p:spPr>
          <a:xfrm>
            <a:off x="8943975" y="5291361"/>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5" name="Text 13"/>
          <p:cNvSpPr/>
          <p:nvPr/>
        </p:nvSpPr>
        <p:spPr>
          <a:xfrm>
            <a:off x="9801225" y="4451747"/>
            <a:ext cx="8182928"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LEARNED — DISTRIBUTED</a:t>
            </a:r>
            <a:endParaRPr lang="en-US" sz="1800" dirty="0"/>
          </a:p>
        </p:txBody>
      </p:sp>
      <p:sp>
        <p:nvSpPr>
          <p:cNvPr id="16" name="Shape 14"/>
          <p:cNvSpPr/>
          <p:nvPr/>
        </p:nvSpPr>
        <p:spPr>
          <a:xfrm>
            <a:off x="9801225" y="4885134"/>
            <a:ext cx="7439025" cy="1312515"/>
          </a:xfrm>
          <a:prstGeom prst="roundRect">
            <a:avLst>
              <a:gd name="adj" fmla="val 8708"/>
            </a:avLst>
          </a:prstGeom>
          <a:solidFill>
            <a:srgbClr val="E4F4EB"/>
          </a:solidFill>
          <a:ln w="9525">
            <a:solidFill>
              <a:srgbClr val="178A4C"/>
            </a:solidFill>
            <a:prstDash val="solid"/>
          </a:ln>
        </p:spPr>
        <p:txBody>
          <a:bodyPr/>
          <a:lstStyle/>
          <a:p>
            <a:endParaRPr lang="en-US"/>
          </a:p>
        </p:txBody>
      </p:sp>
      <p:sp>
        <p:nvSpPr>
          <p:cNvPr id="17" name="Text 15"/>
          <p:cNvSpPr/>
          <p:nvPr/>
        </p:nvSpPr>
        <p:spPr>
          <a:xfrm>
            <a:off x="10039350" y="5104209"/>
            <a:ext cx="7171658" cy="475283"/>
          </a:xfrm>
          <a:prstGeom prst="rect">
            <a:avLst/>
          </a:prstGeom>
          <a:noFill/>
          <a:ln/>
        </p:spPr>
        <p:txBody>
          <a:bodyPr wrap="square" lIns="25400" tIns="25400" rIns="25400" bIns="25400" rtlCol="0" anchor="t">
            <a:normAutofit/>
          </a:bodyPr>
          <a:lstStyle/>
          <a:p>
            <a:pPr marL="0" indent="0" algn="l">
              <a:lnSpc>
                <a:spcPct val="150492"/>
              </a:lnSpc>
              <a:buNone/>
            </a:pPr>
            <a:r>
              <a:rPr lang="en-US" sz="2025" dirty="0">
                <a:solidFill>
                  <a:srgbClr val="1A1A1A"/>
                </a:solidFill>
                <a:latin typeface="Courier New" pitchFamily="34" charset="0"/>
                <a:ea typeface="Courier New" pitchFamily="34" charset="-122"/>
                <a:cs typeface="Courier New" pitchFamily="34" charset="-120"/>
              </a:rPr>
              <a:t>cat = [ .21 −.7 .4 .9 ]</a:t>
            </a:r>
            <a:endParaRPr lang="en-US" sz="2025" dirty="0"/>
          </a:p>
        </p:txBody>
      </p:sp>
      <p:sp>
        <p:nvSpPr>
          <p:cNvPr id="18" name="Text 16"/>
          <p:cNvSpPr/>
          <p:nvPr/>
        </p:nvSpPr>
        <p:spPr>
          <a:xfrm>
            <a:off x="10039350" y="5541392"/>
            <a:ext cx="7171658" cy="475283"/>
          </a:xfrm>
          <a:prstGeom prst="rect">
            <a:avLst/>
          </a:prstGeom>
          <a:noFill/>
          <a:ln/>
        </p:spPr>
        <p:txBody>
          <a:bodyPr wrap="square" lIns="25400" tIns="25400" rIns="25400" bIns="25400" rtlCol="0" anchor="t">
            <a:normAutofit/>
          </a:bodyPr>
          <a:lstStyle/>
          <a:p>
            <a:pPr marL="0" indent="0" algn="l">
              <a:lnSpc>
                <a:spcPct val="150492"/>
              </a:lnSpc>
              <a:buNone/>
            </a:pPr>
            <a:r>
              <a:rPr lang="en-US" sz="2025" dirty="0">
                <a:solidFill>
                  <a:srgbClr val="1A1A1A"/>
                </a:solidFill>
                <a:latin typeface="Courier New" pitchFamily="34" charset="0"/>
                <a:ea typeface="Courier New" pitchFamily="34" charset="-122"/>
                <a:cs typeface="Courier New" pitchFamily="34" charset="-120"/>
              </a:rPr>
              <a:t>king = [ .8 −.1 .6 −.3 ]</a:t>
            </a:r>
            <a:endParaRPr lang="en-US" sz="2025" dirty="0"/>
          </a:p>
        </p:txBody>
      </p:sp>
      <p:sp>
        <p:nvSpPr>
          <p:cNvPr id="19" name="Text 17"/>
          <p:cNvSpPr/>
          <p:nvPr/>
        </p:nvSpPr>
        <p:spPr>
          <a:xfrm>
            <a:off x="9801225" y="6331000"/>
            <a:ext cx="818292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Arial" pitchFamily="34" charset="0"/>
                <a:ea typeface="Arial" pitchFamily="34" charset="-122"/>
                <a:cs typeface="Arial" pitchFamily="34" charset="-120"/>
              </a:rPr>
              <a:t>Similar context → similar vector.</a:t>
            </a:r>
            <a:endParaRPr lang="en-US" sz="1800" dirty="0"/>
          </a:p>
        </p:txBody>
      </p:sp>
      <p:sp>
        <p:nvSpPr>
          <p:cNvPr id="20" name="Text 18"/>
          <p:cNvSpPr/>
          <p:nvPr/>
        </p:nvSpPr>
        <p:spPr>
          <a:xfrm>
            <a:off x="1047750" y="8915400"/>
            <a:ext cx="17811750" cy="457200"/>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Georgia" pitchFamily="34" charset="0"/>
                <a:ea typeface="Georgia" pitchFamily="34" charset="-122"/>
                <a:cs typeface="Georgia" pitchFamily="34" charset="-120"/>
              </a:rPr>
              <a:t>Similar context → nearby vectors — so meaning becomes geometry: </a:t>
            </a:r>
            <a:r>
              <a:rPr lang="en-US" sz="2700" dirty="0">
                <a:solidFill>
                  <a:srgbClr val="1A1A1A"/>
                </a:solidFill>
                <a:highlight>
                  <a:srgbClr val="FFF1A8"/>
                </a:highlight>
                <a:latin typeface="Courier New" pitchFamily="34" charset="0"/>
                <a:ea typeface="Courier New" pitchFamily="34" charset="-122"/>
                <a:cs typeface="Courier New" pitchFamily="34" charset="-120"/>
              </a:rPr>
              <a:t>king − man + woman ≈ queen</a:t>
            </a:r>
            <a:endParaRPr lang="en-US" sz="2700" dirty="0"/>
          </a:p>
        </p:txBody>
      </p:sp>
      <p:sp>
        <p:nvSpPr>
          <p:cNvPr id="21" name="Shape 19"/>
          <p:cNvSpPr/>
          <p:nvPr/>
        </p:nvSpPr>
        <p:spPr>
          <a:xfrm>
            <a:off x="1047750" y="9520238"/>
            <a:ext cx="16192500" cy="9525"/>
          </a:xfrm>
          <a:prstGeom prst="rect">
            <a:avLst/>
          </a:prstGeom>
          <a:solidFill>
            <a:srgbClr val="E3E1DA"/>
          </a:solidFill>
          <a:ln/>
        </p:spPr>
        <p:txBody>
          <a:bodyPr/>
          <a:lstStyle/>
          <a:p>
            <a:endParaRPr lang="en-US"/>
          </a:p>
        </p:txBody>
      </p:sp>
      <p:sp>
        <p:nvSpPr>
          <p:cNvPr id="22" name="Text 2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3" name="Text 21"/>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07256"/>
            <a:ext cx="123825" cy="123825"/>
          </a:xfrm>
          <a:prstGeom prst="ellipse">
            <a:avLst/>
          </a:prstGeom>
          <a:solidFill>
            <a:srgbClr val="7A4FD0"/>
          </a:solidFill>
          <a:ln/>
        </p:spPr>
        <p:txBody>
          <a:bodyPr/>
          <a:lstStyle/>
          <a:p>
            <a:endParaRPr lang="en-US"/>
          </a:p>
        </p:txBody>
      </p:sp>
      <p:sp>
        <p:nvSpPr>
          <p:cNvPr id="3" name="Text 1"/>
          <p:cNvSpPr/>
          <p:nvPr/>
        </p:nvSpPr>
        <p:spPr>
          <a:xfrm>
            <a:off x="1304925" y="838200"/>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00100"/>
            <a:ext cx="1724769" cy="338138"/>
          </a:xfrm>
          <a:prstGeom prst="roundRect">
            <a:avLst>
              <a:gd name="adj" fmla="val 50000"/>
            </a:avLst>
          </a:prstGeom>
          <a:solidFill>
            <a:srgbClr val="E4F4EB"/>
          </a:solidFill>
          <a:ln/>
        </p:spPr>
        <p:txBody>
          <a:bodyPr/>
          <a:lstStyle/>
          <a:p>
            <a:endParaRPr lang="en-US"/>
          </a:p>
        </p:txBody>
      </p:sp>
      <p:sp>
        <p:nvSpPr>
          <p:cNvPr id="5" name="Text 3"/>
          <p:cNvSpPr/>
          <p:nvPr/>
        </p:nvSpPr>
        <p:spPr>
          <a:xfrm>
            <a:off x="4083546" y="838200"/>
            <a:ext cx="166864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a:t>
            </a:r>
            <a:endParaRPr lang="en-US" sz="1800" dirty="0"/>
          </a:p>
        </p:txBody>
      </p:sp>
      <p:sp>
        <p:nvSpPr>
          <p:cNvPr id="6" name="Text 4"/>
          <p:cNvSpPr/>
          <p:nvPr/>
        </p:nvSpPr>
        <p:spPr>
          <a:xfrm>
            <a:off x="1047750" y="12715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Query, Key, Value</a:t>
            </a:r>
            <a:endParaRPr lang="en-US" sz="4800" dirty="0"/>
          </a:p>
        </p:txBody>
      </p:sp>
      <p:sp>
        <p:nvSpPr>
          <p:cNvPr id="7" name="Shape 5"/>
          <p:cNvSpPr/>
          <p:nvPr/>
        </p:nvSpPr>
        <p:spPr>
          <a:xfrm>
            <a:off x="1047750" y="4200748"/>
            <a:ext cx="5232350" cy="1662113"/>
          </a:xfrm>
          <a:prstGeom prst="roundRect">
            <a:avLst>
              <a:gd name="adj" fmla="val 9169"/>
            </a:avLst>
          </a:prstGeom>
          <a:solidFill>
            <a:srgbClr val="E8F0FE"/>
          </a:solidFill>
          <a:ln w="9525">
            <a:solidFill>
              <a:srgbClr val="1F6FEB"/>
            </a:solidFill>
            <a:prstDash val="solid"/>
          </a:ln>
        </p:spPr>
        <p:txBody>
          <a:bodyPr/>
          <a:lstStyle/>
          <a:p>
            <a:endParaRPr lang="en-US"/>
          </a:p>
        </p:txBody>
      </p:sp>
      <p:sp>
        <p:nvSpPr>
          <p:cNvPr id="8" name="Text 6"/>
          <p:cNvSpPr/>
          <p:nvPr/>
        </p:nvSpPr>
        <p:spPr>
          <a:xfrm>
            <a:off x="1343025" y="4457923"/>
            <a:ext cx="510598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Query (Q)</a:t>
            </a:r>
            <a:endParaRPr lang="en-US" sz="2400" dirty="0"/>
          </a:p>
        </p:txBody>
      </p:sp>
      <p:sp>
        <p:nvSpPr>
          <p:cNvPr id="9" name="Text 7"/>
          <p:cNvSpPr/>
          <p:nvPr/>
        </p:nvSpPr>
        <p:spPr>
          <a:xfrm>
            <a:off x="1343025" y="4915123"/>
            <a:ext cx="510598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What I’m looking for</a:t>
            </a:r>
            <a:endParaRPr lang="en-US" sz="2400" dirty="0"/>
          </a:p>
        </p:txBody>
      </p:sp>
      <p:sp>
        <p:nvSpPr>
          <p:cNvPr id="10" name="Text 8"/>
          <p:cNvSpPr/>
          <p:nvPr/>
        </p:nvSpPr>
        <p:spPr>
          <a:xfrm>
            <a:off x="1343025" y="5343748"/>
            <a:ext cx="510598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your search box text</a:t>
            </a:r>
            <a:endParaRPr lang="en-US" sz="1800" dirty="0"/>
          </a:p>
        </p:txBody>
      </p:sp>
      <p:sp>
        <p:nvSpPr>
          <p:cNvPr id="11" name="Shape 9"/>
          <p:cNvSpPr/>
          <p:nvPr/>
        </p:nvSpPr>
        <p:spPr>
          <a:xfrm>
            <a:off x="6527750" y="4200748"/>
            <a:ext cx="5232425" cy="1662113"/>
          </a:xfrm>
          <a:prstGeom prst="roundRect">
            <a:avLst>
              <a:gd name="adj" fmla="val 9169"/>
            </a:avLst>
          </a:prstGeom>
          <a:solidFill>
            <a:srgbClr val="E4F4EB"/>
          </a:solidFill>
          <a:ln w="9525">
            <a:solidFill>
              <a:srgbClr val="178A4C"/>
            </a:solidFill>
            <a:prstDash val="solid"/>
          </a:ln>
        </p:spPr>
        <p:txBody>
          <a:bodyPr/>
          <a:lstStyle/>
          <a:p>
            <a:endParaRPr lang="en-US"/>
          </a:p>
        </p:txBody>
      </p:sp>
      <p:sp>
        <p:nvSpPr>
          <p:cNvPr id="12" name="Text 10"/>
          <p:cNvSpPr/>
          <p:nvPr/>
        </p:nvSpPr>
        <p:spPr>
          <a:xfrm>
            <a:off x="6823025" y="4457923"/>
            <a:ext cx="5106062"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Key (K)</a:t>
            </a:r>
            <a:endParaRPr lang="en-US" sz="2400" dirty="0"/>
          </a:p>
        </p:txBody>
      </p:sp>
      <p:sp>
        <p:nvSpPr>
          <p:cNvPr id="13" name="Text 11"/>
          <p:cNvSpPr/>
          <p:nvPr/>
        </p:nvSpPr>
        <p:spPr>
          <a:xfrm>
            <a:off x="6823025" y="4915123"/>
            <a:ext cx="5106062"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What I advertise</a:t>
            </a:r>
            <a:endParaRPr lang="en-US" sz="2400" dirty="0"/>
          </a:p>
        </p:txBody>
      </p:sp>
      <p:sp>
        <p:nvSpPr>
          <p:cNvPr id="14" name="Text 12"/>
          <p:cNvSpPr/>
          <p:nvPr/>
        </p:nvSpPr>
        <p:spPr>
          <a:xfrm>
            <a:off x="6823025" y="5343748"/>
            <a:ext cx="5106062"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a video’s title &amp; tags</a:t>
            </a:r>
            <a:endParaRPr lang="en-US" sz="1800" dirty="0"/>
          </a:p>
        </p:txBody>
      </p:sp>
      <p:sp>
        <p:nvSpPr>
          <p:cNvPr id="15" name="Shape 13"/>
          <p:cNvSpPr/>
          <p:nvPr/>
        </p:nvSpPr>
        <p:spPr>
          <a:xfrm>
            <a:off x="12007825" y="4200748"/>
            <a:ext cx="5232425" cy="1662113"/>
          </a:xfrm>
          <a:prstGeom prst="roundRect">
            <a:avLst>
              <a:gd name="adj" fmla="val 9169"/>
            </a:avLst>
          </a:prstGeom>
          <a:solidFill>
            <a:srgbClr val="FBF0D9"/>
          </a:solidFill>
          <a:ln w="9525">
            <a:solidFill>
              <a:srgbClr val="C77D0A"/>
            </a:solidFill>
            <a:prstDash val="solid"/>
          </a:ln>
        </p:spPr>
        <p:txBody>
          <a:bodyPr/>
          <a:lstStyle/>
          <a:p>
            <a:endParaRPr lang="en-US"/>
          </a:p>
        </p:txBody>
      </p:sp>
      <p:sp>
        <p:nvSpPr>
          <p:cNvPr id="16" name="Text 14"/>
          <p:cNvSpPr/>
          <p:nvPr/>
        </p:nvSpPr>
        <p:spPr>
          <a:xfrm>
            <a:off x="12303100" y="4457923"/>
            <a:ext cx="5106062"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C77D0A"/>
                </a:solidFill>
                <a:latin typeface="Courier New" pitchFamily="34" charset="0"/>
                <a:ea typeface="Courier New" pitchFamily="34" charset="-122"/>
                <a:cs typeface="Courier New" pitchFamily="34" charset="-120"/>
              </a:rPr>
              <a:t>Value (V)</a:t>
            </a:r>
            <a:endParaRPr lang="en-US" sz="2400" dirty="0"/>
          </a:p>
        </p:txBody>
      </p:sp>
      <p:sp>
        <p:nvSpPr>
          <p:cNvPr id="17" name="Text 15"/>
          <p:cNvSpPr/>
          <p:nvPr/>
        </p:nvSpPr>
        <p:spPr>
          <a:xfrm>
            <a:off x="12303100" y="4915123"/>
            <a:ext cx="5106062"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What you actually get</a:t>
            </a:r>
            <a:endParaRPr lang="en-US" sz="2400" dirty="0"/>
          </a:p>
        </p:txBody>
      </p:sp>
      <p:sp>
        <p:nvSpPr>
          <p:cNvPr id="18" name="Text 16"/>
          <p:cNvSpPr/>
          <p:nvPr/>
        </p:nvSpPr>
        <p:spPr>
          <a:xfrm>
            <a:off x="12303100" y="5343748"/>
            <a:ext cx="5106062"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the video’s content</a:t>
            </a:r>
            <a:endParaRPr lang="en-US" sz="1800" dirty="0"/>
          </a:p>
        </p:txBody>
      </p:sp>
      <p:sp>
        <p:nvSpPr>
          <p:cNvPr id="19" name="Shape 17"/>
          <p:cNvSpPr/>
          <p:nvPr/>
        </p:nvSpPr>
        <p:spPr>
          <a:xfrm>
            <a:off x="3974232" y="6148611"/>
            <a:ext cx="2715071" cy="538163"/>
          </a:xfrm>
          <a:prstGeom prst="roundRect">
            <a:avLst>
              <a:gd name="adj" fmla="val 17699"/>
            </a:avLst>
          </a:prstGeom>
          <a:solidFill>
            <a:srgbClr val="F8F7F3"/>
          </a:solidFill>
          <a:ln w="9525">
            <a:solidFill>
              <a:srgbClr val="E3E1DA"/>
            </a:solidFill>
            <a:prstDash val="solid"/>
          </a:ln>
        </p:spPr>
        <p:txBody>
          <a:bodyPr/>
          <a:lstStyle/>
          <a:p>
            <a:endParaRPr lang="en-US"/>
          </a:p>
        </p:txBody>
      </p:sp>
      <p:sp>
        <p:nvSpPr>
          <p:cNvPr id="20" name="Text 18"/>
          <p:cNvSpPr/>
          <p:nvPr/>
        </p:nvSpPr>
        <p:spPr>
          <a:xfrm>
            <a:off x="4174257" y="6272436"/>
            <a:ext cx="2396474"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token embedding</a:t>
            </a:r>
            <a:endParaRPr lang="en-US" sz="2025" dirty="0"/>
          </a:p>
        </p:txBody>
      </p:sp>
      <p:sp>
        <p:nvSpPr>
          <p:cNvPr id="21" name="Text 19"/>
          <p:cNvSpPr/>
          <p:nvPr/>
        </p:nvSpPr>
        <p:spPr>
          <a:xfrm>
            <a:off x="6879803" y="6255767"/>
            <a:ext cx="2642458" cy="361950"/>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 W₀ / Wₖ / Wᵛ →</a:t>
            </a:r>
            <a:endParaRPr lang="en-US" sz="2025" dirty="0"/>
          </a:p>
        </p:txBody>
      </p:sp>
      <p:sp>
        <p:nvSpPr>
          <p:cNvPr id="22" name="Shape 20"/>
          <p:cNvSpPr/>
          <p:nvPr/>
        </p:nvSpPr>
        <p:spPr>
          <a:xfrm>
            <a:off x="9472538" y="6158136"/>
            <a:ext cx="497235" cy="519113"/>
          </a:xfrm>
          <a:prstGeom prst="roundRect">
            <a:avLst>
              <a:gd name="adj" fmla="val 19156"/>
            </a:avLst>
          </a:prstGeom>
          <a:solidFill>
            <a:srgbClr val="E8F0FE"/>
          </a:solidFill>
          <a:ln/>
        </p:spPr>
        <p:txBody>
          <a:bodyPr/>
          <a:lstStyle/>
          <a:p>
            <a:endParaRPr lang="en-US"/>
          </a:p>
        </p:txBody>
      </p:sp>
      <p:sp>
        <p:nvSpPr>
          <p:cNvPr id="23" name="Text 21"/>
          <p:cNvSpPr/>
          <p:nvPr/>
        </p:nvSpPr>
        <p:spPr>
          <a:xfrm>
            <a:off x="9643988" y="62724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F6FEB"/>
                </a:solidFill>
                <a:latin typeface="Courier New" pitchFamily="34" charset="0"/>
                <a:ea typeface="Courier New" pitchFamily="34" charset="-122"/>
                <a:cs typeface="Courier New" pitchFamily="34" charset="-120"/>
              </a:rPr>
              <a:t>Q</a:t>
            </a:r>
            <a:endParaRPr lang="en-US" sz="2025" dirty="0"/>
          </a:p>
        </p:txBody>
      </p:sp>
      <p:sp>
        <p:nvSpPr>
          <p:cNvPr id="24" name="Shape 22"/>
          <p:cNvSpPr/>
          <p:nvPr/>
        </p:nvSpPr>
        <p:spPr>
          <a:xfrm>
            <a:off x="10160273" y="6158136"/>
            <a:ext cx="497235" cy="519113"/>
          </a:xfrm>
          <a:prstGeom prst="roundRect">
            <a:avLst>
              <a:gd name="adj" fmla="val 19156"/>
            </a:avLst>
          </a:prstGeom>
          <a:solidFill>
            <a:srgbClr val="E4F4EB"/>
          </a:solidFill>
          <a:ln/>
        </p:spPr>
        <p:txBody>
          <a:bodyPr/>
          <a:lstStyle/>
          <a:p>
            <a:endParaRPr lang="en-US"/>
          </a:p>
        </p:txBody>
      </p:sp>
      <p:sp>
        <p:nvSpPr>
          <p:cNvPr id="25" name="Text 23"/>
          <p:cNvSpPr/>
          <p:nvPr/>
        </p:nvSpPr>
        <p:spPr>
          <a:xfrm>
            <a:off x="10331723" y="62724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78A4C"/>
                </a:solidFill>
                <a:latin typeface="Courier New" pitchFamily="34" charset="0"/>
                <a:ea typeface="Courier New" pitchFamily="34" charset="-122"/>
                <a:cs typeface="Courier New" pitchFamily="34" charset="-120"/>
              </a:rPr>
              <a:t>K</a:t>
            </a:r>
            <a:endParaRPr lang="en-US" sz="2025" dirty="0"/>
          </a:p>
        </p:txBody>
      </p:sp>
      <p:sp>
        <p:nvSpPr>
          <p:cNvPr id="26" name="Shape 24"/>
          <p:cNvSpPr/>
          <p:nvPr/>
        </p:nvSpPr>
        <p:spPr>
          <a:xfrm>
            <a:off x="10848008" y="6158136"/>
            <a:ext cx="497235" cy="519113"/>
          </a:xfrm>
          <a:prstGeom prst="roundRect">
            <a:avLst>
              <a:gd name="adj" fmla="val 19156"/>
            </a:avLst>
          </a:prstGeom>
          <a:solidFill>
            <a:srgbClr val="FBF0D9"/>
          </a:solidFill>
          <a:ln/>
        </p:spPr>
        <p:txBody>
          <a:bodyPr/>
          <a:lstStyle/>
          <a:p>
            <a:endParaRPr lang="en-US"/>
          </a:p>
        </p:txBody>
      </p:sp>
      <p:sp>
        <p:nvSpPr>
          <p:cNvPr id="27" name="Text 25"/>
          <p:cNvSpPr/>
          <p:nvPr/>
        </p:nvSpPr>
        <p:spPr>
          <a:xfrm>
            <a:off x="11019458" y="6272436"/>
            <a:ext cx="2305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V</a:t>
            </a:r>
            <a:endParaRPr lang="en-US" sz="2025" dirty="0"/>
          </a:p>
        </p:txBody>
      </p:sp>
      <p:sp>
        <p:nvSpPr>
          <p:cNvPr id="28" name="Text 26"/>
          <p:cNvSpPr/>
          <p:nvPr/>
        </p:nvSpPr>
        <p:spPr>
          <a:xfrm>
            <a:off x="11535742" y="6272436"/>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(W’s are learned)</a:t>
            </a:r>
            <a:endParaRPr lang="en-US" sz="2025" dirty="0"/>
          </a:p>
        </p:txBody>
      </p:sp>
      <p:sp>
        <p:nvSpPr>
          <p:cNvPr id="29" name="Text 27"/>
          <p:cNvSpPr/>
          <p:nvPr/>
        </p:nvSpPr>
        <p:spPr>
          <a:xfrm>
            <a:off x="238125" y="6972523"/>
            <a:ext cx="17811750" cy="352425"/>
          </a:xfrm>
          <a:prstGeom prst="rect">
            <a:avLst/>
          </a:prstGeom>
          <a:noFill/>
          <a:ln/>
        </p:spPr>
        <p:txBody>
          <a:bodyPr wrap="square" lIns="25400" tIns="25400" rIns="25400" bIns="25400" rtlCol="0" anchor="t">
            <a:normAutofit/>
          </a:bodyPr>
          <a:lstStyle/>
          <a:p>
            <a:pPr marL="0" indent="0" algn="ctr">
              <a:buNone/>
            </a:pPr>
            <a:r>
              <a:rPr lang="en-US" sz="2025" dirty="0">
                <a:solidFill>
                  <a:srgbClr val="3D3D3D"/>
                </a:solidFill>
                <a:latin typeface="Arial" pitchFamily="34" charset="0"/>
                <a:ea typeface="Arial" pitchFamily="34" charset="-122"/>
                <a:cs typeface="Arial" pitchFamily="34" charset="-120"/>
              </a:rPr>
              <a:t>A token’s </a:t>
            </a:r>
            <a:r>
              <a:rPr lang="en-US" sz="2025" dirty="0">
                <a:solidFill>
                  <a:srgbClr val="1F6FEB"/>
                </a:solidFill>
                <a:latin typeface="Courier New" pitchFamily="34" charset="0"/>
                <a:ea typeface="Courier New" pitchFamily="34" charset="-122"/>
                <a:cs typeface="Courier New" pitchFamily="34" charset="-120"/>
              </a:rPr>
              <a:t>Q </a:t>
            </a:r>
            <a:r>
              <a:rPr lang="en-US" sz="2025" dirty="0">
                <a:solidFill>
                  <a:srgbClr val="3D3D3D"/>
                </a:solidFill>
                <a:latin typeface="Arial" pitchFamily="34" charset="0"/>
                <a:ea typeface="Arial" pitchFamily="34" charset="-122"/>
                <a:cs typeface="Arial" pitchFamily="34" charset="-120"/>
              </a:rPr>
              <a:t>matched against every </a:t>
            </a:r>
            <a:r>
              <a:rPr lang="en-US" sz="2025" dirty="0">
                <a:solidFill>
                  <a:srgbClr val="178A4C"/>
                </a:solidFill>
                <a:latin typeface="Courier New" pitchFamily="34" charset="0"/>
                <a:ea typeface="Courier New" pitchFamily="34" charset="-122"/>
                <a:cs typeface="Courier New" pitchFamily="34" charset="-120"/>
              </a:rPr>
              <a:t>K </a:t>
            </a:r>
            <a:r>
              <a:rPr lang="en-US" sz="2025" dirty="0">
                <a:solidFill>
                  <a:srgbClr val="3D3D3D"/>
                </a:solidFill>
                <a:latin typeface="Arial" pitchFamily="34" charset="0"/>
                <a:ea typeface="Arial" pitchFamily="34" charset="-122"/>
                <a:cs typeface="Arial" pitchFamily="34" charset="-120"/>
              </a:rPr>
              <a:t>decides how much of each </a:t>
            </a:r>
            <a:r>
              <a:rPr lang="en-US" sz="2025" dirty="0">
                <a:solidFill>
                  <a:srgbClr val="C77D0A"/>
                </a:solidFill>
                <a:latin typeface="Courier New" pitchFamily="34" charset="0"/>
                <a:ea typeface="Courier New" pitchFamily="34" charset="-122"/>
                <a:cs typeface="Courier New" pitchFamily="34" charset="-120"/>
              </a:rPr>
              <a:t>V </a:t>
            </a:r>
            <a:r>
              <a:rPr lang="en-US" sz="2025" dirty="0">
                <a:solidFill>
                  <a:srgbClr val="3D3D3D"/>
                </a:solidFill>
                <a:latin typeface="Arial" pitchFamily="34" charset="0"/>
                <a:ea typeface="Arial" pitchFamily="34" charset="-122"/>
                <a:cs typeface="Arial" pitchFamily="34" charset="-120"/>
              </a:rPr>
              <a:t>to pull.</a:t>
            </a:r>
            <a:endParaRPr lang="en-US" sz="2025" dirty="0"/>
          </a:p>
        </p:txBody>
      </p:sp>
      <p:sp>
        <p:nvSpPr>
          <p:cNvPr id="30" name="Shape 28"/>
          <p:cNvSpPr/>
          <p:nvPr/>
        </p:nvSpPr>
        <p:spPr>
          <a:xfrm>
            <a:off x="1047750" y="9520238"/>
            <a:ext cx="16192500" cy="9525"/>
          </a:xfrm>
          <a:prstGeom prst="rect">
            <a:avLst/>
          </a:prstGeom>
          <a:solidFill>
            <a:srgbClr val="E3E1DA"/>
          </a:solidFill>
          <a:ln/>
        </p:spPr>
        <p:txBody>
          <a:bodyPr/>
          <a:lstStyle/>
          <a:p>
            <a:endParaRPr lang="en-US"/>
          </a:p>
        </p:txBody>
      </p:sp>
      <p:sp>
        <p:nvSpPr>
          <p:cNvPr id="31" name="Text 2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2" name="Text 30"/>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07256"/>
            <a:ext cx="123825" cy="123825"/>
          </a:xfrm>
          <a:prstGeom prst="ellipse">
            <a:avLst/>
          </a:prstGeom>
          <a:solidFill>
            <a:srgbClr val="7A4FD0"/>
          </a:solidFill>
          <a:ln/>
        </p:spPr>
        <p:txBody>
          <a:bodyPr/>
          <a:lstStyle/>
          <a:p>
            <a:endParaRPr lang="en-US"/>
          </a:p>
        </p:txBody>
      </p:sp>
      <p:sp>
        <p:nvSpPr>
          <p:cNvPr id="3" name="Text 1"/>
          <p:cNvSpPr/>
          <p:nvPr/>
        </p:nvSpPr>
        <p:spPr>
          <a:xfrm>
            <a:off x="1304925" y="838200"/>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00100"/>
            <a:ext cx="1724769" cy="338138"/>
          </a:xfrm>
          <a:prstGeom prst="roundRect">
            <a:avLst>
              <a:gd name="adj" fmla="val 50000"/>
            </a:avLst>
          </a:prstGeom>
          <a:solidFill>
            <a:srgbClr val="E4F4EB"/>
          </a:solidFill>
          <a:ln/>
        </p:spPr>
        <p:txBody>
          <a:bodyPr/>
          <a:lstStyle/>
          <a:p>
            <a:endParaRPr lang="en-US"/>
          </a:p>
        </p:txBody>
      </p:sp>
      <p:sp>
        <p:nvSpPr>
          <p:cNvPr id="5" name="Text 3"/>
          <p:cNvSpPr/>
          <p:nvPr/>
        </p:nvSpPr>
        <p:spPr>
          <a:xfrm>
            <a:off x="4083546" y="838200"/>
            <a:ext cx="166864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a:t>
            </a:r>
            <a:endParaRPr lang="en-US" sz="1800" dirty="0"/>
          </a:p>
        </p:txBody>
      </p:sp>
      <p:sp>
        <p:nvSpPr>
          <p:cNvPr id="6" name="Text 4"/>
          <p:cNvSpPr/>
          <p:nvPr/>
        </p:nvSpPr>
        <p:spPr>
          <a:xfrm>
            <a:off x="1047750" y="12715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Attention, Step by Step</a:t>
            </a:r>
            <a:endParaRPr lang="en-US" sz="4800" dirty="0"/>
          </a:p>
        </p:txBody>
      </p:sp>
      <p:sp>
        <p:nvSpPr>
          <p:cNvPr id="7" name="Shape 5"/>
          <p:cNvSpPr/>
          <p:nvPr/>
        </p:nvSpPr>
        <p:spPr>
          <a:xfrm>
            <a:off x="1047750" y="4122167"/>
            <a:ext cx="2701230" cy="1490663"/>
          </a:xfrm>
          <a:prstGeom prst="roundRect">
            <a:avLst>
              <a:gd name="adj" fmla="val 7668"/>
            </a:avLst>
          </a:prstGeom>
          <a:ln w="9525">
            <a:solidFill>
              <a:srgbClr val="E3E1DA"/>
            </a:solidFill>
            <a:prstDash val="solid"/>
          </a:ln>
        </p:spPr>
        <p:txBody>
          <a:bodyPr/>
          <a:lstStyle/>
          <a:p>
            <a:endParaRPr lang="en-US"/>
          </a:p>
        </p:txBody>
      </p:sp>
      <p:sp>
        <p:nvSpPr>
          <p:cNvPr id="8" name="Shape 6"/>
          <p:cNvSpPr/>
          <p:nvPr/>
        </p:nvSpPr>
        <p:spPr>
          <a:xfrm>
            <a:off x="2226915" y="4322192"/>
            <a:ext cx="342900" cy="342900"/>
          </a:xfrm>
          <a:prstGeom prst="ellipse">
            <a:avLst/>
          </a:prstGeom>
          <a:solidFill>
            <a:srgbClr val="1F6FEB"/>
          </a:solidFill>
          <a:ln/>
        </p:spPr>
        <p:txBody>
          <a:bodyPr/>
          <a:lstStyle/>
          <a:p>
            <a:endParaRPr lang="en-US"/>
          </a:p>
        </p:txBody>
      </p:sp>
      <p:sp>
        <p:nvSpPr>
          <p:cNvPr id="9" name="Text 7"/>
          <p:cNvSpPr/>
          <p:nvPr/>
        </p:nvSpPr>
        <p:spPr>
          <a:xfrm>
            <a:off x="2188815" y="4322192"/>
            <a:ext cx="419100" cy="3810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p:nvPr/>
        </p:nvSpPr>
        <p:spPr>
          <a:xfrm>
            <a:off x="1048896" y="4779392"/>
            <a:ext cx="2698939"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Score</a:t>
            </a:r>
            <a:endParaRPr lang="en-US" sz="2025" dirty="0"/>
          </a:p>
        </p:txBody>
      </p:sp>
      <p:sp>
        <p:nvSpPr>
          <p:cNvPr id="11" name="Text 9"/>
          <p:cNvSpPr/>
          <p:nvPr/>
        </p:nvSpPr>
        <p:spPr>
          <a:xfrm>
            <a:off x="1048896" y="5131817"/>
            <a:ext cx="2698939"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Q · every K</a:t>
            </a:r>
            <a:endParaRPr lang="en-US" sz="1800" dirty="0"/>
          </a:p>
        </p:txBody>
      </p:sp>
      <p:sp>
        <p:nvSpPr>
          <p:cNvPr id="12" name="Text 10"/>
          <p:cNvSpPr/>
          <p:nvPr/>
        </p:nvSpPr>
        <p:spPr>
          <a:xfrm>
            <a:off x="3882330" y="46365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3" name="Shape 11"/>
          <p:cNvSpPr/>
          <p:nvPr/>
        </p:nvSpPr>
        <p:spPr>
          <a:xfrm>
            <a:off x="4415730" y="4122167"/>
            <a:ext cx="2701305" cy="1490663"/>
          </a:xfrm>
          <a:prstGeom prst="roundRect">
            <a:avLst>
              <a:gd name="adj" fmla="val 7668"/>
            </a:avLst>
          </a:prstGeom>
          <a:ln w="9525">
            <a:solidFill>
              <a:srgbClr val="E3E1DA"/>
            </a:solidFill>
            <a:prstDash val="solid"/>
          </a:ln>
        </p:spPr>
        <p:txBody>
          <a:bodyPr/>
          <a:lstStyle/>
          <a:p>
            <a:endParaRPr lang="en-US"/>
          </a:p>
        </p:txBody>
      </p:sp>
      <p:sp>
        <p:nvSpPr>
          <p:cNvPr id="14" name="Shape 12"/>
          <p:cNvSpPr/>
          <p:nvPr/>
        </p:nvSpPr>
        <p:spPr>
          <a:xfrm>
            <a:off x="5594896" y="4322192"/>
            <a:ext cx="342900" cy="342900"/>
          </a:xfrm>
          <a:prstGeom prst="ellipse">
            <a:avLst/>
          </a:prstGeom>
          <a:solidFill>
            <a:srgbClr val="178A4C"/>
          </a:solidFill>
          <a:ln/>
        </p:spPr>
        <p:txBody>
          <a:bodyPr/>
          <a:lstStyle/>
          <a:p>
            <a:endParaRPr lang="en-US"/>
          </a:p>
        </p:txBody>
      </p:sp>
      <p:sp>
        <p:nvSpPr>
          <p:cNvPr id="15" name="Text 13"/>
          <p:cNvSpPr/>
          <p:nvPr/>
        </p:nvSpPr>
        <p:spPr>
          <a:xfrm>
            <a:off x="5556796" y="4322192"/>
            <a:ext cx="419100" cy="3810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p:nvPr/>
        </p:nvSpPr>
        <p:spPr>
          <a:xfrm>
            <a:off x="4416873" y="4779392"/>
            <a:ext cx="2699020"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Scale</a:t>
            </a:r>
            <a:endParaRPr lang="en-US" sz="2025" dirty="0"/>
          </a:p>
        </p:txBody>
      </p:sp>
      <p:sp>
        <p:nvSpPr>
          <p:cNvPr id="17" name="Text 15"/>
          <p:cNvSpPr/>
          <p:nvPr/>
        </p:nvSpPr>
        <p:spPr>
          <a:xfrm>
            <a:off x="4416873" y="5131817"/>
            <a:ext cx="269902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keep it stable</a:t>
            </a:r>
            <a:endParaRPr lang="en-US" sz="1800" dirty="0"/>
          </a:p>
        </p:txBody>
      </p:sp>
      <p:sp>
        <p:nvSpPr>
          <p:cNvPr id="18" name="Text 16"/>
          <p:cNvSpPr/>
          <p:nvPr/>
        </p:nvSpPr>
        <p:spPr>
          <a:xfrm>
            <a:off x="7250385" y="46365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9" name="Shape 17"/>
          <p:cNvSpPr/>
          <p:nvPr/>
        </p:nvSpPr>
        <p:spPr>
          <a:xfrm>
            <a:off x="7783785" y="4122167"/>
            <a:ext cx="2701305" cy="1490663"/>
          </a:xfrm>
          <a:prstGeom prst="roundRect">
            <a:avLst>
              <a:gd name="adj" fmla="val 7668"/>
            </a:avLst>
          </a:prstGeom>
          <a:ln w="9525">
            <a:solidFill>
              <a:srgbClr val="E3E1DA"/>
            </a:solidFill>
            <a:prstDash val="solid"/>
          </a:ln>
        </p:spPr>
        <p:txBody>
          <a:bodyPr/>
          <a:lstStyle/>
          <a:p>
            <a:endParaRPr lang="en-US"/>
          </a:p>
        </p:txBody>
      </p:sp>
      <p:sp>
        <p:nvSpPr>
          <p:cNvPr id="20" name="Shape 18"/>
          <p:cNvSpPr/>
          <p:nvPr/>
        </p:nvSpPr>
        <p:spPr>
          <a:xfrm>
            <a:off x="8962951" y="4322192"/>
            <a:ext cx="342900" cy="342900"/>
          </a:xfrm>
          <a:prstGeom prst="ellipse">
            <a:avLst/>
          </a:prstGeom>
          <a:solidFill>
            <a:srgbClr val="D64545"/>
          </a:solidFill>
          <a:ln/>
        </p:spPr>
        <p:txBody>
          <a:bodyPr/>
          <a:lstStyle/>
          <a:p>
            <a:endParaRPr lang="en-US"/>
          </a:p>
        </p:txBody>
      </p:sp>
      <p:sp>
        <p:nvSpPr>
          <p:cNvPr id="21" name="Text 19"/>
          <p:cNvSpPr/>
          <p:nvPr/>
        </p:nvSpPr>
        <p:spPr>
          <a:xfrm>
            <a:off x="8924851" y="4322192"/>
            <a:ext cx="419100" cy="3810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20"/>
          <p:cNvSpPr/>
          <p:nvPr/>
        </p:nvSpPr>
        <p:spPr>
          <a:xfrm>
            <a:off x="7784928" y="4779392"/>
            <a:ext cx="2699020"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Mask</a:t>
            </a:r>
            <a:endParaRPr lang="en-US" sz="2025" dirty="0"/>
          </a:p>
        </p:txBody>
      </p:sp>
      <p:sp>
        <p:nvSpPr>
          <p:cNvPr id="23" name="Text 21"/>
          <p:cNvSpPr/>
          <p:nvPr/>
        </p:nvSpPr>
        <p:spPr>
          <a:xfrm>
            <a:off x="7784928" y="5131817"/>
            <a:ext cx="269902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hide the future</a:t>
            </a:r>
            <a:endParaRPr lang="en-US" sz="1800" dirty="0"/>
          </a:p>
        </p:txBody>
      </p:sp>
      <p:sp>
        <p:nvSpPr>
          <p:cNvPr id="24" name="Text 22"/>
          <p:cNvSpPr/>
          <p:nvPr/>
        </p:nvSpPr>
        <p:spPr>
          <a:xfrm>
            <a:off x="10618440" y="46365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5" name="Shape 23"/>
          <p:cNvSpPr/>
          <p:nvPr/>
        </p:nvSpPr>
        <p:spPr>
          <a:xfrm>
            <a:off x="11151840" y="4122167"/>
            <a:ext cx="2701305" cy="1490663"/>
          </a:xfrm>
          <a:prstGeom prst="roundRect">
            <a:avLst>
              <a:gd name="adj" fmla="val 7668"/>
            </a:avLst>
          </a:prstGeom>
          <a:ln w="9525">
            <a:solidFill>
              <a:srgbClr val="E3E1DA"/>
            </a:solidFill>
            <a:prstDash val="solid"/>
          </a:ln>
        </p:spPr>
        <p:txBody>
          <a:bodyPr/>
          <a:lstStyle/>
          <a:p>
            <a:endParaRPr lang="en-US"/>
          </a:p>
        </p:txBody>
      </p:sp>
      <p:sp>
        <p:nvSpPr>
          <p:cNvPr id="26" name="Shape 24"/>
          <p:cNvSpPr/>
          <p:nvPr/>
        </p:nvSpPr>
        <p:spPr>
          <a:xfrm>
            <a:off x="12331005" y="4322192"/>
            <a:ext cx="342900" cy="342900"/>
          </a:xfrm>
          <a:prstGeom prst="ellipse">
            <a:avLst/>
          </a:prstGeom>
          <a:solidFill>
            <a:srgbClr val="C77D0A"/>
          </a:solidFill>
          <a:ln/>
        </p:spPr>
        <p:txBody>
          <a:bodyPr/>
          <a:lstStyle/>
          <a:p>
            <a:endParaRPr lang="en-US"/>
          </a:p>
        </p:txBody>
      </p:sp>
      <p:sp>
        <p:nvSpPr>
          <p:cNvPr id="27" name="Text 25"/>
          <p:cNvSpPr/>
          <p:nvPr/>
        </p:nvSpPr>
        <p:spPr>
          <a:xfrm>
            <a:off x="12292905" y="4322192"/>
            <a:ext cx="419100" cy="3810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8" name="Text 26"/>
          <p:cNvSpPr/>
          <p:nvPr/>
        </p:nvSpPr>
        <p:spPr>
          <a:xfrm>
            <a:off x="11152982" y="4779392"/>
            <a:ext cx="2699020"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Softmax</a:t>
            </a:r>
            <a:endParaRPr lang="en-US" sz="2025" dirty="0"/>
          </a:p>
        </p:txBody>
      </p:sp>
      <p:sp>
        <p:nvSpPr>
          <p:cNvPr id="29" name="Text 27"/>
          <p:cNvSpPr/>
          <p:nvPr/>
        </p:nvSpPr>
        <p:spPr>
          <a:xfrm>
            <a:off x="11152982" y="5131817"/>
            <a:ext cx="269902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weights sum to 1</a:t>
            </a:r>
            <a:endParaRPr lang="en-US" sz="1800" dirty="0"/>
          </a:p>
        </p:txBody>
      </p:sp>
      <p:sp>
        <p:nvSpPr>
          <p:cNvPr id="30" name="Text 28"/>
          <p:cNvSpPr/>
          <p:nvPr/>
        </p:nvSpPr>
        <p:spPr>
          <a:xfrm>
            <a:off x="13986495" y="46365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31" name="Shape 29"/>
          <p:cNvSpPr/>
          <p:nvPr/>
        </p:nvSpPr>
        <p:spPr>
          <a:xfrm>
            <a:off x="14519895" y="4122167"/>
            <a:ext cx="2720355" cy="1490663"/>
          </a:xfrm>
          <a:prstGeom prst="roundRect">
            <a:avLst>
              <a:gd name="adj" fmla="val 7668"/>
            </a:avLst>
          </a:prstGeom>
          <a:solidFill>
            <a:srgbClr val="EFE9FB"/>
          </a:solidFill>
          <a:ln w="19050">
            <a:solidFill>
              <a:srgbClr val="7A4FD0"/>
            </a:solidFill>
            <a:prstDash val="solid"/>
          </a:ln>
        </p:spPr>
        <p:txBody>
          <a:bodyPr/>
          <a:lstStyle/>
          <a:p>
            <a:endParaRPr lang="en-US"/>
          </a:p>
        </p:txBody>
      </p:sp>
      <p:sp>
        <p:nvSpPr>
          <p:cNvPr id="32" name="Shape 30"/>
          <p:cNvSpPr/>
          <p:nvPr/>
        </p:nvSpPr>
        <p:spPr>
          <a:xfrm>
            <a:off x="15708585" y="4331717"/>
            <a:ext cx="342900" cy="342900"/>
          </a:xfrm>
          <a:prstGeom prst="ellipse">
            <a:avLst/>
          </a:prstGeom>
          <a:solidFill>
            <a:srgbClr val="7A4FD0"/>
          </a:solidFill>
          <a:ln/>
        </p:spPr>
        <p:txBody>
          <a:bodyPr/>
          <a:lstStyle/>
          <a:p>
            <a:endParaRPr lang="en-US"/>
          </a:p>
        </p:txBody>
      </p:sp>
      <p:sp>
        <p:nvSpPr>
          <p:cNvPr id="33" name="Text 31"/>
          <p:cNvSpPr/>
          <p:nvPr/>
        </p:nvSpPr>
        <p:spPr>
          <a:xfrm>
            <a:off x="15670485" y="4331717"/>
            <a:ext cx="419100" cy="3810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4" name="Text 32"/>
          <p:cNvSpPr/>
          <p:nvPr/>
        </p:nvSpPr>
        <p:spPr>
          <a:xfrm>
            <a:off x="14530562" y="4788917"/>
            <a:ext cx="2699020"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Blend</a:t>
            </a:r>
            <a:endParaRPr lang="en-US" sz="2025" dirty="0"/>
          </a:p>
        </p:txBody>
      </p:sp>
      <p:sp>
        <p:nvSpPr>
          <p:cNvPr id="35" name="Text 33"/>
          <p:cNvSpPr/>
          <p:nvPr/>
        </p:nvSpPr>
        <p:spPr>
          <a:xfrm>
            <a:off x="14530562" y="5141342"/>
            <a:ext cx="269902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weighted sum of V</a:t>
            </a:r>
            <a:endParaRPr lang="en-US" sz="1800" dirty="0"/>
          </a:p>
        </p:txBody>
      </p:sp>
      <p:sp>
        <p:nvSpPr>
          <p:cNvPr id="36" name="Shape 34"/>
          <p:cNvSpPr/>
          <p:nvPr/>
        </p:nvSpPr>
        <p:spPr>
          <a:xfrm>
            <a:off x="1047750" y="5936679"/>
            <a:ext cx="16192500" cy="842963"/>
          </a:xfrm>
          <a:prstGeom prst="roundRect">
            <a:avLst>
              <a:gd name="adj" fmla="val 15819"/>
            </a:avLst>
          </a:prstGeom>
          <a:solidFill>
            <a:srgbClr val="F8F7F3"/>
          </a:solidFill>
          <a:ln w="9525">
            <a:solidFill>
              <a:srgbClr val="E3E1DA"/>
            </a:solidFill>
            <a:prstDash val="solid"/>
          </a:ln>
        </p:spPr>
        <p:txBody>
          <a:bodyPr/>
          <a:lstStyle/>
          <a:p>
            <a:endParaRPr lang="en-US"/>
          </a:p>
        </p:txBody>
      </p:sp>
      <p:sp>
        <p:nvSpPr>
          <p:cNvPr id="37" name="Text 35"/>
          <p:cNvSpPr/>
          <p:nvPr/>
        </p:nvSpPr>
        <p:spPr>
          <a:xfrm>
            <a:off x="1042988" y="6174804"/>
            <a:ext cx="16202025" cy="404813"/>
          </a:xfrm>
          <a:prstGeom prst="rect">
            <a:avLst/>
          </a:prstGeom>
          <a:noFill/>
          <a:ln/>
        </p:spPr>
        <p:txBody>
          <a:bodyPr wrap="square" lIns="25400" tIns="25400" rIns="25400" bIns="25400" rtlCol="0" anchor="t">
            <a:normAutofit/>
          </a:bodyPr>
          <a:lstStyle/>
          <a:p>
            <a:pPr marL="0" indent="0" algn="ctr">
              <a:buNone/>
            </a:pPr>
            <a:r>
              <a:rPr lang="en-US" sz="2550" dirty="0">
                <a:solidFill>
                  <a:srgbClr val="1A1A1A"/>
                </a:solidFill>
                <a:highlight>
                  <a:srgbClr val="F8F7F3"/>
                </a:highlight>
                <a:latin typeface="Courier New" pitchFamily="34" charset="0"/>
                <a:ea typeface="Courier New" pitchFamily="34" charset="-122"/>
                <a:cs typeface="Courier New" pitchFamily="34" charset="-120"/>
              </a:rPr>
              <a:t>Attention = </a:t>
            </a:r>
            <a:r>
              <a:rPr lang="en-US" sz="2550" dirty="0">
                <a:solidFill>
                  <a:srgbClr val="C77D0A"/>
                </a:solidFill>
                <a:latin typeface="Courier New" pitchFamily="34" charset="0"/>
                <a:ea typeface="Courier New" pitchFamily="34" charset="-122"/>
                <a:cs typeface="Courier New" pitchFamily="34" charset="-120"/>
              </a:rPr>
              <a:t>softmax</a:t>
            </a:r>
            <a:r>
              <a:rPr lang="en-US" sz="2550" dirty="0">
                <a:solidFill>
                  <a:srgbClr val="1A1A1A"/>
                </a:solidFill>
                <a:highlight>
                  <a:srgbClr val="F8F7F3"/>
                </a:highlight>
                <a:latin typeface="Courier New" pitchFamily="34" charset="0"/>
                <a:ea typeface="Courier New" pitchFamily="34" charset="-122"/>
                <a:cs typeface="Courier New" pitchFamily="34" charset="-120"/>
              </a:rPr>
              <a:t>( </a:t>
            </a:r>
            <a:r>
              <a:rPr lang="en-US" sz="2550" dirty="0">
                <a:solidFill>
                  <a:srgbClr val="1F6FEB"/>
                </a:solidFill>
                <a:latin typeface="Courier New" pitchFamily="34" charset="0"/>
                <a:ea typeface="Courier New" pitchFamily="34" charset="-122"/>
                <a:cs typeface="Courier New" pitchFamily="34" charset="-120"/>
              </a:rPr>
              <a:t>Q·Kᵀ </a:t>
            </a:r>
            <a:r>
              <a:rPr lang="en-US" sz="2550" dirty="0">
                <a:solidFill>
                  <a:srgbClr val="1A1A1A"/>
                </a:solidFill>
                <a:highlight>
                  <a:srgbClr val="F8F7F3"/>
                </a:highlight>
                <a:latin typeface="Courier New" pitchFamily="34" charset="0"/>
                <a:ea typeface="Courier New" pitchFamily="34" charset="-122"/>
                <a:cs typeface="Courier New" pitchFamily="34" charset="-120"/>
              </a:rPr>
              <a:t>/ </a:t>
            </a:r>
            <a:r>
              <a:rPr lang="en-US" sz="2550" dirty="0">
                <a:solidFill>
                  <a:srgbClr val="178A4C"/>
                </a:solidFill>
                <a:latin typeface="Courier New" pitchFamily="34" charset="0"/>
                <a:ea typeface="Courier New" pitchFamily="34" charset="-122"/>
                <a:cs typeface="Courier New" pitchFamily="34" charset="-120"/>
              </a:rPr>
              <a:t>√d </a:t>
            </a:r>
            <a:r>
              <a:rPr lang="en-US" sz="2550" dirty="0">
                <a:solidFill>
                  <a:srgbClr val="1A1A1A"/>
                </a:solidFill>
                <a:highlight>
                  <a:srgbClr val="F8F7F3"/>
                </a:highlight>
                <a:latin typeface="Courier New" pitchFamily="34" charset="0"/>
                <a:ea typeface="Courier New" pitchFamily="34" charset="-122"/>
                <a:cs typeface="Courier New" pitchFamily="34" charset="-120"/>
              </a:rPr>
              <a:t>+ </a:t>
            </a:r>
            <a:r>
              <a:rPr lang="en-US" sz="2550" dirty="0">
                <a:solidFill>
                  <a:srgbClr val="D64545"/>
                </a:solidFill>
                <a:latin typeface="Courier New" pitchFamily="34" charset="0"/>
                <a:ea typeface="Courier New" pitchFamily="34" charset="-122"/>
                <a:cs typeface="Courier New" pitchFamily="34" charset="-120"/>
              </a:rPr>
              <a:t>mask </a:t>
            </a:r>
            <a:r>
              <a:rPr lang="en-US" sz="2550" dirty="0">
                <a:solidFill>
                  <a:srgbClr val="1A1A1A"/>
                </a:solidFill>
                <a:highlight>
                  <a:srgbClr val="F8F7F3"/>
                </a:highlight>
                <a:latin typeface="Courier New" pitchFamily="34" charset="0"/>
                <a:ea typeface="Courier New" pitchFamily="34" charset="-122"/>
                <a:cs typeface="Courier New" pitchFamily="34" charset="-120"/>
              </a:rPr>
              <a:t>) · </a:t>
            </a:r>
            <a:r>
              <a:rPr lang="en-US" sz="2550" dirty="0">
                <a:solidFill>
                  <a:srgbClr val="7A4FD0"/>
                </a:solidFill>
                <a:latin typeface="Courier New" pitchFamily="34" charset="0"/>
                <a:ea typeface="Courier New" pitchFamily="34" charset="-122"/>
                <a:cs typeface="Courier New" pitchFamily="34" charset="-120"/>
              </a:rPr>
              <a:t>V</a:t>
            </a:r>
            <a:endParaRPr lang="en-US" sz="2550" dirty="0"/>
          </a:p>
        </p:txBody>
      </p:sp>
      <p:sp>
        <p:nvSpPr>
          <p:cNvPr id="38" name="Text 36"/>
          <p:cNvSpPr/>
          <p:nvPr/>
        </p:nvSpPr>
        <p:spPr>
          <a:xfrm>
            <a:off x="238125" y="7103492"/>
            <a:ext cx="1781175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You never write this by hand — it is just the five steps above.</a:t>
            </a:r>
            <a:endParaRPr lang="en-US" sz="1800" dirty="0"/>
          </a:p>
        </p:txBody>
      </p:sp>
      <p:sp>
        <p:nvSpPr>
          <p:cNvPr id="39" name="Shape 37"/>
          <p:cNvSpPr/>
          <p:nvPr/>
        </p:nvSpPr>
        <p:spPr>
          <a:xfrm>
            <a:off x="1047750" y="9520238"/>
            <a:ext cx="16192500" cy="9525"/>
          </a:xfrm>
          <a:prstGeom prst="rect">
            <a:avLst/>
          </a:prstGeom>
          <a:solidFill>
            <a:srgbClr val="E3E1DA"/>
          </a:solidFill>
          <a:ln/>
        </p:spPr>
        <p:txBody>
          <a:bodyPr/>
          <a:lstStyle/>
          <a:p>
            <a:endParaRPr lang="en-US"/>
          </a:p>
        </p:txBody>
      </p:sp>
      <p:sp>
        <p:nvSpPr>
          <p:cNvPr id="40" name="Text 3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1" name="Text 39"/>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2578596"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2655954"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The Illustrated GPT-2</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Attention Grid (Causal)</a:t>
            </a:r>
            <a:endParaRPr lang="en-US" sz="4800" dirty="0"/>
          </a:p>
        </p:txBody>
      </p:sp>
      <p:sp>
        <p:nvSpPr>
          <p:cNvPr id="9" name="Text 7"/>
          <p:cNvSpPr/>
          <p:nvPr/>
        </p:nvSpPr>
        <p:spPr>
          <a:xfrm>
            <a:off x="2114550" y="4288854"/>
            <a:ext cx="64770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Tw</a:t>
            </a:r>
            <a:endParaRPr lang="en-US" sz="1800" dirty="0"/>
          </a:p>
        </p:txBody>
      </p:sp>
      <p:sp>
        <p:nvSpPr>
          <p:cNvPr id="10" name="Text 8"/>
          <p:cNvSpPr/>
          <p:nvPr/>
        </p:nvSpPr>
        <p:spPr>
          <a:xfrm>
            <a:off x="2743200" y="4288854"/>
            <a:ext cx="64770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ink</a:t>
            </a:r>
            <a:endParaRPr lang="en-US" sz="1800" dirty="0"/>
          </a:p>
        </p:txBody>
      </p:sp>
      <p:sp>
        <p:nvSpPr>
          <p:cNvPr id="11" name="Text 9"/>
          <p:cNvSpPr/>
          <p:nvPr/>
        </p:nvSpPr>
        <p:spPr>
          <a:xfrm>
            <a:off x="3371850" y="4288854"/>
            <a:ext cx="64770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a:t>
            </a:r>
            <a:endParaRPr lang="en-US" sz="1800" dirty="0"/>
          </a:p>
        </p:txBody>
      </p:sp>
      <p:sp>
        <p:nvSpPr>
          <p:cNvPr id="12" name="Text 10"/>
          <p:cNvSpPr/>
          <p:nvPr/>
        </p:nvSpPr>
        <p:spPr>
          <a:xfrm>
            <a:off x="4000500" y="4288854"/>
            <a:ext cx="64770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twk</a:t>
            </a:r>
            <a:endParaRPr lang="en-US" sz="1800" dirty="0"/>
          </a:p>
        </p:txBody>
      </p:sp>
      <p:sp>
        <p:nvSpPr>
          <p:cNvPr id="13" name="Text 11"/>
          <p:cNvSpPr/>
          <p:nvPr/>
        </p:nvSpPr>
        <p:spPr>
          <a:xfrm>
            <a:off x="4629150" y="4288854"/>
            <a:ext cx="64770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ltl</a:t>
            </a:r>
            <a:endParaRPr lang="en-US" sz="1800" dirty="0"/>
          </a:p>
        </p:txBody>
      </p:sp>
      <p:sp>
        <p:nvSpPr>
          <p:cNvPr id="14" name="Text 12"/>
          <p:cNvSpPr/>
          <p:nvPr/>
        </p:nvSpPr>
        <p:spPr>
          <a:xfrm>
            <a:off x="971550" y="4712717"/>
            <a:ext cx="1123950" cy="295275"/>
          </a:xfrm>
          <a:prstGeom prst="rect">
            <a:avLst/>
          </a:prstGeom>
          <a:noFill/>
          <a:ln/>
        </p:spPr>
        <p:txBody>
          <a:bodyPr wrap="square" lIns="25400" tIns="25400" rIns="25400" bIns="25400" rtlCol="0" anchor="t">
            <a:normAutofit/>
          </a:bodyPr>
          <a:lstStyle/>
          <a:p>
            <a:pPr marL="0" indent="0" algn="r">
              <a:buNone/>
            </a:pPr>
            <a:r>
              <a:rPr lang="en-US" sz="1800" dirty="0">
                <a:solidFill>
                  <a:srgbClr val="7C7A73"/>
                </a:solidFill>
                <a:latin typeface="Courier New" pitchFamily="34" charset="0"/>
                <a:ea typeface="Courier New" pitchFamily="34" charset="-122"/>
                <a:cs typeface="Courier New" pitchFamily="34" charset="-120"/>
              </a:rPr>
              <a:t>Tw</a:t>
            </a:r>
            <a:endParaRPr lang="en-US" sz="1800" dirty="0"/>
          </a:p>
        </p:txBody>
      </p:sp>
      <p:sp>
        <p:nvSpPr>
          <p:cNvPr id="15" name="Shape 13"/>
          <p:cNvSpPr/>
          <p:nvPr/>
        </p:nvSpPr>
        <p:spPr>
          <a:xfrm>
            <a:off x="2152650" y="4603179"/>
            <a:ext cx="571500" cy="476250"/>
          </a:xfrm>
          <a:prstGeom prst="roundRect">
            <a:avLst>
              <a:gd name="adj" fmla="val 10000"/>
            </a:avLst>
          </a:prstGeom>
          <a:solidFill>
            <a:srgbClr val="1F6FEB">
              <a:alpha val="95000"/>
            </a:srgbClr>
          </a:solidFill>
          <a:ln/>
        </p:spPr>
        <p:txBody>
          <a:bodyPr/>
          <a:lstStyle/>
          <a:p>
            <a:endParaRPr lang="en-US"/>
          </a:p>
        </p:txBody>
      </p:sp>
      <p:sp>
        <p:nvSpPr>
          <p:cNvPr id="16" name="Shape 14"/>
          <p:cNvSpPr/>
          <p:nvPr/>
        </p:nvSpPr>
        <p:spPr>
          <a:xfrm>
            <a:off x="2781300" y="4603179"/>
            <a:ext cx="571500" cy="476250"/>
          </a:xfrm>
          <a:prstGeom prst="roundRect">
            <a:avLst>
              <a:gd name="adj" fmla="val 10000"/>
            </a:avLst>
          </a:prstGeom>
          <a:solidFill>
            <a:srgbClr val="F1EFE9"/>
          </a:solidFill>
          <a:ln/>
        </p:spPr>
        <p:txBody>
          <a:bodyPr/>
          <a:lstStyle/>
          <a:p>
            <a:endParaRPr lang="en-US"/>
          </a:p>
        </p:txBody>
      </p:sp>
      <p:sp>
        <p:nvSpPr>
          <p:cNvPr id="17" name="Shape 15"/>
          <p:cNvSpPr/>
          <p:nvPr/>
        </p:nvSpPr>
        <p:spPr>
          <a:xfrm>
            <a:off x="3409950" y="4603179"/>
            <a:ext cx="571500" cy="476250"/>
          </a:xfrm>
          <a:prstGeom prst="roundRect">
            <a:avLst>
              <a:gd name="adj" fmla="val 10000"/>
            </a:avLst>
          </a:prstGeom>
          <a:solidFill>
            <a:srgbClr val="F1EFE9"/>
          </a:solidFill>
          <a:ln/>
        </p:spPr>
        <p:txBody>
          <a:bodyPr/>
          <a:lstStyle/>
          <a:p>
            <a:endParaRPr lang="en-US"/>
          </a:p>
        </p:txBody>
      </p:sp>
      <p:sp>
        <p:nvSpPr>
          <p:cNvPr id="18" name="Shape 16"/>
          <p:cNvSpPr/>
          <p:nvPr/>
        </p:nvSpPr>
        <p:spPr>
          <a:xfrm>
            <a:off x="4038600" y="4603179"/>
            <a:ext cx="571500" cy="476250"/>
          </a:xfrm>
          <a:prstGeom prst="roundRect">
            <a:avLst>
              <a:gd name="adj" fmla="val 10000"/>
            </a:avLst>
          </a:prstGeom>
          <a:solidFill>
            <a:srgbClr val="F1EFE9"/>
          </a:solidFill>
          <a:ln/>
        </p:spPr>
        <p:txBody>
          <a:bodyPr/>
          <a:lstStyle/>
          <a:p>
            <a:endParaRPr lang="en-US"/>
          </a:p>
        </p:txBody>
      </p:sp>
      <p:sp>
        <p:nvSpPr>
          <p:cNvPr id="19" name="Shape 17"/>
          <p:cNvSpPr/>
          <p:nvPr/>
        </p:nvSpPr>
        <p:spPr>
          <a:xfrm>
            <a:off x="4667250" y="4603179"/>
            <a:ext cx="571500" cy="476250"/>
          </a:xfrm>
          <a:prstGeom prst="roundRect">
            <a:avLst>
              <a:gd name="adj" fmla="val 10000"/>
            </a:avLst>
          </a:prstGeom>
          <a:solidFill>
            <a:srgbClr val="F1EFE9"/>
          </a:solidFill>
          <a:ln/>
        </p:spPr>
        <p:txBody>
          <a:bodyPr/>
          <a:lstStyle/>
          <a:p>
            <a:endParaRPr lang="en-US"/>
          </a:p>
        </p:txBody>
      </p:sp>
      <p:sp>
        <p:nvSpPr>
          <p:cNvPr id="20" name="Text 18"/>
          <p:cNvSpPr/>
          <p:nvPr/>
        </p:nvSpPr>
        <p:spPr>
          <a:xfrm>
            <a:off x="971550" y="5246117"/>
            <a:ext cx="1123950" cy="295275"/>
          </a:xfrm>
          <a:prstGeom prst="rect">
            <a:avLst/>
          </a:prstGeom>
          <a:noFill/>
          <a:ln/>
        </p:spPr>
        <p:txBody>
          <a:bodyPr wrap="square" lIns="25400" tIns="25400" rIns="25400" bIns="25400" rtlCol="0" anchor="t">
            <a:normAutofit/>
          </a:bodyPr>
          <a:lstStyle/>
          <a:p>
            <a:pPr marL="0" indent="0" algn="r">
              <a:buNone/>
            </a:pPr>
            <a:r>
              <a:rPr lang="en-US" sz="1800" dirty="0">
                <a:solidFill>
                  <a:srgbClr val="7C7A73"/>
                </a:solidFill>
                <a:latin typeface="Courier New" pitchFamily="34" charset="0"/>
                <a:ea typeface="Courier New" pitchFamily="34" charset="-122"/>
                <a:cs typeface="Courier New" pitchFamily="34" charset="-120"/>
              </a:rPr>
              <a:t>ink</a:t>
            </a:r>
            <a:endParaRPr lang="en-US" sz="1800" dirty="0"/>
          </a:p>
        </p:txBody>
      </p:sp>
      <p:sp>
        <p:nvSpPr>
          <p:cNvPr id="21" name="Shape 19"/>
          <p:cNvSpPr/>
          <p:nvPr/>
        </p:nvSpPr>
        <p:spPr>
          <a:xfrm>
            <a:off x="2152650" y="5136579"/>
            <a:ext cx="571500" cy="476250"/>
          </a:xfrm>
          <a:prstGeom prst="roundRect">
            <a:avLst>
              <a:gd name="adj" fmla="val 10000"/>
            </a:avLst>
          </a:prstGeom>
          <a:solidFill>
            <a:srgbClr val="1F6FEB">
              <a:alpha val="55000"/>
            </a:srgbClr>
          </a:solidFill>
          <a:ln/>
        </p:spPr>
        <p:txBody>
          <a:bodyPr/>
          <a:lstStyle/>
          <a:p>
            <a:endParaRPr lang="en-US"/>
          </a:p>
        </p:txBody>
      </p:sp>
      <p:sp>
        <p:nvSpPr>
          <p:cNvPr id="22" name="Shape 20"/>
          <p:cNvSpPr/>
          <p:nvPr/>
        </p:nvSpPr>
        <p:spPr>
          <a:xfrm>
            <a:off x="2781300" y="5136579"/>
            <a:ext cx="571500" cy="476250"/>
          </a:xfrm>
          <a:prstGeom prst="roundRect">
            <a:avLst>
              <a:gd name="adj" fmla="val 10000"/>
            </a:avLst>
          </a:prstGeom>
          <a:solidFill>
            <a:srgbClr val="1F6FEB">
              <a:alpha val="55000"/>
            </a:srgbClr>
          </a:solidFill>
          <a:ln/>
        </p:spPr>
        <p:txBody>
          <a:bodyPr/>
          <a:lstStyle/>
          <a:p>
            <a:endParaRPr lang="en-US"/>
          </a:p>
        </p:txBody>
      </p:sp>
      <p:sp>
        <p:nvSpPr>
          <p:cNvPr id="23" name="Shape 21"/>
          <p:cNvSpPr/>
          <p:nvPr/>
        </p:nvSpPr>
        <p:spPr>
          <a:xfrm>
            <a:off x="3409950" y="5136579"/>
            <a:ext cx="571500" cy="476250"/>
          </a:xfrm>
          <a:prstGeom prst="roundRect">
            <a:avLst>
              <a:gd name="adj" fmla="val 10000"/>
            </a:avLst>
          </a:prstGeom>
          <a:solidFill>
            <a:srgbClr val="F1EFE9"/>
          </a:solidFill>
          <a:ln/>
        </p:spPr>
        <p:txBody>
          <a:bodyPr/>
          <a:lstStyle/>
          <a:p>
            <a:endParaRPr lang="en-US"/>
          </a:p>
        </p:txBody>
      </p:sp>
      <p:sp>
        <p:nvSpPr>
          <p:cNvPr id="24" name="Shape 22"/>
          <p:cNvSpPr/>
          <p:nvPr/>
        </p:nvSpPr>
        <p:spPr>
          <a:xfrm>
            <a:off x="4038600" y="5136579"/>
            <a:ext cx="571500" cy="476250"/>
          </a:xfrm>
          <a:prstGeom prst="roundRect">
            <a:avLst>
              <a:gd name="adj" fmla="val 10000"/>
            </a:avLst>
          </a:prstGeom>
          <a:solidFill>
            <a:srgbClr val="F1EFE9"/>
          </a:solidFill>
          <a:ln/>
        </p:spPr>
        <p:txBody>
          <a:bodyPr/>
          <a:lstStyle/>
          <a:p>
            <a:endParaRPr lang="en-US"/>
          </a:p>
        </p:txBody>
      </p:sp>
      <p:sp>
        <p:nvSpPr>
          <p:cNvPr id="25" name="Shape 23"/>
          <p:cNvSpPr/>
          <p:nvPr/>
        </p:nvSpPr>
        <p:spPr>
          <a:xfrm>
            <a:off x="4667250" y="5136579"/>
            <a:ext cx="571500" cy="476250"/>
          </a:xfrm>
          <a:prstGeom prst="roundRect">
            <a:avLst>
              <a:gd name="adj" fmla="val 10000"/>
            </a:avLst>
          </a:prstGeom>
          <a:solidFill>
            <a:srgbClr val="F1EFE9"/>
          </a:solidFill>
          <a:ln/>
        </p:spPr>
        <p:txBody>
          <a:bodyPr/>
          <a:lstStyle/>
          <a:p>
            <a:endParaRPr lang="en-US"/>
          </a:p>
        </p:txBody>
      </p:sp>
      <p:sp>
        <p:nvSpPr>
          <p:cNvPr id="26" name="Text 24"/>
          <p:cNvSpPr/>
          <p:nvPr/>
        </p:nvSpPr>
        <p:spPr>
          <a:xfrm>
            <a:off x="971550" y="5779517"/>
            <a:ext cx="1123950" cy="295275"/>
          </a:xfrm>
          <a:prstGeom prst="rect">
            <a:avLst/>
          </a:prstGeom>
          <a:noFill/>
          <a:ln/>
        </p:spPr>
        <p:txBody>
          <a:bodyPr wrap="square" lIns="25400" tIns="25400" rIns="25400" bIns="25400" rtlCol="0" anchor="t">
            <a:normAutofit/>
          </a:bodyPr>
          <a:lstStyle/>
          <a:p>
            <a:pPr marL="0" indent="0" algn="r">
              <a:buNone/>
            </a:pPr>
            <a:r>
              <a:rPr lang="en-US" sz="1800" dirty="0">
                <a:solidFill>
                  <a:srgbClr val="7C7A73"/>
                </a:solidFill>
                <a:latin typeface="Courier New" pitchFamily="34" charset="0"/>
                <a:ea typeface="Courier New" pitchFamily="34" charset="-122"/>
                <a:cs typeface="Courier New" pitchFamily="34" charset="-120"/>
              </a:rPr>
              <a:t>,</a:t>
            </a:r>
            <a:endParaRPr lang="en-US" sz="1800" dirty="0"/>
          </a:p>
        </p:txBody>
      </p:sp>
      <p:sp>
        <p:nvSpPr>
          <p:cNvPr id="27" name="Shape 25"/>
          <p:cNvSpPr/>
          <p:nvPr/>
        </p:nvSpPr>
        <p:spPr>
          <a:xfrm>
            <a:off x="2152650" y="5669979"/>
            <a:ext cx="571500" cy="476250"/>
          </a:xfrm>
          <a:prstGeom prst="roundRect">
            <a:avLst>
              <a:gd name="adj" fmla="val 10000"/>
            </a:avLst>
          </a:prstGeom>
          <a:solidFill>
            <a:srgbClr val="1F6FEB">
              <a:alpha val="35000"/>
            </a:srgbClr>
          </a:solidFill>
          <a:ln/>
        </p:spPr>
        <p:txBody>
          <a:bodyPr/>
          <a:lstStyle/>
          <a:p>
            <a:endParaRPr lang="en-US"/>
          </a:p>
        </p:txBody>
      </p:sp>
      <p:sp>
        <p:nvSpPr>
          <p:cNvPr id="28" name="Shape 26"/>
          <p:cNvSpPr/>
          <p:nvPr/>
        </p:nvSpPr>
        <p:spPr>
          <a:xfrm>
            <a:off x="2781300" y="5669979"/>
            <a:ext cx="571500" cy="476250"/>
          </a:xfrm>
          <a:prstGeom prst="roundRect">
            <a:avLst>
              <a:gd name="adj" fmla="val 10000"/>
            </a:avLst>
          </a:prstGeom>
          <a:solidFill>
            <a:srgbClr val="1F6FEB">
              <a:alpha val="30000"/>
            </a:srgbClr>
          </a:solidFill>
          <a:ln/>
        </p:spPr>
        <p:txBody>
          <a:bodyPr/>
          <a:lstStyle/>
          <a:p>
            <a:endParaRPr lang="en-US"/>
          </a:p>
        </p:txBody>
      </p:sp>
      <p:sp>
        <p:nvSpPr>
          <p:cNvPr id="29" name="Shape 27"/>
          <p:cNvSpPr/>
          <p:nvPr/>
        </p:nvSpPr>
        <p:spPr>
          <a:xfrm>
            <a:off x="3409950" y="5669979"/>
            <a:ext cx="571500" cy="476250"/>
          </a:xfrm>
          <a:prstGeom prst="roundRect">
            <a:avLst>
              <a:gd name="adj" fmla="val 10000"/>
            </a:avLst>
          </a:prstGeom>
          <a:solidFill>
            <a:srgbClr val="1F6FEB">
              <a:alpha val="45000"/>
            </a:srgbClr>
          </a:solidFill>
          <a:ln/>
        </p:spPr>
        <p:txBody>
          <a:bodyPr/>
          <a:lstStyle/>
          <a:p>
            <a:endParaRPr lang="en-US"/>
          </a:p>
        </p:txBody>
      </p:sp>
      <p:sp>
        <p:nvSpPr>
          <p:cNvPr id="30" name="Shape 28"/>
          <p:cNvSpPr/>
          <p:nvPr/>
        </p:nvSpPr>
        <p:spPr>
          <a:xfrm>
            <a:off x="4038600" y="5669979"/>
            <a:ext cx="571500" cy="476250"/>
          </a:xfrm>
          <a:prstGeom prst="roundRect">
            <a:avLst>
              <a:gd name="adj" fmla="val 10000"/>
            </a:avLst>
          </a:prstGeom>
          <a:solidFill>
            <a:srgbClr val="F1EFE9"/>
          </a:solidFill>
          <a:ln/>
        </p:spPr>
        <p:txBody>
          <a:bodyPr/>
          <a:lstStyle/>
          <a:p>
            <a:endParaRPr lang="en-US"/>
          </a:p>
        </p:txBody>
      </p:sp>
      <p:sp>
        <p:nvSpPr>
          <p:cNvPr id="31" name="Shape 29"/>
          <p:cNvSpPr/>
          <p:nvPr/>
        </p:nvSpPr>
        <p:spPr>
          <a:xfrm>
            <a:off x="4667250" y="5669979"/>
            <a:ext cx="571500" cy="476250"/>
          </a:xfrm>
          <a:prstGeom prst="roundRect">
            <a:avLst>
              <a:gd name="adj" fmla="val 10000"/>
            </a:avLst>
          </a:prstGeom>
          <a:solidFill>
            <a:srgbClr val="F1EFE9"/>
          </a:solidFill>
          <a:ln/>
        </p:spPr>
        <p:txBody>
          <a:bodyPr/>
          <a:lstStyle/>
          <a:p>
            <a:endParaRPr lang="en-US"/>
          </a:p>
        </p:txBody>
      </p:sp>
      <p:sp>
        <p:nvSpPr>
          <p:cNvPr id="32" name="Text 30"/>
          <p:cNvSpPr/>
          <p:nvPr/>
        </p:nvSpPr>
        <p:spPr>
          <a:xfrm>
            <a:off x="971550" y="6312917"/>
            <a:ext cx="1123950" cy="295275"/>
          </a:xfrm>
          <a:prstGeom prst="rect">
            <a:avLst/>
          </a:prstGeom>
          <a:noFill/>
          <a:ln/>
        </p:spPr>
        <p:txBody>
          <a:bodyPr wrap="square" lIns="25400" tIns="25400" rIns="25400" bIns="25400" rtlCol="0" anchor="t">
            <a:normAutofit/>
          </a:bodyPr>
          <a:lstStyle/>
          <a:p>
            <a:pPr marL="0" indent="0" algn="r">
              <a:buNone/>
            </a:pPr>
            <a:r>
              <a:rPr lang="en-US" sz="1800" dirty="0">
                <a:solidFill>
                  <a:srgbClr val="7C7A73"/>
                </a:solidFill>
                <a:latin typeface="Courier New" pitchFamily="34" charset="0"/>
                <a:ea typeface="Courier New" pitchFamily="34" charset="-122"/>
                <a:cs typeface="Courier New" pitchFamily="34" charset="-120"/>
              </a:rPr>
              <a:t>twk</a:t>
            </a:r>
            <a:endParaRPr lang="en-US" sz="1800" dirty="0"/>
          </a:p>
        </p:txBody>
      </p:sp>
      <p:sp>
        <p:nvSpPr>
          <p:cNvPr id="33" name="Shape 31"/>
          <p:cNvSpPr/>
          <p:nvPr/>
        </p:nvSpPr>
        <p:spPr>
          <a:xfrm>
            <a:off x="2152650" y="6203379"/>
            <a:ext cx="571500" cy="476250"/>
          </a:xfrm>
          <a:prstGeom prst="roundRect">
            <a:avLst>
              <a:gd name="adj" fmla="val 10000"/>
            </a:avLst>
          </a:prstGeom>
          <a:solidFill>
            <a:srgbClr val="1F6FEB">
              <a:alpha val="65000"/>
            </a:srgbClr>
          </a:solidFill>
          <a:ln/>
        </p:spPr>
        <p:txBody>
          <a:bodyPr/>
          <a:lstStyle/>
          <a:p>
            <a:endParaRPr lang="en-US"/>
          </a:p>
        </p:txBody>
      </p:sp>
      <p:sp>
        <p:nvSpPr>
          <p:cNvPr id="34" name="Shape 32"/>
          <p:cNvSpPr/>
          <p:nvPr/>
        </p:nvSpPr>
        <p:spPr>
          <a:xfrm>
            <a:off x="2781300" y="6203379"/>
            <a:ext cx="571500" cy="476250"/>
          </a:xfrm>
          <a:prstGeom prst="roundRect">
            <a:avLst>
              <a:gd name="adj" fmla="val 10000"/>
            </a:avLst>
          </a:prstGeom>
          <a:solidFill>
            <a:srgbClr val="1F6FEB">
              <a:alpha val="20000"/>
            </a:srgbClr>
          </a:solidFill>
          <a:ln/>
        </p:spPr>
        <p:txBody>
          <a:bodyPr/>
          <a:lstStyle/>
          <a:p>
            <a:endParaRPr lang="en-US"/>
          </a:p>
        </p:txBody>
      </p:sp>
      <p:sp>
        <p:nvSpPr>
          <p:cNvPr id="35" name="Shape 33"/>
          <p:cNvSpPr/>
          <p:nvPr/>
        </p:nvSpPr>
        <p:spPr>
          <a:xfrm>
            <a:off x="3409950" y="6203379"/>
            <a:ext cx="571500" cy="476250"/>
          </a:xfrm>
          <a:prstGeom prst="roundRect">
            <a:avLst>
              <a:gd name="adj" fmla="val 10000"/>
            </a:avLst>
          </a:prstGeom>
          <a:solidFill>
            <a:srgbClr val="1F6FEB">
              <a:alpha val="15000"/>
            </a:srgbClr>
          </a:solidFill>
          <a:ln/>
        </p:spPr>
        <p:txBody>
          <a:bodyPr/>
          <a:lstStyle/>
          <a:p>
            <a:endParaRPr lang="en-US"/>
          </a:p>
        </p:txBody>
      </p:sp>
      <p:sp>
        <p:nvSpPr>
          <p:cNvPr id="36" name="Shape 34"/>
          <p:cNvSpPr/>
          <p:nvPr/>
        </p:nvSpPr>
        <p:spPr>
          <a:xfrm>
            <a:off x="4038600" y="6203379"/>
            <a:ext cx="571500" cy="476250"/>
          </a:xfrm>
          <a:prstGeom prst="roundRect">
            <a:avLst>
              <a:gd name="adj" fmla="val 10000"/>
            </a:avLst>
          </a:prstGeom>
          <a:solidFill>
            <a:srgbClr val="1F6FEB">
              <a:alpha val="50000"/>
            </a:srgbClr>
          </a:solidFill>
          <a:ln/>
        </p:spPr>
        <p:txBody>
          <a:bodyPr/>
          <a:lstStyle/>
          <a:p>
            <a:endParaRPr lang="en-US"/>
          </a:p>
        </p:txBody>
      </p:sp>
      <p:sp>
        <p:nvSpPr>
          <p:cNvPr id="37" name="Shape 35"/>
          <p:cNvSpPr/>
          <p:nvPr/>
        </p:nvSpPr>
        <p:spPr>
          <a:xfrm>
            <a:off x="4667250" y="6203379"/>
            <a:ext cx="571500" cy="476250"/>
          </a:xfrm>
          <a:prstGeom prst="roundRect">
            <a:avLst>
              <a:gd name="adj" fmla="val 10000"/>
            </a:avLst>
          </a:prstGeom>
          <a:solidFill>
            <a:srgbClr val="F1EFE9"/>
          </a:solidFill>
          <a:ln/>
        </p:spPr>
        <p:txBody>
          <a:bodyPr/>
          <a:lstStyle/>
          <a:p>
            <a:endParaRPr lang="en-US"/>
          </a:p>
        </p:txBody>
      </p:sp>
      <p:sp>
        <p:nvSpPr>
          <p:cNvPr id="38" name="Text 36"/>
          <p:cNvSpPr/>
          <p:nvPr/>
        </p:nvSpPr>
        <p:spPr>
          <a:xfrm>
            <a:off x="971550" y="6846317"/>
            <a:ext cx="1123950" cy="295275"/>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Courier New" pitchFamily="34" charset="0"/>
                <a:ea typeface="Courier New" pitchFamily="34" charset="-122"/>
                <a:cs typeface="Courier New" pitchFamily="34" charset="-120"/>
              </a:rPr>
              <a:t>ltl</a:t>
            </a:r>
            <a:endParaRPr lang="en-US" sz="1800" dirty="0"/>
          </a:p>
        </p:txBody>
      </p:sp>
      <p:sp>
        <p:nvSpPr>
          <p:cNvPr id="39" name="Shape 37"/>
          <p:cNvSpPr/>
          <p:nvPr/>
        </p:nvSpPr>
        <p:spPr>
          <a:xfrm>
            <a:off x="2152650" y="6736779"/>
            <a:ext cx="571500" cy="476250"/>
          </a:xfrm>
          <a:prstGeom prst="roundRect">
            <a:avLst>
              <a:gd name="adj" fmla="val 10000"/>
            </a:avLst>
          </a:prstGeom>
          <a:solidFill>
            <a:srgbClr val="1F6FEB">
              <a:alpha val="80000"/>
            </a:srgbClr>
          </a:solidFill>
          <a:ln/>
        </p:spPr>
        <p:txBody>
          <a:bodyPr/>
          <a:lstStyle/>
          <a:p>
            <a:endParaRPr lang="en-US"/>
          </a:p>
        </p:txBody>
      </p:sp>
      <p:sp>
        <p:nvSpPr>
          <p:cNvPr id="40" name="Shape 38"/>
          <p:cNvSpPr/>
          <p:nvPr/>
        </p:nvSpPr>
        <p:spPr>
          <a:xfrm>
            <a:off x="2781300" y="6736779"/>
            <a:ext cx="571500" cy="476250"/>
          </a:xfrm>
          <a:prstGeom prst="roundRect">
            <a:avLst>
              <a:gd name="adj" fmla="val 10000"/>
            </a:avLst>
          </a:prstGeom>
          <a:solidFill>
            <a:srgbClr val="1F6FEB">
              <a:alpha val="15000"/>
            </a:srgbClr>
          </a:solidFill>
          <a:ln/>
        </p:spPr>
        <p:txBody>
          <a:bodyPr/>
          <a:lstStyle/>
          <a:p>
            <a:endParaRPr lang="en-US"/>
          </a:p>
        </p:txBody>
      </p:sp>
      <p:sp>
        <p:nvSpPr>
          <p:cNvPr id="41" name="Shape 39"/>
          <p:cNvSpPr/>
          <p:nvPr/>
        </p:nvSpPr>
        <p:spPr>
          <a:xfrm>
            <a:off x="3409950" y="6736779"/>
            <a:ext cx="571500" cy="476250"/>
          </a:xfrm>
          <a:prstGeom prst="roundRect">
            <a:avLst>
              <a:gd name="adj" fmla="val 10000"/>
            </a:avLst>
          </a:prstGeom>
          <a:solidFill>
            <a:srgbClr val="1F6FEB">
              <a:alpha val="10000"/>
            </a:srgbClr>
          </a:solidFill>
          <a:ln/>
        </p:spPr>
        <p:txBody>
          <a:bodyPr/>
          <a:lstStyle/>
          <a:p>
            <a:endParaRPr lang="en-US"/>
          </a:p>
        </p:txBody>
      </p:sp>
      <p:sp>
        <p:nvSpPr>
          <p:cNvPr id="42" name="Shape 40"/>
          <p:cNvSpPr/>
          <p:nvPr/>
        </p:nvSpPr>
        <p:spPr>
          <a:xfrm>
            <a:off x="4038600" y="6736779"/>
            <a:ext cx="571500" cy="476250"/>
          </a:xfrm>
          <a:prstGeom prst="roundRect">
            <a:avLst>
              <a:gd name="adj" fmla="val 10000"/>
            </a:avLst>
          </a:prstGeom>
          <a:solidFill>
            <a:srgbClr val="1F6FEB">
              <a:alpha val="75000"/>
            </a:srgbClr>
          </a:solidFill>
          <a:ln/>
        </p:spPr>
        <p:txBody>
          <a:bodyPr/>
          <a:lstStyle/>
          <a:p>
            <a:endParaRPr lang="en-US"/>
          </a:p>
        </p:txBody>
      </p:sp>
      <p:sp>
        <p:nvSpPr>
          <p:cNvPr id="43" name="Shape 41"/>
          <p:cNvSpPr/>
          <p:nvPr/>
        </p:nvSpPr>
        <p:spPr>
          <a:xfrm>
            <a:off x="4667250" y="6736779"/>
            <a:ext cx="571500" cy="476250"/>
          </a:xfrm>
          <a:prstGeom prst="roundRect">
            <a:avLst>
              <a:gd name="adj" fmla="val 10000"/>
            </a:avLst>
          </a:prstGeom>
          <a:solidFill>
            <a:srgbClr val="1F6FEB">
              <a:alpha val="30000"/>
            </a:srgbClr>
          </a:solidFill>
          <a:ln/>
        </p:spPr>
        <p:txBody>
          <a:bodyPr/>
          <a:lstStyle/>
          <a:p>
            <a:endParaRPr lang="en-US"/>
          </a:p>
        </p:txBody>
      </p:sp>
      <p:sp>
        <p:nvSpPr>
          <p:cNvPr id="44" name="Text 42"/>
          <p:cNvSpPr/>
          <p:nvPr/>
        </p:nvSpPr>
        <p:spPr>
          <a:xfrm>
            <a:off x="5772150" y="4768453"/>
            <a:ext cx="1261491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Why is the upper-right </a:t>
            </a:r>
            <a:r>
              <a:rPr lang="en-US" sz="2700" dirty="0">
                <a:solidFill>
                  <a:srgbClr val="1A1A1A"/>
                </a:solidFill>
                <a:highlight>
                  <a:srgbClr val="FFF1A8"/>
                </a:highlight>
                <a:latin typeface="Georgia" pitchFamily="34" charset="0"/>
                <a:ea typeface="Georgia" pitchFamily="34" charset="-122"/>
                <a:cs typeface="Georgia" pitchFamily="34" charset="-120"/>
              </a:rPr>
              <a:t>empty</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45" name="Text 43"/>
          <p:cNvSpPr/>
          <p:nvPr/>
        </p:nvSpPr>
        <p:spPr>
          <a:xfrm>
            <a:off x="5772150" y="5404693"/>
            <a:ext cx="11812143"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Rows ask, columns answer (darker = more). The blank half is the </a:t>
            </a:r>
            <a:r>
              <a:rPr lang="en-US" sz="2025" b="1" dirty="0">
                <a:solidFill>
                  <a:srgbClr val="1A1A1A"/>
                </a:solidFill>
                <a:latin typeface="Arial" pitchFamily="34" charset="0"/>
                <a:ea typeface="Arial" pitchFamily="34" charset="-122"/>
                <a:cs typeface="Arial" pitchFamily="34" charset="-120"/>
              </a:rPr>
              <a:t>causal mask </a:t>
            </a:r>
            <a:r>
              <a:rPr lang="en-US" sz="2025" dirty="0">
                <a:solidFill>
                  <a:srgbClr val="3D3D3D"/>
                </a:solidFill>
                <a:latin typeface="Arial" pitchFamily="34" charset="0"/>
                <a:ea typeface="Arial" pitchFamily="34" charset="-122"/>
                <a:cs typeface="Arial" pitchFamily="34" charset="-120"/>
              </a:rPr>
              <a:t>— while generating, no token may see words that come after it.</a:t>
            </a:r>
            <a:endParaRPr lang="en-US" sz="2025" dirty="0"/>
          </a:p>
        </p:txBody>
      </p:sp>
      <p:sp>
        <p:nvSpPr>
          <p:cNvPr id="46" name="Text 44"/>
          <p:cNvSpPr/>
          <p:nvPr/>
        </p:nvSpPr>
        <p:spPr>
          <a:xfrm>
            <a:off x="5772150" y="6328618"/>
            <a:ext cx="12614910" cy="44291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Bottom row: </a:t>
            </a:r>
            <a:r>
              <a:rPr lang="en-US" sz="2025" dirty="0">
                <a:solidFill>
                  <a:srgbClr val="3D3D3D"/>
                </a:solidFill>
                <a:latin typeface="Courier New" pitchFamily="34" charset="0"/>
                <a:ea typeface="Courier New" pitchFamily="34" charset="-122"/>
                <a:cs typeface="Courier New" pitchFamily="34" charset="-120"/>
              </a:rPr>
              <a:t>little </a:t>
            </a:r>
            <a:r>
              <a:rPr lang="en-US" sz="2025" dirty="0">
                <a:solidFill>
                  <a:srgbClr val="3D3D3D"/>
                </a:solidFill>
                <a:latin typeface="Arial" pitchFamily="34" charset="0"/>
                <a:ea typeface="Arial" pitchFamily="34" charset="-122"/>
                <a:cs typeface="Arial" pitchFamily="34" charset="-120"/>
              </a:rPr>
              <a:t>leans on both </a:t>
            </a:r>
            <a:r>
              <a:rPr lang="en-US" sz="2025" dirty="0">
                <a:solidFill>
                  <a:srgbClr val="3D3D3D"/>
                </a:solidFill>
                <a:latin typeface="Courier New" pitchFamily="34" charset="0"/>
                <a:ea typeface="Courier New" pitchFamily="34" charset="-122"/>
                <a:cs typeface="Courier New" pitchFamily="34" charset="-120"/>
              </a:rPr>
              <a:t>twinkle</a:t>
            </a:r>
            <a:r>
              <a:rPr lang="en-US" sz="2025" dirty="0">
                <a:solidFill>
                  <a:srgbClr val="3D3D3D"/>
                </a:solidFill>
                <a:latin typeface="Arial" pitchFamily="34" charset="0"/>
                <a:ea typeface="Arial" pitchFamily="34" charset="-122"/>
                <a:cs typeface="Arial" pitchFamily="34" charset="-120"/>
              </a:rPr>
              <a:t>s.</a:t>
            </a:r>
            <a:endParaRPr lang="en-US" sz="2025" dirty="0"/>
          </a:p>
        </p:txBody>
      </p:sp>
      <p:sp>
        <p:nvSpPr>
          <p:cNvPr id="47" name="Shape 45"/>
          <p:cNvSpPr/>
          <p:nvPr/>
        </p:nvSpPr>
        <p:spPr>
          <a:xfrm>
            <a:off x="1047750" y="9520238"/>
            <a:ext cx="16192500" cy="9525"/>
          </a:xfrm>
          <a:prstGeom prst="rect">
            <a:avLst/>
          </a:prstGeom>
          <a:solidFill>
            <a:srgbClr val="E3E1DA"/>
          </a:solidFill>
          <a:ln/>
        </p:spPr>
        <p:txBody>
          <a:bodyPr/>
          <a:lstStyle/>
          <a:p>
            <a:endParaRPr lang="en-US"/>
          </a:p>
        </p:txBody>
      </p:sp>
      <p:sp>
        <p:nvSpPr>
          <p:cNvPr id="48" name="Text 46"/>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9" name="Text 47"/>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07256"/>
            <a:ext cx="123825" cy="123825"/>
          </a:xfrm>
          <a:prstGeom prst="ellipse">
            <a:avLst/>
          </a:prstGeom>
          <a:solidFill>
            <a:srgbClr val="7A4FD0"/>
          </a:solidFill>
          <a:ln/>
        </p:spPr>
        <p:txBody>
          <a:bodyPr/>
          <a:lstStyle/>
          <a:p>
            <a:endParaRPr lang="en-US"/>
          </a:p>
        </p:txBody>
      </p:sp>
      <p:sp>
        <p:nvSpPr>
          <p:cNvPr id="3" name="Text 1"/>
          <p:cNvSpPr/>
          <p:nvPr/>
        </p:nvSpPr>
        <p:spPr>
          <a:xfrm>
            <a:off x="1304925" y="838200"/>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00100"/>
            <a:ext cx="1724769" cy="338138"/>
          </a:xfrm>
          <a:prstGeom prst="roundRect">
            <a:avLst>
              <a:gd name="adj" fmla="val 50000"/>
            </a:avLst>
          </a:prstGeom>
          <a:solidFill>
            <a:srgbClr val="E4F4EB"/>
          </a:solidFill>
          <a:ln/>
        </p:spPr>
        <p:txBody>
          <a:bodyPr/>
          <a:lstStyle/>
          <a:p>
            <a:endParaRPr lang="en-US"/>
          </a:p>
        </p:txBody>
      </p:sp>
      <p:sp>
        <p:nvSpPr>
          <p:cNvPr id="5" name="Text 3"/>
          <p:cNvSpPr/>
          <p:nvPr/>
        </p:nvSpPr>
        <p:spPr>
          <a:xfrm>
            <a:off x="4083546" y="838200"/>
            <a:ext cx="166864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a:t>
            </a:r>
            <a:endParaRPr lang="en-US" sz="1800" dirty="0"/>
          </a:p>
        </p:txBody>
      </p:sp>
      <p:sp>
        <p:nvSpPr>
          <p:cNvPr id="6" name="Text 4"/>
          <p:cNvSpPr/>
          <p:nvPr/>
        </p:nvSpPr>
        <p:spPr>
          <a:xfrm>
            <a:off x="1047750" y="12715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Multi-Head Attention</a:t>
            </a:r>
            <a:endParaRPr lang="en-US" sz="4800" dirty="0"/>
          </a:p>
        </p:txBody>
      </p:sp>
      <p:sp>
        <p:nvSpPr>
          <p:cNvPr id="7" name="Shape 5"/>
          <p:cNvSpPr/>
          <p:nvPr/>
        </p:nvSpPr>
        <p:spPr>
          <a:xfrm>
            <a:off x="1047750" y="4476973"/>
            <a:ext cx="11460361" cy="9525"/>
          </a:xfrm>
          <a:prstGeom prst="rect">
            <a:avLst/>
          </a:prstGeom>
          <a:solidFill>
            <a:srgbClr val="1F6FEB"/>
          </a:solidFill>
          <a:ln/>
        </p:spPr>
        <p:txBody>
          <a:bodyPr/>
          <a:lstStyle/>
          <a:p>
            <a:endParaRPr lang="en-US"/>
          </a:p>
        </p:txBody>
      </p:sp>
      <p:sp>
        <p:nvSpPr>
          <p:cNvPr id="8" name="Shape 6"/>
          <p:cNvSpPr/>
          <p:nvPr/>
        </p:nvSpPr>
        <p:spPr>
          <a:xfrm>
            <a:off x="1047750" y="3857848"/>
            <a:ext cx="11460361" cy="9525"/>
          </a:xfrm>
          <a:prstGeom prst="rect">
            <a:avLst/>
          </a:prstGeom>
          <a:solidFill>
            <a:srgbClr val="1F6FEB"/>
          </a:solidFill>
          <a:ln/>
        </p:spPr>
        <p:txBody>
          <a:bodyPr/>
          <a:lstStyle/>
          <a:p>
            <a:endParaRPr lang="en-US"/>
          </a:p>
        </p:txBody>
      </p:sp>
      <p:sp>
        <p:nvSpPr>
          <p:cNvPr id="9" name="Shape 7"/>
          <p:cNvSpPr/>
          <p:nvPr/>
        </p:nvSpPr>
        <p:spPr>
          <a:xfrm>
            <a:off x="1047750" y="3857848"/>
            <a:ext cx="57150" cy="628650"/>
          </a:xfrm>
          <a:prstGeom prst="rect">
            <a:avLst/>
          </a:prstGeom>
          <a:solidFill>
            <a:srgbClr val="1F6FEB"/>
          </a:solidFill>
          <a:ln/>
        </p:spPr>
        <p:txBody>
          <a:bodyPr/>
          <a:lstStyle/>
          <a:p>
            <a:endParaRPr lang="en-US"/>
          </a:p>
        </p:txBody>
      </p:sp>
      <p:sp>
        <p:nvSpPr>
          <p:cNvPr id="10" name="Shape 8"/>
          <p:cNvSpPr/>
          <p:nvPr/>
        </p:nvSpPr>
        <p:spPr>
          <a:xfrm>
            <a:off x="12498586" y="3857848"/>
            <a:ext cx="9525" cy="628650"/>
          </a:xfrm>
          <a:prstGeom prst="rect">
            <a:avLst/>
          </a:prstGeom>
          <a:solidFill>
            <a:srgbClr val="1F6FEB"/>
          </a:solidFill>
          <a:ln/>
        </p:spPr>
        <p:txBody>
          <a:bodyPr/>
          <a:lstStyle/>
          <a:p>
            <a:endParaRPr lang="en-US"/>
          </a:p>
        </p:txBody>
      </p:sp>
      <p:sp>
        <p:nvSpPr>
          <p:cNvPr id="11" name="Text 9"/>
          <p:cNvSpPr/>
          <p:nvPr/>
        </p:nvSpPr>
        <p:spPr>
          <a:xfrm>
            <a:off x="1314450" y="4019773"/>
            <a:ext cx="11318397"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Courier New" pitchFamily="34" charset="0"/>
                <a:ea typeface="Courier New" pitchFamily="34" charset="-122"/>
                <a:cs typeface="Courier New" pitchFamily="34" charset="-120"/>
              </a:rPr>
              <a:t>Head 1 </a:t>
            </a:r>
            <a:r>
              <a:rPr lang="en-US" sz="2025" dirty="0">
                <a:solidFill>
                  <a:srgbClr val="1A1A1A"/>
                </a:solidFill>
                <a:latin typeface="Arial" pitchFamily="34" charset="0"/>
                <a:ea typeface="Arial" pitchFamily="34" charset="-122"/>
                <a:cs typeface="Arial" pitchFamily="34" charset="-120"/>
              </a:rPr>
              <a:t>grammar</a:t>
            </a:r>
            <a:endParaRPr lang="en-US" sz="1200" dirty="0"/>
          </a:p>
        </p:txBody>
      </p:sp>
      <p:sp>
        <p:nvSpPr>
          <p:cNvPr id="12" name="Shape 10"/>
          <p:cNvSpPr/>
          <p:nvPr/>
        </p:nvSpPr>
        <p:spPr>
          <a:xfrm>
            <a:off x="1047750" y="5238973"/>
            <a:ext cx="11460361" cy="9525"/>
          </a:xfrm>
          <a:prstGeom prst="rect">
            <a:avLst/>
          </a:prstGeom>
          <a:solidFill>
            <a:srgbClr val="178A4C"/>
          </a:solidFill>
          <a:ln/>
        </p:spPr>
        <p:txBody>
          <a:bodyPr/>
          <a:lstStyle/>
          <a:p>
            <a:endParaRPr lang="en-US"/>
          </a:p>
        </p:txBody>
      </p:sp>
      <p:sp>
        <p:nvSpPr>
          <p:cNvPr id="13" name="Shape 11"/>
          <p:cNvSpPr/>
          <p:nvPr/>
        </p:nvSpPr>
        <p:spPr>
          <a:xfrm>
            <a:off x="1047750" y="4619848"/>
            <a:ext cx="11460361" cy="9525"/>
          </a:xfrm>
          <a:prstGeom prst="rect">
            <a:avLst/>
          </a:prstGeom>
          <a:solidFill>
            <a:srgbClr val="178A4C"/>
          </a:solidFill>
          <a:ln/>
        </p:spPr>
        <p:txBody>
          <a:bodyPr/>
          <a:lstStyle/>
          <a:p>
            <a:endParaRPr lang="en-US"/>
          </a:p>
        </p:txBody>
      </p:sp>
      <p:sp>
        <p:nvSpPr>
          <p:cNvPr id="14" name="Shape 12"/>
          <p:cNvSpPr/>
          <p:nvPr/>
        </p:nvSpPr>
        <p:spPr>
          <a:xfrm>
            <a:off x="1047750" y="4619848"/>
            <a:ext cx="57150" cy="628650"/>
          </a:xfrm>
          <a:prstGeom prst="rect">
            <a:avLst/>
          </a:prstGeom>
          <a:solidFill>
            <a:srgbClr val="178A4C"/>
          </a:solidFill>
          <a:ln/>
        </p:spPr>
        <p:txBody>
          <a:bodyPr/>
          <a:lstStyle/>
          <a:p>
            <a:endParaRPr lang="en-US"/>
          </a:p>
        </p:txBody>
      </p:sp>
      <p:sp>
        <p:nvSpPr>
          <p:cNvPr id="15" name="Shape 13"/>
          <p:cNvSpPr/>
          <p:nvPr/>
        </p:nvSpPr>
        <p:spPr>
          <a:xfrm>
            <a:off x="12498586" y="4619848"/>
            <a:ext cx="9525" cy="628650"/>
          </a:xfrm>
          <a:prstGeom prst="rect">
            <a:avLst/>
          </a:prstGeom>
          <a:solidFill>
            <a:srgbClr val="178A4C"/>
          </a:solidFill>
          <a:ln/>
        </p:spPr>
        <p:txBody>
          <a:bodyPr/>
          <a:lstStyle/>
          <a:p>
            <a:endParaRPr lang="en-US"/>
          </a:p>
        </p:txBody>
      </p:sp>
      <p:sp>
        <p:nvSpPr>
          <p:cNvPr id="16" name="Text 14"/>
          <p:cNvSpPr/>
          <p:nvPr/>
        </p:nvSpPr>
        <p:spPr>
          <a:xfrm>
            <a:off x="1314450" y="4781773"/>
            <a:ext cx="11318397"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Courier New" pitchFamily="34" charset="0"/>
                <a:ea typeface="Courier New" pitchFamily="34" charset="-122"/>
                <a:cs typeface="Courier New" pitchFamily="34" charset="-120"/>
              </a:rPr>
              <a:t>Head 2 </a:t>
            </a:r>
            <a:r>
              <a:rPr lang="en-US" sz="2025" dirty="0">
                <a:solidFill>
                  <a:srgbClr val="1A1A1A"/>
                </a:solidFill>
                <a:latin typeface="Arial" pitchFamily="34" charset="0"/>
                <a:ea typeface="Arial" pitchFamily="34" charset="-122"/>
                <a:cs typeface="Arial" pitchFamily="34" charset="-120"/>
              </a:rPr>
              <a:t>what “it” refers to</a:t>
            </a:r>
            <a:endParaRPr lang="en-US" sz="1200" dirty="0"/>
          </a:p>
        </p:txBody>
      </p:sp>
      <p:sp>
        <p:nvSpPr>
          <p:cNvPr id="17" name="Shape 15"/>
          <p:cNvSpPr/>
          <p:nvPr/>
        </p:nvSpPr>
        <p:spPr>
          <a:xfrm>
            <a:off x="1047750" y="6000973"/>
            <a:ext cx="11460361" cy="9525"/>
          </a:xfrm>
          <a:prstGeom prst="rect">
            <a:avLst/>
          </a:prstGeom>
          <a:solidFill>
            <a:srgbClr val="C77D0A"/>
          </a:solidFill>
          <a:ln/>
        </p:spPr>
        <p:txBody>
          <a:bodyPr/>
          <a:lstStyle/>
          <a:p>
            <a:endParaRPr lang="en-US"/>
          </a:p>
        </p:txBody>
      </p:sp>
      <p:sp>
        <p:nvSpPr>
          <p:cNvPr id="18" name="Shape 16"/>
          <p:cNvSpPr/>
          <p:nvPr/>
        </p:nvSpPr>
        <p:spPr>
          <a:xfrm>
            <a:off x="1047750" y="5381848"/>
            <a:ext cx="11460361" cy="9525"/>
          </a:xfrm>
          <a:prstGeom prst="rect">
            <a:avLst/>
          </a:prstGeom>
          <a:solidFill>
            <a:srgbClr val="C77D0A"/>
          </a:solidFill>
          <a:ln/>
        </p:spPr>
        <p:txBody>
          <a:bodyPr/>
          <a:lstStyle/>
          <a:p>
            <a:endParaRPr lang="en-US"/>
          </a:p>
        </p:txBody>
      </p:sp>
      <p:sp>
        <p:nvSpPr>
          <p:cNvPr id="19" name="Shape 17"/>
          <p:cNvSpPr/>
          <p:nvPr/>
        </p:nvSpPr>
        <p:spPr>
          <a:xfrm>
            <a:off x="1047750" y="5381848"/>
            <a:ext cx="57150" cy="628650"/>
          </a:xfrm>
          <a:prstGeom prst="rect">
            <a:avLst/>
          </a:prstGeom>
          <a:solidFill>
            <a:srgbClr val="C77D0A"/>
          </a:solidFill>
          <a:ln/>
        </p:spPr>
        <p:txBody>
          <a:bodyPr/>
          <a:lstStyle/>
          <a:p>
            <a:endParaRPr lang="en-US"/>
          </a:p>
        </p:txBody>
      </p:sp>
      <p:sp>
        <p:nvSpPr>
          <p:cNvPr id="20" name="Shape 18"/>
          <p:cNvSpPr/>
          <p:nvPr/>
        </p:nvSpPr>
        <p:spPr>
          <a:xfrm>
            <a:off x="12498586" y="5381848"/>
            <a:ext cx="9525" cy="628650"/>
          </a:xfrm>
          <a:prstGeom prst="rect">
            <a:avLst/>
          </a:prstGeom>
          <a:solidFill>
            <a:srgbClr val="C77D0A"/>
          </a:solidFill>
          <a:ln/>
        </p:spPr>
        <p:txBody>
          <a:bodyPr/>
          <a:lstStyle/>
          <a:p>
            <a:endParaRPr lang="en-US"/>
          </a:p>
        </p:txBody>
      </p:sp>
      <p:sp>
        <p:nvSpPr>
          <p:cNvPr id="21" name="Text 19"/>
          <p:cNvSpPr/>
          <p:nvPr/>
        </p:nvSpPr>
        <p:spPr>
          <a:xfrm>
            <a:off x="1314450" y="5543773"/>
            <a:ext cx="11318397"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C77D0A"/>
                </a:solidFill>
                <a:latin typeface="Courier New" pitchFamily="34" charset="0"/>
                <a:ea typeface="Courier New" pitchFamily="34" charset="-122"/>
                <a:cs typeface="Courier New" pitchFamily="34" charset="-120"/>
              </a:rPr>
              <a:t>Head 3 </a:t>
            </a:r>
            <a:r>
              <a:rPr lang="en-US" sz="2025" dirty="0">
                <a:solidFill>
                  <a:srgbClr val="1A1A1A"/>
                </a:solidFill>
                <a:latin typeface="Arial" pitchFamily="34" charset="0"/>
                <a:ea typeface="Arial" pitchFamily="34" charset="-122"/>
                <a:cs typeface="Arial" pitchFamily="34" charset="-120"/>
              </a:rPr>
              <a:t>word order</a:t>
            </a:r>
            <a:endParaRPr lang="en-US" sz="1200" dirty="0"/>
          </a:p>
        </p:txBody>
      </p:sp>
      <p:sp>
        <p:nvSpPr>
          <p:cNvPr id="22" name="Shape 20"/>
          <p:cNvSpPr/>
          <p:nvPr/>
        </p:nvSpPr>
        <p:spPr>
          <a:xfrm>
            <a:off x="1047750" y="6762973"/>
            <a:ext cx="11460361" cy="9525"/>
          </a:xfrm>
          <a:prstGeom prst="rect">
            <a:avLst/>
          </a:prstGeom>
          <a:solidFill>
            <a:srgbClr val="E3E1DA"/>
          </a:solidFill>
          <a:ln/>
        </p:spPr>
        <p:txBody>
          <a:bodyPr/>
          <a:lstStyle/>
          <a:p>
            <a:endParaRPr lang="en-US"/>
          </a:p>
        </p:txBody>
      </p:sp>
      <p:sp>
        <p:nvSpPr>
          <p:cNvPr id="23" name="Shape 21"/>
          <p:cNvSpPr/>
          <p:nvPr/>
        </p:nvSpPr>
        <p:spPr>
          <a:xfrm>
            <a:off x="1047750" y="6143848"/>
            <a:ext cx="11460361" cy="9525"/>
          </a:xfrm>
          <a:prstGeom prst="rect">
            <a:avLst/>
          </a:prstGeom>
          <a:solidFill>
            <a:srgbClr val="E3E1DA"/>
          </a:solidFill>
          <a:ln/>
        </p:spPr>
        <p:txBody>
          <a:bodyPr/>
          <a:lstStyle/>
          <a:p>
            <a:endParaRPr lang="en-US"/>
          </a:p>
        </p:txBody>
      </p:sp>
      <p:sp>
        <p:nvSpPr>
          <p:cNvPr id="24" name="Shape 22"/>
          <p:cNvSpPr/>
          <p:nvPr/>
        </p:nvSpPr>
        <p:spPr>
          <a:xfrm>
            <a:off x="1047750" y="6143848"/>
            <a:ext cx="57150" cy="628650"/>
          </a:xfrm>
          <a:prstGeom prst="rect">
            <a:avLst/>
          </a:prstGeom>
          <a:solidFill>
            <a:srgbClr val="7C7A73"/>
          </a:solidFill>
          <a:ln/>
        </p:spPr>
        <p:txBody>
          <a:bodyPr/>
          <a:lstStyle/>
          <a:p>
            <a:endParaRPr lang="en-US"/>
          </a:p>
        </p:txBody>
      </p:sp>
      <p:sp>
        <p:nvSpPr>
          <p:cNvPr id="25" name="Shape 23"/>
          <p:cNvSpPr/>
          <p:nvPr/>
        </p:nvSpPr>
        <p:spPr>
          <a:xfrm>
            <a:off x="12498586" y="6143848"/>
            <a:ext cx="9525" cy="628650"/>
          </a:xfrm>
          <a:prstGeom prst="rect">
            <a:avLst/>
          </a:prstGeom>
          <a:solidFill>
            <a:srgbClr val="E3E1DA"/>
          </a:solidFill>
          <a:ln/>
        </p:spPr>
        <p:txBody>
          <a:bodyPr/>
          <a:lstStyle/>
          <a:p>
            <a:endParaRPr lang="en-US"/>
          </a:p>
        </p:txBody>
      </p:sp>
      <p:sp>
        <p:nvSpPr>
          <p:cNvPr id="26" name="Text 24"/>
          <p:cNvSpPr/>
          <p:nvPr/>
        </p:nvSpPr>
        <p:spPr>
          <a:xfrm>
            <a:off x="1314450" y="6305773"/>
            <a:ext cx="11318397"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7C7A73"/>
                </a:solidFill>
                <a:latin typeface="Courier New" pitchFamily="34" charset="0"/>
                <a:ea typeface="Courier New" pitchFamily="34" charset="-122"/>
                <a:cs typeface="Courier New" pitchFamily="34" charset="-120"/>
              </a:rPr>
              <a:t>… </a:t>
            </a:r>
            <a:r>
              <a:rPr lang="en-US" sz="2025" dirty="0">
                <a:solidFill>
                  <a:srgbClr val="7C7A73"/>
                </a:solidFill>
                <a:latin typeface="Arial" pitchFamily="34" charset="0"/>
                <a:ea typeface="Arial" pitchFamily="34" charset="-122"/>
                <a:cs typeface="Arial" pitchFamily="34" charset="-120"/>
              </a:rPr>
              <a:t>8, 12, or more heads</a:t>
            </a:r>
            <a:endParaRPr lang="en-US" sz="1200" dirty="0"/>
          </a:p>
        </p:txBody>
      </p:sp>
      <p:sp>
        <p:nvSpPr>
          <p:cNvPr id="27" name="Text 25"/>
          <p:cNvSpPr/>
          <p:nvPr/>
        </p:nvSpPr>
        <p:spPr>
          <a:xfrm>
            <a:off x="13066514" y="4293617"/>
            <a:ext cx="83395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concat</a:t>
            </a:r>
            <a:endParaRPr lang="en-US" sz="2025" dirty="0"/>
          </a:p>
        </p:txBody>
      </p:sp>
      <p:sp>
        <p:nvSpPr>
          <p:cNvPr id="28" name="Text 26"/>
          <p:cNvSpPr/>
          <p:nvPr/>
        </p:nvSpPr>
        <p:spPr>
          <a:xfrm>
            <a:off x="13245405" y="4703192"/>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9" name="Shape 27"/>
          <p:cNvSpPr/>
          <p:nvPr/>
        </p:nvSpPr>
        <p:spPr>
          <a:xfrm>
            <a:off x="12965311" y="5279454"/>
            <a:ext cx="960239" cy="481012"/>
          </a:xfrm>
          <a:prstGeom prst="roundRect">
            <a:avLst>
              <a:gd name="adj" fmla="val 19802"/>
            </a:avLst>
          </a:prstGeom>
          <a:solidFill>
            <a:srgbClr val="EFE9FB"/>
          </a:solidFill>
          <a:ln/>
        </p:spPr>
        <p:txBody>
          <a:bodyPr/>
          <a:lstStyle/>
          <a:p>
            <a:endParaRPr lang="en-US"/>
          </a:p>
        </p:txBody>
      </p:sp>
      <p:sp>
        <p:nvSpPr>
          <p:cNvPr id="30" name="Text 28"/>
          <p:cNvSpPr/>
          <p:nvPr/>
        </p:nvSpPr>
        <p:spPr>
          <a:xfrm>
            <a:off x="13136761" y="5374704"/>
            <a:ext cx="693539" cy="328612"/>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 Wᴼ</a:t>
            </a:r>
            <a:endParaRPr lang="en-US" sz="2025" dirty="0"/>
          </a:p>
        </p:txBody>
      </p:sp>
      <p:sp>
        <p:nvSpPr>
          <p:cNvPr id="31" name="Text 29"/>
          <p:cNvSpPr/>
          <p:nvPr/>
        </p:nvSpPr>
        <p:spPr>
          <a:xfrm>
            <a:off x="13245405" y="587476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32" name="Shape 30"/>
          <p:cNvSpPr/>
          <p:nvPr/>
        </p:nvSpPr>
        <p:spPr>
          <a:xfrm>
            <a:off x="14382750" y="4379342"/>
            <a:ext cx="2857500" cy="1871663"/>
          </a:xfrm>
          <a:prstGeom prst="roundRect">
            <a:avLst>
              <a:gd name="adj" fmla="val 8142"/>
            </a:avLst>
          </a:prstGeom>
          <a:solidFill>
            <a:srgbClr val="EFE9FB"/>
          </a:solidFill>
          <a:ln w="19050">
            <a:solidFill>
              <a:srgbClr val="7A4FD0"/>
            </a:solidFill>
            <a:prstDash val="solid"/>
          </a:ln>
        </p:spPr>
        <p:txBody>
          <a:bodyPr/>
          <a:lstStyle/>
          <a:p>
            <a:endParaRPr lang="en-US"/>
          </a:p>
        </p:txBody>
      </p:sp>
      <p:sp>
        <p:nvSpPr>
          <p:cNvPr id="33" name="Text 31"/>
          <p:cNvSpPr/>
          <p:nvPr/>
        </p:nvSpPr>
        <p:spPr>
          <a:xfrm>
            <a:off x="14649450" y="4684142"/>
            <a:ext cx="2324100" cy="942975"/>
          </a:xfrm>
          <a:prstGeom prst="rect">
            <a:avLst/>
          </a:prstGeom>
          <a:noFill/>
          <a:ln/>
        </p:spPr>
        <p:txBody>
          <a:bodyPr wrap="square" lIns="25400" tIns="25400" rIns="25400" bIns="25400" rtlCol="0" anchor="t">
            <a:normAutofit/>
          </a:bodyPr>
          <a:lstStyle/>
          <a:p>
            <a:pPr marL="0" indent="0" algn="ctr">
              <a:buNone/>
            </a:pPr>
            <a:r>
              <a:rPr lang="en-US" sz="3150" b="1" dirty="0">
                <a:solidFill>
                  <a:srgbClr val="7A4FD0"/>
                </a:solidFill>
                <a:latin typeface="Georgia" pitchFamily="34" charset="0"/>
                <a:ea typeface="Georgia" pitchFamily="34" charset="-122"/>
                <a:cs typeface="Georgia" pitchFamily="34" charset="-120"/>
              </a:rPr>
              <a:t>Unified output</a:t>
            </a:r>
            <a:endParaRPr lang="en-US" sz="3150" dirty="0"/>
          </a:p>
        </p:txBody>
      </p:sp>
      <p:sp>
        <p:nvSpPr>
          <p:cNvPr id="34" name="Text 32"/>
          <p:cNvSpPr/>
          <p:nvPr/>
        </p:nvSpPr>
        <p:spPr>
          <a:xfrm>
            <a:off x="14575155" y="5684267"/>
            <a:ext cx="247269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all experts, blended</a:t>
            </a:r>
            <a:endParaRPr lang="en-US" sz="1800" dirty="0"/>
          </a:p>
        </p:txBody>
      </p:sp>
      <p:sp>
        <p:nvSpPr>
          <p:cNvPr id="35" name="Text 33"/>
          <p:cNvSpPr/>
          <p:nvPr/>
        </p:nvSpPr>
        <p:spPr>
          <a:xfrm>
            <a:off x="1047750" y="8553450"/>
            <a:ext cx="16678275" cy="819150"/>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Georgia" pitchFamily="34" charset="0"/>
                <a:ea typeface="Georgia" pitchFamily="34" charset="-122"/>
                <a:cs typeface="Georgia" pitchFamily="34" charset="-120"/>
              </a:rPr>
              <a:t>One big head blurs into a single average — many heads each </a:t>
            </a:r>
            <a:r>
              <a:rPr lang="en-US" sz="2700" dirty="0">
                <a:solidFill>
                  <a:srgbClr val="1A1A1A"/>
                </a:solidFill>
                <a:highlight>
                  <a:srgbClr val="FFF1A8"/>
                </a:highlight>
                <a:latin typeface="Georgia" pitchFamily="34" charset="0"/>
                <a:ea typeface="Georgia" pitchFamily="34" charset="-122"/>
                <a:cs typeface="Georgia" pitchFamily="34" charset="-120"/>
              </a:rPr>
              <a:t>specialize </a:t>
            </a:r>
            <a:r>
              <a:rPr lang="en-US" sz="2700" dirty="0">
                <a:solidFill>
                  <a:srgbClr val="1A1A1A"/>
                </a:solidFill>
                <a:latin typeface="Georgia" pitchFamily="34" charset="0"/>
                <a:ea typeface="Georgia" pitchFamily="34" charset="-122"/>
                <a:cs typeface="Georgia" pitchFamily="34" charset="-120"/>
              </a:rPr>
              <a:t>(grammar, pronouns, word order) in one pass.</a:t>
            </a:r>
            <a:endParaRPr lang="en-US" sz="2700" dirty="0"/>
          </a:p>
        </p:txBody>
      </p:sp>
      <p:sp>
        <p:nvSpPr>
          <p:cNvPr id="36" name="Shape 34"/>
          <p:cNvSpPr/>
          <p:nvPr/>
        </p:nvSpPr>
        <p:spPr>
          <a:xfrm>
            <a:off x="1047750" y="9520238"/>
            <a:ext cx="16192500" cy="9525"/>
          </a:xfrm>
          <a:prstGeom prst="rect">
            <a:avLst/>
          </a:prstGeom>
          <a:solidFill>
            <a:srgbClr val="E3E1DA"/>
          </a:solidFill>
          <a:ln/>
        </p:spPr>
        <p:txBody>
          <a:bodyPr/>
          <a:lstStyle/>
          <a:p>
            <a:endParaRPr lang="en-US"/>
          </a:p>
        </p:txBody>
      </p:sp>
      <p:sp>
        <p:nvSpPr>
          <p:cNvPr id="37" name="Text 3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8" name="Text 36"/>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07256"/>
            <a:ext cx="123825" cy="123825"/>
          </a:xfrm>
          <a:prstGeom prst="ellipse">
            <a:avLst/>
          </a:prstGeom>
          <a:solidFill>
            <a:srgbClr val="7A4FD0"/>
          </a:solidFill>
          <a:ln/>
        </p:spPr>
        <p:txBody>
          <a:bodyPr/>
          <a:lstStyle/>
          <a:p>
            <a:endParaRPr lang="en-US"/>
          </a:p>
        </p:txBody>
      </p:sp>
      <p:sp>
        <p:nvSpPr>
          <p:cNvPr id="3" name="Text 1"/>
          <p:cNvSpPr/>
          <p:nvPr/>
        </p:nvSpPr>
        <p:spPr>
          <a:xfrm>
            <a:off x="1304925" y="838200"/>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00100"/>
            <a:ext cx="1724769" cy="338138"/>
          </a:xfrm>
          <a:prstGeom prst="roundRect">
            <a:avLst>
              <a:gd name="adj" fmla="val 50000"/>
            </a:avLst>
          </a:prstGeom>
          <a:solidFill>
            <a:srgbClr val="E4F4EB"/>
          </a:solidFill>
          <a:ln/>
        </p:spPr>
        <p:txBody>
          <a:bodyPr/>
          <a:lstStyle/>
          <a:p>
            <a:endParaRPr lang="en-US"/>
          </a:p>
        </p:txBody>
      </p:sp>
      <p:sp>
        <p:nvSpPr>
          <p:cNvPr id="5" name="Text 3"/>
          <p:cNvSpPr/>
          <p:nvPr/>
        </p:nvSpPr>
        <p:spPr>
          <a:xfrm>
            <a:off x="4083546" y="838200"/>
            <a:ext cx="166864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a:t>
            </a:r>
            <a:endParaRPr lang="en-US" sz="1800" dirty="0"/>
          </a:p>
        </p:txBody>
      </p:sp>
      <p:sp>
        <p:nvSpPr>
          <p:cNvPr id="6" name="Text 4"/>
          <p:cNvSpPr/>
          <p:nvPr/>
        </p:nvSpPr>
        <p:spPr>
          <a:xfrm>
            <a:off x="1047750" y="12715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KV Cache: Why Long Chats Get Expensive</a:t>
            </a:r>
            <a:endParaRPr lang="en-US" sz="4800" dirty="0"/>
          </a:p>
        </p:txBody>
      </p:sp>
      <p:sp>
        <p:nvSpPr>
          <p:cNvPr id="7" name="Text 5"/>
          <p:cNvSpPr/>
          <p:nvPr/>
        </p:nvSpPr>
        <p:spPr>
          <a:xfrm>
            <a:off x="1047750" y="4493642"/>
            <a:ext cx="5679705"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Generating one token at a time →</a:t>
            </a:r>
            <a:endParaRPr lang="en-US" sz="1800" dirty="0"/>
          </a:p>
        </p:txBody>
      </p:sp>
      <p:sp>
        <p:nvSpPr>
          <p:cNvPr id="8" name="Shape 6"/>
          <p:cNvSpPr/>
          <p:nvPr/>
        </p:nvSpPr>
        <p:spPr>
          <a:xfrm>
            <a:off x="1047750" y="4965129"/>
            <a:ext cx="796826" cy="452438"/>
          </a:xfrm>
          <a:prstGeom prst="roundRect">
            <a:avLst>
              <a:gd name="adj" fmla="val 16842"/>
            </a:avLst>
          </a:prstGeom>
          <a:solidFill>
            <a:srgbClr val="F8F7F3"/>
          </a:solidFill>
          <a:ln w="9525">
            <a:solidFill>
              <a:srgbClr val="E3E1DA"/>
            </a:solidFill>
            <a:prstDash val="solid"/>
          </a:ln>
        </p:spPr>
        <p:txBody>
          <a:bodyPr/>
          <a:lstStyle/>
          <a:p>
            <a:endParaRPr lang="en-US"/>
          </a:p>
        </p:txBody>
      </p:sp>
      <p:sp>
        <p:nvSpPr>
          <p:cNvPr id="9" name="Text 7"/>
          <p:cNvSpPr/>
          <p:nvPr/>
        </p:nvSpPr>
        <p:spPr>
          <a:xfrm>
            <a:off x="1171575" y="5050854"/>
            <a:ext cx="625376" cy="319088"/>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tok₁</a:t>
            </a:r>
            <a:endParaRPr lang="en-US" sz="1800" dirty="0"/>
          </a:p>
        </p:txBody>
      </p:sp>
      <p:sp>
        <p:nvSpPr>
          <p:cNvPr id="10" name="Shape 8"/>
          <p:cNvSpPr/>
          <p:nvPr/>
        </p:nvSpPr>
        <p:spPr>
          <a:xfrm>
            <a:off x="1126034" y="5493767"/>
            <a:ext cx="640184" cy="409575"/>
          </a:xfrm>
          <a:prstGeom prst="roundRect">
            <a:avLst>
              <a:gd name="adj" fmla="val 18605"/>
            </a:avLst>
          </a:prstGeom>
          <a:solidFill>
            <a:srgbClr val="E4F4EB"/>
          </a:solidFill>
          <a:ln/>
        </p:spPr>
        <p:txBody>
          <a:bodyPr/>
          <a:lstStyle/>
          <a:p>
            <a:endParaRPr lang="en-US"/>
          </a:p>
        </p:txBody>
      </p:sp>
      <p:sp>
        <p:nvSpPr>
          <p:cNvPr id="11" name="Text 9"/>
          <p:cNvSpPr/>
          <p:nvPr/>
        </p:nvSpPr>
        <p:spPr>
          <a:xfrm>
            <a:off x="1240334" y="5569967"/>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K/V</a:t>
            </a:r>
            <a:endParaRPr lang="en-US" sz="1800" dirty="0"/>
          </a:p>
        </p:txBody>
      </p:sp>
      <p:sp>
        <p:nvSpPr>
          <p:cNvPr id="12" name="Text 10"/>
          <p:cNvSpPr/>
          <p:nvPr/>
        </p:nvSpPr>
        <p:spPr>
          <a:xfrm>
            <a:off x="1077590" y="5979542"/>
            <a:ext cx="81334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cached</a:t>
            </a:r>
            <a:endParaRPr lang="en-US" sz="1800" dirty="0"/>
          </a:p>
        </p:txBody>
      </p:sp>
      <p:sp>
        <p:nvSpPr>
          <p:cNvPr id="13" name="Shape 11"/>
          <p:cNvSpPr/>
          <p:nvPr/>
        </p:nvSpPr>
        <p:spPr>
          <a:xfrm>
            <a:off x="1977926" y="4965129"/>
            <a:ext cx="796826" cy="452438"/>
          </a:xfrm>
          <a:prstGeom prst="roundRect">
            <a:avLst>
              <a:gd name="adj" fmla="val 16842"/>
            </a:avLst>
          </a:prstGeom>
          <a:solidFill>
            <a:srgbClr val="F8F7F3"/>
          </a:solidFill>
          <a:ln w="9525">
            <a:solidFill>
              <a:srgbClr val="E3E1DA"/>
            </a:solidFill>
            <a:prstDash val="solid"/>
          </a:ln>
        </p:spPr>
        <p:txBody>
          <a:bodyPr/>
          <a:lstStyle/>
          <a:p>
            <a:endParaRPr lang="en-US"/>
          </a:p>
        </p:txBody>
      </p:sp>
      <p:sp>
        <p:nvSpPr>
          <p:cNvPr id="14" name="Text 12"/>
          <p:cNvSpPr/>
          <p:nvPr/>
        </p:nvSpPr>
        <p:spPr>
          <a:xfrm>
            <a:off x="2101751" y="5050854"/>
            <a:ext cx="625376" cy="319088"/>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tok₂</a:t>
            </a:r>
            <a:endParaRPr lang="en-US" sz="1800" dirty="0"/>
          </a:p>
        </p:txBody>
      </p:sp>
      <p:sp>
        <p:nvSpPr>
          <p:cNvPr id="15" name="Shape 13"/>
          <p:cNvSpPr/>
          <p:nvPr/>
        </p:nvSpPr>
        <p:spPr>
          <a:xfrm>
            <a:off x="2056209" y="5493767"/>
            <a:ext cx="640184" cy="409575"/>
          </a:xfrm>
          <a:prstGeom prst="roundRect">
            <a:avLst>
              <a:gd name="adj" fmla="val 18605"/>
            </a:avLst>
          </a:prstGeom>
          <a:solidFill>
            <a:srgbClr val="E4F4EB"/>
          </a:solidFill>
          <a:ln/>
        </p:spPr>
        <p:txBody>
          <a:bodyPr/>
          <a:lstStyle/>
          <a:p>
            <a:endParaRPr lang="en-US"/>
          </a:p>
        </p:txBody>
      </p:sp>
      <p:sp>
        <p:nvSpPr>
          <p:cNvPr id="16" name="Text 14"/>
          <p:cNvSpPr/>
          <p:nvPr/>
        </p:nvSpPr>
        <p:spPr>
          <a:xfrm>
            <a:off x="2170509" y="5569967"/>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K/V</a:t>
            </a:r>
            <a:endParaRPr lang="en-US" sz="1800" dirty="0"/>
          </a:p>
        </p:txBody>
      </p:sp>
      <p:sp>
        <p:nvSpPr>
          <p:cNvPr id="17" name="Text 15"/>
          <p:cNvSpPr/>
          <p:nvPr/>
        </p:nvSpPr>
        <p:spPr>
          <a:xfrm>
            <a:off x="2007766" y="5979542"/>
            <a:ext cx="81334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cached</a:t>
            </a:r>
            <a:endParaRPr lang="en-US" sz="1800" dirty="0"/>
          </a:p>
        </p:txBody>
      </p:sp>
      <p:sp>
        <p:nvSpPr>
          <p:cNvPr id="18" name="Shape 16"/>
          <p:cNvSpPr/>
          <p:nvPr/>
        </p:nvSpPr>
        <p:spPr>
          <a:xfrm>
            <a:off x="2908102" y="4965129"/>
            <a:ext cx="796826" cy="452438"/>
          </a:xfrm>
          <a:prstGeom prst="roundRect">
            <a:avLst>
              <a:gd name="adj" fmla="val 16842"/>
            </a:avLst>
          </a:prstGeom>
          <a:solidFill>
            <a:srgbClr val="F8F7F3"/>
          </a:solidFill>
          <a:ln w="9525">
            <a:solidFill>
              <a:srgbClr val="E3E1DA"/>
            </a:solidFill>
            <a:prstDash val="solid"/>
          </a:ln>
        </p:spPr>
        <p:txBody>
          <a:bodyPr/>
          <a:lstStyle/>
          <a:p>
            <a:endParaRPr lang="en-US"/>
          </a:p>
        </p:txBody>
      </p:sp>
      <p:sp>
        <p:nvSpPr>
          <p:cNvPr id="19" name="Text 17"/>
          <p:cNvSpPr/>
          <p:nvPr/>
        </p:nvSpPr>
        <p:spPr>
          <a:xfrm>
            <a:off x="3031927" y="5050854"/>
            <a:ext cx="625376" cy="319088"/>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tok₃</a:t>
            </a:r>
            <a:endParaRPr lang="en-US" sz="1800" dirty="0"/>
          </a:p>
        </p:txBody>
      </p:sp>
      <p:sp>
        <p:nvSpPr>
          <p:cNvPr id="20" name="Shape 18"/>
          <p:cNvSpPr/>
          <p:nvPr/>
        </p:nvSpPr>
        <p:spPr>
          <a:xfrm>
            <a:off x="2986385" y="5493767"/>
            <a:ext cx="640184" cy="409575"/>
          </a:xfrm>
          <a:prstGeom prst="roundRect">
            <a:avLst>
              <a:gd name="adj" fmla="val 18605"/>
            </a:avLst>
          </a:prstGeom>
          <a:solidFill>
            <a:srgbClr val="E4F4EB"/>
          </a:solidFill>
          <a:ln/>
        </p:spPr>
        <p:txBody>
          <a:bodyPr/>
          <a:lstStyle/>
          <a:p>
            <a:endParaRPr lang="en-US"/>
          </a:p>
        </p:txBody>
      </p:sp>
      <p:sp>
        <p:nvSpPr>
          <p:cNvPr id="21" name="Text 19"/>
          <p:cNvSpPr/>
          <p:nvPr/>
        </p:nvSpPr>
        <p:spPr>
          <a:xfrm>
            <a:off x="3100685" y="5569967"/>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K/V</a:t>
            </a:r>
            <a:endParaRPr lang="en-US" sz="1800" dirty="0"/>
          </a:p>
        </p:txBody>
      </p:sp>
      <p:sp>
        <p:nvSpPr>
          <p:cNvPr id="22" name="Text 20"/>
          <p:cNvSpPr/>
          <p:nvPr/>
        </p:nvSpPr>
        <p:spPr>
          <a:xfrm>
            <a:off x="2937942" y="5979542"/>
            <a:ext cx="81334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cached</a:t>
            </a:r>
            <a:endParaRPr lang="en-US" sz="1800" dirty="0"/>
          </a:p>
        </p:txBody>
      </p:sp>
      <p:sp>
        <p:nvSpPr>
          <p:cNvPr id="23" name="Shape 21"/>
          <p:cNvSpPr/>
          <p:nvPr/>
        </p:nvSpPr>
        <p:spPr>
          <a:xfrm>
            <a:off x="3838277" y="4965129"/>
            <a:ext cx="796826" cy="452438"/>
          </a:xfrm>
          <a:prstGeom prst="roundRect">
            <a:avLst>
              <a:gd name="adj" fmla="val 16842"/>
            </a:avLst>
          </a:prstGeom>
          <a:solidFill>
            <a:srgbClr val="F8F7F3"/>
          </a:solidFill>
          <a:ln w="9525">
            <a:solidFill>
              <a:srgbClr val="E3E1DA"/>
            </a:solidFill>
            <a:prstDash val="solid"/>
          </a:ln>
        </p:spPr>
        <p:txBody>
          <a:bodyPr/>
          <a:lstStyle/>
          <a:p>
            <a:endParaRPr lang="en-US"/>
          </a:p>
        </p:txBody>
      </p:sp>
      <p:sp>
        <p:nvSpPr>
          <p:cNvPr id="24" name="Text 22"/>
          <p:cNvSpPr/>
          <p:nvPr/>
        </p:nvSpPr>
        <p:spPr>
          <a:xfrm>
            <a:off x="3962102" y="5050854"/>
            <a:ext cx="625376" cy="319088"/>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tok₄</a:t>
            </a:r>
            <a:endParaRPr lang="en-US" sz="1800" dirty="0"/>
          </a:p>
        </p:txBody>
      </p:sp>
      <p:sp>
        <p:nvSpPr>
          <p:cNvPr id="25" name="Shape 23"/>
          <p:cNvSpPr/>
          <p:nvPr/>
        </p:nvSpPr>
        <p:spPr>
          <a:xfrm>
            <a:off x="3916561" y="5493767"/>
            <a:ext cx="640184" cy="409575"/>
          </a:xfrm>
          <a:prstGeom prst="roundRect">
            <a:avLst>
              <a:gd name="adj" fmla="val 18605"/>
            </a:avLst>
          </a:prstGeom>
          <a:solidFill>
            <a:srgbClr val="E4F4EB"/>
          </a:solidFill>
          <a:ln/>
        </p:spPr>
        <p:txBody>
          <a:bodyPr/>
          <a:lstStyle/>
          <a:p>
            <a:endParaRPr lang="en-US"/>
          </a:p>
        </p:txBody>
      </p:sp>
      <p:sp>
        <p:nvSpPr>
          <p:cNvPr id="26" name="Text 24"/>
          <p:cNvSpPr/>
          <p:nvPr/>
        </p:nvSpPr>
        <p:spPr>
          <a:xfrm>
            <a:off x="4030861" y="5569967"/>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K/V</a:t>
            </a:r>
            <a:endParaRPr lang="en-US" sz="1800" dirty="0"/>
          </a:p>
        </p:txBody>
      </p:sp>
      <p:sp>
        <p:nvSpPr>
          <p:cNvPr id="27" name="Text 25"/>
          <p:cNvSpPr/>
          <p:nvPr/>
        </p:nvSpPr>
        <p:spPr>
          <a:xfrm>
            <a:off x="3868117" y="5979542"/>
            <a:ext cx="81334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cached</a:t>
            </a:r>
            <a:endParaRPr lang="en-US" sz="1800" dirty="0"/>
          </a:p>
        </p:txBody>
      </p:sp>
      <p:sp>
        <p:nvSpPr>
          <p:cNvPr id="28" name="Shape 26"/>
          <p:cNvSpPr/>
          <p:nvPr/>
        </p:nvSpPr>
        <p:spPr>
          <a:xfrm>
            <a:off x="4768453" y="4946079"/>
            <a:ext cx="815876" cy="471488"/>
          </a:xfrm>
          <a:prstGeom prst="roundRect">
            <a:avLst>
              <a:gd name="adj" fmla="val 16162"/>
            </a:avLst>
          </a:prstGeom>
          <a:solidFill>
            <a:srgbClr val="FBF0D9"/>
          </a:solidFill>
          <a:ln w="19050">
            <a:solidFill>
              <a:srgbClr val="C77D0A"/>
            </a:solidFill>
            <a:prstDash val="solid"/>
          </a:ln>
        </p:spPr>
        <p:txBody>
          <a:bodyPr/>
          <a:lstStyle/>
          <a:p>
            <a:endParaRPr lang="en-US"/>
          </a:p>
        </p:txBody>
      </p:sp>
      <p:sp>
        <p:nvSpPr>
          <p:cNvPr id="29" name="Text 27"/>
          <p:cNvSpPr/>
          <p:nvPr/>
        </p:nvSpPr>
        <p:spPr>
          <a:xfrm>
            <a:off x="4901803" y="5041329"/>
            <a:ext cx="625376" cy="319088"/>
          </a:xfrm>
          <a:prstGeom prst="rect">
            <a:avLst/>
          </a:prstGeom>
          <a:noFill/>
          <a:ln/>
        </p:spPr>
        <p:txBody>
          <a:bodyPr wrap="square" lIns="25400" tIns="25400" rIns="25400" bIns="25400" rtlCol="0" anchor="t">
            <a:normAutofit/>
          </a:bodyPr>
          <a:lstStyle/>
          <a:p>
            <a:pPr marL="0" indent="0" algn="l">
              <a:buNone/>
            </a:pPr>
            <a:r>
              <a:rPr lang="en-US" sz="1800" dirty="0">
                <a:solidFill>
                  <a:srgbClr val="C77D0A"/>
                </a:solidFill>
                <a:latin typeface="Courier New" pitchFamily="34" charset="0"/>
                <a:ea typeface="Courier New" pitchFamily="34" charset="-122"/>
                <a:cs typeface="Courier New" pitchFamily="34" charset="-120"/>
              </a:rPr>
              <a:t>tok₅</a:t>
            </a:r>
            <a:endParaRPr lang="en-US" sz="1800" dirty="0"/>
          </a:p>
        </p:txBody>
      </p:sp>
      <p:sp>
        <p:nvSpPr>
          <p:cNvPr id="30" name="Shape 28"/>
          <p:cNvSpPr/>
          <p:nvPr/>
        </p:nvSpPr>
        <p:spPr>
          <a:xfrm>
            <a:off x="4856262" y="5493767"/>
            <a:ext cx="640184" cy="409575"/>
          </a:xfrm>
          <a:prstGeom prst="roundRect">
            <a:avLst>
              <a:gd name="adj" fmla="val 18605"/>
            </a:avLst>
          </a:prstGeom>
          <a:solidFill>
            <a:srgbClr val="C77D0A"/>
          </a:solidFill>
          <a:ln/>
        </p:spPr>
        <p:txBody>
          <a:bodyPr/>
          <a:lstStyle/>
          <a:p>
            <a:endParaRPr lang="en-US"/>
          </a:p>
        </p:txBody>
      </p:sp>
      <p:sp>
        <p:nvSpPr>
          <p:cNvPr id="31" name="Text 29"/>
          <p:cNvSpPr/>
          <p:nvPr/>
        </p:nvSpPr>
        <p:spPr>
          <a:xfrm>
            <a:off x="4970562" y="5569967"/>
            <a:ext cx="487784" cy="295275"/>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Courier New" pitchFamily="34" charset="0"/>
                <a:ea typeface="Courier New" pitchFamily="34" charset="-122"/>
                <a:cs typeface="Courier New" pitchFamily="34" charset="-120"/>
              </a:rPr>
              <a:t>K/V</a:t>
            </a:r>
            <a:endParaRPr lang="en-US" sz="1800" dirty="0"/>
          </a:p>
        </p:txBody>
      </p:sp>
      <p:sp>
        <p:nvSpPr>
          <p:cNvPr id="32" name="Text 30"/>
          <p:cNvSpPr/>
          <p:nvPr/>
        </p:nvSpPr>
        <p:spPr>
          <a:xfrm>
            <a:off x="4954042" y="5979542"/>
            <a:ext cx="520824"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C77D0A"/>
                </a:solidFill>
                <a:latin typeface="Arial" pitchFamily="34" charset="0"/>
                <a:ea typeface="Arial" pitchFamily="34" charset="-122"/>
                <a:cs typeface="Arial" pitchFamily="34" charset="-120"/>
              </a:rPr>
              <a:t>new</a:t>
            </a:r>
            <a:endParaRPr lang="en-US" sz="1800" dirty="0"/>
          </a:p>
        </p:txBody>
      </p:sp>
      <p:sp>
        <p:nvSpPr>
          <p:cNvPr id="33" name="Shape 31"/>
          <p:cNvSpPr/>
          <p:nvPr/>
        </p:nvSpPr>
        <p:spPr>
          <a:xfrm>
            <a:off x="1047750" y="6451029"/>
            <a:ext cx="5163369" cy="542925"/>
          </a:xfrm>
          <a:prstGeom prst="roundRect">
            <a:avLst>
              <a:gd name="adj" fmla="val 17544"/>
            </a:avLst>
          </a:prstGeom>
          <a:solidFill>
            <a:srgbClr val="F8F7F3"/>
          </a:solidFill>
          <a:ln w="9525">
            <a:solidFill>
              <a:srgbClr val="E3E1DA"/>
            </a:solidFill>
            <a:prstDash val="solid"/>
          </a:ln>
        </p:spPr>
        <p:txBody>
          <a:bodyPr/>
          <a:lstStyle/>
          <a:p>
            <a:endParaRPr lang="en-US"/>
          </a:p>
        </p:txBody>
      </p:sp>
      <p:sp>
        <p:nvSpPr>
          <p:cNvPr id="34" name="Text 32"/>
          <p:cNvSpPr/>
          <p:nvPr/>
        </p:nvSpPr>
        <p:spPr>
          <a:xfrm>
            <a:off x="1228725" y="6593904"/>
            <a:ext cx="49563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3D3D3D"/>
                </a:solidFill>
                <a:latin typeface="Courier New" pitchFamily="34" charset="0"/>
                <a:ea typeface="Courier New" pitchFamily="34" charset="-122"/>
                <a:cs typeface="Courier New" pitchFamily="34" charset="-120"/>
              </a:rPr>
              <a:t>cache = tokens × layers × heads × 2</a:t>
            </a:r>
            <a:endParaRPr lang="en-US" sz="1800" dirty="0"/>
          </a:p>
        </p:txBody>
      </p:sp>
      <p:sp>
        <p:nvSpPr>
          <p:cNvPr id="35" name="Text 33"/>
          <p:cNvSpPr/>
          <p:nvPr/>
        </p:nvSpPr>
        <p:spPr>
          <a:xfrm>
            <a:off x="6820719" y="4549378"/>
            <a:ext cx="11461485"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Compute each Key &amp; Value once — then reuse.</a:t>
            </a:r>
            <a:endParaRPr lang="en-US" sz="2700" dirty="0"/>
          </a:p>
        </p:txBody>
      </p:sp>
      <p:sp>
        <p:nvSpPr>
          <p:cNvPr id="36" name="Text 34"/>
          <p:cNvSpPr/>
          <p:nvPr/>
        </p:nvSpPr>
        <p:spPr>
          <a:xfrm>
            <a:off x="6820719" y="5204668"/>
            <a:ext cx="10732117"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Recomputing every past token at every step would be far too slow, so the model </a:t>
            </a:r>
            <a:r>
              <a:rPr lang="en-US" sz="2025" b="1" dirty="0">
                <a:solidFill>
                  <a:srgbClr val="1A1A1A"/>
                </a:solidFill>
                <a:latin typeface="Arial" pitchFamily="34" charset="0"/>
                <a:ea typeface="Arial" pitchFamily="34" charset="-122"/>
                <a:cs typeface="Arial" pitchFamily="34" charset="-120"/>
              </a:rPr>
              <a:t>caches </a:t>
            </a:r>
            <a:r>
              <a:rPr lang="en-US" sz="2025" dirty="0">
                <a:solidFill>
                  <a:srgbClr val="3D3D3D"/>
                </a:solidFill>
                <a:latin typeface="Arial" pitchFamily="34" charset="0"/>
                <a:ea typeface="Arial" pitchFamily="34" charset="-122"/>
                <a:cs typeface="Arial" pitchFamily="34" charset="-120"/>
              </a:rPr>
              <a:t>them.</a:t>
            </a:r>
            <a:endParaRPr lang="en-US" sz="2025" dirty="0"/>
          </a:p>
        </p:txBody>
      </p:sp>
      <p:sp>
        <p:nvSpPr>
          <p:cNvPr id="37" name="Text 35"/>
          <p:cNvSpPr/>
          <p:nvPr/>
        </p:nvSpPr>
        <p:spPr>
          <a:xfrm>
            <a:off x="6820719" y="6166693"/>
            <a:ext cx="10732117" cy="809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The cache </a:t>
            </a:r>
            <a:r>
              <a:rPr lang="en-US" sz="2025" dirty="0">
                <a:solidFill>
                  <a:srgbClr val="3D3D3D"/>
                </a:solidFill>
                <a:highlight>
                  <a:srgbClr val="FFF1A8"/>
                </a:highlight>
                <a:latin typeface="Arial" pitchFamily="34" charset="0"/>
                <a:ea typeface="Arial" pitchFamily="34" charset="-122"/>
                <a:cs typeface="Arial" pitchFamily="34" charset="-120"/>
              </a:rPr>
              <a:t>grows with every token </a:t>
            </a:r>
            <a:r>
              <a:rPr lang="en-US" sz="2025" dirty="0">
                <a:solidFill>
                  <a:srgbClr val="3D3D3D"/>
                </a:solidFill>
                <a:latin typeface="Arial" pitchFamily="34" charset="0"/>
                <a:ea typeface="Arial" pitchFamily="34" charset="-122"/>
                <a:cs typeface="Arial" pitchFamily="34" charset="-120"/>
              </a:rPr>
              <a:t>— the #1 memory cost of inference. It’s also why you’re billed for the whole prompt history on </a:t>
            </a:r>
            <a:r>
              <a:rPr lang="en-US" sz="2025" i="1" dirty="0">
                <a:solidFill>
                  <a:srgbClr val="3D3D3D"/>
                </a:solidFill>
                <a:latin typeface="Arial" pitchFamily="34" charset="0"/>
                <a:ea typeface="Arial" pitchFamily="34" charset="-122"/>
                <a:cs typeface="Arial" pitchFamily="34" charset="-120"/>
              </a:rPr>
              <a:t>every </a:t>
            </a:r>
            <a:r>
              <a:rPr lang="en-US" sz="2025" dirty="0">
                <a:solidFill>
                  <a:srgbClr val="3D3D3D"/>
                </a:solidFill>
                <a:latin typeface="Arial" pitchFamily="34" charset="0"/>
                <a:ea typeface="Arial" pitchFamily="34" charset="-122"/>
                <a:cs typeface="Arial" pitchFamily="34" charset="-120"/>
              </a:rPr>
              <a:t>call, and why long context costs more.</a:t>
            </a:r>
            <a:endParaRPr lang="en-US" sz="2025" dirty="0"/>
          </a:p>
        </p:txBody>
      </p:sp>
      <p:sp>
        <p:nvSpPr>
          <p:cNvPr id="38" name="Shape 36"/>
          <p:cNvSpPr/>
          <p:nvPr/>
        </p:nvSpPr>
        <p:spPr>
          <a:xfrm>
            <a:off x="1047750" y="9520238"/>
            <a:ext cx="16192500" cy="9525"/>
          </a:xfrm>
          <a:prstGeom prst="rect">
            <a:avLst/>
          </a:prstGeom>
          <a:solidFill>
            <a:srgbClr val="E3E1DA"/>
          </a:solidFill>
          <a:ln/>
        </p:spPr>
        <p:txBody>
          <a:bodyPr/>
          <a:lstStyle/>
          <a:p>
            <a:endParaRPr lang="en-US"/>
          </a:p>
        </p:txBody>
      </p:sp>
      <p:sp>
        <p:nvSpPr>
          <p:cNvPr id="39" name="Text 3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0" name="Text 38"/>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2252737"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2328937"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GQA paper · arXiv</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Shrinking the Cache: MHA → GQA → MQA</a:t>
            </a:r>
            <a:endParaRPr lang="en-US" sz="4800" dirty="0"/>
          </a:p>
        </p:txBody>
      </p:sp>
      <p:sp>
        <p:nvSpPr>
          <p:cNvPr id="9" name="Shape 7"/>
          <p:cNvSpPr/>
          <p:nvPr/>
        </p:nvSpPr>
        <p:spPr>
          <a:xfrm>
            <a:off x="1047750" y="3700686"/>
            <a:ext cx="5200650" cy="3633788"/>
          </a:xfrm>
          <a:prstGeom prst="roundRect">
            <a:avLst>
              <a:gd name="adj" fmla="val 4194"/>
            </a:avLst>
          </a:prstGeom>
          <a:ln w="9525">
            <a:solidFill>
              <a:srgbClr val="E3E1DA"/>
            </a:solidFill>
            <a:prstDash val="solid"/>
          </a:ln>
        </p:spPr>
        <p:txBody>
          <a:bodyPr/>
          <a:lstStyle/>
          <a:p>
            <a:endParaRPr lang="en-US"/>
          </a:p>
        </p:txBody>
      </p:sp>
      <p:sp>
        <p:nvSpPr>
          <p:cNvPr id="10" name="Text 8"/>
          <p:cNvSpPr/>
          <p:nvPr/>
        </p:nvSpPr>
        <p:spPr>
          <a:xfrm>
            <a:off x="1343025" y="4034061"/>
            <a:ext cx="62492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Courier New" pitchFamily="34" charset="0"/>
                <a:ea typeface="Courier New" pitchFamily="34" charset="-122"/>
                <a:cs typeface="Courier New" pitchFamily="34" charset="-120"/>
              </a:rPr>
              <a:t>MHA</a:t>
            </a:r>
            <a:endParaRPr lang="en-US" sz="2400" dirty="0"/>
          </a:p>
        </p:txBody>
      </p:sp>
      <p:sp>
        <p:nvSpPr>
          <p:cNvPr id="11" name="Text 9"/>
          <p:cNvSpPr/>
          <p:nvPr/>
        </p:nvSpPr>
        <p:spPr>
          <a:xfrm>
            <a:off x="1343025" y="4415061"/>
            <a:ext cx="507111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one K/V per head</a:t>
            </a:r>
            <a:endParaRPr lang="en-US" sz="1800" dirty="0"/>
          </a:p>
        </p:txBody>
      </p:sp>
      <p:sp>
        <p:nvSpPr>
          <p:cNvPr id="12" name="Shape 10"/>
          <p:cNvSpPr/>
          <p:nvPr/>
        </p:nvSpPr>
        <p:spPr>
          <a:xfrm>
            <a:off x="2871788" y="4905598"/>
            <a:ext cx="323850" cy="323850"/>
          </a:xfrm>
          <a:prstGeom prst="roundRect">
            <a:avLst>
              <a:gd name="adj" fmla="val 20588"/>
            </a:avLst>
          </a:prstGeom>
          <a:solidFill>
            <a:srgbClr val="1F6FEB"/>
          </a:solidFill>
          <a:ln/>
        </p:spPr>
        <p:txBody>
          <a:bodyPr/>
          <a:lstStyle/>
          <a:p>
            <a:endParaRPr lang="en-US"/>
          </a:p>
        </p:txBody>
      </p:sp>
      <p:sp>
        <p:nvSpPr>
          <p:cNvPr id="13" name="Shape 11"/>
          <p:cNvSpPr/>
          <p:nvPr/>
        </p:nvSpPr>
        <p:spPr>
          <a:xfrm>
            <a:off x="3281363" y="4905598"/>
            <a:ext cx="323850" cy="323850"/>
          </a:xfrm>
          <a:prstGeom prst="roundRect">
            <a:avLst>
              <a:gd name="adj" fmla="val 20588"/>
            </a:avLst>
          </a:prstGeom>
          <a:solidFill>
            <a:srgbClr val="178A4C"/>
          </a:solidFill>
          <a:ln/>
        </p:spPr>
        <p:txBody>
          <a:bodyPr/>
          <a:lstStyle/>
          <a:p>
            <a:endParaRPr lang="en-US"/>
          </a:p>
        </p:txBody>
      </p:sp>
      <p:sp>
        <p:nvSpPr>
          <p:cNvPr id="14" name="Shape 12"/>
          <p:cNvSpPr/>
          <p:nvPr/>
        </p:nvSpPr>
        <p:spPr>
          <a:xfrm>
            <a:off x="3690937" y="4905598"/>
            <a:ext cx="323850" cy="323850"/>
          </a:xfrm>
          <a:prstGeom prst="roundRect">
            <a:avLst>
              <a:gd name="adj" fmla="val 20588"/>
            </a:avLst>
          </a:prstGeom>
          <a:solidFill>
            <a:srgbClr val="C77D0A"/>
          </a:solidFill>
          <a:ln/>
        </p:spPr>
        <p:txBody>
          <a:bodyPr/>
          <a:lstStyle/>
          <a:p>
            <a:endParaRPr lang="en-US"/>
          </a:p>
        </p:txBody>
      </p:sp>
      <p:sp>
        <p:nvSpPr>
          <p:cNvPr id="15" name="Shape 13"/>
          <p:cNvSpPr/>
          <p:nvPr/>
        </p:nvSpPr>
        <p:spPr>
          <a:xfrm>
            <a:off x="4100513" y="4905598"/>
            <a:ext cx="323850" cy="323850"/>
          </a:xfrm>
          <a:prstGeom prst="roundRect">
            <a:avLst>
              <a:gd name="adj" fmla="val 20588"/>
            </a:avLst>
          </a:prstGeom>
          <a:solidFill>
            <a:srgbClr val="7A4FD0"/>
          </a:solidFill>
          <a:ln/>
        </p:spPr>
        <p:txBody>
          <a:bodyPr/>
          <a:lstStyle/>
          <a:p>
            <a:endParaRPr lang="en-US"/>
          </a:p>
        </p:txBody>
      </p:sp>
      <p:sp>
        <p:nvSpPr>
          <p:cNvPr id="16" name="Text 14"/>
          <p:cNvSpPr/>
          <p:nvPr/>
        </p:nvSpPr>
        <p:spPr>
          <a:xfrm>
            <a:off x="1112520" y="5458048"/>
            <a:ext cx="507111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 ↓ ↓ ↓</a:t>
            </a:r>
            <a:endParaRPr lang="en-US" sz="1800" dirty="0"/>
          </a:p>
        </p:txBody>
      </p:sp>
      <p:sp>
        <p:nvSpPr>
          <p:cNvPr id="17" name="Shape 15"/>
          <p:cNvSpPr/>
          <p:nvPr/>
        </p:nvSpPr>
        <p:spPr>
          <a:xfrm>
            <a:off x="2871788" y="5948586"/>
            <a:ext cx="323850" cy="323850"/>
          </a:xfrm>
          <a:prstGeom prst="roundRect">
            <a:avLst>
              <a:gd name="adj" fmla="val 20588"/>
            </a:avLst>
          </a:prstGeom>
          <a:solidFill>
            <a:srgbClr val="1F6FEB"/>
          </a:solidFill>
          <a:ln/>
        </p:spPr>
        <p:txBody>
          <a:bodyPr/>
          <a:lstStyle/>
          <a:p>
            <a:endParaRPr lang="en-US"/>
          </a:p>
        </p:txBody>
      </p:sp>
      <p:sp>
        <p:nvSpPr>
          <p:cNvPr id="18" name="Shape 16"/>
          <p:cNvSpPr/>
          <p:nvPr/>
        </p:nvSpPr>
        <p:spPr>
          <a:xfrm>
            <a:off x="3281363" y="5948586"/>
            <a:ext cx="323850" cy="323850"/>
          </a:xfrm>
          <a:prstGeom prst="roundRect">
            <a:avLst>
              <a:gd name="adj" fmla="val 20588"/>
            </a:avLst>
          </a:prstGeom>
          <a:solidFill>
            <a:srgbClr val="178A4C"/>
          </a:solidFill>
          <a:ln/>
        </p:spPr>
        <p:txBody>
          <a:bodyPr/>
          <a:lstStyle/>
          <a:p>
            <a:endParaRPr lang="en-US"/>
          </a:p>
        </p:txBody>
      </p:sp>
      <p:sp>
        <p:nvSpPr>
          <p:cNvPr id="19" name="Shape 17"/>
          <p:cNvSpPr/>
          <p:nvPr/>
        </p:nvSpPr>
        <p:spPr>
          <a:xfrm>
            <a:off x="3690937" y="5948586"/>
            <a:ext cx="323850" cy="323850"/>
          </a:xfrm>
          <a:prstGeom prst="roundRect">
            <a:avLst>
              <a:gd name="adj" fmla="val 20588"/>
            </a:avLst>
          </a:prstGeom>
          <a:solidFill>
            <a:srgbClr val="C77D0A"/>
          </a:solidFill>
          <a:ln/>
        </p:spPr>
        <p:txBody>
          <a:bodyPr/>
          <a:lstStyle/>
          <a:p>
            <a:endParaRPr lang="en-US"/>
          </a:p>
        </p:txBody>
      </p:sp>
      <p:sp>
        <p:nvSpPr>
          <p:cNvPr id="20" name="Shape 18"/>
          <p:cNvSpPr/>
          <p:nvPr/>
        </p:nvSpPr>
        <p:spPr>
          <a:xfrm>
            <a:off x="4100513" y="5948586"/>
            <a:ext cx="323850" cy="323850"/>
          </a:xfrm>
          <a:prstGeom prst="roundRect">
            <a:avLst>
              <a:gd name="adj" fmla="val 20588"/>
            </a:avLst>
          </a:prstGeom>
          <a:solidFill>
            <a:srgbClr val="7A4FD0"/>
          </a:solidFill>
          <a:ln/>
        </p:spPr>
        <p:txBody>
          <a:bodyPr/>
          <a:lstStyle/>
          <a:p>
            <a:endParaRPr lang="en-US"/>
          </a:p>
        </p:txBody>
      </p:sp>
      <p:sp>
        <p:nvSpPr>
          <p:cNvPr id="21" name="Shape 19"/>
          <p:cNvSpPr/>
          <p:nvPr/>
        </p:nvSpPr>
        <p:spPr>
          <a:xfrm>
            <a:off x="1343025" y="6539136"/>
            <a:ext cx="4610100" cy="9525"/>
          </a:xfrm>
          <a:prstGeom prst="rect">
            <a:avLst/>
          </a:prstGeom>
          <a:solidFill>
            <a:srgbClr val="E3E1DA"/>
          </a:solidFill>
          <a:ln/>
        </p:spPr>
        <p:txBody>
          <a:bodyPr/>
          <a:lstStyle/>
          <a:p>
            <a:endParaRPr lang="en-US"/>
          </a:p>
        </p:txBody>
      </p:sp>
      <p:sp>
        <p:nvSpPr>
          <p:cNvPr id="22" name="Text 20"/>
          <p:cNvSpPr/>
          <p:nvPr/>
        </p:nvSpPr>
        <p:spPr>
          <a:xfrm>
            <a:off x="1343025" y="6720111"/>
            <a:ext cx="4748403"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D64545"/>
                </a:solidFill>
                <a:latin typeface="Arial" pitchFamily="34" charset="0"/>
                <a:ea typeface="Arial" pitchFamily="34" charset="-122"/>
                <a:cs typeface="Arial" pitchFamily="34" charset="-120"/>
              </a:rPr>
              <a:t>4 K/V </a:t>
            </a:r>
            <a:r>
              <a:rPr lang="en-US" sz="1800" dirty="0">
                <a:solidFill>
                  <a:srgbClr val="1A1A1A"/>
                </a:solidFill>
                <a:latin typeface="Arial" pitchFamily="34" charset="0"/>
                <a:ea typeface="Arial" pitchFamily="34" charset="-122"/>
                <a:cs typeface="Arial" pitchFamily="34" charset="-120"/>
              </a:rPr>
              <a:t>· </a:t>
            </a:r>
            <a:r>
              <a:rPr lang="en-US" sz="1800" dirty="0">
                <a:solidFill>
                  <a:srgbClr val="7C7A73"/>
                </a:solidFill>
                <a:latin typeface="Arial" pitchFamily="34" charset="0"/>
                <a:ea typeface="Arial" pitchFamily="34" charset="-122"/>
                <a:cs typeface="Arial" pitchFamily="34" charset="-120"/>
              </a:rPr>
              <a:t>biggest cache</a:t>
            </a:r>
            <a:endParaRPr lang="en-US" sz="1800" dirty="0"/>
          </a:p>
        </p:txBody>
      </p:sp>
      <p:sp>
        <p:nvSpPr>
          <p:cNvPr id="23" name="Shape 21"/>
          <p:cNvSpPr/>
          <p:nvPr/>
        </p:nvSpPr>
        <p:spPr>
          <a:xfrm>
            <a:off x="6534150" y="3700686"/>
            <a:ext cx="5219700" cy="3633788"/>
          </a:xfrm>
          <a:prstGeom prst="roundRect">
            <a:avLst>
              <a:gd name="adj" fmla="val 4194"/>
            </a:avLst>
          </a:prstGeom>
          <a:solidFill>
            <a:srgbClr val="E4F4EB"/>
          </a:solidFill>
          <a:ln w="19050">
            <a:solidFill>
              <a:srgbClr val="178A4C"/>
            </a:solidFill>
            <a:prstDash val="solid"/>
          </a:ln>
        </p:spPr>
        <p:txBody>
          <a:bodyPr/>
          <a:lstStyle/>
          <a:p>
            <a:endParaRPr lang="en-US"/>
          </a:p>
        </p:txBody>
      </p:sp>
      <p:sp>
        <p:nvSpPr>
          <p:cNvPr id="24" name="Text 22"/>
          <p:cNvSpPr/>
          <p:nvPr/>
        </p:nvSpPr>
        <p:spPr>
          <a:xfrm>
            <a:off x="6838950" y="4043586"/>
            <a:ext cx="62492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GQA</a:t>
            </a:r>
            <a:endParaRPr lang="en-US" sz="2400" dirty="0"/>
          </a:p>
        </p:txBody>
      </p:sp>
      <p:sp>
        <p:nvSpPr>
          <p:cNvPr id="25" name="Text 23"/>
          <p:cNvSpPr/>
          <p:nvPr/>
        </p:nvSpPr>
        <p:spPr>
          <a:xfrm>
            <a:off x="6838950" y="4424586"/>
            <a:ext cx="507111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3D3D3D"/>
                </a:solidFill>
                <a:latin typeface="Arial" pitchFamily="34" charset="0"/>
                <a:ea typeface="Arial" pitchFamily="34" charset="-122"/>
                <a:cs typeface="Arial" pitchFamily="34" charset="-120"/>
              </a:rPr>
              <a:t>groups share K/V</a:t>
            </a:r>
            <a:endParaRPr lang="en-US" sz="1800" dirty="0"/>
          </a:p>
        </p:txBody>
      </p:sp>
      <p:sp>
        <p:nvSpPr>
          <p:cNvPr id="26" name="Shape 24"/>
          <p:cNvSpPr/>
          <p:nvPr/>
        </p:nvSpPr>
        <p:spPr>
          <a:xfrm>
            <a:off x="8367712" y="4915123"/>
            <a:ext cx="323850" cy="323850"/>
          </a:xfrm>
          <a:prstGeom prst="roundRect">
            <a:avLst>
              <a:gd name="adj" fmla="val 20588"/>
            </a:avLst>
          </a:prstGeom>
          <a:solidFill>
            <a:srgbClr val="1F6FEB"/>
          </a:solidFill>
          <a:ln/>
        </p:spPr>
        <p:txBody>
          <a:bodyPr/>
          <a:lstStyle/>
          <a:p>
            <a:endParaRPr lang="en-US"/>
          </a:p>
        </p:txBody>
      </p:sp>
      <p:sp>
        <p:nvSpPr>
          <p:cNvPr id="27" name="Shape 25"/>
          <p:cNvSpPr/>
          <p:nvPr/>
        </p:nvSpPr>
        <p:spPr>
          <a:xfrm>
            <a:off x="8777288" y="4915123"/>
            <a:ext cx="323850" cy="323850"/>
          </a:xfrm>
          <a:prstGeom prst="roundRect">
            <a:avLst>
              <a:gd name="adj" fmla="val 20588"/>
            </a:avLst>
          </a:prstGeom>
          <a:solidFill>
            <a:srgbClr val="1F6FEB"/>
          </a:solidFill>
          <a:ln/>
        </p:spPr>
        <p:txBody>
          <a:bodyPr/>
          <a:lstStyle/>
          <a:p>
            <a:endParaRPr lang="en-US"/>
          </a:p>
        </p:txBody>
      </p:sp>
      <p:sp>
        <p:nvSpPr>
          <p:cNvPr id="28" name="Shape 26"/>
          <p:cNvSpPr/>
          <p:nvPr/>
        </p:nvSpPr>
        <p:spPr>
          <a:xfrm>
            <a:off x="9186863" y="4915123"/>
            <a:ext cx="323850" cy="323850"/>
          </a:xfrm>
          <a:prstGeom prst="roundRect">
            <a:avLst>
              <a:gd name="adj" fmla="val 20588"/>
            </a:avLst>
          </a:prstGeom>
          <a:solidFill>
            <a:srgbClr val="7A4FD0"/>
          </a:solidFill>
          <a:ln/>
        </p:spPr>
        <p:txBody>
          <a:bodyPr/>
          <a:lstStyle/>
          <a:p>
            <a:endParaRPr lang="en-US"/>
          </a:p>
        </p:txBody>
      </p:sp>
      <p:sp>
        <p:nvSpPr>
          <p:cNvPr id="29" name="Shape 27"/>
          <p:cNvSpPr/>
          <p:nvPr/>
        </p:nvSpPr>
        <p:spPr>
          <a:xfrm>
            <a:off x="9596438" y="4915123"/>
            <a:ext cx="323850" cy="323850"/>
          </a:xfrm>
          <a:prstGeom prst="roundRect">
            <a:avLst>
              <a:gd name="adj" fmla="val 20588"/>
            </a:avLst>
          </a:prstGeom>
          <a:solidFill>
            <a:srgbClr val="7A4FD0"/>
          </a:solidFill>
          <a:ln/>
        </p:spPr>
        <p:txBody>
          <a:bodyPr/>
          <a:lstStyle/>
          <a:p>
            <a:endParaRPr lang="en-US"/>
          </a:p>
        </p:txBody>
      </p:sp>
      <p:sp>
        <p:nvSpPr>
          <p:cNvPr id="30" name="Text 28"/>
          <p:cNvSpPr/>
          <p:nvPr/>
        </p:nvSpPr>
        <p:spPr>
          <a:xfrm>
            <a:off x="6608445" y="5467573"/>
            <a:ext cx="507111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 ↓</a:t>
            </a:r>
            <a:endParaRPr lang="en-US" sz="1800" dirty="0"/>
          </a:p>
        </p:txBody>
      </p:sp>
      <p:sp>
        <p:nvSpPr>
          <p:cNvPr id="31" name="Shape 29"/>
          <p:cNvSpPr/>
          <p:nvPr/>
        </p:nvSpPr>
        <p:spPr>
          <a:xfrm>
            <a:off x="8777288" y="5958111"/>
            <a:ext cx="323850" cy="323850"/>
          </a:xfrm>
          <a:prstGeom prst="roundRect">
            <a:avLst>
              <a:gd name="adj" fmla="val 20588"/>
            </a:avLst>
          </a:prstGeom>
          <a:solidFill>
            <a:srgbClr val="1F6FEB"/>
          </a:solidFill>
          <a:ln/>
        </p:spPr>
        <p:txBody>
          <a:bodyPr/>
          <a:lstStyle/>
          <a:p>
            <a:endParaRPr lang="en-US"/>
          </a:p>
        </p:txBody>
      </p:sp>
      <p:sp>
        <p:nvSpPr>
          <p:cNvPr id="32" name="Shape 30"/>
          <p:cNvSpPr/>
          <p:nvPr/>
        </p:nvSpPr>
        <p:spPr>
          <a:xfrm>
            <a:off x="9186863" y="5958111"/>
            <a:ext cx="323850" cy="323850"/>
          </a:xfrm>
          <a:prstGeom prst="roundRect">
            <a:avLst>
              <a:gd name="adj" fmla="val 20588"/>
            </a:avLst>
          </a:prstGeom>
          <a:solidFill>
            <a:srgbClr val="7A4FD0"/>
          </a:solidFill>
          <a:ln/>
        </p:spPr>
        <p:txBody>
          <a:bodyPr/>
          <a:lstStyle/>
          <a:p>
            <a:endParaRPr lang="en-US"/>
          </a:p>
        </p:txBody>
      </p:sp>
      <p:sp>
        <p:nvSpPr>
          <p:cNvPr id="33" name="Shape 31"/>
          <p:cNvSpPr/>
          <p:nvPr/>
        </p:nvSpPr>
        <p:spPr>
          <a:xfrm>
            <a:off x="6838950" y="6548661"/>
            <a:ext cx="4610100" cy="9525"/>
          </a:xfrm>
          <a:prstGeom prst="rect">
            <a:avLst/>
          </a:prstGeom>
          <a:solidFill>
            <a:srgbClr val="178A4C">
              <a:alpha val="30000"/>
            </a:srgbClr>
          </a:solidFill>
          <a:ln/>
        </p:spPr>
        <p:txBody>
          <a:bodyPr/>
          <a:lstStyle/>
          <a:p>
            <a:endParaRPr lang="en-US"/>
          </a:p>
        </p:txBody>
      </p:sp>
      <p:sp>
        <p:nvSpPr>
          <p:cNvPr id="34" name="Text 32"/>
          <p:cNvSpPr/>
          <p:nvPr/>
        </p:nvSpPr>
        <p:spPr>
          <a:xfrm>
            <a:off x="6838950" y="6729636"/>
            <a:ext cx="4748403"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Arial" pitchFamily="34" charset="0"/>
                <a:ea typeface="Arial" pitchFamily="34" charset="-122"/>
                <a:cs typeface="Arial" pitchFamily="34" charset="-120"/>
              </a:rPr>
              <a:t>2 K/V </a:t>
            </a:r>
            <a:r>
              <a:rPr lang="en-US" sz="1800" dirty="0">
                <a:solidFill>
                  <a:srgbClr val="1A1A1A"/>
                </a:solidFill>
                <a:latin typeface="Arial" pitchFamily="34" charset="0"/>
                <a:ea typeface="Arial" pitchFamily="34" charset="-122"/>
                <a:cs typeface="Arial" pitchFamily="34" charset="-120"/>
              </a:rPr>
              <a:t>· </a:t>
            </a:r>
            <a:r>
              <a:rPr lang="en-US" sz="1800" dirty="0">
                <a:solidFill>
                  <a:srgbClr val="3D3D3D"/>
                </a:solidFill>
                <a:latin typeface="Arial" pitchFamily="34" charset="0"/>
                <a:ea typeface="Arial" pitchFamily="34" charset="-122"/>
                <a:cs typeface="Arial" pitchFamily="34" charset="-120"/>
              </a:rPr>
              <a:t>the sweet spot — most models today</a:t>
            </a:r>
            <a:endParaRPr lang="en-US" sz="1800" dirty="0"/>
          </a:p>
        </p:txBody>
      </p:sp>
      <p:sp>
        <p:nvSpPr>
          <p:cNvPr id="35" name="Shape 33"/>
          <p:cNvSpPr/>
          <p:nvPr/>
        </p:nvSpPr>
        <p:spPr>
          <a:xfrm>
            <a:off x="12039600" y="3700686"/>
            <a:ext cx="5200650" cy="3633788"/>
          </a:xfrm>
          <a:prstGeom prst="roundRect">
            <a:avLst>
              <a:gd name="adj" fmla="val 4194"/>
            </a:avLst>
          </a:prstGeom>
          <a:ln w="9525">
            <a:solidFill>
              <a:srgbClr val="E3E1DA"/>
            </a:solidFill>
            <a:prstDash val="solid"/>
          </a:ln>
        </p:spPr>
        <p:txBody>
          <a:bodyPr/>
          <a:lstStyle/>
          <a:p>
            <a:endParaRPr lang="en-US"/>
          </a:p>
        </p:txBody>
      </p:sp>
      <p:sp>
        <p:nvSpPr>
          <p:cNvPr id="36" name="Text 34"/>
          <p:cNvSpPr/>
          <p:nvPr/>
        </p:nvSpPr>
        <p:spPr>
          <a:xfrm>
            <a:off x="12334875" y="4034061"/>
            <a:ext cx="62492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Courier New" pitchFamily="34" charset="0"/>
                <a:ea typeface="Courier New" pitchFamily="34" charset="-122"/>
                <a:cs typeface="Courier New" pitchFamily="34" charset="-120"/>
              </a:rPr>
              <a:t>MQA</a:t>
            </a:r>
            <a:endParaRPr lang="en-US" sz="2400" dirty="0"/>
          </a:p>
        </p:txBody>
      </p:sp>
      <p:sp>
        <p:nvSpPr>
          <p:cNvPr id="37" name="Text 35"/>
          <p:cNvSpPr/>
          <p:nvPr/>
        </p:nvSpPr>
        <p:spPr>
          <a:xfrm>
            <a:off x="12334875" y="4415061"/>
            <a:ext cx="507111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all share one K/V</a:t>
            </a:r>
            <a:endParaRPr lang="en-US" sz="1800" dirty="0"/>
          </a:p>
        </p:txBody>
      </p:sp>
      <p:sp>
        <p:nvSpPr>
          <p:cNvPr id="38" name="Shape 36"/>
          <p:cNvSpPr/>
          <p:nvPr/>
        </p:nvSpPr>
        <p:spPr>
          <a:xfrm>
            <a:off x="13863638" y="4905598"/>
            <a:ext cx="323850" cy="323850"/>
          </a:xfrm>
          <a:prstGeom prst="roundRect">
            <a:avLst>
              <a:gd name="adj" fmla="val 20588"/>
            </a:avLst>
          </a:prstGeom>
          <a:solidFill>
            <a:srgbClr val="1F6FEB"/>
          </a:solidFill>
          <a:ln/>
        </p:spPr>
        <p:txBody>
          <a:bodyPr/>
          <a:lstStyle/>
          <a:p>
            <a:endParaRPr lang="en-US"/>
          </a:p>
        </p:txBody>
      </p:sp>
      <p:sp>
        <p:nvSpPr>
          <p:cNvPr id="39" name="Shape 37"/>
          <p:cNvSpPr/>
          <p:nvPr/>
        </p:nvSpPr>
        <p:spPr>
          <a:xfrm>
            <a:off x="14273213" y="4905598"/>
            <a:ext cx="323850" cy="323850"/>
          </a:xfrm>
          <a:prstGeom prst="roundRect">
            <a:avLst>
              <a:gd name="adj" fmla="val 20588"/>
            </a:avLst>
          </a:prstGeom>
          <a:solidFill>
            <a:srgbClr val="1F6FEB"/>
          </a:solidFill>
          <a:ln/>
        </p:spPr>
        <p:txBody>
          <a:bodyPr/>
          <a:lstStyle/>
          <a:p>
            <a:endParaRPr lang="en-US"/>
          </a:p>
        </p:txBody>
      </p:sp>
      <p:sp>
        <p:nvSpPr>
          <p:cNvPr id="40" name="Shape 38"/>
          <p:cNvSpPr/>
          <p:nvPr/>
        </p:nvSpPr>
        <p:spPr>
          <a:xfrm>
            <a:off x="14682788" y="4905598"/>
            <a:ext cx="323850" cy="323850"/>
          </a:xfrm>
          <a:prstGeom prst="roundRect">
            <a:avLst>
              <a:gd name="adj" fmla="val 20588"/>
            </a:avLst>
          </a:prstGeom>
          <a:solidFill>
            <a:srgbClr val="1F6FEB"/>
          </a:solidFill>
          <a:ln/>
        </p:spPr>
        <p:txBody>
          <a:bodyPr/>
          <a:lstStyle/>
          <a:p>
            <a:endParaRPr lang="en-US"/>
          </a:p>
        </p:txBody>
      </p:sp>
      <p:sp>
        <p:nvSpPr>
          <p:cNvPr id="41" name="Shape 39"/>
          <p:cNvSpPr/>
          <p:nvPr/>
        </p:nvSpPr>
        <p:spPr>
          <a:xfrm>
            <a:off x="15092362" y="4905598"/>
            <a:ext cx="323850" cy="323850"/>
          </a:xfrm>
          <a:prstGeom prst="roundRect">
            <a:avLst>
              <a:gd name="adj" fmla="val 20588"/>
            </a:avLst>
          </a:prstGeom>
          <a:solidFill>
            <a:srgbClr val="1F6FEB"/>
          </a:solidFill>
          <a:ln/>
        </p:spPr>
        <p:txBody>
          <a:bodyPr/>
          <a:lstStyle/>
          <a:p>
            <a:endParaRPr lang="en-US"/>
          </a:p>
        </p:txBody>
      </p:sp>
      <p:sp>
        <p:nvSpPr>
          <p:cNvPr id="42" name="Text 40"/>
          <p:cNvSpPr/>
          <p:nvPr/>
        </p:nvSpPr>
        <p:spPr>
          <a:xfrm>
            <a:off x="12104370" y="5458048"/>
            <a:ext cx="5071110"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 ↓ ↓ ↓</a:t>
            </a:r>
            <a:endParaRPr lang="en-US" sz="1800" dirty="0"/>
          </a:p>
        </p:txBody>
      </p:sp>
      <p:sp>
        <p:nvSpPr>
          <p:cNvPr id="43" name="Shape 41"/>
          <p:cNvSpPr/>
          <p:nvPr/>
        </p:nvSpPr>
        <p:spPr>
          <a:xfrm>
            <a:off x="14478000" y="5948586"/>
            <a:ext cx="323850" cy="323850"/>
          </a:xfrm>
          <a:prstGeom prst="roundRect">
            <a:avLst>
              <a:gd name="adj" fmla="val 20588"/>
            </a:avLst>
          </a:prstGeom>
          <a:solidFill>
            <a:srgbClr val="1F6FEB"/>
          </a:solidFill>
          <a:ln/>
        </p:spPr>
        <p:txBody>
          <a:bodyPr/>
          <a:lstStyle/>
          <a:p>
            <a:endParaRPr lang="en-US"/>
          </a:p>
        </p:txBody>
      </p:sp>
      <p:sp>
        <p:nvSpPr>
          <p:cNvPr id="44" name="Shape 42"/>
          <p:cNvSpPr/>
          <p:nvPr/>
        </p:nvSpPr>
        <p:spPr>
          <a:xfrm>
            <a:off x="12334875" y="6539136"/>
            <a:ext cx="4610100" cy="9525"/>
          </a:xfrm>
          <a:prstGeom prst="rect">
            <a:avLst/>
          </a:prstGeom>
          <a:solidFill>
            <a:srgbClr val="E3E1DA"/>
          </a:solidFill>
          <a:ln/>
        </p:spPr>
        <p:txBody>
          <a:bodyPr/>
          <a:lstStyle/>
          <a:p>
            <a:endParaRPr lang="en-US"/>
          </a:p>
        </p:txBody>
      </p:sp>
      <p:sp>
        <p:nvSpPr>
          <p:cNvPr id="45" name="Text 43"/>
          <p:cNvSpPr/>
          <p:nvPr/>
        </p:nvSpPr>
        <p:spPr>
          <a:xfrm>
            <a:off x="12334875" y="6720111"/>
            <a:ext cx="4748403"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Arial" pitchFamily="34" charset="0"/>
                <a:ea typeface="Arial" pitchFamily="34" charset="-122"/>
                <a:cs typeface="Arial" pitchFamily="34" charset="-120"/>
              </a:rPr>
              <a:t>1 K/V </a:t>
            </a:r>
            <a:r>
              <a:rPr lang="en-US" sz="1800" dirty="0">
                <a:solidFill>
                  <a:srgbClr val="1A1A1A"/>
                </a:solidFill>
                <a:latin typeface="Arial" pitchFamily="34" charset="0"/>
                <a:ea typeface="Arial" pitchFamily="34" charset="-122"/>
                <a:cs typeface="Arial" pitchFamily="34" charset="-120"/>
              </a:rPr>
              <a:t>· </a:t>
            </a:r>
            <a:r>
              <a:rPr lang="en-US" sz="1800" dirty="0">
                <a:solidFill>
                  <a:srgbClr val="7C7A73"/>
                </a:solidFill>
                <a:latin typeface="Arial" pitchFamily="34" charset="0"/>
                <a:ea typeface="Arial" pitchFamily="34" charset="-122"/>
                <a:cs typeface="Arial" pitchFamily="34" charset="-120"/>
              </a:rPr>
              <a:t>tiny cache, more quality risk</a:t>
            </a:r>
            <a:endParaRPr lang="en-US" sz="1800" dirty="0"/>
          </a:p>
        </p:txBody>
      </p:sp>
      <p:sp>
        <p:nvSpPr>
          <p:cNvPr id="46" name="Text 44"/>
          <p:cNvSpPr/>
          <p:nvPr/>
        </p:nvSpPr>
        <p:spPr>
          <a:xfrm>
            <a:off x="238125" y="9039225"/>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3D3D3D"/>
                </a:solidFill>
                <a:latin typeface="Arial" pitchFamily="34" charset="0"/>
                <a:ea typeface="Arial" pitchFamily="34" charset="-122"/>
                <a:cs typeface="Arial" pitchFamily="34" charset="-120"/>
              </a:rPr>
              <a:t>Why the switch: </a:t>
            </a:r>
            <a:r>
              <a:rPr lang="en-US" sz="2025" dirty="0">
                <a:solidFill>
                  <a:srgbClr val="3D3D3D"/>
                </a:solidFill>
                <a:highlight>
                  <a:srgbClr val="FFF1A8"/>
                </a:highlight>
                <a:latin typeface="Arial" pitchFamily="34" charset="0"/>
                <a:ea typeface="Arial" pitchFamily="34" charset="-122"/>
                <a:cs typeface="Arial" pitchFamily="34" charset="-120"/>
              </a:rPr>
              <a:t>GQA </a:t>
            </a:r>
            <a:r>
              <a:rPr lang="en-US" sz="2025" dirty="0">
                <a:solidFill>
                  <a:srgbClr val="3D3D3D"/>
                </a:solidFill>
                <a:latin typeface="Arial" pitchFamily="34" charset="0"/>
                <a:ea typeface="Arial" pitchFamily="34" charset="-122"/>
                <a:cs typeface="Arial" pitchFamily="34" charset="-120"/>
              </a:rPr>
              <a:t>shrinks the cache several-fold with almost no quality loss — queries stay private, only Keys &amp; Values are shared.</a:t>
            </a:r>
            <a:endParaRPr lang="en-US" sz="2025" dirty="0"/>
          </a:p>
        </p:txBody>
      </p:sp>
      <p:sp>
        <p:nvSpPr>
          <p:cNvPr id="47" name="Shape 45"/>
          <p:cNvSpPr/>
          <p:nvPr/>
        </p:nvSpPr>
        <p:spPr>
          <a:xfrm>
            <a:off x="1047750" y="9520238"/>
            <a:ext cx="16192500" cy="9525"/>
          </a:xfrm>
          <a:prstGeom prst="rect">
            <a:avLst/>
          </a:prstGeom>
          <a:solidFill>
            <a:srgbClr val="E3E1DA"/>
          </a:solidFill>
          <a:ln/>
        </p:spPr>
        <p:txBody>
          <a:bodyPr/>
          <a:lstStyle/>
          <a:p>
            <a:endParaRPr lang="en-US"/>
          </a:p>
        </p:txBody>
      </p:sp>
      <p:sp>
        <p:nvSpPr>
          <p:cNvPr id="48" name="Text 46"/>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9" name="Text 47"/>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3251969"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3349528"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The Illustrated Transformer</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Feed-Forward Network (FFN)</a:t>
            </a:r>
            <a:endParaRPr lang="en-US" sz="4800" dirty="0"/>
          </a:p>
        </p:txBody>
      </p:sp>
      <p:sp>
        <p:nvSpPr>
          <p:cNvPr id="9" name="Shape 7"/>
          <p:cNvSpPr/>
          <p:nvPr/>
        </p:nvSpPr>
        <p:spPr>
          <a:xfrm>
            <a:off x="5355431" y="3926904"/>
            <a:ext cx="762000" cy="762000"/>
          </a:xfrm>
          <a:prstGeom prst="roundRect">
            <a:avLst>
              <a:gd name="adj" fmla="val 15000"/>
            </a:avLst>
          </a:prstGeom>
          <a:solidFill>
            <a:srgbClr val="F8F7F3"/>
          </a:solidFill>
          <a:ln w="19050">
            <a:solidFill>
              <a:srgbClr val="E3E1DA"/>
            </a:solidFill>
            <a:prstDash val="solid"/>
          </a:ln>
        </p:spPr>
        <p:txBody>
          <a:bodyPr/>
          <a:lstStyle/>
          <a:p>
            <a:endParaRPr lang="en-US"/>
          </a:p>
        </p:txBody>
      </p:sp>
      <p:sp>
        <p:nvSpPr>
          <p:cNvPr id="10" name="Text 8"/>
          <p:cNvSpPr/>
          <p:nvPr/>
        </p:nvSpPr>
        <p:spPr>
          <a:xfrm>
            <a:off x="5057358" y="4803204"/>
            <a:ext cx="1358146"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token (d)</a:t>
            </a:r>
            <a:endParaRPr lang="en-US" sz="1800" dirty="0"/>
          </a:p>
        </p:txBody>
      </p:sp>
      <p:sp>
        <p:nvSpPr>
          <p:cNvPr id="11" name="Text 9"/>
          <p:cNvSpPr/>
          <p:nvPr/>
        </p:nvSpPr>
        <p:spPr>
          <a:xfrm>
            <a:off x="6563320" y="4346004"/>
            <a:ext cx="1248594"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expand →</a:t>
            </a:r>
            <a:endParaRPr lang="en-US" sz="2025" dirty="0"/>
          </a:p>
        </p:txBody>
      </p:sp>
      <p:sp>
        <p:nvSpPr>
          <p:cNvPr id="12" name="Shape 10"/>
          <p:cNvSpPr/>
          <p:nvPr/>
        </p:nvSpPr>
        <p:spPr>
          <a:xfrm>
            <a:off x="8661722" y="3355404"/>
            <a:ext cx="762000" cy="1905000"/>
          </a:xfrm>
          <a:prstGeom prst="roundRect">
            <a:avLst>
              <a:gd name="adj" fmla="val 15000"/>
            </a:avLst>
          </a:prstGeom>
          <a:solidFill>
            <a:srgbClr val="EFE9FB"/>
          </a:solidFill>
          <a:ln w="19050">
            <a:solidFill>
              <a:srgbClr val="7A4FD0"/>
            </a:solidFill>
            <a:prstDash val="solid"/>
          </a:ln>
        </p:spPr>
        <p:txBody>
          <a:bodyPr/>
          <a:lstStyle/>
          <a:p>
            <a:endParaRPr lang="en-US"/>
          </a:p>
        </p:txBody>
      </p:sp>
      <p:sp>
        <p:nvSpPr>
          <p:cNvPr id="13" name="Text 11"/>
          <p:cNvSpPr/>
          <p:nvPr/>
        </p:nvSpPr>
        <p:spPr>
          <a:xfrm>
            <a:off x="7835518" y="5374704"/>
            <a:ext cx="241440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wide (4d) + ReLU</a:t>
            </a:r>
            <a:endParaRPr lang="en-US" sz="1800" dirty="0"/>
          </a:p>
        </p:txBody>
      </p:sp>
      <p:sp>
        <p:nvSpPr>
          <p:cNvPr id="14" name="Text 12"/>
          <p:cNvSpPr/>
          <p:nvPr/>
        </p:nvSpPr>
        <p:spPr>
          <a:xfrm>
            <a:off x="10349731" y="4346004"/>
            <a:ext cx="1176784"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project →</a:t>
            </a:r>
            <a:endParaRPr lang="en-US" sz="2025" dirty="0"/>
          </a:p>
        </p:txBody>
      </p:sp>
      <p:sp>
        <p:nvSpPr>
          <p:cNvPr id="15" name="Shape 13"/>
          <p:cNvSpPr/>
          <p:nvPr/>
        </p:nvSpPr>
        <p:spPr>
          <a:xfrm>
            <a:off x="12033349" y="3926904"/>
            <a:ext cx="762000" cy="762000"/>
          </a:xfrm>
          <a:prstGeom prst="roundRect">
            <a:avLst>
              <a:gd name="adj" fmla="val 15000"/>
            </a:avLst>
          </a:prstGeom>
          <a:solidFill>
            <a:srgbClr val="E8F0FE"/>
          </a:solidFill>
          <a:ln w="19050">
            <a:solidFill>
              <a:srgbClr val="1F6FEB"/>
            </a:solidFill>
            <a:prstDash val="solid"/>
          </a:ln>
        </p:spPr>
        <p:txBody>
          <a:bodyPr/>
          <a:lstStyle/>
          <a:p>
            <a:endParaRPr lang="en-US"/>
          </a:p>
        </p:txBody>
      </p:sp>
      <p:sp>
        <p:nvSpPr>
          <p:cNvPr id="16" name="Text 14"/>
          <p:cNvSpPr/>
          <p:nvPr/>
        </p:nvSpPr>
        <p:spPr>
          <a:xfrm>
            <a:off x="11584413" y="4803204"/>
            <a:ext cx="1659947"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back to (d)</a:t>
            </a:r>
            <a:endParaRPr lang="en-US" sz="1800" dirty="0"/>
          </a:p>
        </p:txBody>
      </p:sp>
      <p:sp>
        <p:nvSpPr>
          <p:cNvPr id="17" name="Shape 15"/>
          <p:cNvSpPr/>
          <p:nvPr/>
        </p:nvSpPr>
        <p:spPr>
          <a:xfrm>
            <a:off x="4700141" y="5974779"/>
            <a:ext cx="4243834" cy="1552575"/>
          </a:xfrm>
          <a:prstGeom prst="roundRect">
            <a:avLst>
              <a:gd name="adj" fmla="val 8589"/>
            </a:avLst>
          </a:prstGeom>
          <a:ln w="9525">
            <a:solidFill>
              <a:srgbClr val="E3E1DA"/>
            </a:solidFill>
            <a:prstDash val="solid"/>
          </a:ln>
        </p:spPr>
        <p:txBody>
          <a:bodyPr/>
          <a:lstStyle/>
          <a:p>
            <a:endParaRPr lang="en-US"/>
          </a:p>
        </p:txBody>
      </p:sp>
      <p:sp>
        <p:nvSpPr>
          <p:cNvPr id="18" name="Text 16"/>
          <p:cNvSpPr/>
          <p:nvPr/>
        </p:nvSpPr>
        <p:spPr>
          <a:xfrm>
            <a:off x="4976366" y="6212904"/>
            <a:ext cx="3802126" cy="7429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Attention = communication</a:t>
            </a:r>
            <a:endParaRPr lang="en-US" sz="2400" dirty="0"/>
          </a:p>
        </p:txBody>
      </p:sp>
      <p:sp>
        <p:nvSpPr>
          <p:cNvPr id="19" name="Text 17"/>
          <p:cNvSpPr/>
          <p:nvPr/>
        </p:nvSpPr>
        <p:spPr>
          <a:xfrm>
            <a:off x="4976366" y="6993954"/>
            <a:ext cx="406052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all tokens talk (all-to-all)</a:t>
            </a:r>
            <a:endParaRPr lang="en-US" sz="2025" dirty="0"/>
          </a:p>
        </p:txBody>
      </p:sp>
      <p:sp>
        <p:nvSpPr>
          <p:cNvPr id="20" name="Shape 18"/>
          <p:cNvSpPr/>
          <p:nvPr/>
        </p:nvSpPr>
        <p:spPr>
          <a:xfrm>
            <a:off x="9324975" y="5974779"/>
            <a:ext cx="4262884" cy="1552575"/>
          </a:xfrm>
          <a:prstGeom prst="roundRect">
            <a:avLst>
              <a:gd name="adj" fmla="val 8589"/>
            </a:avLst>
          </a:prstGeom>
          <a:solidFill>
            <a:srgbClr val="EFE9FB"/>
          </a:solidFill>
          <a:ln w="19050">
            <a:solidFill>
              <a:srgbClr val="7A4FD0"/>
            </a:solidFill>
            <a:prstDash val="solid"/>
          </a:ln>
        </p:spPr>
        <p:txBody>
          <a:bodyPr/>
          <a:lstStyle/>
          <a:p>
            <a:endParaRPr lang="en-US"/>
          </a:p>
        </p:txBody>
      </p:sp>
      <p:sp>
        <p:nvSpPr>
          <p:cNvPr id="21" name="Text 19"/>
          <p:cNvSpPr/>
          <p:nvPr/>
        </p:nvSpPr>
        <p:spPr>
          <a:xfrm>
            <a:off x="9610725" y="6222429"/>
            <a:ext cx="4060522"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Arial" pitchFamily="34" charset="0"/>
                <a:ea typeface="Arial" pitchFamily="34" charset="-122"/>
                <a:cs typeface="Arial" pitchFamily="34" charset="-120"/>
              </a:rPr>
              <a:t>FFN = thinking</a:t>
            </a:r>
            <a:endParaRPr lang="en-US" sz="2400" dirty="0"/>
          </a:p>
        </p:txBody>
      </p:sp>
      <p:sp>
        <p:nvSpPr>
          <p:cNvPr id="22" name="Text 20"/>
          <p:cNvSpPr/>
          <p:nvPr/>
        </p:nvSpPr>
        <p:spPr>
          <a:xfrm>
            <a:off x="9610725" y="6651054"/>
            <a:ext cx="406052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each token alone (one-to-one)</a:t>
            </a:r>
            <a:endParaRPr lang="en-US" sz="2025" dirty="0"/>
          </a:p>
        </p:txBody>
      </p:sp>
      <p:sp>
        <p:nvSpPr>
          <p:cNvPr id="23" name="Text 21"/>
          <p:cNvSpPr/>
          <p:nvPr/>
        </p:nvSpPr>
        <p:spPr>
          <a:xfrm>
            <a:off x="238125" y="7870254"/>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3D3D3D"/>
                </a:solidFill>
                <a:latin typeface="Arial" pitchFamily="34" charset="0"/>
                <a:ea typeface="Arial" pitchFamily="34" charset="-122"/>
                <a:cs typeface="Arial" pitchFamily="34" charset="-120"/>
              </a:rPr>
              <a:t>Attention gathers context; the FFN is where each token </a:t>
            </a:r>
            <a:r>
              <a:rPr lang="en-US" sz="2025" dirty="0">
                <a:solidFill>
                  <a:srgbClr val="3D3D3D"/>
                </a:solidFill>
                <a:highlight>
                  <a:srgbClr val="FFF1A8"/>
                </a:highlight>
                <a:latin typeface="Arial" pitchFamily="34" charset="0"/>
                <a:ea typeface="Arial" pitchFamily="34" charset="-122"/>
                <a:cs typeface="Arial" pitchFamily="34" charset="-120"/>
              </a:rPr>
              <a:t>digests it alone </a:t>
            </a:r>
            <a:r>
              <a:rPr lang="en-US" sz="2025" dirty="0">
                <a:solidFill>
                  <a:srgbClr val="3D3D3D"/>
                </a:solidFill>
                <a:latin typeface="Arial" pitchFamily="34" charset="0"/>
                <a:ea typeface="Arial" pitchFamily="34" charset="-122"/>
                <a:cs typeface="Arial" pitchFamily="34" charset="-120"/>
              </a:rPr>
              <a:t>— and where most of the model’s parameters live.</a:t>
            </a:r>
            <a:endParaRPr lang="en-US" sz="2025"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3281214"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3379650"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The Annotated Transformer</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Inside a Transformer Block</a:t>
            </a:r>
            <a:endParaRPr lang="en-US" sz="4800" dirty="0"/>
          </a:p>
        </p:txBody>
      </p:sp>
      <p:sp>
        <p:nvSpPr>
          <p:cNvPr id="9" name="Shape 7"/>
          <p:cNvSpPr/>
          <p:nvPr/>
        </p:nvSpPr>
        <p:spPr>
          <a:xfrm>
            <a:off x="1714500" y="3726879"/>
            <a:ext cx="3429000" cy="428625"/>
          </a:xfrm>
          <a:prstGeom prst="roundRect">
            <a:avLst>
              <a:gd name="adj" fmla="val 20000"/>
            </a:avLst>
          </a:prstGeom>
          <a:solidFill>
            <a:srgbClr val="F8F7F3"/>
          </a:solidFill>
          <a:ln/>
        </p:spPr>
        <p:txBody>
          <a:bodyPr/>
          <a:lstStyle/>
          <a:p>
            <a:endParaRPr lang="en-US"/>
          </a:p>
        </p:txBody>
      </p:sp>
      <p:sp>
        <p:nvSpPr>
          <p:cNvPr id="10" name="Text 8"/>
          <p:cNvSpPr/>
          <p:nvPr/>
        </p:nvSpPr>
        <p:spPr>
          <a:xfrm>
            <a:off x="1748790" y="3812604"/>
            <a:ext cx="3360420"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3D3D3D"/>
                </a:solidFill>
                <a:latin typeface="Courier New" pitchFamily="34" charset="0"/>
                <a:ea typeface="Courier New" pitchFamily="34" charset="-122"/>
                <a:cs typeface="Courier New" pitchFamily="34" charset="-120"/>
              </a:rPr>
              <a:t>output ↑</a:t>
            </a:r>
            <a:endParaRPr lang="en-US" sz="1800" dirty="0"/>
          </a:p>
        </p:txBody>
      </p:sp>
      <p:sp>
        <p:nvSpPr>
          <p:cNvPr id="11" name="Text 9"/>
          <p:cNvSpPr/>
          <p:nvPr/>
        </p:nvSpPr>
        <p:spPr>
          <a:xfrm>
            <a:off x="1874267" y="4295998"/>
            <a:ext cx="213866" cy="31908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Courier New" pitchFamily="34" charset="0"/>
                <a:ea typeface="Courier New" pitchFamily="34" charset="-122"/>
                <a:cs typeface="Courier New" pitchFamily="34" charset="-120"/>
              </a:rPr>
              <a:t>⊕</a:t>
            </a:r>
            <a:endParaRPr lang="en-US" sz="1800" dirty="0"/>
          </a:p>
        </p:txBody>
      </p:sp>
      <p:sp>
        <p:nvSpPr>
          <p:cNvPr id="12" name="Shape 10"/>
          <p:cNvSpPr/>
          <p:nvPr/>
        </p:nvSpPr>
        <p:spPr>
          <a:xfrm>
            <a:off x="2126233" y="4222179"/>
            <a:ext cx="2857500" cy="428625"/>
          </a:xfrm>
          <a:prstGeom prst="roundRect">
            <a:avLst>
              <a:gd name="adj" fmla="val 20000"/>
            </a:avLst>
          </a:prstGeom>
          <a:solidFill>
            <a:srgbClr val="EFE9FB"/>
          </a:solidFill>
          <a:ln/>
        </p:spPr>
        <p:txBody>
          <a:bodyPr/>
          <a:lstStyle/>
          <a:p>
            <a:endParaRPr lang="en-US"/>
          </a:p>
        </p:txBody>
      </p:sp>
      <p:sp>
        <p:nvSpPr>
          <p:cNvPr id="13" name="Text 11"/>
          <p:cNvSpPr/>
          <p:nvPr/>
        </p:nvSpPr>
        <p:spPr>
          <a:xfrm>
            <a:off x="2169096" y="4307904"/>
            <a:ext cx="2771775"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Feed-Forward</a:t>
            </a:r>
            <a:endParaRPr lang="en-US" sz="1800" dirty="0"/>
          </a:p>
        </p:txBody>
      </p:sp>
      <p:sp>
        <p:nvSpPr>
          <p:cNvPr id="14" name="Shape 12"/>
          <p:cNvSpPr/>
          <p:nvPr/>
        </p:nvSpPr>
        <p:spPr>
          <a:xfrm>
            <a:off x="2000250" y="4717479"/>
            <a:ext cx="2857500" cy="409575"/>
          </a:xfrm>
          <a:prstGeom prst="roundRect">
            <a:avLst>
              <a:gd name="adj" fmla="val 18605"/>
            </a:avLst>
          </a:prstGeom>
          <a:solidFill>
            <a:srgbClr val="FFFFFF"/>
          </a:solidFill>
          <a:ln w="9525">
            <a:solidFill>
              <a:srgbClr val="E3E1DA"/>
            </a:solidFill>
            <a:prstDash val="solid"/>
          </a:ln>
        </p:spPr>
        <p:txBody>
          <a:bodyPr/>
          <a:lstStyle/>
          <a:p>
            <a:endParaRPr lang="en-US"/>
          </a:p>
        </p:txBody>
      </p:sp>
      <p:sp>
        <p:nvSpPr>
          <p:cNvPr id="15" name="Text 13"/>
          <p:cNvSpPr/>
          <p:nvPr/>
        </p:nvSpPr>
        <p:spPr>
          <a:xfrm>
            <a:off x="2033588" y="4793679"/>
            <a:ext cx="2790825"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LayerNorm</a:t>
            </a:r>
            <a:endParaRPr lang="en-US" sz="1800" dirty="0"/>
          </a:p>
        </p:txBody>
      </p:sp>
      <p:sp>
        <p:nvSpPr>
          <p:cNvPr id="16" name="Text 14"/>
          <p:cNvSpPr/>
          <p:nvPr/>
        </p:nvSpPr>
        <p:spPr>
          <a:xfrm>
            <a:off x="3360390" y="5193729"/>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a:t>
            </a:r>
            <a:endParaRPr lang="en-US" sz="1800" dirty="0"/>
          </a:p>
        </p:txBody>
      </p:sp>
      <p:sp>
        <p:nvSpPr>
          <p:cNvPr id="17" name="Text 15"/>
          <p:cNvSpPr/>
          <p:nvPr/>
        </p:nvSpPr>
        <p:spPr>
          <a:xfrm>
            <a:off x="1874267" y="5719986"/>
            <a:ext cx="213866" cy="319088"/>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Courier New" pitchFamily="34" charset="0"/>
                <a:ea typeface="Courier New" pitchFamily="34" charset="-122"/>
                <a:cs typeface="Courier New" pitchFamily="34" charset="-120"/>
              </a:rPr>
              <a:t>⊕</a:t>
            </a:r>
            <a:endParaRPr lang="en-US" sz="1800" dirty="0"/>
          </a:p>
        </p:txBody>
      </p:sp>
      <p:sp>
        <p:nvSpPr>
          <p:cNvPr id="18" name="Shape 16"/>
          <p:cNvSpPr/>
          <p:nvPr/>
        </p:nvSpPr>
        <p:spPr>
          <a:xfrm>
            <a:off x="2126233" y="5517579"/>
            <a:ext cx="2857500" cy="685800"/>
          </a:xfrm>
          <a:prstGeom prst="roundRect">
            <a:avLst>
              <a:gd name="adj" fmla="val 12500"/>
            </a:avLst>
          </a:prstGeom>
          <a:solidFill>
            <a:srgbClr val="FBF0D9"/>
          </a:solidFill>
          <a:ln/>
        </p:spPr>
        <p:txBody>
          <a:bodyPr/>
          <a:lstStyle/>
          <a:p>
            <a:endParaRPr lang="en-US"/>
          </a:p>
        </p:txBody>
      </p:sp>
      <p:sp>
        <p:nvSpPr>
          <p:cNvPr id="19" name="Text 17"/>
          <p:cNvSpPr/>
          <p:nvPr/>
        </p:nvSpPr>
        <p:spPr>
          <a:xfrm>
            <a:off x="2169096" y="5603304"/>
            <a:ext cx="2771775"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Masked Multi-Head Attention</a:t>
            </a:r>
            <a:endParaRPr lang="en-US" sz="1800" dirty="0"/>
          </a:p>
        </p:txBody>
      </p:sp>
      <p:sp>
        <p:nvSpPr>
          <p:cNvPr id="20" name="Shape 18"/>
          <p:cNvSpPr/>
          <p:nvPr/>
        </p:nvSpPr>
        <p:spPr>
          <a:xfrm>
            <a:off x="2000250" y="6270054"/>
            <a:ext cx="2857500" cy="409575"/>
          </a:xfrm>
          <a:prstGeom prst="roundRect">
            <a:avLst>
              <a:gd name="adj" fmla="val 18605"/>
            </a:avLst>
          </a:prstGeom>
          <a:solidFill>
            <a:srgbClr val="FFFFFF"/>
          </a:solidFill>
          <a:ln w="9525">
            <a:solidFill>
              <a:srgbClr val="E3E1DA"/>
            </a:solidFill>
            <a:prstDash val="solid"/>
          </a:ln>
        </p:spPr>
        <p:txBody>
          <a:bodyPr/>
          <a:lstStyle/>
          <a:p>
            <a:endParaRPr lang="en-US"/>
          </a:p>
        </p:txBody>
      </p:sp>
      <p:sp>
        <p:nvSpPr>
          <p:cNvPr id="21" name="Text 19"/>
          <p:cNvSpPr/>
          <p:nvPr/>
        </p:nvSpPr>
        <p:spPr>
          <a:xfrm>
            <a:off x="2033588" y="6346254"/>
            <a:ext cx="2790825"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LayerNorm</a:t>
            </a:r>
            <a:endParaRPr lang="en-US" sz="1800" dirty="0"/>
          </a:p>
        </p:txBody>
      </p:sp>
      <p:sp>
        <p:nvSpPr>
          <p:cNvPr id="22" name="Text 20"/>
          <p:cNvSpPr/>
          <p:nvPr/>
        </p:nvSpPr>
        <p:spPr>
          <a:xfrm>
            <a:off x="3360390" y="6746304"/>
            <a:ext cx="21342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714500" y="7070154"/>
            <a:ext cx="3429000" cy="685800"/>
          </a:xfrm>
          <a:prstGeom prst="roundRect">
            <a:avLst>
              <a:gd name="adj" fmla="val 12500"/>
            </a:avLst>
          </a:prstGeom>
          <a:solidFill>
            <a:srgbClr val="F8F7F3"/>
          </a:solidFill>
          <a:ln/>
        </p:spPr>
        <p:txBody>
          <a:bodyPr/>
          <a:lstStyle/>
          <a:p>
            <a:endParaRPr lang="en-US"/>
          </a:p>
        </p:txBody>
      </p:sp>
      <p:sp>
        <p:nvSpPr>
          <p:cNvPr id="24" name="Text 22"/>
          <p:cNvSpPr/>
          <p:nvPr/>
        </p:nvSpPr>
        <p:spPr>
          <a:xfrm>
            <a:off x="1748790" y="7155879"/>
            <a:ext cx="3360420"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3D3D3D"/>
                </a:solidFill>
                <a:latin typeface="Courier New" pitchFamily="34" charset="0"/>
                <a:ea typeface="Courier New" pitchFamily="34" charset="-122"/>
                <a:cs typeface="Courier New" pitchFamily="34" charset="-120"/>
              </a:rPr>
              <a:t>input (residual stream) ↑</a:t>
            </a:r>
            <a:endParaRPr lang="en-US" sz="1800" dirty="0"/>
          </a:p>
        </p:txBody>
      </p:sp>
      <p:sp>
        <p:nvSpPr>
          <p:cNvPr id="25" name="Text 23"/>
          <p:cNvSpPr/>
          <p:nvPr/>
        </p:nvSpPr>
        <p:spPr>
          <a:xfrm>
            <a:off x="6419850" y="4942284"/>
            <a:ext cx="1190244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Two sub-layers on a residual stream.</a:t>
            </a:r>
            <a:endParaRPr lang="en-US" sz="2700" dirty="0"/>
          </a:p>
        </p:txBody>
      </p:sp>
      <p:sp>
        <p:nvSpPr>
          <p:cNvPr id="26" name="Text 24"/>
          <p:cNvSpPr/>
          <p:nvPr/>
        </p:nvSpPr>
        <p:spPr>
          <a:xfrm>
            <a:off x="6419850" y="5597575"/>
            <a:ext cx="11902440"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b="1" dirty="0">
                <a:solidFill>
                  <a:srgbClr val="1A1A1A"/>
                </a:solidFill>
                <a:latin typeface="Arial" pitchFamily="34" charset="0"/>
                <a:ea typeface="Arial" pitchFamily="34" charset="-122"/>
                <a:cs typeface="Arial" pitchFamily="34" charset="-120"/>
              </a:rPr>
              <a:t>Attention </a:t>
            </a:r>
            <a:r>
              <a:rPr lang="en-US" sz="2025" dirty="0">
                <a:solidFill>
                  <a:srgbClr val="3D3D3D"/>
                </a:solidFill>
                <a:latin typeface="Arial" pitchFamily="34" charset="0"/>
                <a:ea typeface="Arial" pitchFamily="34" charset="-122"/>
                <a:cs typeface="Arial" pitchFamily="34" charset="-120"/>
              </a:rPr>
              <a:t>shares context across tokens; the </a:t>
            </a:r>
            <a:r>
              <a:rPr lang="en-US" sz="2025" b="1" dirty="0">
                <a:solidFill>
                  <a:srgbClr val="1A1A1A"/>
                </a:solidFill>
                <a:latin typeface="Arial" pitchFamily="34" charset="0"/>
                <a:ea typeface="Arial" pitchFamily="34" charset="-122"/>
                <a:cs typeface="Arial" pitchFamily="34" charset="-120"/>
              </a:rPr>
              <a:t>feed-forward </a:t>
            </a:r>
            <a:r>
              <a:rPr lang="en-US" sz="2025" dirty="0">
                <a:solidFill>
                  <a:srgbClr val="3D3D3D"/>
                </a:solidFill>
                <a:latin typeface="Arial" pitchFamily="34" charset="0"/>
                <a:ea typeface="Arial" pitchFamily="34" charset="-122"/>
                <a:cs typeface="Arial" pitchFamily="34" charset="-120"/>
              </a:rPr>
              <a:t>net processes each alone.</a:t>
            </a:r>
            <a:endParaRPr lang="en-US" sz="2025" dirty="0"/>
          </a:p>
        </p:txBody>
      </p:sp>
      <p:sp>
        <p:nvSpPr>
          <p:cNvPr id="27" name="Text 25"/>
          <p:cNvSpPr/>
          <p:nvPr/>
        </p:nvSpPr>
        <p:spPr>
          <a:xfrm>
            <a:off x="6419850" y="6135737"/>
            <a:ext cx="11902440" cy="44291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The </a:t>
            </a:r>
            <a:r>
              <a:rPr lang="en-US" sz="2025" dirty="0">
                <a:solidFill>
                  <a:srgbClr val="178A4C"/>
                </a:solidFill>
                <a:latin typeface="Courier New" pitchFamily="34" charset="0"/>
                <a:ea typeface="Courier New" pitchFamily="34" charset="-122"/>
                <a:cs typeface="Courier New" pitchFamily="34" charset="-120"/>
              </a:rPr>
              <a:t>⊕ </a:t>
            </a:r>
            <a:r>
              <a:rPr lang="en-US" sz="2025" dirty="0">
                <a:solidFill>
                  <a:srgbClr val="3D3D3D"/>
                </a:solidFill>
                <a:latin typeface="Arial" pitchFamily="34" charset="0"/>
                <a:ea typeface="Arial" pitchFamily="34" charset="-122"/>
                <a:cs typeface="Arial" pitchFamily="34" charset="-120"/>
              </a:rPr>
              <a:t>is the </a:t>
            </a:r>
            <a:r>
              <a:rPr lang="en-US" sz="2025" b="1" dirty="0">
                <a:solidFill>
                  <a:srgbClr val="1A1A1A"/>
                </a:solidFill>
                <a:latin typeface="Arial" pitchFamily="34" charset="0"/>
                <a:ea typeface="Arial" pitchFamily="34" charset="-122"/>
                <a:cs typeface="Arial" pitchFamily="34" charset="-120"/>
              </a:rPr>
              <a:t>residual add </a:t>
            </a:r>
            <a:r>
              <a:rPr lang="en-US" sz="2025" dirty="0">
                <a:solidFill>
                  <a:srgbClr val="3D3D3D"/>
                </a:solidFill>
                <a:latin typeface="Arial" pitchFamily="34" charset="0"/>
                <a:ea typeface="Arial" pitchFamily="34" charset="-122"/>
                <a:cs typeface="Arial" pitchFamily="34" charset="-120"/>
              </a:rPr>
              <a:t>— a shortcut that, with </a:t>
            </a:r>
            <a:r>
              <a:rPr lang="en-US" sz="2025" dirty="0">
                <a:solidFill>
                  <a:srgbClr val="3D3D3D"/>
                </a:solidFill>
                <a:highlight>
                  <a:srgbClr val="FFF1A8"/>
                </a:highlight>
                <a:latin typeface="Arial" pitchFamily="34" charset="0"/>
                <a:ea typeface="Arial" pitchFamily="34" charset="-122"/>
                <a:cs typeface="Arial" pitchFamily="34" charset="-120"/>
              </a:rPr>
              <a:t>LayerNorm</a:t>
            </a:r>
            <a:r>
              <a:rPr lang="en-US" sz="2025" dirty="0">
                <a:solidFill>
                  <a:srgbClr val="3D3D3D"/>
                </a:solidFill>
                <a:latin typeface="Arial" pitchFamily="34" charset="0"/>
                <a:ea typeface="Arial" pitchFamily="34" charset="-122"/>
                <a:cs typeface="Arial" pitchFamily="34" charset="-120"/>
              </a:rPr>
              <a:t>, keeps deep stacks trainable.</a:t>
            </a:r>
            <a:endParaRPr lang="en-US" sz="2025" dirty="0"/>
          </a:p>
        </p:txBody>
      </p:sp>
      <p:sp>
        <p:nvSpPr>
          <p:cNvPr id="28" name="Shape 26"/>
          <p:cNvSpPr/>
          <p:nvPr/>
        </p:nvSpPr>
        <p:spPr>
          <a:xfrm>
            <a:off x="1047750" y="9520238"/>
            <a:ext cx="16192500" cy="9525"/>
          </a:xfrm>
          <a:prstGeom prst="rect">
            <a:avLst/>
          </a:prstGeom>
          <a:solidFill>
            <a:srgbClr val="E3E1DA"/>
          </a:solidFill>
          <a:ln/>
        </p:spPr>
        <p:txBody>
          <a:bodyPr/>
          <a:lstStyle/>
          <a:p>
            <a:endParaRPr lang="en-US"/>
          </a:p>
        </p:txBody>
      </p:sp>
      <p:sp>
        <p:nvSpPr>
          <p:cNvPr id="29" name="Text 2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0" name="Text 28"/>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3620319"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3728928"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Papers with Code · LayerNorm</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Layer Normalization</a:t>
            </a:r>
            <a:endParaRPr lang="en-US" sz="4800" dirty="0"/>
          </a:p>
        </p:txBody>
      </p:sp>
      <p:sp>
        <p:nvSpPr>
          <p:cNvPr id="9" name="Shape 7"/>
          <p:cNvSpPr/>
          <p:nvPr/>
        </p:nvSpPr>
        <p:spPr>
          <a:xfrm>
            <a:off x="1047750" y="6505798"/>
            <a:ext cx="4810125" cy="19050"/>
          </a:xfrm>
          <a:prstGeom prst="rect">
            <a:avLst/>
          </a:prstGeom>
          <a:solidFill>
            <a:srgbClr val="E3E1DA"/>
          </a:solidFill>
          <a:ln/>
        </p:spPr>
        <p:txBody>
          <a:bodyPr/>
          <a:lstStyle/>
          <a:p>
            <a:endParaRPr lang="en-US"/>
          </a:p>
        </p:txBody>
      </p:sp>
      <p:sp>
        <p:nvSpPr>
          <p:cNvPr id="10" name="Shape 8"/>
          <p:cNvSpPr/>
          <p:nvPr/>
        </p:nvSpPr>
        <p:spPr>
          <a:xfrm>
            <a:off x="2776538" y="6391498"/>
            <a:ext cx="209550" cy="114300"/>
          </a:xfrm>
          <a:prstGeom prst="rect">
            <a:avLst/>
          </a:prstGeom>
          <a:solidFill>
            <a:srgbClr val="D64545"/>
          </a:solidFill>
          <a:ln/>
        </p:spPr>
        <p:txBody>
          <a:bodyPr/>
          <a:lstStyle/>
          <a:p>
            <a:endParaRPr lang="en-US"/>
          </a:p>
        </p:txBody>
      </p:sp>
      <p:sp>
        <p:nvSpPr>
          <p:cNvPr id="11" name="Shape 9"/>
          <p:cNvSpPr/>
          <p:nvPr/>
        </p:nvSpPr>
        <p:spPr>
          <a:xfrm>
            <a:off x="3062288" y="4696048"/>
            <a:ext cx="209550" cy="1809750"/>
          </a:xfrm>
          <a:prstGeom prst="rect">
            <a:avLst/>
          </a:prstGeom>
          <a:solidFill>
            <a:srgbClr val="D64545"/>
          </a:solidFill>
          <a:ln/>
        </p:spPr>
        <p:txBody>
          <a:bodyPr/>
          <a:lstStyle/>
          <a:p>
            <a:endParaRPr lang="en-US"/>
          </a:p>
        </p:txBody>
      </p:sp>
      <p:sp>
        <p:nvSpPr>
          <p:cNvPr id="12" name="Shape 10"/>
          <p:cNvSpPr/>
          <p:nvPr/>
        </p:nvSpPr>
        <p:spPr>
          <a:xfrm>
            <a:off x="3348038" y="6124798"/>
            <a:ext cx="209550" cy="381000"/>
          </a:xfrm>
          <a:prstGeom prst="rect">
            <a:avLst/>
          </a:prstGeom>
          <a:solidFill>
            <a:srgbClr val="D64545"/>
          </a:solidFill>
          <a:ln/>
        </p:spPr>
        <p:txBody>
          <a:bodyPr/>
          <a:lstStyle/>
          <a:p>
            <a:endParaRPr lang="en-US"/>
          </a:p>
        </p:txBody>
      </p:sp>
      <p:sp>
        <p:nvSpPr>
          <p:cNvPr id="13" name="Shape 11"/>
          <p:cNvSpPr/>
          <p:nvPr/>
        </p:nvSpPr>
        <p:spPr>
          <a:xfrm>
            <a:off x="3633788" y="5077048"/>
            <a:ext cx="209550" cy="1428750"/>
          </a:xfrm>
          <a:prstGeom prst="rect">
            <a:avLst/>
          </a:prstGeom>
          <a:solidFill>
            <a:srgbClr val="D64545"/>
          </a:solidFill>
          <a:ln/>
        </p:spPr>
        <p:txBody>
          <a:bodyPr/>
          <a:lstStyle/>
          <a:p>
            <a:endParaRPr lang="en-US"/>
          </a:p>
        </p:txBody>
      </p:sp>
      <p:sp>
        <p:nvSpPr>
          <p:cNvPr id="14" name="Shape 12"/>
          <p:cNvSpPr/>
          <p:nvPr/>
        </p:nvSpPr>
        <p:spPr>
          <a:xfrm>
            <a:off x="3919537" y="6448648"/>
            <a:ext cx="209550" cy="57150"/>
          </a:xfrm>
          <a:prstGeom prst="rect">
            <a:avLst/>
          </a:prstGeom>
          <a:solidFill>
            <a:srgbClr val="D64545"/>
          </a:solidFill>
          <a:ln/>
        </p:spPr>
        <p:txBody>
          <a:bodyPr/>
          <a:lstStyle/>
          <a:p>
            <a:endParaRPr lang="en-US"/>
          </a:p>
        </p:txBody>
      </p:sp>
      <p:sp>
        <p:nvSpPr>
          <p:cNvPr id="15" name="Text 13"/>
          <p:cNvSpPr/>
          <p:nvPr/>
        </p:nvSpPr>
        <p:spPr>
          <a:xfrm>
            <a:off x="807244" y="6639148"/>
            <a:ext cx="5291138" cy="300038"/>
          </a:xfrm>
          <a:prstGeom prst="rect">
            <a:avLst/>
          </a:prstGeom>
          <a:noFill/>
          <a:ln/>
        </p:spPr>
        <p:txBody>
          <a:bodyPr wrap="square" lIns="25400" tIns="25400" rIns="25400" bIns="25400" rtlCol="0" anchor="t">
            <a:normAutofit/>
          </a:bodyPr>
          <a:lstStyle/>
          <a:p>
            <a:pPr marL="0" indent="0" algn="ctr">
              <a:buNone/>
            </a:pPr>
            <a:r>
              <a:rPr lang="en-US" sz="1800" b="1" dirty="0">
                <a:solidFill>
                  <a:srgbClr val="D64545"/>
                </a:solidFill>
                <a:latin typeface="Arial" pitchFamily="34" charset="0"/>
                <a:ea typeface="Arial" pitchFamily="34" charset="-122"/>
                <a:cs typeface="Arial" pitchFamily="34" charset="-120"/>
              </a:rPr>
              <a:t>before — wild</a:t>
            </a:r>
            <a:endParaRPr lang="en-US" sz="1800" dirty="0"/>
          </a:p>
        </p:txBody>
      </p:sp>
      <p:sp>
        <p:nvSpPr>
          <p:cNvPr id="16" name="Text 14"/>
          <p:cNvSpPr/>
          <p:nvPr/>
        </p:nvSpPr>
        <p:spPr>
          <a:xfrm>
            <a:off x="6105525" y="5529486"/>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7" name="Shape 15"/>
          <p:cNvSpPr/>
          <p:nvPr/>
        </p:nvSpPr>
        <p:spPr>
          <a:xfrm>
            <a:off x="6753225" y="6505798"/>
            <a:ext cx="4810125" cy="19050"/>
          </a:xfrm>
          <a:prstGeom prst="rect">
            <a:avLst/>
          </a:prstGeom>
          <a:solidFill>
            <a:srgbClr val="E3E1DA"/>
          </a:solidFill>
          <a:ln/>
        </p:spPr>
        <p:txBody>
          <a:bodyPr/>
          <a:lstStyle/>
          <a:p>
            <a:endParaRPr lang="en-US"/>
          </a:p>
        </p:txBody>
      </p:sp>
      <p:sp>
        <p:nvSpPr>
          <p:cNvPr id="18" name="Shape 16"/>
          <p:cNvSpPr/>
          <p:nvPr/>
        </p:nvSpPr>
        <p:spPr>
          <a:xfrm>
            <a:off x="8482013" y="5743798"/>
            <a:ext cx="209550" cy="762000"/>
          </a:xfrm>
          <a:prstGeom prst="rect">
            <a:avLst/>
          </a:prstGeom>
          <a:solidFill>
            <a:srgbClr val="178A4C"/>
          </a:solidFill>
          <a:ln/>
        </p:spPr>
        <p:txBody>
          <a:bodyPr/>
          <a:lstStyle/>
          <a:p>
            <a:endParaRPr lang="en-US"/>
          </a:p>
        </p:txBody>
      </p:sp>
      <p:sp>
        <p:nvSpPr>
          <p:cNvPr id="19" name="Shape 17"/>
          <p:cNvSpPr/>
          <p:nvPr/>
        </p:nvSpPr>
        <p:spPr>
          <a:xfrm>
            <a:off x="8767763" y="5362798"/>
            <a:ext cx="209550" cy="1143000"/>
          </a:xfrm>
          <a:prstGeom prst="rect">
            <a:avLst/>
          </a:prstGeom>
          <a:solidFill>
            <a:srgbClr val="178A4C"/>
          </a:solidFill>
          <a:ln/>
        </p:spPr>
        <p:txBody>
          <a:bodyPr/>
          <a:lstStyle/>
          <a:p>
            <a:endParaRPr lang="en-US"/>
          </a:p>
        </p:txBody>
      </p:sp>
      <p:sp>
        <p:nvSpPr>
          <p:cNvPr id="20" name="Shape 18"/>
          <p:cNvSpPr/>
          <p:nvPr/>
        </p:nvSpPr>
        <p:spPr>
          <a:xfrm>
            <a:off x="9053513" y="5600923"/>
            <a:ext cx="209550" cy="904875"/>
          </a:xfrm>
          <a:prstGeom prst="rect">
            <a:avLst/>
          </a:prstGeom>
          <a:solidFill>
            <a:srgbClr val="178A4C"/>
          </a:solidFill>
          <a:ln/>
        </p:spPr>
        <p:txBody>
          <a:bodyPr/>
          <a:lstStyle/>
          <a:p>
            <a:endParaRPr lang="en-US"/>
          </a:p>
        </p:txBody>
      </p:sp>
      <p:sp>
        <p:nvSpPr>
          <p:cNvPr id="21" name="Shape 19"/>
          <p:cNvSpPr/>
          <p:nvPr/>
        </p:nvSpPr>
        <p:spPr>
          <a:xfrm>
            <a:off x="9339263" y="5458048"/>
            <a:ext cx="209550" cy="1047750"/>
          </a:xfrm>
          <a:prstGeom prst="rect">
            <a:avLst/>
          </a:prstGeom>
          <a:solidFill>
            <a:srgbClr val="178A4C"/>
          </a:solidFill>
          <a:ln/>
        </p:spPr>
        <p:txBody>
          <a:bodyPr/>
          <a:lstStyle/>
          <a:p>
            <a:endParaRPr lang="en-US"/>
          </a:p>
        </p:txBody>
      </p:sp>
      <p:sp>
        <p:nvSpPr>
          <p:cNvPr id="22" name="Shape 20"/>
          <p:cNvSpPr/>
          <p:nvPr/>
        </p:nvSpPr>
        <p:spPr>
          <a:xfrm>
            <a:off x="9625013" y="5839048"/>
            <a:ext cx="209550" cy="666750"/>
          </a:xfrm>
          <a:prstGeom prst="rect">
            <a:avLst/>
          </a:prstGeom>
          <a:solidFill>
            <a:srgbClr val="178A4C"/>
          </a:solidFill>
          <a:ln/>
        </p:spPr>
        <p:txBody>
          <a:bodyPr/>
          <a:lstStyle/>
          <a:p>
            <a:endParaRPr lang="en-US"/>
          </a:p>
        </p:txBody>
      </p:sp>
      <p:sp>
        <p:nvSpPr>
          <p:cNvPr id="23" name="Text 21"/>
          <p:cNvSpPr/>
          <p:nvPr/>
        </p:nvSpPr>
        <p:spPr>
          <a:xfrm>
            <a:off x="6512719" y="6639148"/>
            <a:ext cx="5291138" cy="300038"/>
          </a:xfrm>
          <a:prstGeom prst="rect">
            <a:avLst/>
          </a:prstGeom>
          <a:noFill/>
          <a:ln/>
        </p:spPr>
        <p:txBody>
          <a:bodyPr wrap="square" lIns="25400" tIns="25400" rIns="25400" bIns="25400" rtlCol="0" anchor="t">
            <a:normAutofit/>
          </a:bodyPr>
          <a:lstStyle/>
          <a:p>
            <a:pPr marL="0" indent="0" algn="ctr">
              <a:buNone/>
            </a:pPr>
            <a:r>
              <a:rPr lang="en-US" sz="1800" b="1" dirty="0">
                <a:solidFill>
                  <a:srgbClr val="178A4C"/>
                </a:solidFill>
                <a:latin typeface="Arial" pitchFamily="34" charset="0"/>
                <a:ea typeface="Arial" pitchFamily="34" charset="-122"/>
                <a:cs typeface="Arial" pitchFamily="34" charset="-120"/>
              </a:rPr>
              <a:t>after — clean range</a:t>
            </a:r>
            <a:endParaRPr lang="en-US" sz="1800" dirty="0"/>
          </a:p>
        </p:txBody>
      </p:sp>
      <p:sp>
        <p:nvSpPr>
          <p:cNvPr id="24" name="Text 22"/>
          <p:cNvSpPr/>
          <p:nvPr/>
        </p:nvSpPr>
        <p:spPr>
          <a:xfrm>
            <a:off x="12096750" y="4477941"/>
            <a:ext cx="5657850" cy="48384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1A1A1A"/>
                </a:solidFill>
                <a:latin typeface="Georgia" pitchFamily="34" charset="0"/>
                <a:ea typeface="Georgia" pitchFamily="34" charset="-122"/>
                <a:cs typeface="Georgia" pitchFamily="34" charset="-120"/>
              </a:rPr>
              <a:t>Why deep stacks </a:t>
            </a:r>
            <a:r>
              <a:rPr lang="en-US" sz="2700" dirty="0">
                <a:solidFill>
                  <a:srgbClr val="1A1A1A"/>
                </a:solidFill>
                <a:highlight>
                  <a:srgbClr val="FFF1A8"/>
                </a:highlight>
                <a:latin typeface="Georgia" pitchFamily="34" charset="0"/>
                <a:ea typeface="Georgia" pitchFamily="34" charset="-122"/>
                <a:cs typeface="Georgia" pitchFamily="34" charset="-120"/>
              </a:rPr>
              <a:t>stay stable</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25" name="Text 23"/>
          <p:cNvSpPr/>
          <p:nvPr/>
        </p:nvSpPr>
        <p:spPr>
          <a:xfrm>
            <a:off x="12096750" y="5114181"/>
            <a:ext cx="5297805" cy="1966912"/>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Across dozens of layers, values explode or vanish. Two fixes keep it trainable: the </a:t>
            </a:r>
            <a:r>
              <a:rPr lang="en-US" sz="2025" b="1" dirty="0">
                <a:solidFill>
                  <a:srgbClr val="1A1A1A"/>
                </a:solidFill>
                <a:latin typeface="Arial" pitchFamily="34" charset="0"/>
                <a:ea typeface="Arial" pitchFamily="34" charset="-122"/>
                <a:cs typeface="Arial" pitchFamily="34" charset="-120"/>
              </a:rPr>
              <a:t>residual shortcut </a:t>
            </a:r>
            <a:r>
              <a:rPr lang="en-US" sz="2025" dirty="0">
                <a:solidFill>
                  <a:srgbClr val="3D3D3D"/>
                </a:solidFill>
                <a:latin typeface="Arial" pitchFamily="34" charset="0"/>
                <a:ea typeface="Arial" pitchFamily="34" charset="-122"/>
                <a:cs typeface="Arial" pitchFamily="34" charset="-120"/>
              </a:rPr>
              <a:t>(⊕) carries data straight through, and </a:t>
            </a:r>
            <a:r>
              <a:rPr lang="en-US" sz="2025" b="1" dirty="0">
                <a:solidFill>
                  <a:srgbClr val="1A1A1A"/>
                </a:solidFill>
                <a:latin typeface="Arial" pitchFamily="34" charset="0"/>
                <a:ea typeface="Arial" pitchFamily="34" charset="-122"/>
                <a:cs typeface="Arial" pitchFamily="34" charset="-120"/>
              </a:rPr>
              <a:t>layer norm </a:t>
            </a:r>
            <a:r>
              <a:rPr lang="en-US" sz="2025" dirty="0">
                <a:solidFill>
                  <a:srgbClr val="3D3D3D"/>
                </a:solidFill>
                <a:latin typeface="Arial" pitchFamily="34" charset="0"/>
                <a:ea typeface="Arial" pitchFamily="34" charset="-122"/>
                <a:cs typeface="Arial" pitchFamily="34" charset="-120"/>
              </a:rPr>
              <a:t>rescales every vector back to a </a:t>
            </a:r>
            <a:r>
              <a:rPr lang="en-US" sz="2025" dirty="0">
                <a:solidFill>
                  <a:srgbClr val="3D3D3D"/>
                </a:solidFill>
                <a:highlight>
                  <a:srgbClr val="FFF1A8"/>
                </a:highlight>
                <a:latin typeface="Arial" pitchFamily="34" charset="0"/>
                <a:ea typeface="Arial" pitchFamily="34" charset="-122"/>
                <a:cs typeface="Arial" pitchFamily="34" charset="-120"/>
              </a:rPr>
              <a:t>safe range</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26" name="Shape 24"/>
          <p:cNvSpPr/>
          <p:nvPr/>
        </p:nvSpPr>
        <p:spPr>
          <a:xfrm>
            <a:off x="1047750" y="9520238"/>
            <a:ext cx="16192500" cy="9525"/>
          </a:xfrm>
          <a:prstGeom prst="rect">
            <a:avLst/>
          </a:prstGeom>
          <a:solidFill>
            <a:srgbClr val="E3E1DA"/>
          </a:solidFill>
          <a:ln/>
        </p:spPr>
        <p:txBody>
          <a:bodyPr/>
          <a:lstStyle/>
          <a:p>
            <a:endParaRPr lang="en-US"/>
          </a:p>
        </p:txBody>
      </p:sp>
      <p:sp>
        <p:nvSpPr>
          <p:cNvPr id="27" name="Text 2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8" name="Text 26"/>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545306"/>
            <a:ext cx="123825" cy="123825"/>
          </a:xfrm>
          <a:prstGeom prst="ellipse">
            <a:avLst/>
          </a:prstGeom>
          <a:solidFill>
            <a:srgbClr val="7A4FD0"/>
          </a:solidFill>
          <a:ln/>
        </p:spPr>
        <p:txBody>
          <a:bodyPr/>
          <a:lstStyle/>
          <a:p>
            <a:endParaRPr lang="en-US"/>
          </a:p>
        </p:txBody>
      </p:sp>
      <p:sp>
        <p:nvSpPr>
          <p:cNvPr id="3" name="Text 1"/>
          <p:cNvSpPr/>
          <p:nvPr/>
        </p:nvSpPr>
        <p:spPr>
          <a:xfrm>
            <a:off x="1304925" y="476250"/>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438150"/>
            <a:ext cx="1724769" cy="338138"/>
          </a:xfrm>
          <a:prstGeom prst="roundRect">
            <a:avLst>
              <a:gd name="adj" fmla="val 50000"/>
            </a:avLst>
          </a:prstGeom>
          <a:solidFill>
            <a:srgbClr val="E4F4EB"/>
          </a:solidFill>
          <a:ln/>
        </p:spPr>
        <p:txBody>
          <a:bodyPr/>
          <a:lstStyle/>
          <a:p>
            <a:endParaRPr lang="en-US"/>
          </a:p>
        </p:txBody>
      </p:sp>
      <p:sp>
        <p:nvSpPr>
          <p:cNvPr id="5" name="Text 3"/>
          <p:cNvSpPr/>
          <p:nvPr/>
        </p:nvSpPr>
        <p:spPr>
          <a:xfrm>
            <a:off x="4083546" y="476250"/>
            <a:ext cx="1668646"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LIVE</a:t>
            </a:r>
            <a:endParaRPr lang="en-US" sz="1800" dirty="0"/>
          </a:p>
        </p:txBody>
      </p:sp>
      <p:sp>
        <p:nvSpPr>
          <p:cNvPr id="6" name="Text 4"/>
          <p:cNvSpPr/>
          <p:nvPr/>
        </p:nvSpPr>
        <p:spPr>
          <a:xfrm>
            <a:off x="1047750" y="871538"/>
            <a:ext cx="17811750" cy="446112"/>
          </a:xfrm>
          <a:prstGeom prst="rect">
            <a:avLst/>
          </a:prstGeom>
          <a:noFill/>
          <a:ln/>
        </p:spPr>
        <p:txBody>
          <a:bodyPr wrap="square" lIns="25400" tIns="25400" rIns="25400" bIns="25400" rtlCol="0" anchor="t">
            <a:normAutofit/>
          </a:bodyPr>
          <a:lstStyle/>
          <a:p>
            <a:pPr marL="0" indent="0" algn="l">
              <a:lnSpc>
                <a:spcPct val="90189"/>
              </a:lnSpc>
              <a:buNone/>
            </a:pPr>
            <a:r>
              <a:rPr lang="en-US" sz="3150" b="1" dirty="0">
                <a:solidFill>
                  <a:srgbClr val="1A1A1A"/>
                </a:solidFill>
                <a:latin typeface="Georgia" pitchFamily="34" charset="0"/>
                <a:ea typeface="Georgia" pitchFamily="34" charset="-122"/>
                <a:cs typeface="Georgia" pitchFamily="34" charset="-120"/>
              </a:rPr>
              <a:t>What We Built: The Transformer</a:t>
            </a:r>
            <a:endParaRPr lang="en-US" sz="3150" dirty="0"/>
          </a:p>
        </p:txBody>
      </p:sp>
      <p:sp>
        <p:nvSpPr>
          <p:cNvPr id="7" name="Shape 5"/>
          <p:cNvSpPr/>
          <p:nvPr/>
        </p:nvSpPr>
        <p:spPr>
          <a:xfrm>
            <a:off x="3113112" y="1393850"/>
            <a:ext cx="6575301" cy="8531200"/>
          </a:xfrm>
          <a:prstGeom prst="roundRect">
            <a:avLst>
              <a:gd name="adj" fmla="val 1738"/>
            </a:avLst>
          </a:prstGeom>
          <a:solidFill>
            <a:srgbClr val="FFFFFF"/>
          </a:solidFill>
          <a:ln w="9525">
            <a:solidFill>
              <a:srgbClr val="E3E1DA"/>
            </a:solidFill>
            <a:prstDash val="solid"/>
          </a:ln>
        </p:spPr>
        <p:txBody>
          <a:bodyPr/>
          <a:lstStyle/>
          <a:p>
            <a:endParaRPr lang="en-US"/>
          </a:p>
        </p:txBody>
      </p:sp>
      <p:pic>
        <p:nvPicPr>
          <p:cNvPr id="8" name="Image 0" descr="preencoded.png"/>
          <p:cNvPicPr>
            <a:picLocks noChangeAspect="1"/>
          </p:cNvPicPr>
          <p:nvPr/>
        </p:nvPicPr>
        <p:blipFill>
          <a:blip r:embed="rId3"/>
          <a:srcRect l="-33" r="-33"/>
          <a:stretch/>
        </p:blipFill>
        <p:spPr>
          <a:xfrm>
            <a:off x="3113112" y="1393850"/>
            <a:ext cx="6575301" cy="8531200"/>
          </a:xfrm>
          <a:prstGeom prst="rect">
            <a:avLst/>
          </a:prstGeom>
        </p:spPr>
      </p:pic>
      <p:sp>
        <p:nvSpPr>
          <p:cNvPr id="9" name="Text 6"/>
          <p:cNvSpPr/>
          <p:nvPr/>
        </p:nvSpPr>
        <p:spPr>
          <a:xfrm>
            <a:off x="12287250" y="2866727"/>
            <a:ext cx="5448300" cy="466725"/>
          </a:xfrm>
          <a:prstGeom prst="rect">
            <a:avLst/>
          </a:prstGeom>
          <a:noFill/>
          <a:ln/>
        </p:spPr>
        <p:txBody>
          <a:bodyPr wrap="square" lIns="25400" tIns="25400" rIns="25400" bIns="25400" rtlCol="0" anchor="t">
            <a:normAutofit/>
          </a:bodyPr>
          <a:lstStyle/>
          <a:p>
            <a:pPr marL="0" indent="0" algn="l">
              <a:lnSpc>
                <a:spcPct val="109756"/>
              </a:lnSpc>
              <a:buNone/>
            </a:pPr>
            <a:r>
              <a:rPr lang="en-US" sz="2700" dirty="0">
                <a:solidFill>
                  <a:srgbClr val="1A1A1A"/>
                </a:solidFill>
                <a:latin typeface="Georgia" pitchFamily="34" charset="0"/>
                <a:ea typeface="Georgia" pitchFamily="34" charset="-122"/>
                <a:cs typeface="Georgia" pitchFamily="34" charset="-120"/>
              </a:rPr>
              <a:t>You’ve now seen every box.</a:t>
            </a:r>
            <a:endParaRPr lang="en-US" sz="2700" dirty="0"/>
          </a:p>
        </p:txBody>
      </p:sp>
      <p:sp>
        <p:nvSpPr>
          <p:cNvPr id="10" name="Text 7"/>
          <p:cNvSpPr/>
          <p:nvPr/>
        </p:nvSpPr>
        <p:spPr>
          <a:xfrm>
            <a:off x="12287250" y="3485852"/>
            <a:ext cx="5101590" cy="1581150"/>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Embeddings, positional encoding, masked attention, add &amp; norm, feed-forward — every piece from this section, assembled and stacked.</a:t>
            </a:r>
            <a:endParaRPr lang="en-US" sz="2025" dirty="0"/>
          </a:p>
        </p:txBody>
      </p:sp>
      <p:sp>
        <p:nvSpPr>
          <p:cNvPr id="11" name="Shape 8"/>
          <p:cNvSpPr/>
          <p:nvPr/>
        </p:nvSpPr>
        <p:spPr>
          <a:xfrm>
            <a:off x="12287250" y="5219402"/>
            <a:ext cx="4953000" cy="1299121"/>
          </a:xfrm>
          <a:prstGeom prst="roundRect">
            <a:avLst>
              <a:gd name="adj" fmla="val 7332"/>
            </a:avLst>
          </a:prstGeom>
          <a:solidFill>
            <a:srgbClr val="F8F7F3"/>
          </a:solidFill>
          <a:ln w="9525">
            <a:solidFill>
              <a:srgbClr val="E3E1DA"/>
            </a:solidFill>
            <a:prstDash val="solid"/>
          </a:ln>
        </p:spPr>
        <p:txBody>
          <a:bodyPr/>
          <a:lstStyle/>
          <a:p>
            <a:endParaRPr lang="en-US"/>
          </a:p>
        </p:txBody>
      </p:sp>
      <p:sp>
        <p:nvSpPr>
          <p:cNvPr id="12" name="Text 9"/>
          <p:cNvSpPr/>
          <p:nvPr/>
        </p:nvSpPr>
        <p:spPr>
          <a:xfrm>
            <a:off x="12468225" y="5362277"/>
            <a:ext cx="4739640" cy="1051471"/>
          </a:xfrm>
          <a:prstGeom prst="rect">
            <a:avLst/>
          </a:prstGeom>
          <a:noFill/>
          <a:ln/>
        </p:spPr>
        <p:txBody>
          <a:bodyPr wrap="square" lIns="25400" tIns="25400" rIns="25400" bIns="25400" rtlCol="0" anchor="t">
            <a:normAutofit/>
          </a:bodyPr>
          <a:lstStyle/>
          <a:p>
            <a:pPr marL="0" indent="0" algn="l">
              <a:lnSpc>
                <a:spcPct val="126545"/>
              </a:lnSpc>
              <a:buNone/>
            </a:pPr>
            <a:r>
              <a:rPr lang="en-US" sz="1800" dirty="0">
                <a:solidFill>
                  <a:srgbClr val="7C7A73"/>
                </a:solidFill>
                <a:highlight>
                  <a:srgbClr val="F8F7F3"/>
                </a:highlight>
                <a:latin typeface="Arial" pitchFamily="34" charset="0"/>
                <a:ea typeface="Arial" pitchFamily="34" charset="-122"/>
                <a:cs typeface="Arial" pitchFamily="34" charset="-120"/>
              </a:rPr>
              <a:t>Read it bottom → top: tokens in at the base, next-token probabilities out at the top; the center block repeats </a:t>
            </a:r>
            <a:r>
              <a:rPr lang="en-US" sz="1800" dirty="0">
                <a:solidFill>
                  <a:srgbClr val="7C7A73"/>
                </a:solidFill>
                <a:latin typeface="Courier New" pitchFamily="34" charset="0"/>
                <a:ea typeface="Courier New" pitchFamily="34" charset="-122"/>
                <a:cs typeface="Courier New" pitchFamily="34" charset="-120"/>
              </a:rPr>
              <a:t>N×</a:t>
            </a:r>
            <a:r>
              <a:rPr lang="en-US" sz="1800" dirty="0">
                <a:solidFill>
                  <a:srgbClr val="7C7A73"/>
                </a:solidFill>
                <a:highlight>
                  <a:srgbClr val="F8F7F3"/>
                </a:highlight>
                <a:latin typeface="Arial" pitchFamily="34" charset="0"/>
                <a:ea typeface="Arial" pitchFamily="34" charset="-122"/>
                <a:cs typeface="Arial" pitchFamily="34" charset="-120"/>
              </a:rPr>
              <a:t>.</a:t>
            </a:r>
            <a:endParaRPr lang="en-US" sz="1800" dirty="0"/>
          </a:p>
        </p:txBody>
      </p:sp>
      <p:sp>
        <p:nvSpPr>
          <p:cNvPr id="13" name="Shape 10"/>
          <p:cNvSpPr/>
          <p:nvPr/>
        </p:nvSpPr>
        <p:spPr>
          <a:xfrm>
            <a:off x="12287250" y="6709023"/>
            <a:ext cx="4953000" cy="9525"/>
          </a:xfrm>
          <a:prstGeom prst="rect">
            <a:avLst/>
          </a:prstGeom>
          <a:solidFill>
            <a:srgbClr val="E3E1DA"/>
          </a:solidFill>
          <a:ln/>
        </p:spPr>
        <p:txBody>
          <a:bodyPr/>
          <a:lstStyle/>
          <a:p>
            <a:endParaRPr lang="en-US"/>
          </a:p>
        </p:txBody>
      </p:sp>
      <p:sp>
        <p:nvSpPr>
          <p:cNvPr id="14" name="Text 11"/>
          <p:cNvSpPr/>
          <p:nvPr/>
        </p:nvSpPr>
        <p:spPr>
          <a:xfrm>
            <a:off x="12287250" y="6909048"/>
            <a:ext cx="5101590" cy="1581150"/>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3D3D3D"/>
                </a:solidFill>
                <a:latin typeface="Arial" pitchFamily="34" charset="0"/>
                <a:ea typeface="Arial" pitchFamily="34" charset="-122"/>
                <a:cs typeface="Arial" pitchFamily="34" charset="-120"/>
              </a:rPr>
              <a:t>The 2017 original also had an </a:t>
            </a:r>
            <a:r>
              <a:rPr lang="en-US" sz="2025" b="1" dirty="0">
                <a:solidFill>
                  <a:srgbClr val="1A1A1A"/>
                </a:solidFill>
                <a:latin typeface="Arial" pitchFamily="34" charset="0"/>
                <a:ea typeface="Arial" pitchFamily="34" charset="-122"/>
                <a:cs typeface="Arial" pitchFamily="34" charset="-120"/>
              </a:rPr>
              <a:t>encoder </a:t>
            </a:r>
            <a:r>
              <a:rPr lang="en-US" sz="2025" dirty="0">
                <a:solidFill>
                  <a:srgbClr val="3D3D3D"/>
                </a:solidFill>
                <a:latin typeface="Arial" pitchFamily="34" charset="0"/>
                <a:ea typeface="Arial" pitchFamily="34" charset="-122"/>
                <a:cs typeface="Arial" pitchFamily="34" charset="-120"/>
              </a:rPr>
              <a:t>(for translation). Modern LLMs — GPT, Llama, Claude — keep just this </a:t>
            </a:r>
            <a:r>
              <a:rPr lang="en-US" sz="2025" dirty="0">
                <a:solidFill>
                  <a:srgbClr val="3D3D3D"/>
                </a:solidFill>
                <a:highlight>
                  <a:srgbClr val="FFF1A8"/>
                </a:highlight>
                <a:latin typeface="Arial" pitchFamily="34" charset="0"/>
                <a:ea typeface="Arial" pitchFamily="34" charset="-122"/>
                <a:cs typeface="Arial" pitchFamily="34" charset="-120"/>
              </a:rPr>
              <a:t>decoder-only </a:t>
            </a:r>
            <a:r>
              <a:rPr lang="en-US" sz="2025" dirty="0">
                <a:solidFill>
                  <a:srgbClr val="3D3D3D"/>
                </a:solidFill>
                <a:latin typeface="Arial" pitchFamily="34" charset="0"/>
                <a:ea typeface="Arial" pitchFamily="34" charset="-122"/>
                <a:cs typeface="Arial" pitchFamily="34" charset="-120"/>
              </a:rPr>
              <a:t>stack.</a:t>
            </a:r>
            <a:endParaRPr lang="en-US" sz="20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3417168"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3519683"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3Blue1Brown · Transformers</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Output Layer: From Matrix to a Word</a:t>
            </a:r>
            <a:endParaRPr lang="en-US" sz="4800" dirty="0"/>
          </a:p>
        </p:txBody>
      </p:sp>
      <p:sp>
        <p:nvSpPr>
          <p:cNvPr id="9" name="Shape 7"/>
          <p:cNvSpPr/>
          <p:nvPr/>
        </p:nvSpPr>
        <p:spPr>
          <a:xfrm>
            <a:off x="1047750" y="4150742"/>
            <a:ext cx="2913608" cy="2000250"/>
          </a:xfrm>
          <a:prstGeom prst="roundRect">
            <a:avLst>
              <a:gd name="adj" fmla="val 5714"/>
            </a:avLst>
          </a:prstGeom>
          <a:ln w="9525">
            <a:solidFill>
              <a:srgbClr val="E3E1DA"/>
            </a:solidFill>
            <a:prstDash val="solid"/>
          </a:ln>
        </p:spPr>
        <p:txBody>
          <a:bodyPr/>
          <a:lstStyle/>
          <a:p>
            <a:endParaRPr lang="en-US"/>
          </a:p>
        </p:txBody>
      </p:sp>
      <p:sp>
        <p:nvSpPr>
          <p:cNvPr id="10" name="Shape 8"/>
          <p:cNvSpPr/>
          <p:nvPr/>
        </p:nvSpPr>
        <p:spPr>
          <a:xfrm>
            <a:off x="2199754" y="4503167"/>
            <a:ext cx="171450" cy="171450"/>
          </a:xfrm>
          <a:prstGeom prst="roundRect">
            <a:avLst>
              <a:gd name="adj" fmla="val 16667"/>
            </a:avLst>
          </a:prstGeom>
          <a:solidFill>
            <a:srgbClr val="E8F0FE"/>
          </a:solidFill>
          <a:ln w="9525">
            <a:solidFill>
              <a:srgbClr val="1F6FEB"/>
            </a:solidFill>
            <a:prstDash val="solid"/>
          </a:ln>
        </p:spPr>
        <p:txBody>
          <a:bodyPr/>
          <a:lstStyle/>
          <a:p>
            <a:endParaRPr lang="en-US"/>
          </a:p>
        </p:txBody>
      </p:sp>
      <p:sp>
        <p:nvSpPr>
          <p:cNvPr id="11" name="Shape 9"/>
          <p:cNvSpPr/>
          <p:nvPr/>
        </p:nvSpPr>
        <p:spPr>
          <a:xfrm>
            <a:off x="2418829" y="4503167"/>
            <a:ext cx="171450" cy="171450"/>
          </a:xfrm>
          <a:prstGeom prst="roundRect">
            <a:avLst>
              <a:gd name="adj" fmla="val 16667"/>
            </a:avLst>
          </a:prstGeom>
          <a:solidFill>
            <a:srgbClr val="E4F4EB"/>
          </a:solidFill>
          <a:ln w="9525">
            <a:solidFill>
              <a:srgbClr val="178A4C"/>
            </a:solidFill>
            <a:prstDash val="solid"/>
          </a:ln>
        </p:spPr>
        <p:txBody>
          <a:bodyPr/>
          <a:lstStyle/>
          <a:p>
            <a:endParaRPr lang="en-US"/>
          </a:p>
        </p:txBody>
      </p:sp>
      <p:sp>
        <p:nvSpPr>
          <p:cNvPr id="12" name="Shape 10"/>
          <p:cNvSpPr/>
          <p:nvPr/>
        </p:nvSpPr>
        <p:spPr>
          <a:xfrm>
            <a:off x="2637904" y="4503167"/>
            <a:ext cx="171450" cy="171450"/>
          </a:xfrm>
          <a:prstGeom prst="roundRect">
            <a:avLst>
              <a:gd name="adj" fmla="val 16667"/>
            </a:avLst>
          </a:prstGeom>
          <a:solidFill>
            <a:srgbClr val="FBF0D9"/>
          </a:solidFill>
          <a:ln w="9525">
            <a:solidFill>
              <a:srgbClr val="C77D0A"/>
            </a:solidFill>
            <a:prstDash val="solid"/>
          </a:ln>
        </p:spPr>
        <p:txBody>
          <a:bodyPr/>
          <a:lstStyle/>
          <a:p>
            <a:endParaRPr lang="en-US"/>
          </a:p>
        </p:txBody>
      </p:sp>
      <p:sp>
        <p:nvSpPr>
          <p:cNvPr id="13" name="Shape 11"/>
          <p:cNvSpPr/>
          <p:nvPr/>
        </p:nvSpPr>
        <p:spPr>
          <a:xfrm>
            <a:off x="2199754" y="4722242"/>
            <a:ext cx="171450" cy="171450"/>
          </a:xfrm>
          <a:prstGeom prst="roundRect">
            <a:avLst>
              <a:gd name="adj" fmla="val 16667"/>
            </a:avLst>
          </a:prstGeom>
          <a:solidFill>
            <a:srgbClr val="E8F0FE"/>
          </a:solidFill>
          <a:ln w="9525">
            <a:solidFill>
              <a:srgbClr val="1F6FEB"/>
            </a:solidFill>
            <a:prstDash val="solid"/>
          </a:ln>
        </p:spPr>
        <p:txBody>
          <a:bodyPr/>
          <a:lstStyle/>
          <a:p>
            <a:endParaRPr lang="en-US"/>
          </a:p>
        </p:txBody>
      </p:sp>
      <p:sp>
        <p:nvSpPr>
          <p:cNvPr id="14" name="Shape 12"/>
          <p:cNvSpPr/>
          <p:nvPr/>
        </p:nvSpPr>
        <p:spPr>
          <a:xfrm>
            <a:off x="2418829" y="4722242"/>
            <a:ext cx="171450" cy="171450"/>
          </a:xfrm>
          <a:prstGeom prst="roundRect">
            <a:avLst>
              <a:gd name="adj" fmla="val 16667"/>
            </a:avLst>
          </a:prstGeom>
          <a:solidFill>
            <a:srgbClr val="E4F4EB"/>
          </a:solidFill>
          <a:ln w="9525">
            <a:solidFill>
              <a:srgbClr val="178A4C"/>
            </a:solidFill>
            <a:prstDash val="solid"/>
          </a:ln>
        </p:spPr>
        <p:txBody>
          <a:bodyPr/>
          <a:lstStyle/>
          <a:p>
            <a:endParaRPr lang="en-US"/>
          </a:p>
        </p:txBody>
      </p:sp>
      <p:sp>
        <p:nvSpPr>
          <p:cNvPr id="15" name="Shape 13"/>
          <p:cNvSpPr/>
          <p:nvPr/>
        </p:nvSpPr>
        <p:spPr>
          <a:xfrm>
            <a:off x="2637904" y="4722242"/>
            <a:ext cx="171450" cy="171450"/>
          </a:xfrm>
          <a:prstGeom prst="roundRect">
            <a:avLst>
              <a:gd name="adj" fmla="val 16667"/>
            </a:avLst>
          </a:prstGeom>
          <a:solidFill>
            <a:srgbClr val="FBF0D9"/>
          </a:solidFill>
          <a:ln w="9525">
            <a:solidFill>
              <a:srgbClr val="C77D0A"/>
            </a:solidFill>
            <a:prstDash val="solid"/>
          </a:ln>
        </p:spPr>
        <p:txBody>
          <a:bodyPr/>
          <a:lstStyle/>
          <a:p>
            <a:endParaRPr lang="en-US"/>
          </a:p>
        </p:txBody>
      </p:sp>
      <p:sp>
        <p:nvSpPr>
          <p:cNvPr id="16" name="Shape 14"/>
          <p:cNvSpPr/>
          <p:nvPr/>
        </p:nvSpPr>
        <p:spPr>
          <a:xfrm>
            <a:off x="2199754" y="4941317"/>
            <a:ext cx="171450" cy="171450"/>
          </a:xfrm>
          <a:prstGeom prst="roundRect">
            <a:avLst>
              <a:gd name="adj" fmla="val 16667"/>
            </a:avLst>
          </a:prstGeom>
          <a:solidFill>
            <a:srgbClr val="E8F0FE"/>
          </a:solidFill>
          <a:ln w="9525">
            <a:solidFill>
              <a:srgbClr val="1F6FEB"/>
            </a:solidFill>
            <a:prstDash val="solid"/>
          </a:ln>
        </p:spPr>
        <p:txBody>
          <a:bodyPr/>
          <a:lstStyle/>
          <a:p>
            <a:endParaRPr lang="en-US"/>
          </a:p>
        </p:txBody>
      </p:sp>
      <p:sp>
        <p:nvSpPr>
          <p:cNvPr id="17" name="Shape 15"/>
          <p:cNvSpPr/>
          <p:nvPr/>
        </p:nvSpPr>
        <p:spPr>
          <a:xfrm>
            <a:off x="2418829" y="4941317"/>
            <a:ext cx="171450" cy="171450"/>
          </a:xfrm>
          <a:prstGeom prst="roundRect">
            <a:avLst>
              <a:gd name="adj" fmla="val 16667"/>
            </a:avLst>
          </a:prstGeom>
          <a:solidFill>
            <a:srgbClr val="E4F4EB"/>
          </a:solidFill>
          <a:ln w="9525">
            <a:solidFill>
              <a:srgbClr val="178A4C"/>
            </a:solidFill>
            <a:prstDash val="solid"/>
          </a:ln>
        </p:spPr>
        <p:txBody>
          <a:bodyPr/>
          <a:lstStyle/>
          <a:p>
            <a:endParaRPr lang="en-US"/>
          </a:p>
        </p:txBody>
      </p:sp>
      <p:sp>
        <p:nvSpPr>
          <p:cNvPr id="18" name="Shape 16"/>
          <p:cNvSpPr/>
          <p:nvPr/>
        </p:nvSpPr>
        <p:spPr>
          <a:xfrm>
            <a:off x="2637904" y="4941317"/>
            <a:ext cx="171450" cy="171450"/>
          </a:xfrm>
          <a:prstGeom prst="roundRect">
            <a:avLst>
              <a:gd name="adj" fmla="val 16667"/>
            </a:avLst>
          </a:prstGeom>
          <a:solidFill>
            <a:srgbClr val="7A4FD0"/>
          </a:solidFill>
          <a:ln/>
        </p:spPr>
        <p:txBody>
          <a:bodyPr/>
          <a:lstStyle/>
          <a:p>
            <a:endParaRPr lang="en-US"/>
          </a:p>
        </p:txBody>
      </p:sp>
      <p:sp>
        <p:nvSpPr>
          <p:cNvPr id="19" name="Text 17"/>
          <p:cNvSpPr/>
          <p:nvPr/>
        </p:nvSpPr>
        <p:spPr>
          <a:xfrm>
            <a:off x="1574750" y="5417567"/>
            <a:ext cx="1859607"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Output matrix </a:t>
            </a:r>
            <a:r>
              <a:rPr lang="en-US" sz="1800" dirty="0">
                <a:solidFill>
                  <a:srgbClr val="7C7A73"/>
                </a:solidFill>
                <a:latin typeface="Courier New" pitchFamily="34" charset="0"/>
                <a:ea typeface="Courier New" pitchFamily="34" charset="-122"/>
                <a:cs typeface="Courier New" pitchFamily="34" charset="-120"/>
              </a:rPr>
              <a:t>(last token)</a:t>
            </a:r>
            <a:endParaRPr lang="en-US" sz="1800" dirty="0"/>
          </a:p>
        </p:txBody>
      </p:sp>
      <p:sp>
        <p:nvSpPr>
          <p:cNvPr id="20" name="Text 18"/>
          <p:cNvSpPr/>
          <p:nvPr/>
        </p:nvSpPr>
        <p:spPr>
          <a:xfrm>
            <a:off x="4113758" y="4919886"/>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1" name="Shape 19"/>
          <p:cNvSpPr/>
          <p:nvPr/>
        </p:nvSpPr>
        <p:spPr>
          <a:xfrm>
            <a:off x="4666208" y="4150742"/>
            <a:ext cx="2913683" cy="2000250"/>
          </a:xfrm>
          <a:prstGeom prst="roundRect">
            <a:avLst>
              <a:gd name="adj" fmla="val 5714"/>
            </a:avLst>
          </a:prstGeom>
          <a:ln w="9525">
            <a:solidFill>
              <a:srgbClr val="E3E1DA"/>
            </a:solidFill>
            <a:prstDash val="solid"/>
          </a:ln>
        </p:spPr>
        <p:txBody>
          <a:bodyPr/>
          <a:lstStyle/>
          <a:p>
            <a:endParaRPr lang="en-US"/>
          </a:p>
        </p:txBody>
      </p:sp>
      <p:sp>
        <p:nvSpPr>
          <p:cNvPr id="22" name="Shape 20"/>
          <p:cNvSpPr/>
          <p:nvPr/>
        </p:nvSpPr>
        <p:spPr>
          <a:xfrm>
            <a:off x="5703912" y="4884167"/>
            <a:ext cx="152400" cy="381000"/>
          </a:xfrm>
          <a:prstGeom prst="roundRect">
            <a:avLst>
              <a:gd name="adj" fmla="val 18750"/>
            </a:avLst>
          </a:prstGeom>
          <a:solidFill>
            <a:srgbClr val="F1EFE9"/>
          </a:solidFill>
          <a:ln/>
        </p:spPr>
        <p:txBody>
          <a:bodyPr/>
          <a:lstStyle/>
          <a:p>
            <a:endParaRPr lang="en-US"/>
          </a:p>
        </p:txBody>
      </p:sp>
      <p:sp>
        <p:nvSpPr>
          <p:cNvPr id="23" name="Shape 21"/>
          <p:cNvSpPr/>
          <p:nvPr/>
        </p:nvSpPr>
        <p:spPr>
          <a:xfrm>
            <a:off x="5932512" y="4560317"/>
            <a:ext cx="152400" cy="704850"/>
          </a:xfrm>
          <a:prstGeom prst="roundRect">
            <a:avLst>
              <a:gd name="adj" fmla="val 18750"/>
            </a:avLst>
          </a:prstGeom>
          <a:solidFill>
            <a:srgbClr val="F1EFE9"/>
          </a:solidFill>
          <a:ln/>
        </p:spPr>
        <p:txBody>
          <a:bodyPr/>
          <a:lstStyle/>
          <a:p>
            <a:endParaRPr lang="en-US"/>
          </a:p>
        </p:txBody>
      </p:sp>
      <p:sp>
        <p:nvSpPr>
          <p:cNvPr id="24" name="Shape 22"/>
          <p:cNvSpPr/>
          <p:nvPr/>
        </p:nvSpPr>
        <p:spPr>
          <a:xfrm>
            <a:off x="6161112" y="4731767"/>
            <a:ext cx="152400" cy="533400"/>
          </a:xfrm>
          <a:prstGeom prst="roundRect">
            <a:avLst>
              <a:gd name="adj" fmla="val 18750"/>
            </a:avLst>
          </a:prstGeom>
          <a:solidFill>
            <a:srgbClr val="F1EFE9"/>
          </a:solidFill>
          <a:ln/>
        </p:spPr>
        <p:txBody>
          <a:bodyPr/>
          <a:lstStyle/>
          <a:p>
            <a:endParaRPr lang="en-US"/>
          </a:p>
        </p:txBody>
      </p:sp>
      <p:sp>
        <p:nvSpPr>
          <p:cNvPr id="25" name="Shape 23"/>
          <p:cNvSpPr/>
          <p:nvPr/>
        </p:nvSpPr>
        <p:spPr>
          <a:xfrm>
            <a:off x="6389712" y="4426967"/>
            <a:ext cx="152400" cy="838200"/>
          </a:xfrm>
          <a:prstGeom prst="roundRect">
            <a:avLst>
              <a:gd name="adj" fmla="val 18750"/>
            </a:avLst>
          </a:prstGeom>
          <a:solidFill>
            <a:srgbClr val="F1EFE9"/>
          </a:solidFill>
          <a:ln/>
        </p:spPr>
        <p:txBody>
          <a:bodyPr/>
          <a:lstStyle/>
          <a:p>
            <a:endParaRPr lang="en-US"/>
          </a:p>
        </p:txBody>
      </p:sp>
      <p:sp>
        <p:nvSpPr>
          <p:cNvPr id="26" name="Text 24"/>
          <p:cNvSpPr/>
          <p:nvPr/>
        </p:nvSpPr>
        <p:spPr>
          <a:xfrm>
            <a:off x="5399038" y="5417567"/>
            <a:ext cx="1448023"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Logits </a:t>
            </a:r>
            <a:r>
              <a:rPr lang="en-US" sz="1800" dirty="0">
                <a:solidFill>
                  <a:srgbClr val="7C7A73"/>
                </a:solidFill>
                <a:latin typeface="Courier New" pitchFamily="34" charset="0"/>
                <a:ea typeface="Courier New" pitchFamily="34" charset="-122"/>
                <a:cs typeface="Courier New" pitchFamily="34" charset="-120"/>
              </a:rPr>
              <a:t>raw scores</a:t>
            </a:r>
            <a:endParaRPr lang="en-US" sz="1800" dirty="0"/>
          </a:p>
        </p:txBody>
      </p:sp>
      <p:sp>
        <p:nvSpPr>
          <p:cNvPr id="27" name="Text 25"/>
          <p:cNvSpPr/>
          <p:nvPr/>
        </p:nvSpPr>
        <p:spPr>
          <a:xfrm>
            <a:off x="7732291" y="4919886"/>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8" name="Shape 26"/>
          <p:cNvSpPr/>
          <p:nvPr/>
        </p:nvSpPr>
        <p:spPr>
          <a:xfrm>
            <a:off x="8284741" y="4150742"/>
            <a:ext cx="2913608" cy="2000250"/>
          </a:xfrm>
          <a:prstGeom prst="roundRect">
            <a:avLst>
              <a:gd name="adj" fmla="val 5714"/>
            </a:avLst>
          </a:prstGeom>
          <a:ln w="9525">
            <a:solidFill>
              <a:srgbClr val="E3E1DA"/>
            </a:solidFill>
            <a:prstDash val="solid"/>
          </a:ln>
        </p:spPr>
        <p:txBody>
          <a:bodyPr/>
          <a:lstStyle/>
          <a:p>
            <a:endParaRPr lang="en-US"/>
          </a:p>
        </p:txBody>
      </p:sp>
      <p:sp>
        <p:nvSpPr>
          <p:cNvPr id="29" name="Shape 27"/>
          <p:cNvSpPr/>
          <p:nvPr/>
        </p:nvSpPr>
        <p:spPr>
          <a:xfrm>
            <a:off x="9322445" y="5055617"/>
            <a:ext cx="152400" cy="209550"/>
          </a:xfrm>
          <a:prstGeom prst="roundRect">
            <a:avLst>
              <a:gd name="adj" fmla="val 18750"/>
            </a:avLst>
          </a:prstGeom>
          <a:solidFill>
            <a:srgbClr val="F1EFE9"/>
          </a:solidFill>
          <a:ln/>
        </p:spPr>
        <p:txBody>
          <a:bodyPr/>
          <a:lstStyle/>
          <a:p>
            <a:endParaRPr lang="en-US"/>
          </a:p>
        </p:txBody>
      </p:sp>
      <p:sp>
        <p:nvSpPr>
          <p:cNvPr id="30" name="Shape 28"/>
          <p:cNvSpPr/>
          <p:nvPr/>
        </p:nvSpPr>
        <p:spPr>
          <a:xfrm>
            <a:off x="9551045" y="4407917"/>
            <a:ext cx="152400" cy="857250"/>
          </a:xfrm>
          <a:prstGeom prst="roundRect">
            <a:avLst>
              <a:gd name="adj" fmla="val 18750"/>
            </a:avLst>
          </a:prstGeom>
          <a:solidFill>
            <a:srgbClr val="1F6FEB"/>
          </a:solidFill>
          <a:ln/>
        </p:spPr>
        <p:txBody>
          <a:bodyPr/>
          <a:lstStyle/>
          <a:p>
            <a:endParaRPr lang="en-US"/>
          </a:p>
        </p:txBody>
      </p:sp>
      <p:sp>
        <p:nvSpPr>
          <p:cNvPr id="31" name="Shape 29"/>
          <p:cNvSpPr/>
          <p:nvPr/>
        </p:nvSpPr>
        <p:spPr>
          <a:xfrm>
            <a:off x="9779645" y="4941317"/>
            <a:ext cx="152400" cy="323850"/>
          </a:xfrm>
          <a:prstGeom prst="roundRect">
            <a:avLst>
              <a:gd name="adj" fmla="val 18750"/>
            </a:avLst>
          </a:prstGeom>
          <a:solidFill>
            <a:srgbClr val="F1EFE9"/>
          </a:solidFill>
          <a:ln/>
        </p:spPr>
        <p:txBody>
          <a:bodyPr/>
          <a:lstStyle/>
          <a:p>
            <a:endParaRPr lang="en-US"/>
          </a:p>
        </p:txBody>
      </p:sp>
      <p:sp>
        <p:nvSpPr>
          <p:cNvPr id="32" name="Shape 30"/>
          <p:cNvSpPr/>
          <p:nvPr/>
        </p:nvSpPr>
        <p:spPr>
          <a:xfrm>
            <a:off x="10008245" y="5093717"/>
            <a:ext cx="152400" cy="171450"/>
          </a:xfrm>
          <a:prstGeom prst="roundRect">
            <a:avLst>
              <a:gd name="adj" fmla="val 18750"/>
            </a:avLst>
          </a:prstGeom>
          <a:solidFill>
            <a:srgbClr val="F1EFE9"/>
          </a:solidFill>
          <a:ln/>
        </p:spPr>
        <p:txBody>
          <a:bodyPr/>
          <a:lstStyle/>
          <a:p>
            <a:endParaRPr lang="en-US"/>
          </a:p>
        </p:txBody>
      </p:sp>
      <p:sp>
        <p:nvSpPr>
          <p:cNvPr id="33" name="Text 31"/>
          <p:cNvSpPr/>
          <p:nvPr/>
        </p:nvSpPr>
        <p:spPr>
          <a:xfrm>
            <a:off x="8811741" y="5417567"/>
            <a:ext cx="1859607"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Courier New" pitchFamily="34" charset="0"/>
                <a:ea typeface="Courier New" pitchFamily="34" charset="-122"/>
                <a:cs typeface="Courier New" pitchFamily="34" charset="-120"/>
              </a:rPr>
              <a:t>Softmax </a:t>
            </a:r>
            <a:r>
              <a:rPr lang="en-US" sz="1800" dirty="0">
                <a:solidFill>
                  <a:srgbClr val="7C7A73"/>
                </a:solidFill>
                <a:latin typeface="Courier New" pitchFamily="34" charset="0"/>
                <a:ea typeface="Courier New" pitchFamily="34" charset="-122"/>
                <a:cs typeface="Courier New" pitchFamily="34" charset="-120"/>
              </a:rPr>
              <a:t>probabilities</a:t>
            </a:r>
            <a:endParaRPr lang="en-US" sz="1800" dirty="0"/>
          </a:p>
        </p:txBody>
      </p:sp>
      <p:sp>
        <p:nvSpPr>
          <p:cNvPr id="34" name="Text 32"/>
          <p:cNvSpPr/>
          <p:nvPr/>
        </p:nvSpPr>
        <p:spPr>
          <a:xfrm>
            <a:off x="11350749" y="4919886"/>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35" name="Shape 33"/>
          <p:cNvSpPr/>
          <p:nvPr/>
        </p:nvSpPr>
        <p:spPr>
          <a:xfrm>
            <a:off x="11903199" y="4150742"/>
            <a:ext cx="2932733" cy="2000250"/>
          </a:xfrm>
          <a:prstGeom prst="roundRect">
            <a:avLst>
              <a:gd name="adj" fmla="val 5714"/>
            </a:avLst>
          </a:prstGeom>
          <a:solidFill>
            <a:srgbClr val="EFE9FB"/>
          </a:solidFill>
          <a:ln w="19050">
            <a:solidFill>
              <a:srgbClr val="7A4FD0"/>
            </a:solidFill>
            <a:prstDash val="solid"/>
          </a:ln>
        </p:spPr>
        <p:txBody>
          <a:bodyPr/>
          <a:lstStyle/>
          <a:p>
            <a:endParaRPr lang="en-US"/>
          </a:p>
        </p:txBody>
      </p:sp>
      <p:sp>
        <p:nvSpPr>
          <p:cNvPr id="36" name="Shape 34"/>
          <p:cNvSpPr/>
          <p:nvPr/>
        </p:nvSpPr>
        <p:spPr>
          <a:xfrm>
            <a:off x="12737009" y="4465067"/>
            <a:ext cx="1265113" cy="371475"/>
          </a:xfrm>
          <a:prstGeom prst="roundRect">
            <a:avLst>
              <a:gd name="adj" fmla="val 20513"/>
            </a:avLst>
          </a:prstGeom>
          <a:solidFill>
            <a:srgbClr val="1F6FEB"/>
          </a:solidFill>
          <a:ln/>
        </p:spPr>
        <p:txBody>
          <a:bodyPr/>
          <a:lstStyle/>
          <a:p>
            <a:endParaRPr lang="en-US"/>
          </a:p>
        </p:txBody>
      </p:sp>
      <p:sp>
        <p:nvSpPr>
          <p:cNvPr id="37" name="Text 35"/>
          <p:cNvSpPr/>
          <p:nvPr/>
        </p:nvSpPr>
        <p:spPr>
          <a:xfrm>
            <a:off x="12889409" y="4522217"/>
            <a:ext cx="1036513" cy="295275"/>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Courier New" pitchFamily="34" charset="0"/>
                <a:ea typeface="Courier New" pitchFamily="34" charset="-122"/>
                <a:cs typeface="Courier New" pitchFamily="34" charset="-120"/>
              </a:rPr>
              <a:t>Tuesday</a:t>
            </a:r>
            <a:endParaRPr lang="en-US" sz="1800" dirty="0"/>
          </a:p>
        </p:txBody>
      </p:sp>
      <p:sp>
        <p:nvSpPr>
          <p:cNvPr id="38" name="Text 36"/>
          <p:cNvSpPr/>
          <p:nvPr/>
        </p:nvSpPr>
        <p:spPr>
          <a:xfrm>
            <a:off x="12673753" y="4912742"/>
            <a:ext cx="1391625"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Courier New" pitchFamily="34" charset="0"/>
                <a:ea typeface="Courier New" pitchFamily="34" charset="-122"/>
                <a:cs typeface="Courier New" pitchFamily="34" charset="-120"/>
              </a:rPr>
              <a:t>the · a</a:t>
            </a:r>
            <a:endParaRPr lang="en-US" sz="1800" dirty="0"/>
          </a:p>
        </p:txBody>
      </p:sp>
      <p:sp>
        <p:nvSpPr>
          <p:cNvPr id="39" name="Text 37"/>
          <p:cNvSpPr/>
          <p:nvPr/>
        </p:nvSpPr>
        <p:spPr>
          <a:xfrm>
            <a:off x="12782699" y="5427092"/>
            <a:ext cx="1173659" cy="552450"/>
          </a:xfrm>
          <a:prstGeom prst="rect">
            <a:avLst/>
          </a:prstGeom>
          <a:noFill/>
          <a:ln/>
        </p:spPr>
        <p:txBody>
          <a:bodyPr wrap="square" lIns="25400" tIns="25400" rIns="25400" bIns="25400" rtlCol="0" anchor="t">
            <a:normAutofit/>
          </a:bodyPr>
          <a:lstStyle/>
          <a:p>
            <a:pPr marL="0" indent="0" algn="ctr">
              <a:buNone/>
            </a:pPr>
            <a:r>
              <a:rPr lang="en-US" sz="1800" dirty="0">
                <a:solidFill>
                  <a:srgbClr val="7A4FD0"/>
                </a:solidFill>
                <a:latin typeface="Courier New" pitchFamily="34" charset="0"/>
                <a:ea typeface="Courier New" pitchFamily="34" charset="-122"/>
                <a:cs typeface="Courier New" pitchFamily="34" charset="-120"/>
              </a:rPr>
              <a:t>Decode </a:t>
            </a:r>
            <a:r>
              <a:rPr lang="en-US" sz="1800" dirty="0">
                <a:solidFill>
                  <a:srgbClr val="7C7A73"/>
                </a:solidFill>
                <a:latin typeface="Courier New" pitchFamily="34" charset="0"/>
                <a:ea typeface="Courier New" pitchFamily="34" charset="-122"/>
                <a:cs typeface="Courier New" pitchFamily="34" charset="-120"/>
              </a:rPr>
              <a:t>pick one</a:t>
            </a:r>
            <a:endParaRPr lang="en-US" sz="1800" dirty="0"/>
          </a:p>
        </p:txBody>
      </p:sp>
      <p:sp>
        <p:nvSpPr>
          <p:cNvPr id="40" name="Text 38"/>
          <p:cNvSpPr/>
          <p:nvPr/>
        </p:nvSpPr>
        <p:spPr>
          <a:xfrm>
            <a:off x="14988332" y="4919886"/>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41" name="Shape 39"/>
          <p:cNvSpPr/>
          <p:nvPr/>
        </p:nvSpPr>
        <p:spPr>
          <a:xfrm>
            <a:off x="15540782" y="4150742"/>
            <a:ext cx="1699468" cy="2000250"/>
          </a:xfrm>
          <a:prstGeom prst="roundRect">
            <a:avLst>
              <a:gd name="adj" fmla="val 6726"/>
            </a:avLst>
          </a:prstGeom>
          <a:solidFill>
            <a:srgbClr val="1F6FEB"/>
          </a:solidFill>
          <a:ln/>
        </p:spPr>
        <p:txBody>
          <a:bodyPr/>
          <a:lstStyle/>
          <a:p>
            <a:endParaRPr lang="en-US"/>
          </a:p>
        </p:txBody>
      </p:sp>
      <p:sp>
        <p:nvSpPr>
          <p:cNvPr id="42" name="Text 40"/>
          <p:cNvSpPr/>
          <p:nvPr/>
        </p:nvSpPr>
        <p:spPr>
          <a:xfrm>
            <a:off x="15750332" y="4150742"/>
            <a:ext cx="1356568" cy="2038350"/>
          </a:xfrm>
          <a:prstGeom prst="rect">
            <a:avLst/>
          </a:prstGeom>
          <a:noFill/>
          <a:ln/>
        </p:spPr>
        <p:txBody>
          <a:bodyPr wrap="square" lIns="25400" tIns="25400" rIns="25400" bIns="25400" rtlCol="0" anchor="ctr">
            <a:normAutofit/>
          </a:bodyPr>
          <a:lstStyle/>
          <a:p>
            <a:pPr marL="0" indent="0" algn="l">
              <a:buNone/>
            </a:pPr>
            <a:r>
              <a:rPr lang="en-US" sz="2400" b="1" dirty="0">
                <a:solidFill>
                  <a:srgbClr val="FFFFFF"/>
                </a:solidFill>
                <a:latin typeface="Courier New" pitchFamily="34" charset="0"/>
                <a:ea typeface="Courier New" pitchFamily="34" charset="-122"/>
                <a:cs typeface="Courier New" pitchFamily="34" charset="-120"/>
              </a:rPr>
              <a:t>Tuesday</a:t>
            </a:r>
            <a:endParaRPr lang="en-US" sz="2400" dirty="0"/>
          </a:p>
        </p:txBody>
      </p:sp>
      <p:sp>
        <p:nvSpPr>
          <p:cNvPr id="43" name="Text 41"/>
          <p:cNvSpPr/>
          <p:nvPr/>
        </p:nvSpPr>
        <p:spPr>
          <a:xfrm>
            <a:off x="238125" y="6474842"/>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3D3D3D"/>
                </a:solidFill>
                <a:latin typeface="Arial" pitchFamily="34" charset="0"/>
                <a:ea typeface="Arial" pitchFamily="34" charset="-122"/>
                <a:cs typeface="Arial" pitchFamily="34" charset="-120"/>
              </a:rPr>
              <a:t>Only the </a:t>
            </a:r>
            <a:r>
              <a:rPr lang="en-US" sz="2025" b="1" dirty="0">
                <a:solidFill>
                  <a:srgbClr val="1A1A1A"/>
                </a:solidFill>
                <a:latin typeface="Arial" pitchFamily="34" charset="0"/>
                <a:ea typeface="Arial" pitchFamily="34" charset="-122"/>
                <a:cs typeface="Arial" pitchFamily="34" charset="-120"/>
              </a:rPr>
              <a:t>last token’s </a:t>
            </a:r>
            <a:r>
              <a:rPr lang="en-US" sz="2025" dirty="0">
                <a:solidFill>
                  <a:srgbClr val="3D3D3D"/>
                </a:solidFill>
                <a:latin typeface="Arial" pitchFamily="34" charset="0"/>
                <a:ea typeface="Arial" pitchFamily="34" charset="-122"/>
                <a:cs typeface="Arial" pitchFamily="34" charset="-120"/>
              </a:rPr>
              <a:t>vector is used — scored against every word, softmaxed, then one is chosen.</a:t>
            </a:r>
            <a:endParaRPr lang="en-US" sz="2025" dirty="0"/>
          </a:p>
        </p:txBody>
      </p:sp>
      <p:sp>
        <p:nvSpPr>
          <p:cNvPr id="44" name="Text 42"/>
          <p:cNvSpPr/>
          <p:nvPr/>
        </p:nvSpPr>
        <p:spPr>
          <a:xfrm>
            <a:off x="238125" y="7093967"/>
            <a:ext cx="17811750" cy="314325"/>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The </a:t>
            </a:r>
            <a:r>
              <a:rPr lang="en-US" sz="1800" dirty="0">
                <a:solidFill>
                  <a:srgbClr val="7C7A73"/>
                </a:solidFill>
                <a:highlight>
                  <a:srgbClr val="FFF1A8"/>
                </a:highlight>
                <a:latin typeface="Courier New" pitchFamily="34" charset="0"/>
                <a:ea typeface="Courier New" pitchFamily="34" charset="-122"/>
                <a:cs typeface="Courier New" pitchFamily="34" charset="-120"/>
              </a:rPr>
              <a:t>decode </a:t>
            </a:r>
            <a:r>
              <a:rPr lang="en-US" sz="1800" dirty="0">
                <a:solidFill>
                  <a:srgbClr val="7C7A73"/>
                </a:solidFill>
                <a:latin typeface="Arial" pitchFamily="34" charset="0"/>
                <a:ea typeface="Arial" pitchFamily="34" charset="-122"/>
                <a:cs typeface="Arial" pitchFamily="34" charset="-120"/>
              </a:rPr>
              <a:t>step is where temperature, top-k and top-p live — next.</a:t>
            </a:r>
            <a:endParaRPr lang="en-US" sz="1800" dirty="0"/>
          </a:p>
        </p:txBody>
      </p:sp>
      <p:sp>
        <p:nvSpPr>
          <p:cNvPr id="45" name="Shape 43"/>
          <p:cNvSpPr/>
          <p:nvPr/>
        </p:nvSpPr>
        <p:spPr>
          <a:xfrm>
            <a:off x="1047750" y="9520238"/>
            <a:ext cx="16192500" cy="9525"/>
          </a:xfrm>
          <a:prstGeom prst="rect">
            <a:avLst/>
          </a:prstGeom>
          <a:solidFill>
            <a:srgbClr val="E3E1DA"/>
          </a:solidFill>
          <a:ln/>
        </p:spPr>
        <p:txBody>
          <a:bodyPr/>
          <a:lstStyle/>
          <a:p>
            <a:endParaRPr lang="en-US"/>
          </a:p>
        </p:txBody>
      </p:sp>
      <p:sp>
        <p:nvSpPr>
          <p:cNvPr id="46" name="Text 4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7" name="Text 45"/>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23925"/>
            <a:ext cx="123825" cy="123825"/>
          </a:xfrm>
          <a:prstGeom prst="ellipse">
            <a:avLst/>
          </a:prstGeom>
          <a:solidFill>
            <a:srgbClr val="7A4FD0"/>
          </a:solidFill>
          <a:ln/>
        </p:spPr>
        <p:txBody>
          <a:bodyPr/>
          <a:lstStyle/>
          <a:p>
            <a:endParaRPr lang="en-US"/>
          </a:p>
        </p:txBody>
      </p:sp>
      <p:sp>
        <p:nvSpPr>
          <p:cNvPr id="3" name="Text 1"/>
          <p:cNvSpPr/>
          <p:nvPr/>
        </p:nvSpPr>
        <p:spPr>
          <a:xfrm>
            <a:off x="1304925" y="854869"/>
            <a:ext cx="2784068"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UNDER THE HOOD</a:t>
            </a:r>
            <a:endParaRPr lang="en-US" sz="1800" dirty="0"/>
          </a:p>
        </p:txBody>
      </p:sp>
      <p:sp>
        <p:nvSpPr>
          <p:cNvPr id="4" name="Shape 2"/>
          <p:cNvSpPr/>
          <p:nvPr/>
        </p:nvSpPr>
        <p:spPr>
          <a:xfrm>
            <a:off x="3969246" y="816769"/>
            <a:ext cx="1800895" cy="338138"/>
          </a:xfrm>
          <a:prstGeom prst="roundRect">
            <a:avLst>
              <a:gd name="adj" fmla="val 50000"/>
            </a:avLst>
          </a:prstGeom>
          <a:solidFill>
            <a:srgbClr val="F1EFE9"/>
          </a:solidFill>
          <a:ln/>
        </p:spPr>
        <p:txBody>
          <a:bodyPr/>
          <a:lstStyle/>
          <a:p>
            <a:endParaRPr lang="en-US"/>
          </a:p>
        </p:txBody>
      </p:sp>
      <p:sp>
        <p:nvSpPr>
          <p:cNvPr id="5" name="Text 3"/>
          <p:cNvSpPr/>
          <p:nvPr/>
        </p:nvSpPr>
        <p:spPr>
          <a:xfrm>
            <a:off x="4083546" y="854869"/>
            <a:ext cx="1752384"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C7A73"/>
                </a:solidFill>
                <a:latin typeface="Arial" pitchFamily="34" charset="0"/>
                <a:ea typeface="Arial" pitchFamily="34" charset="-122"/>
                <a:cs typeface="Arial" pitchFamily="34" charset="-120"/>
              </a:rPr>
              <a:t>SELF-STUDY</a:t>
            </a:r>
            <a:endParaRPr lang="en-US" sz="1800" dirty="0"/>
          </a:p>
        </p:txBody>
      </p:sp>
      <p:sp>
        <p:nvSpPr>
          <p:cNvPr id="6" name="Shape 4"/>
          <p:cNvSpPr/>
          <p:nvPr/>
        </p:nvSpPr>
        <p:spPr>
          <a:xfrm>
            <a:off x="5903491" y="1162050"/>
            <a:ext cx="4254922" cy="9525"/>
          </a:xfrm>
          <a:prstGeom prst="rect">
            <a:avLst/>
          </a:prstGeom>
          <a:solidFill>
            <a:srgbClr val="1F6FEB">
              <a:alpha val="40000"/>
            </a:srgbClr>
          </a:solidFill>
          <a:ln/>
        </p:spPr>
        <p:txBody>
          <a:bodyPr/>
          <a:lstStyle/>
          <a:p>
            <a:endParaRPr lang="en-US"/>
          </a:p>
        </p:txBody>
      </p:sp>
      <p:sp>
        <p:nvSpPr>
          <p:cNvPr id="7" name="Text 5">
            <a:hlinkClick r:id="rId3"/>
          </p:cNvPr>
          <p:cNvSpPr/>
          <p:nvPr/>
        </p:nvSpPr>
        <p:spPr>
          <a:xfrm>
            <a:off x="5903491" y="800100"/>
            <a:ext cx="4382569" cy="381000"/>
          </a:xfrm>
          <a:prstGeom prst="rect">
            <a:avLst/>
          </a:prstGeom>
          <a:noFill/>
          <a:ln/>
        </p:spPr>
        <p:txBody>
          <a:bodyPr wrap="square" lIns="25400" tIns="25400" rIns="25400" bIns="25400" rtlCol="0" anchor="t">
            <a:normAutofit/>
          </a:bodyPr>
          <a:lstStyle/>
          <a:p>
            <a:pPr marL="0" indent="0" algn="l">
              <a:buNone/>
            </a:pPr>
            <a:r>
              <a:rPr lang="en-US" sz="1800" b="1" u="sng" dirty="0">
                <a:solidFill>
                  <a:srgbClr val="1F6FE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 Hugging Face · How to generate text</a:t>
            </a:r>
            <a:endParaRPr lang="en-US" sz="1800" dirty="0"/>
          </a:p>
        </p:txBody>
      </p:sp>
      <p:sp>
        <p:nvSpPr>
          <p:cNvPr id="8" name="Text 6"/>
          <p:cNvSpPr/>
          <p:nvPr/>
        </p:nvSpPr>
        <p:spPr>
          <a:xfrm>
            <a:off x="1047750" y="1304925"/>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Sampling: Top-k and Top-p</a:t>
            </a:r>
            <a:endParaRPr lang="en-US" sz="4800" dirty="0"/>
          </a:p>
        </p:txBody>
      </p:sp>
      <p:sp>
        <p:nvSpPr>
          <p:cNvPr id="9" name="Text 7"/>
          <p:cNvSpPr/>
          <p:nvPr/>
        </p:nvSpPr>
        <p:spPr>
          <a:xfrm>
            <a:off x="1047750" y="2186508"/>
            <a:ext cx="8397716"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Courier New" pitchFamily="34" charset="0"/>
                <a:ea typeface="Courier New" pitchFamily="34" charset="-122"/>
                <a:cs typeface="Courier New" pitchFamily="34" charset="-120"/>
              </a:rPr>
              <a:t>Top-k — keep the top k</a:t>
            </a:r>
            <a:endParaRPr lang="en-US" sz="2025" dirty="0"/>
          </a:p>
        </p:txBody>
      </p:sp>
      <p:sp>
        <p:nvSpPr>
          <p:cNvPr id="10" name="Text 8"/>
          <p:cNvSpPr/>
          <p:nvPr/>
        </p:nvSpPr>
        <p:spPr>
          <a:xfrm>
            <a:off x="1047750" y="2553221"/>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fixed count (e.g. k = 4)</a:t>
            </a:r>
            <a:endParaRPr lang="en-US" sz="1800" dirty="0"/>
          </a:p>
        </p:txBody>
      </p:sp>
      <p:sp>
        <p:nvSpPr>
          <p:cNvPr id="11" name="Shape 9"/>
          <p:cNvSpPr/>
          <p:nvPr/>
        </p:nvSpPr>
        <p:spPr>
          <a:xfrm>
            <a:off x="1047750" y="8548688"/>
            <a:ext cx="7634288" cy="19050"/>
          </a:xfrm>
          <a:prstGeom prst="rect">
            <a:avLst/>
          </a:prstGeom>
          <a:solidFill>
            <a:srgbClr val="E3E1DA"/>
          </a:solidFill>
          <a:ln/>
        </p:spPr>
        <p:txBody>
          <a:bodyPr/>
          <a:lstStyle/>
          <a:p>
            <a:endParaRPr lang="en-US"/>
          </a:p>
        </p:txBody>
      </p:sp>
      <p:sp>
        <p:nvSpPr>
          <p:cNvPr id="12" name="Shape 10"/>
          <p:cNvSpPr/>
          <p:nvPr/>
        </p:nvSpPr>
        <p:spPr>
          <a:xfrm>
            <a:off x="1047750" y="3668539"/>
            <a:ext cx="959941" cy="4861099"/>
          </a:xfrm>
          <a:prstGeom prst="roundRect">
            <a:avLst>
              <a:gd name="adj" fmla="val 5953"/>
            </a:avLst>
          </a:prstGeom>
          <a:solidFill>
            <a:srgbClr val="1F6FEB"/>
          </a:solidFill>
          <a:ln/>
        </p:spPr>
        <p:txBody>
          <a:bodyPr/>
          <a:lstStyle/>
          <a:p>
            <a:endParaRPr lang="en-US"/>
          </a:p>
        </p:txBody>
      </p:sp>
      <p:sp>
        <p:nvSpPr>
          <p:cNvPr id="13" name="Shape 11"/>
          <p:cNvSpPr/>
          <p:nvPr/>
        </p:nvSpPr>
        <p:spPr>
          <a:xfrm>
            <a:off x="2160091" y="4994300"/>
            <a:ext cx="960016" cy="3535338"/>
          </a:xfrm>
          <a:prstGeom prst="roundRect">
            <a:avLst>
              <a:gd name="adj" fmla="val 5953"/>
            </a:avLst>
          </a:prstGeom>
          <a:solidFill>
            <a:srgbClr val="1F6FEB"/>
          </a:solidFill>
          <a:ln/>
        </p:spPr>
        <p:txBody>
          <a:bodyPr/>
          <a:lstStyle/>
          <a:p>
            <a:endParaRPr lang="en-US"/>
          </a:p>
        </p:txBody>
      </p:sp>
      <p:sp>
        <p:nvSpPr>
          <p:cNvPr id="14" name="Shape 12"/>
          <p:cNvSpPr/>
          <p:nvPr/>
        </p:nvSpPr>
        <p:spPr>
          <a:xfrm>
            <a:off x="3272507" y="6099125"/>
            <a:ext cx="959941" cy="2430512"/>
          </a:xfrm>
          <a:prstGeom prst="roundRect">
            <a:avLst>
              <a:gd name="adj" fmla="val 5953"/>
            </a:avLst>
          </a:prstGeom>
          <a:solidFill>
            <a:srgbClr val="1F6FEB"/>
          </a:solidFill>
          <a:ln/>
        </p:spPr>
        <p:txBody>
          <a:bodyPr/>
          <a:lstStyle/>
          <a:p>
            <a:endParaRPr lang="en-US"/>
          </a:p>
        </p:txBody>
      </p:sp>
      <p:sp>
        <p:nvSpPr>
          <p:cNvPr id="15" name="Shape 13"/>
          <p:cNvSpPr/>
          <p:nvPr/>
        </p:nvSpPr>
        <p:spPr>
          <a:xfrm>
            <a:off x="4384849" y="6872511"/>
            <a:ext cx="960016" cy="1657127"/>
          </a:xfrm>
          <a:prstGeom prst="roundRect">
            <a:avLst>
              <a:gd name="adj" fmla="val 5953"/>
            </a:avLst>
          </a:prstGeom>
          <a:solidFill>
            <a:srgbClr val="1F6FEB"/>
          </a:solidFill>
          <a:ln/>
        </p:spPr>
        <p:txBody>
          <a:bodyPr/>
          <a:lstStyle/>
          <a:p>
            <a:endParaRPr lang="en-US"/>
          </a:p>
        </p:txBody>
      </p:sp>
      <p:sp>
        <p:nvSpPr>
          <p:cNvPr id="16" name="Shape 14"/>
          <p:cNvSpPr/>
          <p:nvPr/>
        </p:nvSpPr>
        <p:spPr>
          <a:xfrm>
            <a:off x="5497264" y="7645822"/>
            <a:ext cx="959941" cy="883816"/>
          </a:xfrm>
          <a:prstGeom prst="roundRect">
            <a:avLst>
              <a:gd name="adj" fmla="val 6466"/>
            </a:avLst>
          </a:prstGeom>
          <a:solidFill>
            <a:srgbClr val="F1EFE9"/>
          </a:solidFill>
          <a:ln/>
        </p:spPr>
        <p:txBody>
          <a:bodyPr/>
          <a:lstStyle/>
          <a:p>
            <a:endParaRPr lang="en-US"/>
          </a:p>
        </p:txBody>
      </p:sp>
      <p:sp>
        <p:nvSpPr>
          <p:cNvPr id="17" name="Shape 15"/>
          <p:cNvSpPr/>
          <p:nvPr/>
        </p:nvSpPr>
        <p:spPr>
          <a:xfrm>
            <a:off x="6609606" y="8032552"/>
            <a:ext cx="960016" cy="497086"/>
          </a:xfrm>
          <a:prstGeom prst="roundRect">
            <a:avLst>
              <a:gd name="adj" fmla="val 11497"/>
            </a:avLst>
          </a:prstGeom>
          <a:solidFill>
            <a:srgbClr val="F1EFE9"/>
          </a:solidFill>
          <a:ln/>
        </p:spPr>
        <p:txBody>
          <a:bodyPr/>
          <a:lstStyle/>
          <a:p>
            <a:endParaRPr lang="en-US"/>
          </a:p>
        </p:txBody>
      </p:sp>
      <p:sp>
        <p:nvSpPr>
          <p:cNvPr id="18" name="Shape 16"/>
          <p:cNvSpPr/>
          <p:nvPr/>
        </p:nvSpPr>
        <p:spPr>
          <a:xfrm>
            <a:off x="7722022" y="8253487"/>
            <a:ext cx="960016" cy="276151"/>
          </a:xfrm>
          <a:prstGeom prst="roundRect">
            <a:avLst>
              <a:gd name="adj" fmla="val 20695"/>
            </a:avLst>
          </a:prstGeom>
          <a:solidFill>
            <a:srgbClr val="F1EFE9"/>
          </a:solidFill>
          <a:ln/>
        </p:spPr>
        <p:txBody>
          <a:bodyPr/>
          <a:lstStyle/>
          <a:p>
            <a:endParaRPr lang="en-US"/>
          </a:p>
        </p:txBody>
      </p:sp>
      <p:sp>
        <p:nvSpPr>
          <p:cNvPr id="19" name="Shape 17"/>
          <p:cNvSpPr/>
          <p:nvPr/>
        </p:nvSpPr>
        <p:spPr>
          <a:xfrm>
            <a:off x="5399261" y="3005658"/>
            <a:ext cx="19050" cy="5543029"/>
          </a:xfrm>
          <a:prstGeom prst="rect">
            <a:avLst/>
          </a:prstGeom>
          <a:solidFill>
            <a:srgbClr val="D64545"/>
          </a:solidFill>
          <a:ln/>
        </p:spPr>
        <p:txBody>
          <a:bodyPr/>
          <a:lstStyle/>
          <a:p>
            <a:endParaRPr lang="en-US"/>
          </a:p>
        </p:txBody>
      </p:sp>
      <p:sp>
        <p:nvSpPr>
          <p:cNvPr id="20" name="Text 18"/>
          <p:cNvSpPr/>
          <p:nvPr/>
        </p:nvSpPr>
        <p:spPr>
          <a:xfrm>
            <a:off x="1047750" y="8701088"/>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3D3D3D"/>
                </a:solidFill>
                <a:latin typeface="Arial" pitchFamily="34" charset="0"/>
                <a:ea typeface="Arial" pitchFamily="34" charset="-122"/>
                <a:cs typeface="Arial" pitchFamily="34" charset="-120"/>
              </a:rPr>
              <a:t>Cuts the long tail — but the count never changes.</a:t>
            </a:r>
            <a:endParaRPr lang="en-US" sz="1800" dirty="0"/>
          </a:p>
        </p:txBody>
      </p:sp>
      <p:sp>
        <p:nvSpPr>
          <p:cNvPr id="21" name="Shape 19"/>
          <p:cNvSpPr/>
          <p:nvPr/>
        </p:nvSpPr>
        <p:spPr>
          <a:xfrm>
            <a:off x="9139238" y="2186508"/>
            <a:ext cx="9525" cy="6776517"/>
          </a:xfrm>
          <a:prstGeom prst="rect">
            <a:avLst/>
          </a:prstGeom>
          <a:solidFill>
            <a:srgbClr val="E3E1DA"/>
          </a:solidFill>
          <a:ln/>
        </p:spPr>
        <p:txBody>
          <a:bodyPr/>
          <a:lstStyle/>
          <a:p>
            <a:endParaRPr lang="en-US"/>
          </a:p>
        </p:txBody>
      </p:sp>
      <p:sp>
        <p:nvSpPr>
          <p:cNvPr id="22" name="Text 20"/>
          <p:cNvSpPr/>
          <p:nvPr/>
        </p:nvSpPr>
        <p:spPr>
          <a:xfrm>
            <a:off x="9605963" y="2186508"/>
            <a:ext cx="8397716"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78A4C"/>
                </a:solidFill>
                <a:latin typeface="Courier New" pitchFamily="34" charset="0"/>
                <a:ea typeface="Courier New" pitchFamily="34" charset="-122"/>
                <a:cs typeface="Courier New" pitchFamily="34" charset="-120"/>
              </a:rPr>
              <a:t>Top-p — smallest set summing to p</a:t>
            </a:r>
            <a:endParaRPr lang="en-US" sz="2025" dirty="0"/>
          </a:p>
        </p:txBody>
      </p:sp>
      <p:sp>
        <p:nvSpPr>
          <p:cNvPr id="23" name="Text 21"/>
          <p:cNvSpPr/>
          <p:nvPr/>
        </p:nvSpPr>
        <p:spPr>
          <a:xfrm>
            <a:off x="9605963" y="2553221"/>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adaptive (e.g. p = 0.90)</a:t>
            </a:r>
            <a:endParaRPr lang="en-US" sz="1800" dirty="0"/>
          </a:p>
        </p:txBody>
      </p:sp>
      <p:sp>
        <p:nvSpPr>
          <p:cNvPr id="24" name="Shape 22"/>
          <p:cNvSpPr/>
          <p:nvPr/>
        </p:nvSpPr>
        <p:spPr>
          <a:xfrm>
            <a:off x="9605963" y="8548688"/>
            <a:ext cx="7634288" cy="19050"/>
          </a:xfrm>
          <a:prstGeom prst="rect">
            <a:avLst/>
          </a:prstGeom>
          <a:solidFill>
            <a:srgbClr val="E3E1DA"/>
          </a:solidFill>
          <a:ln/>
        </p:spPr>
        <p:txBody>
          <a:bodyPr/>
          <a:lstStyle/>
          <a:p>
            <a:endParaRPr lang="en-US"/>
          </a:p>
        </p:txBody>
      </p:sp>
      <p:sp>
        <p:nvSpPr>
          <p:cNvPr id="25" name="Shape 23"/>
          <p:cNvSpPr/>
          <p:nvPr/>
        </p:nvSpPr>
        <p:spPr>
          <a:xfrm>
            <a:off x="9605963" y="3668539"/>
            <a:ext cx="959941" cy="4861099"/>
          </a:xfrm>
          <a:prstGeom prst="roundRect">
            <a:avLst>
              <a:gd name="adj" fmla="val 5953"/>
            </a:avLst>
          </a:prstGeom>
          <a:solidFill>
            <a:srgbClr val="178A4C"/>
          </a:solidFill>
          <a:ln/>
        </p:spPr>
        <p:txBody>
          <a:bodyPr/>
          <a:lstStyle/>
          <a:p>
            <a:endParaRPr lang="en-US"/>
          </a:p>
        </p:txBody>
      </p:sp>
      <p:sp>
        <p:nvSpPr>
          <p:cNvPr id="26" name="Shape 24"/>
          <p:cNvSpPr/>
          <p:nvPr/>
        </p:nvSpPr>
        <p:spPr>
          <a:xfrm>
            <a:off x="10718304" y="4994300"/>
            <a:ext cx="960016" cy="3535338"/>
          </a:xfrm>
          <a:prstGeom prst="roundRect">
            <a:avLst>
              <a:gd name="adj" fmla="val 5953"/>
            </a:avLst>
          </a:prstGeom>
          <a:solidFill>
            <a:srgbClr val="178A4C"/>
          </a:solidFill>
          <a:ln/>
        </p:spPr>
        <p:txBody>
          <a:bodyPr/>
          <a:lstStyle/>
          <a:p>
            <a:endParaRPr lang="en-US"/>
          </a:p>
        </p:txBody>
      </p:sp>
      <p:sp>
        <p:nvSpPr>
          <p:cNvPr id="27" name="Shape 25"/>
          <p:cNvSpPr/>
          <p:nvPr/>
        </p:nvSpPr>
        <p:spPr>
          <a:xfrm>
            <a:off x="11830720" y="6099125"/>
            <a:ext cx="959941" cy="2430512"/>
          </a:xfrm>
          <a:prstGeom prst="roundRect">
            <a:avLst>
              <a:gd name="adj" fmla="val 5953"/>
            </a:avLst>
          </a:prstGeom>
          <a:solidFill>
            <a:srgbClr val="178A4C"/>
          </a:solidFill>
          <a:ln/>
        </p:spPr>
        <p:txBody>
          <a:bodyPr/>
          <a:lstStyle/>
          <a:p>
            <a:endParaRPr lang="en-US"/>
          </a:p>
        </p:txBody>
      </p:sp>
      <p:sp>
        <p:nvSpPr>
          <p:cNvPr id="28" name="Shape 26"/>
          <p:cNvSpPr/>
          <p:nvPr/>
        </p:nvSpPr>
        <p:spPr>
          <a:xfrm>
            <a:off x="12943061" y="6872511"/>
            <a:ext cx="960016" cy="1657127"/>
          </a:xfrm>
          <a:prstGeom prst="roundRect">
            <a:avLst>
              <a:gd name="adj" fmla="val 5953"/>
            </a:avLst>
          </a:prstGeom>
          <a:solidFill>
            <a:srgbClr val="F1EFE9"/>
          </a:solidFill>
          <a:ln/>
        </p:spPr>
        <p:txBody>
          <a:bodyPr/>
          <a:lstStyle/>
          <a:p>
            <a:endParaRPr lang="en-US"/>
          </a:p>
        </p:txBody>
      </p:sp>
      <p:sp>
        <p:nvSpPr>
          <p:cNvPr id="29" name="Shape 27"/>
          <p:cNvSpPr/>
          <p:nvPr/>
        </p:nvSpPr>
        <p:spPr>
          <a:xfrm>
            <a:off x="14055477" y="7645822"/>
            <a:ext cx="959941" cy="883816"/>
          </a:xfrm>
          <a:prstGeom prst="roundRect">
            <a:avLst>
              <a:gd name="adj" fmla="val 6466"/>
            </a:avLst>
          </a:prstGeom>
          <a:solidFill>
            <a:srgbClr val="F1EFE9"/>
          </a:solidFill>
          <a:ln/>
        </p:spPr>
        <p:txBody>
          <a:bodyPr/>
          <a:lstStyle/>
          <a:p>
            <a:endParaRPr lang="en-US"/>
          </a:p>
        </p:txBody>
      </p:sp>
      <p:sp>
        <p:nvSpPr>
          <p:cNvPr id="30" name="Shape 28"/>
          <p:cNvSpPr/>
          <p:nvPr/>
        </p:nvSpPr>
        <p:spPr>
          <a:xfrm>
            <a:off x="15167818" y="8032552"/>
            <a:ext cx="960016" cy="497086"/>
          </a:xfrm>
          <a:prstGeom prst="roundRect">
            <a:avLst>
              <a:gd name="adj" fmla="val 11497"/>
            </a:avLst>
          </a:prstGeom>
          <a:solidFill>
            <a:srgbClr val="F1EFE9"/>
          </a:solidFill>
          <a:ln/>
        </p:spPr>
        <p:txBody>
          <a:bodyPr/>
          <a:lstStyle/>
          <a:p>
            <a:endParaRPr lang="en-US"/>
          </a:p>
        </p:txBody>
      </p:sp>
      <p:sp>
        <p:nvSpPr>
          <p:cNvPr id="31" name="Shape 29"/>
          <p:cNvSpPr/>
          <p:nvPr/>
        </p:nvSpPr>
        <p:spPr>
          <a:xfrm>
            <a:off x="16280234" y="8253487"/>
            <a:ext cx="960016" cy="276151"/>
          </a:xfrm>
          <a:prstGeom prst="roundRect">
            <a:avLst>
              <a:gd name="adj" fmla="val 20695"/>
            </a:avLst>
          </a:prstGeom>
          <a:solidFill>
            <a:srgbClr val="F1EFE9"/>
          </a:solidFill>
          <a:ln/>
        </p:spPr>
        <p:txBody>
          <a:bodyPr/>
          <a:lstStyle/>
          <a:p>
            <a:endParaRPr lang="en-US"/>
          </a:p>
        </p:txBody>
      </p:sp>
      <p:sp>
        <p:nvSpPr>
          <p:cNvPr id="32" name="Shape 30"/>
          <p:cNvSpPr/>
          <p:nvPr/>
        </p:nvSpPr>
        <p:spPr>
          <a:xfrm>
            <a:off x="9605963" y="3005658"/>
            <a:ext cx="3206353" cy="5543029"/>
          </a:xfrm>
          <a:prstGeom prst="rect">
            <a:avLst/>
          </a:prstGeom>
          <a:solidFill>
            <a:srgbClr val="178A4C">
              <a:alpha val="10000"/>
            </a:srgbClr>
          </a:solidFill>
          <a:ln/>
        </p:spPr>
        <p:txBody>
          <a:bodyPr/>
          <a:lstStyle/>
          <a:p>
            <a:endParaRPr lang="en-US"/>
          </a:p>
        </p:txBody>
      </p:sp>
      <p:sp>
        <p:nvSpPr>
          <p:cNvPr id="33" name="Shape 31"/>
          <p:cNvSpPr/>
          <p:nvPr/>
        </p:nvSpPr>
        <p:spPr>
          <a:xfrm>
            <a:off x="12793266" y="3005658"/>
            <a:ext cx="19050" cy="5543029"/>
          </a:xfrm>
          <a:prstGeom prst="rect">
            <a:avLst/>
          </a:prstGeom>
          <a:solidFill>
            <a:srgbClr val="178A4C"/>
          </a:solidFill>
          <a:ln/>
        </p:spPr>
        <p:txBody>
          <a:bodyPr/>
          <a:lstStyle/>
          <a:p>
            <a:endParaRPr lang="en-US"/>
          </a:p>
        </p:txBody>
      </p:sp>
      <p:sp>
        <p:nvSpPr>
          <p:cNvPr id="34" name="Text 32"/>
          <p:cNvSpPr/>
          <p:nvPr/>
        </p:nvSpPr>
        <p:spPr>
          <a:xfrm>
            <a:off x="9605963" y="8701088"/>
            <a:ext cx="839771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3D3D3D"/>
                </a:solidFill>
                <a:latin typeface="Arial" pitchFamily="34" charset="0"/>
                <a:ea typeface="Arial" pitchFamily="34" charset="-122"/>
                <a:cs typeface="Arial" pitchFamily="34" charset="-120"/>
              </a:rPr>
              <a:t>Few words when confident, many when unsure.</a:t>
            </a:r>
            <a:endParaRPr lang="en-US" sz="1800" dirty="0"/>
          </a:p>
        </p:txBody>
      </p:sp>
      <p:sp>
        <p:nvSpPr>
          <p:cNvPr id="35" name="Text 33"/>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Why top-p wins: it </a:t>
            </a:r>
            <a:r>
              <a:rPr lang="en-US" sz="2025" dirty="0">
                <a:solidFill>
                  <a:srgbClr val="3D3D3D"/>
                </a:solidFill>
                <a:highlight>
                  <a:srgbClr val="FFF1A8"/>
                </a:highlight>
                <a:latin typeface="Arial" pitchFamily="34" charset="0"/>
                <a:ea typeface="Arial" pitchFamily="34" charset="-122"/>
                <a:cs typeface="Arial" pitchFamily="34" charset="-120"/>
              </a:rPr>
              <a:t>adapts </a:t>
            </a:r>
            <a:r>
              <a:rPr lang="en-US" sz="2025" dirty="0">
                <a:solidFill>
                  <a:srgbClr val="3D3D3D"/>
                </a:solidFill>
                <a:latin typeface="Arial" pitchFamily="34" charset="0"/>
                <a:ea typeface="Arial" pitchFamily="34" charset="-122"/>
                <a:cs typeface="Arial" pitchFamily="34" charset="-120"/>
              </a:rPr>
              <a:t>to the model’s confidence instead of a fixed count. Often paired with temperature — a common default.</a:t>
            </a:r>
            <a:endParaRPr lang="en-US" sz="2025" dirty="0"/>
          </a:p>
        </p:txBody>
      </p:sp>
      <p:sp>
        <p:nvSpPr>
          <p:cNvPr id="36" name="Shape 34"/>
          <p:cNvSpPr/>
          <p:nvPr/>
        </p:nvSpPr>
        <p:spPr>
          <a:xfrm>
            <a:off x="1047750" y="9520238"/>
            <a:ext cx="16192500" cy="9525"/>
          </a:xfrm>
          <a:prstGeom prst="rect">
            <a:avLst/>
          </a:prstGeom>
          <a:solidFill>
            <a:srgbClr val="E3E1DA"/>
          </a:solidFill>
          <a:ln/>
        </p:spPr>
        <p:txBody>
          <a:bodyPr/>
          <a:lstStyle/>
          <a:p>
            <a:endParaRPr lang="en-US"/>
          </a:p>
        </p:txBody>
      </p:sp>
      <p:sp>
        <p:nvSpPr>
          <p:cNvPr id="37" name="Text 3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8" name="Text 36"/>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C77D0A"/>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03</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79121"/>
              </a:lnSpc>
              <a:buNone/>
            </a:pPr>
            <a:r>
              <a:rPr lang="en-US" sz="15000" b="1" dirty="0">
                <a:solidFill>
                  <a:srgbClr val="C77D0A"/>
                </a:solidFill>
                <a:latin typeface="Georgia" pitchFamily="34" charset="0"/>
                <a:ea typeface="Georgia" pitchFamily="34" charset="-122"/>
                <a:cs typeface="Georgia" pitchFamily="34" charset="-120"/>
              </a:rPr>
              <a:t>03</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Where This Is Headed</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The fundamentals are stable — here is what has changed recently.</a:t>
            </a:r>
            <a:endParaRPr lang="en-US" sz="2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372188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WHERE THIS IS HEADED</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What Has Changed Recently</a:t>
            </a:r>
            <a:endParaRPr lang="en-US" sz="4800" dirty="0"/>
          </a:p>
        </p:txBody>
      </p:sp>
      <p:sp>
        <p:nvSpPr>
          <p:cNvPr id="5" name="Shape 3"/>
          <p:cNvSpPr/>
          <p:nvPr/>
        </p:nvSpPr>
        <p:spPr>
          <a:xfrm>
            <a:off x="1047750" y="5591398"/>
            <a:ext cx="7981950" cy="9525"/>
          </a:xfrm>
          <a:prstGeom prst="rect">
            <a:avLst/>
          </a:prstGeom>
          <a:solidFill>
            <a:srgbClr val="E3E1DA"/>
          </a:solidFill>
          <a:ln/>
        </p:spPr>
        <p:txBody>
          <a:bodyPr/>
          <a:lstStyle/>
          <a:p>
            <a:endParaRPr lang="en-US"/>
          </a:p>
        </p:txBody>
      </p:sp>
      <p:sp>
        <p:nvSpPr>
          <p:cNvPr id="6" name="Shape 4"/>
          <p:cNvSpPr/>
          <p:nvPr/>
        </p:nvSpPr>
        <p:spPr>
          <a:xfrm>
            <a:off x="1047750" y="3832622"/>
            <a:ext cx="7981950" cy="47625"/>
          </a:xfrm>
          <a:prstGeom prst="rect">
            <a:avLst/>
          </a:prstGeom>
          <a:solidFill>
            <a:srgbClr val="7A4FD0"/>
          </a:solidFill>
          <a:ln/>
        </p:spPr>
        <p:txBody>
          <a:bodyPr/>
          <a:lstStyle/>
          <a:p>
            <a:endParaRPr lang="en-US"/>
          </a:p>
        </p:txBody>
      </p:sp>
      <p:sp>
        <p:nvSpPr>
          <p:cNvPr id="7" name="Shape 5"/>
          <p:cNvSpPr/>
          <p:nvPr/>
        </p:nvSpPr>
        <p:spPr>
          <a:xfrm>
            <a:off x="1047750" y="3832622"/>
            <a:ext cx="9525" cy="1768301"/>
          </a:xfrm>
          <a:prstGeom prst="rect">
            <a:avLst/>
          </a:prstGeom>
          <a:solidFill>
            <a:srgbClr val="E3E1DA"/>
          </a:solidFill>
          <a:ln/>
        </p:spPr>
        <p:txBody>
          <a:bodyPr/>
          <a:lstStyle/>
          <a:p>
            <a:endParaRPr lang="en-US"/>
          </a:p>
        </p:txBody>
      </p:sp>
      <p:sp>
        <p:nvSpPr>
          <p:cNvPr id="8" name="Shape 6"/>
          <p:cNvSpPr/>
          <p:nvPr/>
        </p:nvSpPr>
        <p:spPr>
          <a:xfrm>
            <a:off x="9020175" y="3832622"/>
            <a:ext cx="9525" cy="1768301"/>
          </a:xfrm>
          <a:prstGeom prst="rect">
            <a:avLst/>
          </a:prstGeom>
          <a:solidFill>
            <a:srgbClr val="E3E1DA"/>
          </a:solidFill>
          <a:ln/>
        </p:spPr>
        <p:txBody>
          <a:bodyPr/>
          <a:lstStyle/>
          <a:p>
            <a:endParaRPr lang="en-US"/>
          </a:p>
        </p:txBody>
      </p:sp>
      <p:sp>
        <p:nvSpPr>
          <p:cNvPr id="9" name="Text 7"/>
          <p:cNvSpPr/>
          <p:nvPr/>
        </p:nvSpPr>
        <p:spPr>
          <a:xfrm>
            <a:off x="1362075" y="4146947"/>
            <a:ext cx="8088630"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A4FD0"/>
                </a:solidFill>
                <a:latin typeface="Arial" pitchFamily="34" charset="0"/>
                <a:ea typeface="Arial" pitchFamily="34" charset="-122"/>
                <a:cs typeface="Arial" pitchFamily="34" charset="-120"/>
              </a:rPr>
              <a:t>REASONING MODELS</a:t>
            </a:r>
            <a:endParaRPr lang="en-US" sz="1800" dirty="0"/>
          </a:p>
        </p:txBody>
      </p:sp>
      <p:sp>
        <p:nvSpPr>
          <p:cNvPr id="10" name="Text 8"/>
          <p:cNvSpPr/>
          <p:nvPr/>
        </p:nvSpPr>
        <p:spPr>
          <a:xfrm>
            <a:off x="1362075" y="4523184"/>
            <a:ext cx="808863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They “think” before answering</a:t>
            </a:r>
            <a:endParaRPr lang="en-US" sz="2400" dirty="0"/>
          </a:p>
        </p:txBody>
      </p:sp>
      <p:sp>
        <p:nvSpPr>
          <p:cNvPr id="11" name="Text 9"/>
          <p:cNvSpPr/>
          <p:nvPr/>
        </p:nvSpPr>
        <p:spPr>
          <a:xfrm>
            <a:off x="1362075" y="4951809"/>
            <a:ext cx="8088630"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Hidden steps improve hard problems — slower, more tokens.</a:t>
            </a:r>
            <a:endParaRPr lang="en-US" sz="2025" dirty="0"/>
          </a:p>
        </p:txBody>
      </p:sp>
      <p:sp>
        <p:nvSpPr>
          <p:cNvPr id="12" name="Shape 10"/>
          <p:cNvSpPr/>
          <p:nvPr/>
        </p:nvSpPr>
        <p:spPr>
          <a:xfrm>
            <a:off x="9258300" y="5591398"/>
            <a:ext cx="7981950" cy="9525"/>
          </a:xfrm>
          <a:prstGeom prst="rect">
            <a:avLst/>
          </a:prstGeom>
          <a:solidFill>
            <a:srgbClr val="E3E1DA"/>
          </a:solidFill>
          <a:ln/>
        </p:spPr>
        <p:txBody>
          <a:bodyPr/>
          <a:lstStyle/>
          <a:p>
            <a:endParaRPr lang="en-US"/>
          </a:p>
        </p:txBody>
      </p:sp>
      <p:sp>
        <p:nvSpPr>
          <p:cNvPr id="13" name="Shape 11"/>
          <p:cNvSpPr/>
          <p:nvPr/>
        </p:nvSpPr>
        <p:spPr>
          <a:xfrm>
            <a:off x="9258300" y="3832622"/>
            <a:ext cx="7981950" cy="47625"/>
          </a:xfrm>
          <a:prstGeom prst="rect">
            <a:avLst/>
          </a:prstGeom>
          <a:solidFill>
            <a:srgbClr val="178A4C"/>
          </a:solidFill>
          <a:ln/>
        </p:spPr>
        <p:txBody>
          <a:bodyPr/>
          <a:lstStyle/>
          <a:p>
            <a:endParaRPr lang="en-US"/>
          </a:p>
        </p:txBody>
      </p:sp>
      <p:sp>
        <p:nvSpPr>
          <p:cNvPr id="14" name="Shape 12"/>
          <p:cNvSpPr/>
          <p:nvPr/>
        </p:nvSpPr>
        <p:spPr>
          <a:xfrm>
            <a:off x="9258300" y="3832622"/>
            <a:ext cx="9525" cy="1768301"/>
          </a:xfrm>
          <a:prstGeom prst="rect">
            <a:avLst/>
          </a:prstGeom>
          <a:solidFill>
            <a:srgbClr val="E3E1DA"/>
          </a:solidFill>
          <a:ln/>
        </p:spPr>
        <p:txBody>
          <a:bodyPr/>
          <a:lstStyle/>
          <a:p>
            <a:endParaRPr lang="en-US"/>
          </a:p>
        </p:txBody>
      </p:sp>
      <p:sp>
        <p:nvSpPr>
          <p:cNvPr id="15" name="Shape 13"/>
          <p:cNvSpPr/>
          <p:nvPr/>
        </p:nvSpPr>
        <p:spPr>
          <a:xfrm>
            <a:off x="17230725" y="3832622"/>
            <a:ext cx="9525" cy="1768301"/>
          </a:xfrm>
          <a:prstGeom prst="rect">
            <a:avLst/>
          </a:prstGeom>
          <a:solidFill>
            <a:srgbClr val="E3E1DA"/>
          </a:solidFill>
          <a:ln/>
        </p:spPr>
        <p:txBody>
          <a:bodyPr/>
          <a:lstStyle/>
          <a:p>
            <a:endParaRPr lang="en-US"/>
          </a:p>
        </p:txBody>
      </p:sp>
      <p:sp>
        <p:nvSpPr>
          <p:cNvPr id="16" name="Text 14"/>
          <p:cNvSpPr/>
          <p:nvPr/>
        </p:nvSpPr>
        <p:spPr>
          <a:xfrm>
            <a:off x="9572625" y="4146947"/>
            <a:ext cx="8088630"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78A4C"/>
                </a:solidFill>
                <a:latin typeface="Arial" pitchFamily="34" charset="0"/>
                <a:ea typeface="Arial" pitchFamily="34" charset="-122"/>
                <a:cs typeface="Arial" pitchFamily="34" charset="-120"/>
              </a:rPr>
              <a:t>HUGE CONTEXT</a:t>
            </a:r>
            <a:endParaRPr lang="en-US" sz="1800" dirty="0"/>
          </a:p>
        </p:txBody>
      </p:sp>
      <p:sp>
        <p:nvSpPr>
          <p:cNvPr id="17" name="Text 15"/>
          <p:cNvSpPr/>
          <p:nvPr/>
        </p:nvSpPr>
        <p:spPr>
          <a:xfrm>
            <a:off x="9572625" y="4523184"/>
            <a:ext cx="808863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100K–1M+ tokens</a:t>
            </a:r>
            <a:endParaRPr lang="en-US" sz="2400" dirty="0"/>
          </a:p>
        </p:txBody>
      </p:sp>
      <p:sp>
        <p:nvSpPr>
          <p:cNvPr id="18" name="Text 16"/>
          <p:cNvSpPr/>
          <p:nvPr/>
        </p:nvSpPr>
        <p:spPr>
          <a:xfrm>
            <a:off x="9572625" y="4951809"/>
            <a:ext cx="8088630"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Whole documents or codebases in a single call.</a:t>
            </a:r>
            <a:endParaRPr lang="en-US" sz="2025" dirty="0"/>
          </a:p>
        </p:txBody>
      </p:sp>
      <p:sp>
        <p:nvSpPr>
          <p:cNvPr id="19" name="Shape 17"/>
          <p:cNvSpPr/>
          <p:nvPr/>
        </p:nvSpPr>
        <p:spPr>
          <a:xfrm>
            <a:off x="1047750" y="7588300"/>
            <a:ext cx="7981950" cy="9525"/>
          </a:xfrm>
          <a:prstGeom prst="rect">
            <a:avLst/>
          </a:prstGeom>
          <a:solidFill>
            <a:srgbClr val="E3E1DA"/>
          </a:solidFill>
          <a:ln/>
        </p:spPr>
        <p:txBody>
          <a:bodyPr/>
          <a:lstStyle/>
          <a:p>
            <a:endParaRPr lang="en-US"/>
          </a:p>
        </p:txBody>
      </p:sp>
      <p:sp>
        <p:nvSpPr>
          <p:cNvPr id="20" name="Shape 18"/>
          <p:cNvSpPr/>
          <p:nvPr/>
        </p:nvSpPr>
        <p:spPr>
          <a:xfrm>
            <a:off x="1047750" y="5829523"/>
            <a:ext cx="7981950" cy="47625"/>
          </a:xfrm>
          <a:prstGeom prst="rect">
            <a:avLst/>
          </a:prstGeom>
          <a:solidFill>
            <a:srgbClr val="1F6FEB"/>
          </a:solidFill>
          <a:ln/>
        </p:spPr>
        <p:txBody>
          <a:bodyPr/>
          <a:lstStyle/>
          <a:p>
            <a:endParaRPr lang="en-US"/>
          </a:p>
        </p:txBody>
      </p:sp>
      <p:sp>
        <p:nvSpPr>
          <p:cNvPr id="21" name="Shape 19"/>
          <p:cNvSpPr/>
          <p:nvPr/>
        </p:nvSpPr>
        <p:spPr>
          <a:xfrm>
            <a:off x="1047750" y="5829523"/>
            <a:ext cx="9525" cy="1768301"/>
          </a:xfrm>
          <a:prstGeom prst="rect">
            <a:avLst/>
          </a:prstGeom>
          <a:solidFill>
            <a:srgbClr val="E3E1DA"/>
          </a:solidFill>
          <a:ln/>
        </p:spPr>
        <p:txBody>
          <a:bodyPr/>
          <a:lstStyle/>
          <a:p>
            <a:endParaRPr lang="en-US"/>
          </a:p>
        </p:txBody>
      </p:sp>
      <p:sp>
        <p:nvSpPr>
          <p:cNvPr id="22" name="Shape 20"/>
          <p:cNvSpPr/>
          <p:nvPr/>
        </p:nvSpPr>
        <p:spPr>
          <a:xfrm>
            <a:off x="9020175" y="5829523"/>
            <a:ext cx="9525" cy="1768301"/>
          </a:xfrm>
          <a:prstGeom prst="rect">
            <a:avLst/>
          </a:prstGeom>
          <a:solidFill>
            <a:srgbClr val="E3E1DA"/>
          </a:solidFill>
          <a:ln/>
        </p:spPr>
        <p:txBody>
          <a:bodyPr/>
          <a:lstStyle/>
          <a:p>
            <a:endParaRPr lang="en-US"/>
          </a:p>
        </p:txBody>
      </p:sp>
      <p:sp>
        <p:nvSpPr>
          <p:cNvPr id="23" name="Text 21"/>
          <p:cNvSpPr/>
          <p:nvPr/>
        </p:nvSpPr>
        <p:spPr>
          <a:xfrm>
            <a:off x="1362075" y="6143848"/>
            <a:ext cx="8088630"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F6FEB"/>
                </a:solidFill>
                <a:latin typeface="Arial" pitchFamily="34" charset="0"/>
                <a:ea typeface="Arial" pitchFamily="34" charset="-122"/>
                <a:cs typeface="Arial" pitchFamily="34" charset="-120"/>
              </a:rPr>
              <a:t>MULTIMODAL</a:t>
            </a:r>
            <a:endParaRPr lang="en-US" sz="1800" dirty="0"/>
          </a:p>
        </p:txBody>
      </p:sp>
      <p:sp>
        <p:nvSpPr>
          <p:cNvPr id="24" name="Text 22"/>
          <p:cNvSpPr/>
          <p:nvPr/>
        </p:nvSpPr>
        <p:spPr>
          <a:xfrm>
            <a:off x="1362075" y="6520086"/>
            <a:ext cx="808863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Text, images &amp; audio</a:t>
            </a:r>
            <a:endParaRPr lang="en-US" sz="2400" dirty="0"/>
          </a:p>
        </p:txBody>
      </p:sp>
      <p:sp>
        <p:nvSpPr>
          <p:cNvPr id="25" name="Text 23"/>
          <p:cNvSpPr/>
          <p:nvPr/>
        </p:nvSpPr>
        <p:spPr>
          <a:xfrm>
            <a:off x="1362075" y="6948711"/>
            <a:ext cx="8088630"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One model across formats — not just language now.</a:t>
            </a:r>
            <a:endParaRPr lang="en-US" sz="2025" dirty="0"/>
          </a:p>
        </p:txBody>
      </p:sp>
      <p:sp>
        <p:nvSpPr>
          <p:cNvPr id="26" name="Shape 24"/>
          <p:cNvSpPr/>
          <p:nvPr/>
        </p:nvSpPr>
        <p:spPr>
          <a:xfrm>
            <a:off x="9258300" y="7588300"/>
            <a:ext cx="7981950" cy="9525"/>
          </a:xfrm>
          <a:prstGeom prst="rect">
            <a:avLst/>
          </a:prstGeom>
          <a:solidFill>
            <a:srgbClr val="E3E1DA"/>
          </a:solidFill>
          <a:ln/>
        </p:spPr>
        <p:txBody>
          <a:bodyPr/>
          <a:lstStyle/>
          <a:p>
            <a:endParaRPr lang="en-US"/>
          </a:p>
        </p:txBody>
      </p:sp>
      <p:sp>
        <p:nvSpPr>
          <p:cNvPr id="27" name="Shape 25"/>
          <p:cNvSpPr/>
          <p:nvPr/>
        </p:nvSpPr>
        <p:spPr>
          <a:xfrm>
            <a:off x="9258300" y="5829523"/>
            <a:ext cx="7981950" cy="47625"/>
          </a:xfrm>
          <a:prstGeom prst="rect">
            <a:avLst/>
          </a:prstGeom>
          <a:solidFill>
            <a:srgbClr val="D64545"/>
          </a:solidFill>
          <a:ln/>
        </p:spPr>
        <p:txBody>
          <a:bodyPr/>
          <a:lstStyle/>
          <a:p>
            <a:endParaRPr lang="en-US"/>
          </a:p>
        </p:txBody>
      </p:sp>
      <p:sp>
        <p:nvSpPr>
          <p:cNvPr id="28" name="Shape 26"/>
          <p:cNvSpPr/>
          <p:nvPr/>
        </p:nvSpPr>
        <p:spPr>
          <a:xfrm>
            <a:off x="9258300" y="5829523"/>
            <a:ext cx="9525" cy="1768301"/>
          </a:xfrm>
          <a:prstGeom prst="rect">
            <a:avLst/>
          </a:prstGeom>
          <a:solidFill>
            <a:srgbClr val="E3E1DA"/>
          </a:solidFill>
          <a:ln/>
        </p:spPr>
        <p:txBody>
          <a:bodyPr/>
          <a:lstStyle/>
          <a:p>
            <a:endParaRPr lang="en-US"/>
          </a:p>
        </p:txBody>
      </p:sp>
      <p:sp>
        <p:nvSpPr>
          <p:cNvPr id="29" name="Shape 27"/>
          <p:cNvSpPr/>
          <p:nvPr/>
        </p:nvSpPr>
        <p:spPr>
          <a:xfrm>
            <a:off x="17230725" y="5829523"/>
            <a:ext cx="9525" cy="1768301"/>
          </a:xfrm>
          <a:prstGeom prst="rect">
            <a:avLst/>
          </a:prstGeom>
          <a:solidFill>
            <a:srgbClr val="E3E1DA"/>
          </a:solidFill>
          <a:ln/>
        </p:spPr>
        <p:txBody>
          <a:bodyPr/>
          <a:lstStyle/>
          <a:p>
            <a:endParaRPr lang="en-US"/>
          </a:p>
        </p:txBody>
      </p:sp>
      <p:sp>
        <p:nvSpPr>
          <p:cNvPr id="30" name="Text 28"/>
          <p:cNvSpPr/>
          <p:nvPr/>
        </p:nvSpPr>
        <p:spPr>
          <a:xfrm>
            <a:off x="9572625" y="6143848"/>
            <a:ext cx="8088630" cy="30003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64545"/>
                </a:solidFill>
                <a:latin typeface="Arial" pitchFamily="34" charset="0"/>
                <a:ea typeface="Arial" pitchFamily="34" charset="-122"/>
                <a:cs typeface="Arial" pitchFamily="34" charset="-120"/>
              </a:rPr>
              <a:t>TOOL USE</a:t>
            </a:r>
            <a:endParaRPr lang="en-US" sz="1800" dirty="0"/>
          </a:p>
        </p:txBody>
      </p:sp>
      <p:sp>
        <p:nvSpPr>
          <p:cNvPr id="31" name="Text 29"/>
          <p:cNvSpPr/>
          <p:nvPr/>
        </p:nvSpPr>
        <p:spPr>
          <a:xfrm>
            <a:off x="9572625" y="6520086"/>
            <a:ext cx="808863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Models call your code</a:t>
            </a:r>
            <a:endParaRPr lang="en-US" sz="2400" dirty="0"/>
          </a:p>
        </p:txBody>
      </p:sp>
      <p:sp>
        <p:nvSpPr>
          <p:cNvPr id="32" name="Text 30"/>
          <p:cNvSpPr/>
          <p:nvPr/>
        </p:nvSpPr>
        <p:spPr>
          <a:xfrm>
            <a:off x="9572625" y="6948711"/>
            <a:ext cx="8088630" cy="410989"/>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The doorway to agents — next in this program.</a:t>
            </a:r>
            <a:endParaRPr lang="en-US" sz="2025" dirty="0"/>
          </a:p>
        </p:txBody>
      </p:sp>
      <p:sp>
        <p:nvSpPr>
          <p:cNvPr id="33" name="Shape 31"/>
          <p:cNvSpPr/>
          <p:nvPr/>
        </p:nvSpPr>
        <p:spPr>
          <a:xfrm>
            <a:off x="1047750" y="9520238"/>
            <a:ext cx="16192500" cy="9525"/>
          </a:xfrm>
          <a:prstGeom prst="rect">
            <a:avLst/>
          </a:prstGeom>
          <a:solidFill>
            <a:srgbClr val="E3E1DA"/>
          </a:solidFill>
          <a:ln/>
        </p:spPr>
        <p:txBody>
          <a:bodyPr/>
          <a:lstStyle/>
          <a:p>
            <a:endParaRPr lang="en-US"/>
          </a:p>
        </p:txBody>
      </p:sp>
      <p:sp>
        <p:nvSpPr>
          <p:cNvPr id="34" name="Text 3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5" name="Text 33"/>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372188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WHERE THIS IS HEADED</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The Life of a Prompt</a:t>
            </a:r>
            <a:endParaRPr lang="en-US" sz="4800" dirty="0"/>
          </a:p>
        </p:txBody>
      </p:sp>
      <p:sp>
        <p:nvSpPr>
          <p:cNvPr id="5" name="Shape 3"/>
          <p:cNvSpPr/>
          <p:nvPr/>
        </p:nvSpPr>
        <p:spPr>
          <a:xfrm>
            <a:off x="1047750" y="4686523"/>
            <a:ext cx="2406402" cy="1362075"/>
          </a:xfrm>
          <a:prstGeom prst="roundRect">
            <a:avLst>
              <a:gd name="adj" fmla="val 8392"/>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247775" y="5077048"/>
            <a:ext cx="2082552" cy="328613"/>
          </a:xfrm>
          <a:prstGeom prst="rect">
            <a:avLst/>
          </a:prstGeom>
          <a:noFill/>
          <a:ln/>
        </p:spPr>
        <p:txBody>
          <a:bodyPr wrap="square" lIns="0" tIns="0" rIns="0" bIns="0" rtlCol="0" anchor="t">
            <a:normAutofit/>
          </a:bodyPr>
          <a:lstStyle/>
          <a:p>
            <a:pPr marL="0" indent="0" algn="ctr">
              <a:buNone/>
            </a:pPr>
            <a:r>
              <a:rPr lang="en-US" sz="2025" dirty="0">
                <a:solidFill>
                  <a:srgbClr val="1A1A1A"/>
                </a:solidFill>
                <a:latin typeface="Courier New" pitchFamily="34" charset="0"/>
                <a:ea typeface="Courier New" pitchFamily="34" charset="-122"/>
                <a:cs typeface="Courier New" pitchFamily="34" charset="-120"/>
              </a:rPr>
              <a:t>“After Monday</a:t>
            </a:r>
            <a:endParaRPr lang="en-US" sz="2025" dirty="0"/>
          </a:p>
        </p:txBody>
      </p:sp>
      <p:sp>
        <p:nvSpPr>
          <p:cNvPr id="7" name="Text 5"/>
          <p:cNvSpPr/>
          <p:nvPr/>
        </p:nvSpPr>
        <p:spPr>
          <a:xfrm>
            <a:off x="1787947" y="5367561"/>
            <a:ext cx="1002209" cy="328613"/>
          </a:xfrm>
          <a:prstGeom prst="rect">
            <a:avLst/>
          </a:prstGeom>
          <a:noFill/>
          <a:ln/>
        </p:spPr>
        <p:txBody>
          <a:bodyPr wrap="square" lIns="0" tIns="0" rIns="0" bIns="0" rtlCol="0" anchor="t">
            <a:normAutofit/>
          </a:bodyPr>
          <a:lstStyle/>
          <a:p>
            <a:pPr marL="0" indent="0" algn="ctr">
              <a:buNone/>
            </a:pPr>
            <a:r>
              <a:rPr lang="en-US" sz="2025" dirty="0">
                <a:solidFill>
                  <a:srgbClr val="1A1A1A"/>
                </a:solidFill>
                <a:latin typeface="Courier New" pitchFamily="34" charset="0"/>
                <a:ea typeface="Courier New" pitchFamily="34" charset="-122"/>
                <a:cs typeface="Courier New" pitchFamily="34" charset="-120"/>
              </a:rPr>
              <a:t>comes”</a:t>
            </a:r>
            <a:endParaRPr lang="en-US" sz="2025" dirty="0"/>
          </a:p>
        </p:txBody>
      </p:sp>
      <p:sp>
        <p:nvSpPr>
          <p:cNvPr id="8" name="Text 6"/>
          <p:cNvSpPr/>
          <p:nvPr/>
        </p:nvSpPr>
        <p:spPr>
          <a:xfrm>
            <a:off x="3568452"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9" name="Shape 7"/>
          <p:cNvSpPr/>
          <p:nvPr/>
        </p:nvSpPr>
        <p:spPr>
          <a:xfrm>
            <a:off x="4082802" y="4686523"/>
            <a:ext cx="1564184" cy="1362075"/>
          </a:xfrm>
          <a:prstGeom prst="roundRect">
            <a:avLst>
              <a:gd name="adj" fmla="val 8392"/>
            </a:avLst>
          </a:prstGeom>
          <a:ln w="9525">
            <a:solidFill>
              <a:srgbClr val="E3E1DA"/>
            </a:solidFill>
            <a:prstDash val="solid"/>
          </a:ln>
        </p:spPr>
        <p:txBody>
          <a:bodyPr/>
          <a:lstStyle/>
          <a:p>
            <a:endParaRPr lang="en-US"/>
          </a:p>
        </p:txBody>
      </p:sp>
      <p:sp>
        <p:nvSpPr>
          <p:cNvPr id="10" name="Shape 8"/>
          <p:cNvSpPr/>
          <p:nvPr/>
        </p:nvSpPr>
        <p:spPr>
          <a:xfrm>
            <a:off x="4683919" y="4867498"/>
            <a:ext cx="361950" cy="361950"/>
          </a:xfrm>
          <a:prstGeom prst="ellipse">
            <a:avLst/>
          </a:prstGeom>
          <a:solidFill>
            <a:srgbClr val="1F6FEB"/>
          </a:solidFill>
          <a:ln/>
        </p:spPr>
        <p:txBody>
          <a:bodyPr/>
          <a:lstStyle/>
          <a:p>
            <a:endParaRPr lang="en-US"/>
          </a:p>
        </p:txBody>
      </p:sp>
      <p:sp>
        <p:nvSpPr>
          <p:cNvPr id="11" name="Text 9"/>
          <p:cNvSpPr/>
          <p:nvPr/>
        </p:nvSpPr>
        <p:spPr>
          <a:xfrm>
            <a:off x="4645819" y="4867498"/>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2" name="Text 10"/>
          <p:cNvSpPr/>
          <p:nvPr/>
        </p:nvSpPr>
        <p:spPr>
          <a:xfrm>
            <a:off x="4119845" y="5324698"/>
            <a:ext cx="1490097"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Arial" pitchFamily="34" charset="0"/>
                <a:ea typeface="Arial" pitchFamily="34" charset="-122"/>
                <a:cs typeface="Arial" pitchFamily="34" charset="-120"/>
              </a:rPr>
              <a:t>Tokenize</a:t>
            </a:r>
            <a:endParaRPr lang="en-US" sz="1800" dirty="0"/>
          </a:p>
        </p:txBody>
      </p:sp>
      <p:sp>
        <p:nvSpPr>
          <p:cNvPr id="13" name="Text 11"/>
          <p:cNvSpPr/>
          <p:nvPr/>
        </p:nvSpPr>
        <p:spPr>
          <a:xfrm>
            <a:off x="5761286"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4" name="Shape 12"/>
          <p:cNvSpPr/>
          <p:nvPr/>
        </p:nvSpPr>
        <p:spPr>
          <a:xfrm>
            <a:off x="6275636" y="4686523"/>
            <a:ext cx="1564258" cy="1362075"/>
          </a:xfrm>
          <a:prstGeom prst="roundRect">
            <a:avLst>
              <a:gd name="adj" fmla="val 8392"/>
            </a:avLst>
          </a:prstGeom>
          <a:ln w="9525">
            <a:solidFill>
              <a:srgbClr val="E3E1DA"/>
            </a:solidFill>
            <a:prstDash val="solid"/>
          </a:ln>
        </p:spPr>
        <p:txBody>
          <a:bodyPr/>
          <a:lstStyle/>
          <a:p>
            <a:endParaRPr lang="en-US"/>
          </a:p>
        </p:txBody>
      </p:sp>
      <p:sp>
        <p:nvSpPr>
          <p:cNvPr id="15" name="Shape 13"/>
          <p:cNvSpPr/>
          <p:nvPr/>
        </p:nvSpPr>
        <p:spPr>
          <a:xfrm>
            <a:off x="6876752" y="4867498"/>
            <a:ext cx="361950" cy="361950"/>
          </a:xfrm>
          <a:prstGeom prst="ellipse">
            <a:avLst/>
          </a:prstGeom>
          <a:solidFill>
            <a:srgbClr val="178A4C"/>
          </a:solidFill>
          <a:ln/>
        </p:spPr>
        <p:txBody>
          <a:bodyPr/>
          <a:lstStyle/>
          <a:p>
            <a:endParaRPr lang="en-US"/>
          </a:p>
        </p:txBody>
      </p:sp>
      <p:sp>
        <p:nvSpPr>
          <p:cNvPr id="16" name="Text 14"/>
          <p:cNvSpPr/>
          <p:nvPr/>
        </p:nvSpPr>
        <p:spPr>
          <a:xfrm>
            <a:off x="6838652" y="4867498"/>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7" name="Text 15"/>
          <p:cNvSpPr/>
          <p:nvPr/>
        </p:nvSpPr>
        <p:spPr>
          <a:xfrm>
            <a:off x="6342311" y="5324698"/>
            <a:ext cx="1430908" cy="5619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Arial" pitchFamily="34" charset="0"/>
                <a:ea typeface="Arial" pitchFamily="34" charset="-122"/>
                <a:cs typeface="Arial" pitchFamily="34" charset="-120"/>
              </a:rPr>
              <a:t>Embed + position</a:t>
            </a:r>
            <a:endParaRPr lang="en-US" sz="1800" dirty="0"/>
          </a:p>
        </p:txBody>
      </p:sp>
      <p:sp>
        <p:nvSpPr>
          <p:cNvPr id="18" name="Text 16"/>
          <p:cNvSpPr/>
          <p:nvPr/>
        </p:nvSpPr>
        <p:spPr>
          <a:xfrm>
            <a:off x="7954194"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9" name="Shape 17"/>
          <p:cNvSpPr/>
          <p:nvPr/>
        </p:nvSpPr>
        <p:spPr>
          <a:xfrm>
            <a:off x="8468544" y="4686523"/>
            <a:ext cx="1989683" cy="1362075"/>
          </a:xfrm>
          <a:prstGeom prst="roundRect">
            <a:avLst>
              <a:gd name="adj" fmla="val 8392"/>
            </a:avLst>
          </a:prstGeom>
          <a:solidFill>
            <a:srgbClr val="EFE9FB"/>
          </a:solidFill>
          <a:ln w="19050">
            <a:solidFill>
              <a:srgbClr val="7A4FD0"/>
            </a:solidFill>
            <a:prstDash val="solid"/>
          </a:ln>
        </p:spPr>
        <p:txBody>
          <a:bodyPr/>
          <a:lstStyle/>
          <a:p>
            <a:endParaRPr lang="en-US"/>
          </a:p>
        </p:txBody>
      </p:sp>
      <p:sp>
        <p:nvSpPr>
          <p:cNvPr id="20" name="Shape 18"/>
          <p:cNvSpPr/>
          <p:nvPr/>
        </p:nvSpPr>
        <p:spPr>
          <a:xfrm>
            <a:off x="9282410" y="4877023"/>
            <a:ext cx="361950" cy="361950"/>
          </a:xfrm>
          <a:prstGeom prst="ellipse">
            <a:avLst/>
          </a:prstGeom>
          <a:solidFill>
            <a:srgbClr val="7A4FD0"/>
          </a:solidFill>
          <a:ln/>
        </p:spPr>
        <p:txBody>
          <a:bodyPr/>
          <a:lstStyle/>
          <a:p>
            <a:endParaRPr lang="en-US"/>
          </a:p>
        </p:txBody>
      </p:sp>
      <p:sp>
        <p:nvSpPr>
          <p:cNvPr id="21" name="Text 19"/>
          <p:cNvSpPr/>
          <p:nvPr/>
        </p:nvSpPr>
        <p:spPr>
          <a:xfrm>
            <a:off x="9244310" y="4877023"/>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20"/>
          <p:cNvSpPr/>
          <p:nvPr/>
        </p:nvSpPr>
        <p:spPr>
          <a:xfrm>
            <a:off x="8544744" y="5334223"/>
            <a:ext cx="1837283" cy="5619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Arial" pitchFamily="34" charset="0"/>
                <a:ea typeface="Arial" pitchFamily="34" charset="-122"/>
                <a:cs typeface="Arial" pitchFamily="34" charset="-120"/>
              </a:rPr>
              <a:t>N× blocks attn + FFN</a:t>
            </a:r>
            <a:endParaRPr lang="en-US" sz="1800" dirty="0"/>
          </a:p>
        </p:txBody>
      </p:sp>
      <p:sp>
        <p:nvSpPr>
          <p:cNvPr id="23" name="Text 21"/>
          <p:cNvSpPr/>
          <p:nvPr/>
        </p:nvSpPr>
        <p:spPr>
          <a:xfrm>
            <a:off x="10572527"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4" name="Shape 22"/>
          <p:cNvSpPr/>
          <p:nvPr/>
        </p:nvSpPr>
        <p:spPr>
          <a:xfrm>
            <a:off x="11086877" y="4686523"/>
            <a:ext cx="1564184" cy="1362075"/>
          </a:xfrm>
          <a:prstGeom prst="roundRect">
            <a:avLst>
              <a:gd name="adj" fmla="val 8392"/>
            </a:avLst>
          </a:prstGeom>
          <a:ln w="9525">
            <a:solidFill>
              <a:srgbClr val="E3E1DA"/>
            </a:solidFill>
            <a:prstDash val="solid"/>
          </a:ln>
        </p:spPr>
        <p:txBody>
          <a:bodyPr/>
          <a:lstStyle/>
          <a:p>
            <a:endParaRPr lang="en-US"/>
          </a:p>
        </p:txBody>
      </p:sp>
      <p:sp>
        <p:nvSpPr>
          <p:cNvPr id="25" name="Shape 23"/>
          <p:cNvSpPr/>
          <p:nvPr/>
        </p:nvSpPr>
        <p:spPr>
          <a:xfrm>
            <a:off x="11687994" y="4867498"/>
            <a:ext cx="361950" cy="361950"/>
          </a:xfrm>
          <a:prstGeom prst="ellipse">
            <a:avLst/>
          </a:prstGeom>
          <a:solidFill>
            <a:srgbClr val="C77D0A"/>
          </a:solidFill>
          <a:ln/>
        </p:spPr>
        <p:txBody>
          <a:bodyPr/>
          <a:lstStyle/>
          <a:p>
            <a:endParaRPr lang="en-US"/>
          </a:p>
        </p:txBody>
      </p:sp>
      <p:sp>
        <p:nvSpPr>
          <p:cNvPr id="26" name="Text 24"/>
          <p:cNvSpPr/>
          <p:nvPr/>
        </p:nvSpPr>
        <p:spPr>
          <a:xfrm>
            <a:off x="11649894" y="4867498"/>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7" name="Text 25"/>
          <p:cNvSpPr/>
          <p:nvPr/>
        </p:nvSpPr>
        <p:spPr>
          <a:xfrm>
            <a:off x="11123920" y="5324698"/>
            <a:ext cx="1490097"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Arial" pitchFamily="34" charset="0"/>
                <a:ea typeface="Arial" pitchFamily="34" charset="-122"/>
                <a:cs typeface="Arial" pitchFamily="34" charset="-120"/>
              </a:rPr>
              <a:t>Probabilities</a:t>
            </a:r>
            <a:endParaRPr lang="en-US" sz="1800" dirty="0"/>
          </a:p>
        </p:txBody>
      </p:sp>
      <p:sp>
        <p:nvSpPr>
          <p:cNvPr id="28" name="Text 26"/>
          <p:cNvSpPr/>
          <p:nvPr/>
        </p:nvSpPr>
        <p:spPr>
          <a:xfrm>
            <a:off x="12765360"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9" name="Shape 27"/>
          <p:cNvSpPr/>
          <p:nvPr/>
        </p:nvSpPr>
        <p:spPr>
          <a:xfrm>
            <a:off x="13279710" y="4686523"/>
            <a:ext cx="1594321" cy="1362075"/>
          </a:xfrm>
          <a:prstGeom prst="roundRect">
            <a:avLst>
              <a:gd name="adj" fmla="val 8392"/>
            </a:avLst>
          </a:prstGeom>
          <a:ln w="9525">
            <a:solidFill>
              <a:srgbClr val="E3E1DA"/>
            </a:solidFill>
            <a:prstDash val="solid"/>
          </a:ln>
        </p:spPr>
        <p:txBody>
          <a:bodyPr/>
          <a:lstStyle/>
          <a:p>
            <a:endParaRPr lang="en-US"/>
          </a:p>
        </p:txBody>
      </p:sp>
      <p:sp>
        <p:nvSpPr>
          <p:cNvPr id="30" name="Shape 28"/>
          <p:cNvSpPr/>
          <p:nvPr/>
        </p:nvSpPr>
        <p:spPr>
          <a:xfrm>
            <a:off x="13895859" y="4867498"/>
            <a:ext cx="361950" cy="361950"/>
          </a:xfrm>
          <a:prstGeom prst="ellipse">
            <a:avLst/>
          </a:prstGeom>
          <a:solidFill>
            <a:srgbClr val="D64545"/>
          </a:solidFill>
          <a:ln/>
        </p:spPr>
        <p:txBody>
          <a:bodyPr/>
          <a:lstStyle/>
          <a:p>
            <a:endParaRPr lang="en-US"/>
          </a:p>
        </p:txBody>
      </p:sp>
      <p:sp>
        <p:nvSpPr>
          <p:cNvPr id="31" name="Text 29"/>
          <p:cNvSpPr/>
          <p:nvPr/>
        </p:nvSpPr>
        <p:spPr>
          <a:xfrm>
            <a:off x="13857759" y="4867498"/>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2" name="Text 30"/>
          <p:cNvSpPr/>
          <p:nvPr/>
        </p:nvSpPr>
        <p:spPr>
          <a:xfrm>
            <a:off x="13346385" y="5324698"/>
            <a:ext cx="1460971" cy="561975"/>
          </a:xfrm>
          <a:prstGeom prst="rect">
            <a:avLst/>
          </a:prstGeom>
          <a:noFill/>
          <a:ln/>
        </p:spPr>
        <p:txBody>
          <a:bodyPr wrap="square" lIns="25400" tIns="25400" rIns="25400" bIns="25400" rtlCol="0" anchor="t">
            <a:normAutofit/>
          </a:bodyPr>
          <a:lstStyle/>
          <a:p>
            <a:pPr marL="0" indent="0" algn="ctr">
              <a:buNone/>
            </a:pPr>
            <a:r>
              <a:rPr lang="en-US" sz="1800" dirty="0">
                <a:solidFill>
                  <a:srgbClr val="1A1A1A"/>
                </a:solidFill>
                <a:latin typeface="Arial" pitchFamily="34" charset="0"/>
                <a:ea typeface="Arial" pitchFamily="34" charset="-122"/>
                <a:cs typeface="Arial" pitchFamily="34" charset="-120"/>
              </a:rPr>
              <a:t>Pick (temperature)</a:t>
            </a:r>
            <a:endParaRPr lang="en-US" sz="1800" dirty="0"/>
          </a:p>
        </p:txBody>
      </p:sp>
      <p:sp>
        <p:nvSpPr>
          <p:cNvPr id="33" name="Text 31"/>
          <p:cNvSpPr/>
          <p:nvPr/>
        </p:nvSpPr>
        <p:spPr>
          <a:xfrm>
            <a:off x="14988332" y="513657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34" name="Shape 32"/>
          <p:cNvSpPr/>
          <p:nvPr/>
        </p:nvSpPr>
        <p:spPr>
          <a:xfrm>
            <a:off x="15502682" y="4686523"/>
            <a:ext cx="1737568" cy="1362075"/>
          </a:xfrm>
          <a:prstGeom prst="roundRect">
            <a:avLst>
              <a:gd name="adj" fmla="val 8392"/>
            </a:avLst>
          </a:prstGeom>
          <a:solidFill>
            <a:srgbClr val="1F6FEB"/>
          </a:solidFill>
          <a:ln/>
        </p:spPr>
        <p:txBody>
          <a:bodyPr/>
          <a:lstStyle/>
          <a:p>
            <a:endParaRPr lang="en-US"/>
          </a:p>
        </p:txBody>
      </p:sp>
      <p:sp>
        <p:nvSpPr>
          <p:cNvPr id="35" name="Text 33"/>
          <p:cNvSpPr/>
          <p:nvPr/>
        </p:nvSpPr>
        <p:spPr>
          <a:xfrm>
            <a:off x="15731282" y="4686523"/>
            <a:ext cx="1356568" cy="1400175"/>
          </a:xfrm>
          <a:prstGeom prst="rect">
            <a:avLst/>
          </a:prstGeom>
          <a:noFill/>
          <a:ln/>
        </p:spPr>
        <p:txBody>
          <a:bodyPr wrap="square" lIns="25400" tIns="25400" rIns="25400" bIns="25400" rtlCol="0" anchor="ctr">
            <a:normAutofit/>
          </a:bodyPr>
          <a:lstStyle/>
          <a:p>
            <a:pPr marL="0" indent="0" algn="l">
              <a:buNone/>
            </a:pPr>
            <a:r>
              <a:rPr lang="en-US" sz="2400" b="1" dirty="0">
                <a:solidFill>
                  <a:srgbClr val="FFFFFF"/>
                </a:solidFill>
                <a:latin typeface="Courier New" pitchFamily="34" charset="0"/>
                <a:ea typeface="Courier New" pitchFamily="34" charset="-122"/>
                <a:cs typeface="Courier New" pitchFamily="34" charset="-120"/>
              </a:rPr>
              <a:t>Tuesday</a:t>
            </a:r>
            <a:endParaRPr lang="en-US" sz="2400" dirty="0"/>
          </a:p>
        </p:txBody>
      </p:sp>
      <p:sp>
        <p:nvSpPr>
          <p:cNvPr id="36" name="Text 34"/>
          <p:cNvSpPr/>
          <p:nvPr/>
        </p:nvSpPr>
        <p:spPr>
          <a:xfrm>
            <a:off x="238125" y="6372448"/>
            <a:ext cx="17811750" cy="428625"/>
          </a:xfrm>
          <a:prstGeom prst="rect">
            <a:avLst/>
          </a:prstGeom>
          <a:noFill/>
          <a:ln/>
        </p:spPr>
        <p:txBody>
          <a:bodyPr wrap="square" lIns="25400" tIns="25400" rIns="25400" bIns="25400" rtlCol="0" anchor="t">
            <a:normAutofit/>
          </a:bodyPr>
          <a:lstStyle/>
          <a:p>
            <a:pPr marL="0" indent="0" algn="ctr">
              <a:buNone/>
            </a:pPr>
            <a:r>
              <a:rPr lang="en-US" sz="2700" dirty="0">
                <a:solidFill>
                  <a:srgbClr val="1A1A1A"/>
                </a:solidFill>
                <a:latin typeface="Georgia" pitchFamily="34" charset="0"/>
                <a:ea typeface="Georgia" pitchFamily="34" charset="-122"/>
                <a:cs typeface="Georgia" pitchFamily="34" charset="-120"/>
              </a:rPr>
              <a:t>That is a large language model — </a:t>
            </a:r>
            <a:r>
              <a:rPr lang="en-US" sz="2700" dirty="0">
                <a:solidFill>
                  <a:srgbClr val="1A1A1A"/>
                </a:solidFill>
                <a:highlight>
                  <a:srgbClr val="FFF1A8"/>
                </a:highlight>
                <a:latin typeface="Georgia" pitchFamily="34" charset="0"/>
                <a:ea typeface="Georgia" pitchFamily="34" charset="-122"/>
                <a:cs typeface="Georgia" pitchFamily="34" charset="-120"/>
              </a:rPr>
              <a:t>end to end</a:t>
            </a:r>
            <a:r>
              <a:rPr lang="en-US" sz="2700" dirty="0">
                <a:solidFill>
                  <a:srgbClr val="1A1A1A"/>
                </a:solidFill>
                <a:latin typeface="Georgia" pitchFamily="34" charset="0"/>
                <a:ea typeface="Georgia" pitchFamily="34" charset="-122"/>
                <a:cs typeface="Georgia" pitchFamily="34" charset="-120"/>
              </a:rPr>
              <a:t>. Every reply is this loop, once per token.</a:t>
            </a:r>
            <a:endParaRPr lang="en-US" sz="2700" dirty="0"/>
          </a:p>
        </p:txBody>
      </p:sp>
      <p:sp>
        <p:nvSpPr>
          <p:cNvPr id="37" name="Shape 35"/>
          <p:cNvSpPr/>
          <p:nvPr/>
        </p:nvSpPr>
        <p:spPr>
          <a:xfrm>
            <a:off x="1047750" y="9520238"/>
            <a:ext cx="16192500" cy="9525"/>
          </a:xfrm>
          <a:prstGeom prst="rect">
            <a:avLst/>
          </a:prstGeom>
          <a:solidFill>
            <a:srgbClr val="E3E1DA"/>
          </a:solidFill>
          <a:ln/>
        </p:spPr>
        <p:txBody>
          <a:bodyPr/>
          <a:lstStyle/>
          <a:p>
            <a:endParaRPr lang="en-US"/>
          </a:p>
        </p:txBody>
      </p:sp>
      <p:sp>
        <p:nvSpPr>
          <p:cNvPr id="38" name="Text 36"/>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9" name="Text 37"/>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372188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WHERE THIS IS HEADED</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What This Means When You Build</a:t>
            </a:r>
            <a:endParaRPr lang="en-US" sz="4800" dirty="0"/>
          </a:p>
        </p:txBody>
      </p:sp>
      <p:sp>
        <p:nvSpPr>
          <p:cNvPr id="5" name="Shape 3"/>
          <p:cNvSpPr/>
          <p:nvPr/>
        </p:nvSpPr>
        <p:spPr>
          <a:xfrm>
            <a:off x="1047750" y="4436492"/>
            <a:ext cx="15240000" cy="9525"/>
          </a:xfrm>
          <a:prstGeom prst="rect">
            <a:avLst/>
          </a:prstGeom>
          <a:solidFill>
            <a:srgbClr val="E3E1DA"/>
          </a:solidFill>
          <a:ln/>
        </p:spPr>
        <p:txBody>
          <a:bodyPr/>
          <a:lstStyle/>
          <a:p>
            <a:endParaRPr lang="en-US"/>
          </a:p>
        </p:txBody>
      </p:sp>
      <p:sp>
        <p:nvSpPr>
          <p:cNvPr id="6" name="Text 4"/>
          <p:cNvSpPr/>
          <p:nvPr/>
        </p:nvSpPr>
        <p:spPr>
          <a:xfrm>
            <a:off x="1047750" y="3812604"/>
            <a:ext cx="6096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1</a:t>
            </a:r>
            <a:endParaRPr lang="en-US" sz="3150" dirty="0"/>
          </a:p>
        </p:txBody>
      </p:sp>
      <p:sp>
        <p:nvSpPr>
          <p:cNvPr id="7" name="Text 5"/>
          <p:cNvSpPr/>
          <p:nvPr/>
        </p:nvSpPr>
        <p:spPr>
          <a:xfrm>
            <a:off x="1828800" y="3898329"/>
            <a:ext cx="948508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It </a:t>
            </a:r>
            <a:r>
              <a:rPr lang="en-US" sz="2400" b="1" dirty="0">
                <a:solidFill>
                  <a:srgbClr val="1A1A1A"/>
                </a:solidFill>
                <a:latin typeface="Arial" pitchFamily="34" charset="0"/>
                <a:ea typeface="Arial" pitchFamily="34" charset="-122"/>
                <a:cs typeface="Arial" pitchFamily="34" charset="-120"/>
              </a:rPr>
              <a:t>predicts</a:t>
            </a:r>
            <a:r>
              <a:rPr lang="en-US" sz="2400" dirty="0">
                <a:solidFill>
                  <a:srgbClr val="1A1A1A"/>
                </a:solidFill>
                <a:latin typeface="Arial" pitchFamily="34" charset="0"/>
                <a:ea typeface="Arial" pitchFamily="34" charset="-122"/>
                <a:cs typeface="Arial" pitchFamily="34" charset="-120"/>
              </a:rPr>
              <a:t>, it doesn’t know — verify facts, treat output as a draft</a:t>
            </a:r>
            <a:endParaRPr lang="en-US" sz="2400" dirty="0"/>
          </a:p>
        </p:txBody>
      </p:sp>
      <p:sp>
        <p:nvSpPr>
          <p:cNvPr id="8" name="Shape 6"/>
          <p:cNvSpPr/>
          <p:nvPr/>
        </p:nvSpPr>
        <p:spPr>
          <a:xfrm>
            <a:off x="1047750" y="5279454"/>
            <a:ext cx="15240000" cy="9525"/>
          </a:xfrm>
          <a:prstGeom prst="rect">
            <a:avLst/>
          </a:prstGeom>
          <a:solidFill>
            <a:srgbClr val="E3E1DA"/>
          </a:solidFill>
          <a:ln/>
        </p:spPr>
        <p:txBody>
          <a:bodyPr/>
          <a:lstStyle/>
          <a:p>
            <a:endParaRPr lang="en-US"/>
          </a:p>
        </p:txBody>
      </p:sp>
      <p:sp>
        <p:nvSpPr>
          <p:cNvPr id="9" name="Text 7"/>
          <p:cNvSpPr/>
          <p:nvPr/>
        </p:nvSpPr>
        <p:spPr>
          <a:xfrm>
            <a:off x="1047750" y="4655567"/>
            <a:ext cx="6096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78A4C"/>
                </a:solidFill>
                <a:latin typeface="Georgia" pitchFamily="34" charset="0"/>
                <a:ea typeface="Georgia" pitchFamily="34" charset="-122"/>
                <a:cs typeface="Georgia" pitchFamily="34" charset="-120"/>
              </a:rPr>
              <a:t>2</a:t>
            </a:r>
            <a:endParaRPr lang="en-US" sz="3150" dirty="0"/>
          </a:p>
        </p:txBody>
      </p:sp>
      <p:sp>
        <p:nvSpPr>
          <p:cNvPr id="10" name="Text 8"/>
          <p:cNvSpPr/>
          <p:nvPr/>
        </p:nvSpPr>
        <p:spPr>
          <a:xfrm>
            <a:off x="1828800" y="4741292"/>
            <a:ext cx="8191932"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Tokens </a:t>
            </a:r>
            <a:r>
              <a:rPr lang="en-US" sz="2400" dirty="0">
                <a:solidFill>
                  <a:srgbClr val="1A1A1A"/>
                </a:solidFill>
                <a:latin typeface="Arial" pitchFamily="34" charset="0"/>
                <a:ea typeface="Arial" pitchFamily="34" charset="-122"/>
                <a:cs typeface="Arial" pitchFamily="34" charset="-120"/>
              </a:rPr>
              <a:t>are cost and limits — measure them, trim them</a:t>
            </a:r>
            <a:endParaRPr lang="en-US" sz="2400" dirty="0"/>
          </a:p>
        </p:txBody>
      </p:sp>
      <p:sp>
        <p:nvSpPr>
          <p:cNvPr id="11" name="Shape 9"/>
          <p:cNvSpPr/>
          <p:nvPr/>
        </p:nvSpPr>
        <p:spPr>
          <a:xfrm>
            <a:off x="1047750" y="6122417"/>
            <a:ext cx="15240000" cy="9525"/>
          </a:xfrm>
          <a:prstGeom prst="rect">
            <a:avLst/>
          </a:prstGeom>
          <a:solidFill>
            <a:srgbClr val="E3E1DA"/>
          </a:solidFill>
          <a:ln/>
        </p:spPr>
        <p:txBody>
          <a:bodyPr/>
          <a:lstStyle/>
          <a:p>
            <a:endParaRPr lang="en-US"/>
          </a:p>
        </p:txBody>
      </p:sp>
      <p:sp>
        <p:nvSpPr>
          <p:cNvPr id="12" name="Text 10"/>
          <p:cNvSpPr/>
          <p:nvPr/>
        </p:nvSpPr>
        <p:spPr>
          <a:xfrm>
            <a:off x="1047750" y="5498529"/>
            <a:ext cx="6096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C77D0A"/>
                </a:solidFill>
                <a:latin typeface="Georgia" pitchFamily="34" charset="0"/>
                <a:ea typeface="Georgia" pitchFamily="34" charset="-122"/>
                <a:cs typeface="Georgia" pitchFamily="34" charset="-120"/>
              </a:rPr>
              <a:t>3</a:t>
            </a:r>
            <a:endParaRPr lang="en-US" sz="3150" dirty="0"/>
          </a:p>
        </p:txBody>
      </p:sp>
      <p:sp>
        <p:nvSpPr>
          <p:cNvPr id="13" name="Text 11"/>
          <p:cNvSpPr/>
          <p:nvPr/>
        </p:nvSpPr>
        <p:spPr>
          <a:xfrm>
            <a:off x="1828800" y="5584254"/>
            <a:ext cx="8998863"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a:t>
            </a:r>
            <a:r>
              <a:rPr lang="en-US" sz="2400" b="1" dirty="0">
                <a:solidFill>
                  <a:srgbClr val="1A1A1A"/>
                </a:solidFill>
                <a:latin typeface="Arial" pitchFamily="34" charset="0"/>
                <a:ea typeface="Arial" pitchFamily="34" charset="-122"/>
                <a:cs typeface="Arial" pitchFamily="34" charset="-120"/>
              </a:rPr>
              <a:t>context window </a:t>
            </a:r>
            <a:r>
              <a:rPr lang="en-US" sz="2400" dirty="0">
                <a:solidFill>
                  <a:srgbClr val="1A1A1A"/>
                </a:solidFill>
                <a:latin typeface="Arial" pitchFamily="34" charset="0"/>
                <a:ea typeface="Arial" pitchFamily="34" charset="-122"/>
                <a:cs typeface="Arial" pitchFamily="34" charset="-120"/>
              </a:rPr>
              <a:t>is the memory — put what matters in it</a:t>
            </a:r>
            <a:endParaRPr lang="en-US" sz="2400" dirty="0"/>
          </a:p>
        </p:txBody>
      </p:sp>
      <p:sp>
        <p:nvSpPr>
          <p:cNvPr id="14" name="Shape 12"/>
          <p:cNvSpPr/>
          <p:nvPr/>
        </p:nvSpPr>
        <p:spPr>
          <a:xfrm>
            <a:off x="1047750" y="6965379"/>
            <a:ext cx="15240000" cy="9525"/>
          </a:xfrm>
          <a:prstGeom prst="rect">
            <a:avLst/>
          </a:prstGeom>
          <a:solidFill>
            <a:srgbClr val="E3E1DA"/>
          </a:solidFill>
          <a:ln/>
        </p:spPr>
        <p:txBody>
          <a:bodyPr/>
          <a:lstStyle/>
          <a:p>
            <a:endParaRPr lang="en-US"/>
          </a:p>
        </p:txBody>
      </p:sp>
      <p:sp>
        <p:nvSpPr>
          <p:cNvPr id="15" name="Text 13"/>
          <p:cNvSpPr/>
          <p:nvPr/>
        </p:nvSpPr>
        <p:spPr>
          <a:xfrm>
            <a:off x="1047750" y="6341492"/>
            <a:ext cx="6096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7A4FD0"/>
                </a:solidFill>
                <a:latin typeface="Georgia" pitchFamily="34" charset="0"/>
                <a:ea typeface="Georgia" pitchFamily="34" charset="-122"/>
                <a:cs typeface="Georgia" pitchFamily="34" charset="-120"/>
              </a:rPr>
              <a:t>4</a:t>
            </a:r>
            <a:endParaRPr lang="en-US" sz="3150" dirty="0"/>
          </a:p>
        </p:txBody>
      </p:sp>
      <p:sp>
        <p:nvSpPr>
          <p:cNvPr id="16" name="Text 14"/>
          <p:cNvSpPr/>
          <p:nvPr/>
        </p:nvSpPr>
        <p:spPr>
          <a:xfrm>
            <a:off x="1828800" y="6427217"/>
            <a:ext cx="8956789"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Temperature </a:t>
            </a:r>
            <a:r>
              <a:rPr lang="en-US" sz="2400" dirty="0">
                <a:solidFill>
                  <a:srgbClr val="1A1A1A"/>
                </a:solidFill>
                <a:latin typeface="Arial" pitchFamily="34" charset="0"/>
                <a:ea typeface="Arial" pitchFamily="34" charset="-122"/>
                <a:cs typeface="Arial" pitchFamily="34" charset="-120"/>
              </a:rPr>
              <a:t>is your dial — low for reliable, high for creative</a:t>
            </a:r>
            <a:endParaRPr lang="en-US" sz="2400" dirty="0"/>
          </a:p>
        </p:txBody>
      </p:sp>
      <p:sp>
        <p:nvSpPr>
          <p:cNvPr id="17" name="Text 15"/>
          <p:cNvSpPr/>
          <p:nvPr/>
        </p:nvSpPr>
        <p:spPr>
          <a:xfrm>
            <a:off x="1047750" y="7184454"/>
            <a:ext cx="6096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D64545"/>
                </a:solidFill>
                <a:latin typeface="Georgia" pitchFamily="34" charset="0"/>
                <a:ea typeface="Georgia" pitchFamily="34" charset="-122"/>
                <a:cs typeface="Georgia" pitchFamily="34" charset="-120"/>
              </a:rPr>
              <a:t>5</a:t>
            </a:r>
            <a:endParaRPr lang="en-US" sz="3150" dirty="0"/>
          </a:p>
        </p:txBody>
      </p:sp>
      <p:sp>
        <p:nvSpPr>
          <p:cNvPr id="18" name="Text 16"/>
          <p:cNvSpPr/>
          <p:nvPr/>
        </p:nvSpPr>
        <p:spPr>
          <a:xfrm>
            <a:off x="1828800" y="7270179"/>
            <a:ext cx="8330595"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a:t>
            </a:r>
            <a:r>
              <a:rPr lang="en-US" sz="2400" b="1" dirty="0">
                <a:solidFill>
                  <a:srgbClr val="1A1A1A"/>
                </a:solidFill>
                <a:latin typeface="Arial" pitchFamily="34" charset="0"/>
                <a:ea typeface="Arial" pitchFamily="34" charset="-122"/>
                <a:cs typeface="Arial" pitchFamily="34" charset="-120"/>
              </a:rPr>
              <a:t>same idea </a:t>
            </a:r>
            <a:r>
              <a:rPr lang="en-US" sz="2400" dirty="0">
                <a:solidFill>
                  <a:srgbClr val="1A1A1A"/>
                </a:solidFill>
                <a:latin typeface="Arial" pitchFamily="34" charset="0"/>
                <a:ea typeface="Arial" pitchFamily="34" charset="-122"/>
                <a:cs typeface="Arial" pitchFamily="34" charset="-120"/>
              </a:rPr>
              <a:t>powers your coding assistant — up next</a:t>
            </a:r>
            <a:endParaRPr lang="en-US" sz="2400" dirty="0"/>
          </a:p>
        </p:txBody>
      </p:sp>
      <p:sp>
        <p:nvSpPr>
          <p:cNvPr id="19" name="Shape 17"/>
          <p:cNvSpPr/>
          <p:nvPr/>
        </p:nvSpPr>
        <p:spPr>
          <a:xfrm>
            <a:off x="1047750" y="9520238"/>
            <a:ext cx="16192500" cy="9525"/>
          </a:xfrm>
          <a:prstGeom prst="rect">
            <a:avLst/>
          </a:prstGeom>
          <a:solidFill>
            <a:srgbClr val="E3E1DA"/>
          </a:solidFill>
          <a:ln/>
        </p:spPr>
        <p:txBody>
          <a:bodyPr/>
          <a:lstStyle/>
          <a:p>
            <a:endParaRPr lang="en-US"/>
          </a:p>
        </p:txBody>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372188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WHERE THIS IS HEADED</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A Field Guide: Symptom → Fix</a:t>
            </a:r>
            <a:endParaRPr lang="en-US" sz="4800" dirty="0"/>
          </a:p>
        </p:txBody>
      </p:sp>
      <p:sp>
        <p:nvSpPr>
          <p:cNvPr id="5" name="Shape 3"/>
          <p:cNvSpPr/>
          <p:nvPr/>
        </p:nvSpPr>
        <p:spPr>
          <a:xfrm>
            <a:off x="1047750" y="4319811"/>
            <a:ext cx="15621000" cy="9525"/>
          </a:xfrm>
          <a:prstGeom prst="rect">
            <a:avLst/>
          </a:prstGeom>
          <a:solidFill>
            <a:srgbClr val="E3E1DA"/>
          </a:solidFill>
          <a:ln/>
        </p:spPr>
        <p:txBody>
          <a:bodyPr/>
          <a:lstStyle/>
          <a:p>
            <a:endParaRPr lang="en-US"/>
          </a:p>
        </p:txBody>
      </p:sp>
      <p:sp>
        <p:nvSpPr>
          <p:cNvPr id="6" name="Shape 4"/>
          <p:cNvSpPr/>
          <p:nvPr/>
        </p:nvSpPr>
        <p:spPr>
          <a:xfrm>
            <a:off x="1047750" y="3934048"/>
            <a:ext cx="114300" cy="114300"/>
          </a:xfrm>
          <a:prstGeom prst="roundRect">
            <a:avLst>
              <a:gd name="adj" fmla="val 25000"/>
            </a:avLst>
          </a:prstGeom>
          <a:solidFill>
            <a:srgbClr val="D64545"/>
          </a:solidFill>
          <a:ln/>
        </p:spPr>
        <p:txBody>
          <a:bodyPr/>
          <a:lstStyle/>
          <a:p>
            <a:endParaRPr lang="en-US"/>
          </a:p>
        </p:txBody>
      </p:sp>
      <p:sp>
        <p:nvSpPr>
          <p:cNvPr id="7" name="Text 5"/>
          <p:cNvSpPr/>
          <p:nvPr/>
        </p:nvSpPr>
        <p:spPr>
          <a:xfrm>
            <a:off x="1314450" y="3814986"/>
            <a:ext cx="4416921"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answers keep changing”</a:t>
            </a:r>
            <a:endParaRPr lang="en-US" sz="2400" dirty="0"/>
          </a:p>
        </p:txBody>
      </p:sp>
      <p:sp>
        <p:nvSpPr>
          <p:cNvPr id="8" name="Text 6"/>
          <p:cNvSpPr/>
          <p:nvPr/>
        </p:nvSpPr>
        <p:spPr>
          <a:xfrm>
            <a:off x="8635975" y="38435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D64545"/>
                </a:solidFill>
                <a:latin typeface="Arial" pitchFamily="34" charset="0"/>
                <a:ea typeface="Arial" pitchFamily="34" charset="-122"/>
                <a:cs typeface="Arial" pitchFamily="34" charset="-120"/>
              </a:rPr>
              <a:t>→ </a:t>
            </a:r>
            <a:r>
              <a:rPr lang="en-US" sz="2025" dirty="0">
                <a:solidFill>
                  <a:srgbClr val="3D3D3D"/>
                </a:solidFill>
                <a:latin typeface="Arial" pitchFamily="34" charset="0"/>
                <a:ea typeface="Arial" pitchFamily="34" charset="-122"/>
                <a:cs typeface="Arial" pitchFamily="34" charset="-120"/>
              </a:rPr>
              <a:t>Lower </a:t>
            </a:r>
            <a:r>
              <a:rPr lang="en-US" sz="2025" b="1" dirty="0">
                <a:solidFill>
                  <a:srgbClr val="1A1A1A"/>
                </a:solidFill>
                <a:latin typeface="Arial" pitchFamily="34" charset="0"/>
                <a:ea typeface="Arial" pitchFamily="34" charset="-122"/>
                <a:cs typeface="Arial" pitchFamily="34" charset="-120"/>
              </a:rPr>
              <a:t>temperature </a:t>
            </a:r>
            <a:r>
              <a:rPr lang="en-US" sz="2025" dirty="0">
                <a:solidFill>
                  <a:srgbClr val="3D3D3D"/>
                </a:solidFill>
                <a:latin typeface="Arial" pitchFamily="34" charset="0"/>
                <a:ea typeface="Arial" pitchFamily="34" charset="-122"/>
                <a:cs typeface="Arial" pitchFamily="34" charset="-120"/>
              </a:rPr>
              <a:t>— use 0 for code &amp; extraction</a:t>
            </a:r>
            <a:endParaRPr lang="en-US" sz="2025" dirty="0"/>
          </a:p>
        </p:txBody>
      </p:sp>
      <p:sp>
        <p:nvSpPr>
          <p:cNvPr id="9" name="Shape 7"/>
          <p:cNvSpPr/>
          <p:nvPr/>
        </p:nvSpPr>
        <p:spPr>
          <a:xfrm>
            <a:off x="1047750" y="5005611"/>
            <a:ext cx="15621000" cy="9525"/>
          </a:xfrm>
          <a:prstGeom prst="rect">
            <a:avLst/>
          </a:prstGeom>
          <a:solidFill>
            <a:srgbClr val="E3E1DA"/>
          </a:solidFill>
          <a:ln/>
        </p:spPr>
        <p:txBody>
          <a:bodyPr/>
          <a:lstStyle/>
          <a:p>
            <a:endParaRPr lang="en-US"/>
          </a:p>
        </p:txBody>
      </p:sp>
      <p:sp>
        <p:nvSpPr>
          <p:cNvPr id="10" name="Shape 8"/>
          <p:cNvSpPr/>
          <p:nvPr/>
        </p:nvSpPr>
        <p:spPr>
          <a:xfrm>
            <a:off x="1047750" y="4619848"/>
            <a:ext cx="114300" cy="114300"/>
          </a:xfrm>
          <a:prstGeom prst="roundRect">
            <a:avLst>
              <a:gd name="adj" fmla="val 25000"/>
            </a:avLst>
          </a:prstGeom>
          <a:solidFill>
            <a:srgbClr val="C77D0A"/>
          </a:solidFill>
          <a:ln/>
        </p:spPr>
        <p:txBody>
          <a:bodyPr/>
          <a:lstStyle/>
          <a:p>
            <a:endParaRPr lang="en-US"/>
          </a:p>
        </p:txBody>
      </p:sp>
      <p:sp>
        <p:nvSpPr>
          <p:cNvPr id="11" name="Text 9"/>
          <p:cNvSpPr/>
          <p:nvPr/>
        </p:nvSpPr>
        <p:spPr>
          <a:xfrm>
            <a:off x="1314450" y="4500786"/>
            <a:ext cx="5646718"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“It stated something false, confidently”</a:t>
            </a:r>
            <a:endParaRPr lang="en-US" sz="2400" dirty="0"/>
          </a:p>
        </p:txBody>
      </p:sp>
      <p:sp>
        <p:nvSpPr>
          <p:cNvPr id="12" name="Text 10"/>
          <p:cNvSpPr/>
          <p:nvPr/>
        </p:nvSpPr>
        <p:spPr>
          <a:xfrm>
            <a:off x="8635975" y="45293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C77D0A"/>
                </a:solidFill>
                <a:latin typeface="Arial" pitchFamily="34" charset="0"/>
                <a:ea typeface="Arial" pitchFamily="34" charset="-122"/>
                <a:cs typeface="Arial" pitchFamily="34" charset="-120"/>
              </a:rPr>
              <a:t>→ </a:t>
            </a:r>
            <a:r>
              <a:rPr lang="en-US" sz="2025" dirty="0">
                <a:solidFill>
                  <a:srgbClr val="3D3D3D"/>
                </a:solidFill>
                <a:latin typeface="Arial" pitchFamily="34" charset="0"/>
                <a:ea typeface="Arial" pitchFamily="34" charset="-122"/>
                <a:cs typeface="Arial" pitchFamily="34" charset="-120"/>
              </a:rPr>
              <a:t>Hallucination — </a:t>
            </a:r>
            <a:r>
              <a:rPr lang="en-US" sz="2025" b="1" dirty="0">
                <a:solidFill>
                  <a:srgbClr val="1A1A1A"/>
                </a:solidFill>
                <a:latin typeface="Arial" pitchFamily="34" charset="0"/>
                <a:ea typeface="Arial" pitchFamily="34" charset="-122"/>
                <a:cs typeface="Arial" pitchFamily="34" charset="-120"/>
              </a:rPr>
              <a:t>verify</a:t>
            </a:r>
            <a:r>
              <a:rPr lang="en-US" sz="2025" dirty="0">
                <a:solidFill>
                  <a:srgbClr val="3D3D3D"/>
                </a:solidFill>
                <a:latin typeface="Arial" pitchFamily="34" charset="0"/>
                <a:ea typeface="Arial" pitchFamily="34" charset="-122"/>
                <a:cs typeface="Arial" pitchFamily="34" charset="-120"/>
              </a:rPr>
              <a:t>, and ground it in your data</a:t>
            </a:r>
            <a:endParaRPr lang="en-US" sz="2025" dirty="0"/>
          </a:p>
        </p:txBody>
      </p:sp>
      <p:sp>
        <p:nvSpPr>
          <p:cNvPr id="13" name="Shape 11"/>
          <p:cNvSpPr/>
          <p:nvPr/>
        </p:nvSpPr>
        <p:spPr>
          <a:xfrm>
            <a:off x="1047750" y="5691411"/>
            <a:ext cx="15621000" cy="9525"/>
          </a:xfrm>
          <a:prstGeom prst="rect">
            <a:avLst/>
          </a:prstGeom>
          <a:solidFill>
            <a:srgbClr val="E3E1DA"/>
          </a:solidFill>
          <a:ln/>
        </p:spPr>
        <p:txBody>
          <a:bodyPr/>
          <a:lstStyle/>
          <a:p>
            <a:endParaRPr lang="en-US"/>
          </a:p>
        </p:txBody>
      </p:sp>
      <p:sp>
        <p:nvSpPr>
          <p:cNvPr id="14" name="Shape 12"/>
          <p:cNvSpPr/>
          <p:nvPr/>
        </p:nvSpPr>
        <p:spPr>
          <a:xfrm>
            <a:off x="1047750" y="5305648"/>
            <a:ext cx="114300" cy="114300"/>
          </a:xfrm>
          <a:prstGeom prst="roundRect">
            <a:avLst>
              <a:gd name="adj" fmla="val 25000"/>
            </a:avLst>
          </a:prstGeom>
          <a:solidFill>
            <a:srgbClr val="7A4FD0"/>
          </a:solidFill>
          <a:ln/>
        </p:spPr>
        <p:txBody>
          <a:bodyPr/>
          <a:lstStyle/>
          <a:p>
            <a:endParaRPr lang="en-US"/>
          </a:p>
        </p:txBody>
      </p:sp>
      <p:sp>
        <p:nvSpPr>
          <p:cNvPr id="15" name="Text 13"/>
          <p:cNvSpPr/>
          <p:nvPr/>
        </p:nvSpPr>
        <p:spPr>
          <a:xfrm>
            <a:off x="1314450" y="5186586"/>
            <a:ext cx="4267126"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“It forgot what I told it earlier”</a:t>
            </a:r>
            <a:endParaRPr lang="en-US" sz="2400" dirty="0"/>
          </a:p>
        </p:txBody>
      </p:sp>
      <p:sp>
        <p:nvSpPr>
          <p:cNvPr id="16" name="Text 14"/>
          <p:cNvSpPr/>
          <p:nvPr/>
        </p:nvSpPr>
        <p:spPr>
          <a:xfrm>
            <a:off x="8635975" y="52151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Arial" pitchFamily="34" charset="0"/>
                <a:ea typeface="Arial" pitchFamily="34" charset="-122"/>
                <a:cs typeface="Arial" pitchFamily="34" charset="-120"/>
              </a:rPr>
              <a:t>→ </a:t>
            </a:r>
            <a:r>
              <a:rPr lang="en-US" sz="2025" b="1" dirty="0">
                <a:solidFill>
                  <a:srgbClr val="1A1A1A"/>
                </a:solidFill>
                <a:latin typeface="Arial" pitchFamily="34" charset="0"/>
                <a:ea typeface="Arial" pitchFamily="34" charset="-122"/>
                <a:cs typeface="Arial" pitchFamily="34" charset="-120"/>
              </a:rPr>
              <a:t>Context window </a:t>
            </a:r>
            <a:r>
              <a:rPr lang="en-US" sz="2025" dirty="0">
                <a:solidFill>
                  <a:srgbClr val="3D3D3D"/>
                </a:solidFill>
                <a:latin typeface="Arial" pitchFamily="34" charset="0"/>
                <a:ea typeface="Arial" pitchFamily="34" charset="-122"/>
                <a:cs typeface="Arial" pitchFamily="34" charset="-120"/>
              </a:rPr>
              <a:t>— trim/summarize, or use a bigger one</a:t>
            </a:r>
            <a:endParaRPr lang="en-US" sz="2025" dirty="0"/>
          </a:p>
        </p:txBody>
      </p:sp>
      <p:sp>
        <p:nvSpPr>
          <p:cNvPr id="17" name="Shape 15"/>
          <p:cNvSpPr/>
          <p:nvPr/>
        </p:nvSpPr>
        <p:spPr>
          <a:xfrm>
            <a:off x="1047750" y="6377211"/>
            <a:ext cx="15621000" cy="9525"/>
          </a:xfrm>
          <a:prstGeom prst="rect">
            <a:avLst/>
          </a:prstGeom>
          <a:solidFill>
            <a:srgbClr val="E3E1DA"/>
          </a:solidFill>
          <a:ln/>
        </p:spPr>
        <p:txBody>
          <a:bodyPr/>
          <a:lstStyle/>
          <a:p>
            <a:endParaRPr lang="en-US"/>
          </a:p>
        </p:txBody>
      </p:sp>
      <p:sp>
        <p:nvSpPr>
          <p:cNvPr id="18" name="Shape 16"/>
          <p:cNvSpPr/>
          <p:nvPr/>
        </p:nvSpPr>
        <p:spPr>
          <a:xfrm>
            <a:off x="1047750" y="5991448"/>
            <a:ext cx="114300" cy="114300"/>
          </a:xfrm>
          <a:prstGeom prst="roundRect">
            <a:avLst>
              <a:gd name="adj" fmla="val 25000"/>
            </a:avLst>
          </a:prstGeom>
          <a:solidFill>
            <a:srgbClr val="178A4C"/>
          </a:solidFill>
          <a:ln/>
        </p:spPr>
        <p:txBody>
          <a:bodyPr/>
          <a:lstStyle/>
          <a:p>
            <a:endParaRPr lang="en-US"/>
          </a:p>
        </p:txBody>
      </p:sp>
      <p:sp>
        <p:nvSpPr>
          <p:cNvPr id="19" name="Text 17"/>
          <p:cNvSpPr/>
          <p:nvPr/>
        </p:nvSpPr>
        <p:spPr>
          <a:xfrm>
            <a:off x="1314450" y="5872386"/>
            <a:ext cx="4522187"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“It’s too slow or too expensive”</a:t>
            </a:r>
            <a:endParaRPr lang="en-US" sz="2400" dirty="0"/>
          </a:p>
        </p:txBody>
      </p:sp>
      <p:sp>
        <p:nvSpPr>
          <p:cNvPr id="20" name="Text 18"/>
          <p:cNvSpPr/>
          <p:nvPr/>
        </p:nvSpPr>
        <p:spPr>
          <a:xfrm>
            <a:off x="8635975" y="59009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78A4C"/>
                </a:solidFill>
                <a:latin typeface="Arial" pitchFamily="34" charset="0"/>
                <a:ea typeface="Arial" pitchFamily="34" charset="-122"/>
                <a:cs typeface="Arial" pitchFamily="34" charset="-120"/>
              </a:rPr>
              <a:t>→ </a:t>
            </a:r>
            <a:r>
              <a:rPr lang="en-US" sz="2025" dirty="0">
                <a:solidFill>
                  <a:srgbClr val="3D3D3D"/>
                </a:solidFill>
                <a:latin typeface="Arial" pitchFamily="34" charset="0"/>
                <a:ea typeface="Arial" pitchFamily="34" charset="-122"/>
                <a:cs typeface="Arial" pitchFamily="34" charset="-120"/>
              </a:rPr>
              <a:t>Too many </a:t>
            </a:r>
            <a:r>
              <a:rPr lang="en-US" sz="2025" b="1" dirty="0">
                <a:solidFill>
                  <a:srgbClr val="1A1A1A"/>
                </a:solidFill>
                <a:latin typeface="Arial" pitchFamily="34" charset="0"/>
                <a:ea typeface="Arial" pitchFamily="34" charset="-122"/>
                <a:cs typeface="Arial" pitchFamily="34" charset="-120"/>
              </a:rPr>
              <a:t>tokens </a:t>
            </a:r>
            <a:r>
              <a:rPr lang="en-US" sz="2025" dirty="0">
                <a:solidFill>
                  <a:srgbClr val="3D3D3D"/>
                </a:solidFill>
                <a:latin typeface="Arial" pitchFamily="34" charset="0"/>
                <a:ea typeface="Arial" pitchFamily="34" charset="-122"/>
                <a:cs typeface="Arial" pitchFamily="34" charset="-120"/>
              </a:rPr>
              <a:t>— trim prompts, cap output, cache</a:t>
            </a:r>
            <a:endParaRPr lang="en-US" sz="2025" dirty="0"/>
          </a:p>
        </p:txBody>
      </p:sp>
      <p:sp>
        <p:nvSpPr>
          <p:cNvPr id="21" name="Shape 19"/>
          <p:cNvSpPr/>
          <p:nvPr/>
        </p:nvSpPr>
        <p:spPr>
          <a:xfrm>
            <a:off x="1047750" y="7063011"/>
            <a:ext cx="15621000" cy="9525"/>
          </a:xfrm>
          <a:prstGeom prst="rect">
            <a:avLst/>
          </a:prstGeom>
          <a:solidFill>
            <a:srgbClr val="E3E1DA"/>
          </a:solidFill>
          <a:ln/>
        </p:spPr>
        <p:txBody>
          <a:bodyPr/>
          <a:lstStyle/>
          <a:p>
            <a:endParaRPr lang="en-US"/>
          </a:p>
        </p:txBody>
      </p:sp>
      <p:sp>
        <p:nvSpPr>
          <p:cNvPr id="22" name="Shape 20"/>
          <p:cNvSpPr/>
          <p:nvPr/>
        </p:nvSpPr>
        <p:spPr>
          <a:xfrm>
            <a:off x="1047750" y="6677248"/>
            <a:ext cx="114300" cy="114300"/>
          </a:xfrm>
          <a:prstGeom prst="roundRect">
            <a:avLst>
              <a:gd name="adj" fmla="val 25000"/>
            </a:avLst>
          </a:prstGeom>
          <a:solidFill>
            <a:srgbClr val="1F6FEB"/>
          </a:solidFill>
          <a:ln/>
        </p:spPr>
        <p:txBody>
          <a:bodyPr/>
          <a:lstStyle/>
          <a:p>
            <a:endParaRPr lang="en-US"/>
          </a:p>
        </p:txBody>
      </p:sp>
      <p:sp>
        <p:nvSpPr>
          <p:cNvPr id="23" name="Text 21"/>
          <p:cNvSpPr/>
          <p:nvPr/>
        </p:nvSpPr>
        <p:spPr>
          <a:xfrm>
            <a:off x="1314450" y="6558186"/>
            <a:ext cx="506865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output format is inconsistent”</a:t>
            </a:r>
            <a:endParaRPr lang="en-US" sz="2400" dirty="0"/>
          </a:p>
        </p:txBody>
      </p:sp>
      <p:sp>
        <p:nvSpPr>
          <p:cNvPr id="24" name="Text 22"/>
          <p:cNvSpPr/>
          <p:nvPr/>
        </p:nvSpPr>
        <p:spPr>
          <a:xfrm>
            <a:off x="8635975" y="65867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Arial" pitchFamily="34" charset="0"/>
                <a:ea typeface="Arial" pitchFamily="34" charset="-122"/>
                <a:cs typeface="Arial" pitchFamily="34" charset="-120"/>
              </a:rPr>
              <a:t>→ </a:t>
            </a:r>
            <a:r>
              <a:rPr lang="en-US" sz="2025" dirty="0">
                <a:solidFill>
                  <a:srgbClr val="3D3D3D"/>
                </a:solidFill>
                <a:latin typeface="Arial" pitchFamily="34" charset="0"/>
                <a:ea typeface="Arial" pitchFamily="34" charset="-122"/>
                <a:cs typeface="Arial" pitchFamily="34" charset="-120"/>
              </a:rPr>
              <a:t>Under-specified </a:t>
            </a:r>
            <a:r>
              <a:rPr lang="en-US" sz="2025" b="1" dirty="0">
                <a:solidFill>
                  <a:srgbClr val="1A1A1A"/>
                </a:solidFill>
                <a:latin typeface="Arial" pitchFamily="34" charset="0"/>
                <a:ea typeface="Arial" pitchFamily="34" charset="-122"/>
                <a:cs typeface="Arial" pitchFamily="34" charset="-120"/>
              </a:rPr>
              <a:t>prompt </a:t>
            </a:r>
            <a:r>
              <a:rPr lang="en-US" sz="2025" dirty="0">
                <a:solidFill>
                  <a:srgbClr val="3D3D3D"/>
                </a:solidFill>
                <a:latin typeface="Arial" pitchFamily="34" charset="0"/>
                <a:ea typeface="Arial" pitchFamily="34" charset="-122"/>
                <a:cs typeface="Arial" pitchFamily="34" charset="-120"/>
              </a:rPr>
              <a:t>— clear instructions + an example</a:t>
            </a:r>
            <a:endParaRPr lang="en-US" sz="2025" dirty="0"/>
          </a:p>
        </p:txBody>
      </p:sp>
      <p:sp>
        <p:nvSpPr>
          <p:cNvPr id="25" name="Shape 23"/>
          <p:cNvSpPr/>
          <p:nvPr/>
        </p:nvSpPr>
        <p:spPr>
          <a:xfrm>
            <a:off x="1047750" y="7363048"/>
            <a:ext cx="114300" cy="114300"/>
          </a:xfrm>
          <a:prstGeom prst="roundRect">
            <a:avLst>
              <a:gd name="adj" fmla="val 25000"/>
            </a:avLst>
          </a:prstGeom>
          <a:solidFill>
            <a:srgbClr val="D64545"/>
          </a:solidFill>
          <a:ln/>
        </p:spPr>
        <p:txBody>
          <a:bodyPr/>
          <a:lstStyle/>
          <a:p>
            <a:endParaRPr lang="en-US"/>
          </a:p>
        </p:txBody>
      </p:sp>
      <p:sp>
        <p:nvSpPr>
          <p:cNvPr id="26" name="Text 24"/>
          <p:cNvSpPr/>
          <p:nvPr/>
        </p:nvSpPr>
        <p:spPr>
          <a:xfrm>
            <a:off x="1314450" y="7243986"/>
            <a:ext cx="6199733"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“It doesn’t know our data or today’s news”</a:t>
            </a:r>
            <a:endParaRPr lang="en-US" sz="2400" dirty="0"/>
          </a:p>
        </p:txBody>
      </p:sp>
      <p:sp>
        <p:nvSpPr>
          <p:cNvPr id="27" name="Text 25"/>
          <p:cNvSpPr/>
          <p:nvPr/>
        </p:nvSpPr>
        <p:spPr>
          <a:xfrm>
            <a:off x="8635975" y="7272561"/>
            <a:ext cx="8836052"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D64545"/>
                </a:solidFill>
                <a:latin typeface="Arial" pitchFamily="34" charset="0"/>
                <a:ea typeface="Arial" pitchFamily="34" charset="-122"/>
                <a:cs typeface="Arial" pitchFamily="34" charset="-120"/>
              </a:rPr>
              <a:t>→ </a:t>
            </a:r>
            <a:r>
              <a:rPr lang="en-US" sz="2025" dirty="0">
                <a:solidFill>
                  <a:srgbClr val="3D3D3D"/>
                </a:solidFill>
                <a:latin typeface="Arial" pitchFamily="34" charset="0"/>
                <a:ea typeface="Arial" pitchFamily="34" charset="-122"/>
                <a:cs typeface="Arial" pitchFamily="34" charset="-120"/>
              </a:rPr>
              <a:t>Knowledge gap — </a:t>
            </a:r>
            <a:r>
              <a:rPr lang="en-US" sz="2025" b="1" dirty="0">
                <a:solidFill>
                  <a:srgbClr val="1A1A1A"/>
                </a:solidFill>
                <a:latin typeface="Arial" pitchFamily="34" charset="0"/>
                <a:ea typeface="Arial" pitchFamily="34" charset="-122"/>
                <a:cs typeface="Arial" pitchFamily="34" charset="-120"/>
              </a:rPr>
              <a:t>retrieve &amp; inject </a:t>
            </a:r>
            <a:r>
              <a:rPr lang="en-US" sz="2025" dirty="0">
                <a:solidFill>
                  <a:srgbClr val="3D3D3D"/>
                </a:solidFill>
                <a:latin typeface="Arial" pitchFamily="34" charset="0"/>
                <a:ea typeface="Arial" pitchFamily="34" charset="-122"/>
                <a:cs typeface="Arial" pitchFamily="34" charset="-120"/>
              </a:rPr>
              <a:t>the facts (RAG)</a:t>
            </a:r>
            <a:endParaRPr lang="en-US" sz="2025" dirty="0"/>
          </a:p>
        </p:txBody>
      </p:sp>
      <p:sp>
        <p:nvSpPr>
          <p:cNvPr id="28" name="Shape 26"/>
          <p:cNvSpPr/>
          <p:nvPr/>
        </p:nvSpPr>
        <p:spPr>
          <a:xfrm>
            <a:off x="1047750" y="9520238"/>
            <a:ext cx="16192500" cy="9525"/>
          </a:xfrm>
          <a:prstGeom prst="rect">
            <a:avLst/>
          </a:prstGeom>
          <a:solidFill>
            <a:srgbClr val="E3E1DA"/>
          </a:solidFill>
          <a:ln/>
        </p:spPr>
        <p:txBody>
          <a:bodyPr/>
          <a:lstStyle/>
          <a:p>
            <a:endParaRPr lang="en-US"/>
          </a:p>
        </p:txBody>
      </p:sp>
      <p:sp>
        <p:nvSpPr>
          <p:cNvPr id="29" name="Text 2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0" name="Text 28"/>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372188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WHERE THIS IS HEADED</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91807"/>
              </a:lnSpc>
              <a:buNone/>
            </a:pPr>
            <a:r>
              <a:rPr lang="en-US" sz="4800" b="1" dirty="0">
                <a:solidFill>
                  <a:srgbClr val="1A1A1A"/>
                </a:solidFill>
                <a:latin typeface="Georgia" pitchFamily="34" charset="0"/>
                <a:ea typeface="Georgia" pitchFamily="34" charset="-122"/>
                <a:cs typeface="Georgia" pitchFamily="34" charset="-120"/>
              </a:rPr>
              <a:t>Questions You’ll Get Asked</a:t>
            </a:r>
            <a:endParaRPr lang="en-US" sz="4800" dirty="0"/>
          </a:p>
        </p:txBody>
      </p:sp>
      <p:sp>
        <p:nvSpPr>
          <p:cNvPr id="5" name="Shape 3"/>
          <p:cNvSpPr/>
          <p:nvPr/>
        </p:nvSpPr>
        <p:spPr>
          <a:xfrm>
            <a:off x="1047750" y="3677394"/>
            <a:ext cx="38100" cy="1174403"/>
          </a:xfrm>
          <a:prstGeom prst="rect">
            <a:avLst/>
          </a:prstGeom>
          <a:solidFill>
            <a:srgbClr val="1F6FEB"/>
          </a:solidFill>
          <a:ln/>
        </p:spPr>
        <p:txBody>
          <a:bodyPr/>
          <a:lstStyle/>
          <a:p>
            <a:endParaRPr lang="en-US"/>
          </a:p>
        </p:txBody>
      </p:sp>
      <p:sp>
        <p:nvSpPr>
          <p:cNvPr id="6" name="Text 4"/>
          <p:cNvSpPr/>
          <p:nvPr/>
        </p:nvSpPr>
        <p:spPr>
          <a:xfrm>
            <a:off x="1295400" y="3677394"/>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“Does it actually understand?”</a:t>
            </a:r>
            <a:endParaRPr lang="en-US" sz="2400" dirty="0"/>
          </a:p>
        </p:txBody>
      </p:sp>
      <p:sp>
        <p:nvSpPr>
          <p:cNvPr id="7" name="Text 5"/>
          <p:cNvSpPr/>
          <p:nvPr/>
        </p:nvSpPr>
        <p:spPr>
          <a:xfrm>
            <a:off x="1295400" y="4106019"/>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No — it predicts likely next tokens from patterns. Useful, not conscious.</a:t>
            </a:r>
            <a:endParaRPr lang="en-US" sz="2025" dirty="0"/>
          </a:p>
        </p:txBody>
      </p:sp>
      <p:sp>
        <p:nvSpPr>
          <p:cNvPr id="8" name="Shape 6"/>
          <p:cNvSpPr/>
          <p:nvPr/>
        </p:nvSpPr>
        <p:spPr>
          <a:xfrm>
            <a:off x="9220200" y="3677394"/>
            <a:ext cx="38100" cy="1174403"/>
          </a:xfrm>
          <a:prstGeom prst="rect">
            <a:avLst/>
          </a:prstGeom>
          <a:solidFill>
            <a:srgbClr val="C77D0A"/>
          </a:solidFill>
          <a:ln/>
        </p:spPr>
        <p:txBody>
          <a:bodyPr/>
          <a:lstStyle/>
          <a:p>
            <a:endParaRPr lang="en-US"/>
          </a:p>
        </p:txBody>
      </p:sp>
      <p:sp>
        <p:nvSpPr>
          <p:cNvPr id="9" name="Text 7"/>
          <p:cNvSpPr/>
          <p:nvPr/>
        </p:nvSpPr>
        <p:spPr>
          <a:xfrm>
            <a:off x="9467850" y="3677394"/>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“Why did it make that up?”</a:t>
            </a:r>
            <a:endParaRPr lang="en-US" sz="2400" dirty="0"/>
          </a:p>
        </p:txBody>
      </p:sp>
      <p:sp>
        <p:nvSpPr>
          <p:cNvPr id="10" name="Text 8"/>
          <p:cNvSpPr/>
          <p:nvPr/>
        </p:nvSpPr>
        <p:spPr>
          <a:xfrm>
            <a:off x="9467850" y="4106019"/>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It generates plausible text — and plausible isn’t always true. That’s a hallucination.</a:t>
            </a:r>
            <a:endParaRPr lang="en-US" sz="2025" dirty="0"/>
          </a:p>
        </p:txBody>
      </p:sp>
      <p:sp>
        <p:nvSpPr>
          <p:cNvPr id="11" name="Shape 9"/>
          <p:cNvSpPr/>
          <p:nvPr/>
        </p:nvSpPr>
        <p:spPr>
          <a:xfrm>
            <a:off x="1047750" y="5137547"/>
            <a:ext cx="38100" cy="1174403"/>
          </a:xfrm>
          <a:prstGeom prst="rect">
            <a:avLst/>
          </a:prstGeom>
          <a:solidFill>
            <a:srgbClr val="7A4FD0"/>
          </a:solidFill>
          <a:ln/>
        </p:spPr>
        <p:txBody>
          <a:bodyPr/>
          <a:lstStyle/>
          <a:p>
            <a:endParaRPr lang="en-US"/>
          </a:p>
        </p:txBody>
      </p:sp>
      <p:sp>
        <p:nvSpPr>
          <p:cNvPr id="12" name="Text 10"/>
          <p:cNvSpPr/>
          <p:nvPr/>
        </p:nvSpPr>
        <p:spPr>
          <a:xfrm>
            <a:off x="1295400" y="5137547"/>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“Why does it forget mid-chat?”</a:t>
            </a:r>
            <a:endParaRPr lang="en-US" sz="2400" dirty="0"/>
          </a:p>
        </p:txBody>
      </p:sp>
      <p:sp>
        <p:nvSpPr>
          <p:cNvPr id="13" name="Text 11"/>
          <p:cNvSpPr/>
          <p:nvPr/>
        </p:nvSpPr>
        <p:spPr>
          <a:xfrm>
            <a:off x="1295400" y="5566172"/>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It only sees its context window; anything past it is gone unless you resend it.</a:t>
            </a:r>
            <a:endParaRPr lang="en-US" sz="2025" dirty="0"/>
          </a:p>
        </p:txBody>
      </p:sp>
      <p:sp>
        <p:nvSpPr>
          <p:cNvPr id="14" name="Shape 12"/>
          <p:cNvSpPr/>
          <p:nvPr/>
        </p:nvSpPr>
        <p:spPr>
          <a:xfrm>
            <a:off x="9220200" y="5137547"/>
            <a:ext cx="38100" cy="1174403"/>
          </a:xfrm>
          <a:prstGeom prst="rect">
            <a:avLst/>
          </a:prstGeom>
          <a:solidFill>
            <a:srgbClr val="178A4C"/>
          </a:solidFill>
          <a:ln/>
        </p:spPr>
        <p:txBody>
          <a:bodyPr/>
          <a:lstStyle/>
          <a:p>
            <a:endParaRPr lang="en-US"/>
          </a:p>
        </p:txBody>
      </p:sp>
      <p:sp>
        <p:nvSpPr>
          <p:cNvPr id="15" name="Text 13"/>
          <p:cNvSpPr/>
          <p:nvPr/>
        </p:nvSpPr>
        <p:spPr>
          <a:xfrm>
            <a:off x="9467850" y="5137547"/>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“Is it deterministic?”</a:t>
            </a:r>
            <a:endParaRPr lang="en-US" sz="2400" dirty="0"/>
          </a:p>
        </p:txBody>
      </p:sp>
      <p:sp>
        <p:nvSpPr>
          <p:cNvPr id="16" name="Text 14"/>
          <p:cNvSpPr/>
          <p:nvPr/>
        </p:nvSpPr>
        <p:spPr>
          <a:xfrm>
            <a:off x="9467850" y="5566172"/>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Not by default. temperature 0 gets near-repeatable output — not a 100% guarantee.</a:t>
            </a:r>
            <a:endParaRPr lang="en-US" sz="2025" dirty="0"/>
          </a:p>
        </p:txBody>
      </p:sp>
      <p:sp>
        <p:nvSpPr>
          <p:cNvPr id="17" name="Shape 15"/>
          <p:cNvSpPr/>
          <p:nvPr/>
        </p:nvSpPr>
        <p:spPr>
          <a:xfrm>
            <a:off x="1047750" y="6597700"/>
            <a:ext cx="38100" cy="1174403"/>
          </a:xfrm>
          <a:prstGeom prst="rect">
            <a:avLst/>
          </a:prstGeom>
          <a:solidFill>
            <a:srgbClr val="D64545"/>
          </a:solidFill>
          <a:ln/>
        </p:spPr>
        <p:txBody>
          <a:bodyPr/>
          <a:lstStyle/>
          <a:p>
            <a:endParaRPr lang="en-US"/>
          </a:p>
        </p:txBody>
      </p:sp>
      <p:sp>
        <p:nvSpPr>
          <p:cNvPr id="18" name="Text 16"/>
          <p:cNvSpPr/>
          <p:nvPr/>
        </p:nvSpPr>
        <p:spPr>
          <a:xfrm>
            <a:off x="1295400" y="6597700"/>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“Can it do math or know today?”</a:t>
            </a:r>
            <a:endParaRPr lang="en-US" sz="2400" dirty="0"/>
          </a:p>
        </p:txBody>
      </p:sp>
      <p:sp>
        <p:nvSpPr>
          <p:cNvPr id="19" name="Text 17"/>
          <p:cNvSpPr/>
          <p:nvPr/>
        </p:nvSpPr>
        <p:spPr>
          <a:xfrm>
            <a:off x="1295400" y="7026325"/>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Not reliably on its own — it predicts text. Give it tools or current data.</a:t>
            </a:r>
            <a:endParaRPr lang="en-US" sz="2025" dirty="0"/>
          </a:p>
        </p:txBody>
      </p:sp>
      <p:sp>
        <p:nvSpPr>
          <p:cNvPr id="20" name="Shape 18"/>
          <p:cNvSpPr/>
          <p:nvPr/>
        </p:nvSpPr>
        <p:spPr>
          <a:xfrm>
            <a:off x="9220200" y="6597700"/>
            <a:ext cx="38100" cy="1174403"/>
          </a:xfrm>
          <a:prstGeom prst="rect">
            <a:avLst/>
          </a:prstGeom>
          <a:solidFill>
            <a:srgbClr val="1F6FEB"/>
          </a:solidFill>
          <a:ln/>
        </p:spPr>
        <p:txBody>
          <a:bodyPr/>
          <a:lstStyle/>
          <a:p>
            <a:endParaRPr lang="en-US"/>
          </a:p>
        </p:txBody>
      </p:sp>
      <p:sp>
        <p:nvSpPr>
          <p:cNvPr id="21" name="Text 19"/>
          <p:cNvSpPr/>
          <p:nvPr/>
        </p:nvSpPr>
        <p:spPr>
          <a:xfrm>
            <a:off x="9467850" y="6597700"/>
            <a:ext cx="813054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“Why is it costly at scale?”</a:t>
            </a:r>
            <a:endParaRPr lang="en-US" sz="2400" dirty="0"/>
          </a:p>
        </p:txBody>
      </p:sp>
      <p:sp>
        <p:nvSpPr>
          <p:cNvPr id="22" name="Text 20"/>
          <p:cNvSpPr/>
          <p:nvPr/>
        </p:nvSpPr>
        <p:spPr>
          <a:xfrm>
            <a:off x="9467850" y="7026325"/>
            <a:ext cx="7613142" cy="783878"/>
          </a:xfrm>
          <a:prstGeom prst="rect">
            <a:avLst/>
          </a:prstGeom>
          <a:noFill/>
          <a:ln/>
        </p:spPr>
        <p:txBody>
          <a:bodyPr wrap="square" lIns="25400" tIns="25400" rIns="25400" bIns="25400" rtlCol="0" anchor="t">
            <a:normAutofit/>
          </a:bodyPr>
          <a:lstStyle/>
          <a:p>
            <a:pPr marL="0" indent="0" algn="l">
              <a:lnSpc>
                <a:spcPct val="126290"/>
              </a:lnSpc>
              <a:buNone/>
            </a:pPr>
            <a:r>
              <a:rPr lang="en-US" sz="2025" dirty="0">
                <a:solidFill>
                  <a:srgbClr val="7C7A73"/>
                </a:solidFill>
                <a:latin typeface="Arial" pitchFamily="34" charset="0"/>
                <a:ea typeface="Arial" pitchFamily="34" charset="-122"/>
                <a:cs typeface="Arial" pitchFamily="34" charset="-120"/>
              </a:rPr>
              <a:t>You pay per token, in and out — long prompts × many calls adds up fast.</a:t>
            </a:r>
            <a:endParaRPr lang="en-US" sz="2025" dirty="0"/>
          </a:p>
        </p:txBody>
      </p:sp>
      <p:sp>
        <p:nvSpPr>
          <p:cNvPr id="23" name="Shape 21"/>
          <p:cNvSpPr/>
          <p:nvPr/>
        </p:nvSpPr>
        <p:spPr>
          <a:xfrm>
            <a:off x="1047750" y="9520238"/>
            <a:ext cx="16192500" cy="9525"/>
          </a:xfrm>
          <a:prstGeom prst="rect">
            <a:avLst/>
          </a:prstGeom>
          <a:solidFill>
            <a:srgbClr val="E3E1DA"/>
          </a:solidFill>
          <a:ln/>
        </p:spPr>
        <p:txBody>
          <a:bodyPr/>
          <a:lstStyle/>
          <a:p>
            <a:endParaRPr lang="en-US"/>
          </a:p>
        </p:txBody>
      </p:sp>
      <p:sp>
        <p:nvSpPr>
          <p:cNvPr id="24" name="Text 2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5" name="Text 23"/>
          <p:cNvSpPr/>
          <p:nvPr/>
        </p:nvSpPr>
        <p:spPr>
          <a:xfrm>
            <a:off x="14436849" y="9663113"/>
            <a:ext cx="308374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1 · How an LLM Works</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F6FEB"/>
          </a:solidFill>
          <a:ln/>
        </p:spPr>
        <p:txBody>
          <a:bodyPr/>
          <a:lstStyle/>
          <a:p>
            <a:endParaRPr lang="en-US"/>
          </a:p>
        </p:txBody>
      </p:sp>
      <p:sp>
        <p:nvSpPr>
          <p:cNvPr id="3" name="Text 1"/>
          <p:cNvSpPr/>
          <p:nvPr/>
        </p:nvSpPr>
        <p:spPr>
          <a:xfrm>
            <a:off x="1200150" y="3540919"/>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END OF PART 1 · UP NEXT</a:t>
            </a:r>
            <a:endParaRPr lang="en-US" sz="1800" dirty="0"/>
          </a:p>
        </p:txBody>
      </p:sp>
      <p:sp>
        <p:nvSpPr>
          <p:cNvPr id="4" name="Text 2"/>
          <p:cNvSpPr/>
          <p:nvPr/>
        </p:nvSpPr>
        <p:spPr>
          <a:xfrm>
            <a:off x="1200150" y="3936206"/>
            <a:ext cx="17644110" cy="819150"/>
          </a:xfrm>
          <a:prstGeom prst="rect">
            <a:avLst/>
          </a:prstGeom>
          <a:noFill/>
          <a:ln/>
        </p:spPr>
        <p:txBody>
          <a:bodyPr wrap="square" lIns="25400" tIns="25400" rIns="25400" bIns="25400" rtlCol="0" anchor="t">
            <a:normAutofit/>
          </a:bodyPr>
          <a:lstStyle/>
          <a:p>
            <a:pPr marL="0" indent="0" algn="l">
              <a:buNone/>
            </a:pPr>
            <a:r>
              <a:rPr lang="en-US" sz="5400" b="1" dirty="0">
                <a:solidFill>
                  <a:srgbClr val="1A1A1A"/>
                </a:solidFill>
                <a:latin typeface="Georgia" pitchFamily="34" charset="0"/>
                <a:ea typeface="Georgia" pitchFamily="34" charset="-122"/>
                <a:cs typeface="Georgia" pitchFamily="34" charset="-120"/>
              </a:rPr>
              <a:t>Tokens, Context &amp; Setup</a:t>
            </a:r>
            <a:endParaRPr lang="en-US" sz="5400" dirty="0"/>
          </a:p>
        </p:txBody>
      </p:sp>
      <p:sp>
        <p:nvSpPr>
          <p:cNvPr id="5" name="Shape 3"/>
          <p:cNvSpPr/>
          <p:nvPr/>
        </p:nvSpPr>
        <p:spPr>
          <a:xfrm>
            <a:off x="1200150" y="5169694"/>
            <a:ext cx="133350" cy="133350"/>
          </a:xfrm>
          <a:prstGeom prst="roundRect">
            <a:avLst>
              <a:gd name="adj" fmla="val 28571"/>
            </a:avLst>
          </a:prstGeom>
          <a:solidFill>
            <a:srgbClr val="178A4C"/>
          </a:solidFill>
          <a:ln/>
        </p:spPr>
        <p:txBody>
          <a:bodyPr/>
          <a:lstStyle/>
          <a:p>
            <a:endParaRPr lang="en-US"/>
          </a:p>
        </p:txBody>
      </p:sp>
      <p:sp>
        <p:nvSpPr>
          <p:cNvPr id="6" name="Text 4"/>
          <p:cNvSpPr/>
          <p:nvPr/>
        </p:nvSpPr>
        <p:spPr>
          <a:xfrm>
            <a:off x="1524000" y="5045869"/>
            <a:ext cx="6614898"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Why tokens drive your cost and your limits</a:t>
            </a:r>
            <a:endParaRPr lang="en-US" sz="2700" dirty="0"/>
          </a:p>
        </p:txBody>
      </p:sp>
      <p:sp>
        <p:nvSpPr>
          <p:cNvPr id="7" name="Shape 5"/>
          <p:cNvSpPr/>
          <p:nvPr/>
        </p:nvSpPr>
        <p:spPr>
          <a:xfrm>
            <a:off x="1200150" y="5750719"/>
            <a:ext cx="133350" cy="133350"/>
          </a:xfrm>
          <a:prstGeom prst="roundRect">
            <a:avLst>
              <a:gd name="adj" fmla="val 28571"/>
            </a:avLst>
          </a:prstGeom>
          <a:solidFill>
            <a:srgbClr val="1F6FEB"/>
          </a:solidFill>
          <a:ln/>
        </p:spPr>
        <p:txBody>
          <a:bodyPr/>
          <a:lstStyle/>
          <a:p>
            <a:endParaRPr lang="en-US"/>
          </a:p>
        </p:txBody>
      </p:sp>
      <p:sp>
        <p:nvSpPr>
          <p:cNvPr id="8" name="Text 6"/>
          <p:cNvSpPr/>
          <p:nvPr/>
        </p:nvSpPr>
        <p:spPr>
          <a:xfrm>
            <a:off x="1524000" y="5626894"/>
            <a:ext cx="6079369"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Get set up — account, API key, Python</a:t>
            </a:r>
            <a:endParaRPr lang="en-US" sz="2700" dirty="0"/>
          </a:p>
        </p:txBody>
      </p:sp>
      <p:sp>
        <p:nvSpPr>
          <p:cNvPr id="9" name="Shape 7"/>
          <p:cNvSpPr/>
          <p:nvPr/>
        </p:nvSpPr>
        <p:spPr>
          <a:xfrm>
            <a:off x="1200150" y="6331744"/>
            <a:ext cx="133350" cy="133350"/>
          </a:xfrm>
          <a:prstGeom prst="roundRect">
            <a:avLst>
              <a:gd name="adj" fmla="val 28571"/>
            </a:avLst>
          </a:prstGeom>
          <a:solidFill>
            <a:srgbClr val="C77D0A"/>
          </a:solidFill>
          <a:ln/>
        </p:spPr>
        <p:txBody>
          <a:bodyPr/>
          <a:lstStyle/>
          <a:p>
            <a:endParaRPr lang="en-US"/>
          </a:p>
        </p:txBody>
      </p:sp>
      <p:sp>
        <p:nvSpPr>
          <p:cNvPr id="10" name="Text 8"/>
          <p:cNvSpPr/>
          <p:nvPr/>
        </p:nvSpPr>
        <p:spPr>
          <a:xfrm>
            <a:off x="1524000" y="6207919"/>
            <a:ext cx="7086734"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Then a break — and Part 3, your first API call</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7205</Words>
  <Application>Microsoft Macintosh PowerPoint</Application>
  <PresentationFormat>Custom</PresentationFormat>
  <Paragraphs>775</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Pandey</cp:lastModifiedBy>
  <cp:revision>2</cp:revision>
  <dcterms:created xsi:type="dcterms:W3CDTF">2026-07-10T04:35:42Z</dcterms:created>
  <dcterms:modified xsi:type="dcterms:W3CDTF">2026-07-10T04:39:20Z</dcterms:modified>
</cp:coreProperties>
</file>