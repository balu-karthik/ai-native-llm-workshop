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Two jobs: first understand why tokens and the context window drive your cost and your limits, then get everyone set up with an account, an API key, and a working Python environment. We end this part ready to write code, then take a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to this block, then a break. First the concepts that hit your bill and your limits. Then hands-on setup so everyone leaves the break able to run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Tokens are not just an internal detail; they are the unit of cost and the unit of limits. This is where the mechanics touch your bill and your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to anchor this section: the token is the atomic unit of working with LLMs. It is what the model reads, what you are billed for, what every limit is counted in, and what the context window budgets. Watch token counts and most cost and limit surprises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Common short words are one token; a leading space usually rides along. Longer or rarer words split into pieces. Emoji and non-English text cost several tokens each. And code is token-hungry: brackets, indentation and punctuation all count. So the same idea in Hindi, or a big JSON blob, costs more tokens than plain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ratios worth committing to memory. One token is about three-quarters of an English word, or four characters. One page is roughly 650 tokens. A whole novel is about 130 thousand tokens, which is roughly one large context window today. And multiply by one-and-a-half to three for code, JSON, or most non-English languages. These are how you size and price a feature before you write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short message costs a different number of tokens depending on language and format. Hello how are you is six tokens in English, nine in French, thirteen in Japanese, and the same idea as JSON is fifteen. Tokenizers are trained on mostly-English data, so other languages and symbol-heavy text break into smaller, more numerous pieces. The practical impact: a multilingual product pays more per user for the very same conversation. Budget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window is everything the model can see at once for a single call: the system instructions, the conversation so far, your new input, and it must leave room for the answer. Two consequences: the model has no memory between calls, each request starts fresh with whatever you put in; and when the window fills, the oldest content drops and it effectively forgets. And the chat feeling is a client-side illusion: your own code resends the entire history in the context array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make it infinite? Because attention has every token look at every other token, cost grows quadratically, O(N squared); double the context and the compute jumps roughly four times. That is the cost side. The good news: windows have grown fast, from a few thousand tokens to hundreds of thousands, even a million plus. Bigger, but never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limits you will actually hit in practice. One, overflow: push past the window and the request is rejected, or the API silently drops old history, so count tokens before sending and trim or summarize yourself rather than letting the API decide what to forget. Two, and this surprises people: lost in the middle. In long contexts models recall the beginning and the end far more reliably than the middle, so put your instructions and key facts at the edges, not buried on page forty. Three, more context is slower and pricier on every single call; pasting everything in can cost ten times a focused prompt at twice the latency. Send what's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for builders. You pay per token, and input and output are priced separately, with output usually pricier because input is processed in parallel (prefill) while output is generated one token at a time (sequential). Walk the example: a two thousand token prompt and a five hundred token answer costs a bit over a cent at illustrative rates. Tiny once, but times millions of calls it is your bill. Longer prompts also raise latency. The levers: trim prompts, cap output, and cache or reuse what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it real: one fixed workload priced across four models. Two things to notice. First, switching from a frontier model to a small one collapses the bill — about eight times cheaper here for identical volume. Second, the monthly number is what actually matters for a product. Rates are illustrative, so always check the provider's live pricing page — and right-size the model to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felt sense of scale so the numbers mean something. A thousand tokens is about a page. Eight thousand a short story. A hundred thousand a full novel. A million plus a shelf of books or a mid-size codebase. So big windows let you drop in whole documents, but remember: more tokens is more cost and more latency,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Hands on the keyboard. By the end of this section everyone has an API key, it is stored safely, and Python can talk to a model. Then we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One: an API key, from OpenAI or Anthropic; upGrad provides one for the session, or bring your own. Two: Python 3.9 or newer. Three: the provider SDK installed. We will walk through each. If you already have all three, help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get a key. Fastest: use the one upGrad provides for the session, ask your instructor. Or make your own: for OpenAI go to platform.openai.com, sign in, API keys, create new secret key, and add billing. For Anthropic go to console.anthropic.com, sign in, API keys, create key, add billing. Important: you can only see the key once when you create it, so copy it right away and store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is a password that spends money. Never hardcode it in your source and never commit it to git, keys get scraped from public repos within minutes and your billing gets abused. Instead put it in an environment variable or a dot env file, add that file to gitignore, then load it with load_dotenv from python-dotenv and read it from the environment in code. This one habit prevents the most common and most expensive beginner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environment. Make a virtual environment so this project dependencies stay isolated, activate it, then pip install both SDKs. python-dotenv is optional but handy for loading that dot env file. Finally, the real test: if these two imports run without error, your environment is ready. We will actually call the model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memorize model names, they change constantly. What is stable is the ladder: each provider offers a small fast cheap model that handles most tasks, and a larger stronger model for hard reasoning, with tiers in between. Anthropic names its tiers Haiku, Sonnet, Opus, small to large. Start on the cheap fast tier and only move up if quality actually needs it. Always check the provider model page for current names and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before the break. Key in hand, provided for the session or your own. Key stored as an environment variable, not in code. Python, a virtual environment, and the SDKs installed. Git installed so git init and commits work in the labs. Node and npm installed for Claude Code. And the imports run clean. If all of these are ticked, you are ready. Take a short break; when we come back, Part 3, we make our first real call and get JSON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break, Part 3 is all hands-on. First a real API call to OpenAI or Anthropic that returns structured JSON you can use in code. Then prompting basics: clear instructions and worked examples. And finally using a coding assistant, Cursor or Claude Code, as part of your everyday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3613100"/>
            <a:ext cx="533400" cy="57150"/>
          </a:xfrm>
          <a:prstGeom prst="rect">
            <a:avLst/>
          </a:prstGeom>
          <a:solidFill>
            <a:srgbClr val="178A4C"/>
          </a:solidFill>
          <a:ln/>
        </p:spPr>
      </p:sp>
      <p:sp>
        <p:nvSpPr>
          <p:cNvPr id="3" name="Text 1"/>
          <p:cNvSpPr/>
          <p:nvPr/>
        </p:nvSpPr>
        <p:spPr>
          <a:xfrm>
            <a:off x="1733550" y="3510707"/>
            <a:ext cx="9004675"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7C7A73"/>
                </a:solidFill>
                <a:latin typeface="Arial" pitchFamily="34" charset="0"/>
                <a:ea typeface="Arial" pitchFamily="34" charset="-122"/>
                <a:cs typeface="Arial" pitchFamily="34" charset="-120"/>
              </a:rPr>
              <a:t>GETTING STARTED WITH LLMS FOR ENGINEERS · PART 2</a:t>
            </a:r>
            <a:endParaRPr lang="en-US" sz="1800" dirty="0"/>
          </a:p>
        </p:txBody>
      </p:sp>
      <p:sp>
        <p:nvSpPr>
          <p:cNvPr id="4" name="Text 2"/>
          <p:cNvSpPr/>
          <p:nvPr/>
        </p:nvSpPr>
        <p:spPr>
          <a:xfrm>
            <a:off x="1047750" y="4058394"/>
            <a:ext cx="17811750" cy="931887"/>
          </a:xfrm>
          <a:prstGeom prst="rect">
            <a:avLst/>
          </a:prstGeom>
          <a:noFill/>
          <a:ln/>
        </p:spPr>
        <p:txBody>
          <a:bodyPr wrap="square" lIns="25400" tIns="25400" rIns="25400" bIns="25400" rtlCol="0" anchor="t">
            <a:normAutofit/>
          </a:bodyPr>
          <a:lstStyle/>
          <a:p>
            <a:pPr algn="l" indent="0" marL="0">
              <a:lnSpc>
                <a:spcPct val="89799"/>
              </a:lnSpc>
              <a:buNone/>
            </a:pPr>
            <a:r>
              <a:rPr lang="en-US" sz="6900" b="1" spc="-69" kern="0" dirty="0">
                <a:solidFill>
                  <a:srgbClr val="1A1A1A"/>
                </a:solidFill>
                <a:latin typeface="Georgia" pitchFamily="34" charset="0"/>
                <a:ea typeface="Georgia" pitchFamily="34" charset="-122"/>
                <a:cs typeface="Georgia" pitchFamily="34" charset="-120"/>
              </a:rPr>
              <a:t>Tokens, Context &amp; Setup</a:t>
            </a:r>
            <a:endParaRPr lang="en-US" sz="6900" dirty="0"/>
          </a:p>
        </p:txBody>
      </p:sp>
      <p:sp>
        <p:nvSpPr>
          <p:cNvPr id="5" name="Text 3"/>
          <p:cNvSpPr/>
          <p:nvPr/>
        </p:nvSpPr>
        <p:spPr>
          <a:xfrm>
            <a:off x="1047750" y="5199831"/>
            <a:ext cx="1309687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Why tokens drive cost and limits — then get your environment ready to build.</a:t>
            </a:r>
            <a:endParaRPr lang="en-US" sz="2700" dirty="0"/>
          </a:p>
        </p:txBody>
      </p:sp>
      <p:sp>
        <p:nvSpPr>
          <p:cNvPr id="6" name="Shape 4"/>
          <p:cNvSpPr/>
          <p:nvPr/>
        </p:nvSpPr>
        <p:spPr>
          <a:xfrm>
            <a:off x="1047750" y="6104706"/>
            <a:ext cx="1307009" cy="519113"/>
          </a:xfrm>
          <a:prstGeom prst="roundRect">
            <a:avLst>
              <a:gd name="adj" fmla="val 22018"/>
            </a:avLst>
          </a:prstGeom>
          <a:solidFill>
            <a:srgbClr val="E4F4EB"/>
          </a:solidFill>
          <a:ln/>
        </p:spPr>
      </p:sp>
      <p:sp>
        <p:nvSpPr>
          <p:cNvPr id="7" name="Text 5"/>
          <p:cNvSpPr/>
          <p:nvPr/>
        </p:nvSpPr>
        <p:spPr>
          <a:xfrm>
            <a:off x="1238250" y="6219006"/>
            <a:ext cx="1002209"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178A4C"/>
                </a:solidFill>
                <a:latin typeface="Courier New" pitchFamily="34" charset="0"/>
                <a:ea typeface="Courier New" pitchFamily="34" charset="-122"/>
                <a:cs typeface="Courier New" pitchFamily="34" charset="-120"/>
              </a:rPr>
              <a:t>tokens</a:t>
            </a:r>
            <a:endParaRPr lang="en-US" sz="2025" dirty="0"/>
          </a:p>
        </p:txBody>
      </p:sp>
      <p:sp>
        <p:nvSpPr>
          <p:cNvPr id="8" name="Shape 6"/>
          <p:cNvSpPr/>
          <p:nvPr/>
        </p:nvSpPr>
        <p:spPr>
          <a:xfrm>
            <a:off x="2488109" y="6104706"/>
            <a:ext cx="1461343" cy="519113"/>
          </a:xfrm>
          <a:prstGeom prst="roundRect">
            <a:avLst>
              <a:gd name="adj" fmla="val 22018"/>
            </a:avLst>
          </a:prstGeom>
          <a:solidFill>
            <a:srgbClr val="E8F0FE"/>
          </a:solidFill>
          <a:ln/>
        </p:spPr>
      </p:sp>
      <p:sp>
        <p:nvSpPr>
          <p:cNvPr id="9" name="Text 7"/>
          <p:cNvSpPr/>
          <p:nvPr/>
        </p:nvSpPr>
        <p:spPr>
          <a:xfrm>
            <a:off x="2678609" y="6219006"/>
            <a:ext cx="1156543"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1F6FEB"/>
                </a:solidFill>
                <a:latin typeface="Courier New" pitchFamily="34" charset="0"/>
                <a:ea typeface="Courier New" pitchFamily="34" charset="-122"/>
                <a:cs typeface="Courier New" pitchFamily="34" charset="-120"/>
              </a:rPr>
              <a:t>context</a:t>
            </a:r>
            <a:endParaRPr lang="en-US" sz="2025" dirty="0"/>
          </a:p>
        </p:txBody>
      </p:sp>
      <p:sp>
        <p:nvSpPr>
          <p:cNvPr id="10" name="Shape 8"/>
          <p:cNvSpPr/>
          <p:nvPr/>
        </p:nvSpPr>
        <p:spPr>
          <a:xfrm>
            <a:off x="4082802" y="6104706"/>
            <a:ext cx="998339" cy="519113"/>
          </a:xfrm>
          <a:prstGeom prst="roundRect">
            <a:avLst>
              <a:gd name="adj" fmla="val 22018"/>
            </a:avLst>
          </a:prstGeom>
          <a:solidFill>
            <a:srgbClr val="FBF0D9"/>
          </a:solidFill>
          <a:ln/>
        </p:spPr>
      </p:sp>
      <p:sp>
        <p:nvSpPr>
          <p:cNvPr id="11" name="Text 9"/>
          <p:cNvSpPr/>
          <p:nvPr/>
        </p:nvSpPr>
        <p:spPr>
          <a:xfrm>
            <a:off x="4273302" y="6219006"/>
            <a:ext cx="693539"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C77D0A"/>
                </a:solidFill>
                <a:latin typeface="Courier New" pitchFamily="34" charset="0"/>
                <a:ea typeface="Courier New" pitchFamily="34" charset="-122"/>
                <a:cs typeface="Courier New" pitchFamily="34" charset="-120"/>
              </a:rPr>
              <a:t>cost</a:t>
            </a:r>
            <a:endParaRPr lang="en-US" sz="2025" dirty="0"/>
          </a:p>
        </p:txBody>
      </p:sp>
      <p:sp>
        <p:nvSpPr>
          <p:cNvPr id="12" name="Shape 10"/>
          <p:cNvSpPr/>
          <p:nvPr/>
        </p:nvSpPr>
        <p:spPr>
          <a:xfrm>
            <a:off x="5214491" y="6104706"/>
            <a:ext cx="1461343" cy="519113"/>
          </a:xfrm>
          <a:prstGeom prst="roundRect">
            <a:avLst>
              <a:gd name="adj" fmla="val 22018"/>
            </a:avLst>
          </a:prstGeom>
          <a:solidFill>
            <a:srgbClr val="EFE9FB"/>
          </a:solidFill>
          <a:ln/>
        </p:spPr>
      </p:sp>
      <p:sp>
        <p:nvSpPr>
          <p:cNvPr id="13" name="Text 11"/>
          <p:cNvSpPr/>
          <p:nvPr/>
        </p:nvSpPr>
        <p:spPr>
          <a:xfrm>
            <a:off x="5404991" y="6219006"/>
            <a:ext cx="1156543"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7A4FD0"/>
                </a:solidFill>
                <a:latin typeface="Courier New" pitchFamily="34" charset="0"/>
                <a:ea typeface="Courier New" pitchFamily="34" charset="-122"/>
                <a:cs typeface="Courier New" pitchFamily="34" charset="-120"/>
              </a:rPr>
              <a:t>API key</a:t>
            </a:r>
            <a:endParaRPr lang="en-US" sz="2025" dirty="0"/>
          </a:p>
        </p:txBody>
      </p:sp>
      <p:sp>
        <p:nvSpPr>
          <p:cNvPr id="14" name="Shape 12"/>
          <p:cNvSpPr/>
          <p:nvPr/>
        </p:nvSpPr>
        <p:spPr>
          <a:xfrm>
            <a:off x="6809184" y="6104706"/>
            <a:ext cx="1152674" cy="519113"/>
          </a:xfrm>
          <a:prstGeom prst="roundRect">
            <a:avLst>
              <a:gd name="adj" fmla="val 22018"/>
            </a:avLst>
          </a:prstGeom>
          <a:solidFill>
            <a:srgbClr val="FBEBEA"/>
          </a:solidFill>
          <a:ln/>
        </p:spPr>
      </p:sp>
      <p:sp>
        <p:nvSpPr>
          <p:cNvPr id="15" name="Text 13"/>
          <p:cNvSpPr/>
          <p:nvPr/>
        </p:nvSpPr>
        <p:spPr>
          <a:xfrm>
            <a:off x="6999684" y="6219006"/>
            <a:ext cx="847874"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D64545"/>
                </a:solidFill>
                <a:latin typeface="Courier New" pitchFamily="34" charset="0"/>
                <a:ea typeface="Courier New" pitchFamily="34" charset="-122"/>
                <a:cs typeface="Courier New" pitchFamily="34" charset="-120"/>
              </a:rPr>
              <a:t>setup</a:t>
            </a:r>
            <a:endParaRPr lang="en-US" sz="20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3431136"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PART 2 · ~35 MINUTES</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What This Part Covers</a:t>
            </a:r>
            <a:endParaRPr lang="en-US" sz="4800" dirty="0"/>
          </a:p>
        </p:txBody>
      </p:sp>
      <p:sp>
        <p:nvSpPr>
          <p:cNvPr id="5" name="Shape 3"/>
          <p:cNvSpPr/>
          <p:nvPr/>
        </p:nvSpPr>
        <p:spPr>
          <a:xfrm>
            <a:off x="1047750" y="5110386"/>
            <a:ext cx="14287500" cy="9525"/>
          </a:xfrm>
          <a:prstGeom prst="rect">
            <a:avLst/>
          </a:prstGeom>
          <a:solidFill>
            <a:srgbClr val="E3E1DA"/>
          </a:solidFill>
          <a:ln/>
        </p:spPr>
      </p:sp>
      <p:sp>
        <p:nvSpPr>
          <p:cNvPr id="6" name="Text 4"/>
          <p:cNvSpPr/>
          <p:nvPr/>
        </p:nvSpPr>
        <p:spPr>
          <a:xfrm>
            <a:off x="1047750" y="4276948"/>
            <a:ext cx="876300" cy="623888"/>
          </a:xfrm>
          <a:prstGeom prst="rect">
            <a:avLst/>
          </a:prstGeom>
          <a:noFill/>
          <a:ln/>
        </p:spPr>
        <p:txBody>
          <a:bodyPr wrap="square" lIns="25400" tIns="25400" rIns="25400" bIns="25400" rtlCol="0" anchor="t">
            <a:normAutofit/>
          </a:bodyPr>
          <a:lstStyle/>
          <a:p>
            <a:pPr algn="l" indent="0" marL="0">
              <a:buNone/>
            </a:pPr>
            <a:r>
              <a:rPr lang="en-US" sz="4050" b="1" dirty="0">
                <a:solidFill>
                  <a:srgbClr val="178A4C"/>
                </a:solidFill>
                <a:latin typeface="Georgia" pitchFamily="34" charset="0"/>
                <a:ea typeface="Georgia" pitchFamily="34" charset="-122"/>
                <a:cs typeface="Georgia" pitchFamily="34" charset="-120"/>
              </a:rPr>
              <a:t>01</a:t>
            </a:r>
            <a:endParaRPr lang="en-US" sz="4050" dirty="0"/>
          </a:p>
        </p:txBody>
      </p:sp>
      <p:sp>
        <p:nvSpPr>
          <p:cNvPr id="7" name="Text 5"/>
          <p:cNvSpPr/>
          <p:nvPr/>
        </p:nvSpPr>
        <p:spPr>
          <a:xfrm>
            <a:off x="2171700" y="4434111"/>
            <a:ext cx="10356354"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Arial" pitchFamily="34" charset="0"/>
                <a:ea typeface="Arial" pitchFamily="34" charset="-122"/>
                <a:cs typeface="Arial" pitchFamily="34" charset="-120"/>
              </a:rPr>
              <a:t>Tokens &amp; the context window — why they drive cost and limits</a:t>
            </a:r>
            <a:endParaRPr lang="en-US" sz="2700" dirty="0"/>
          </a:p>
        </p:txBody>
      </p:sp>
      <p:sp>
        <p:nvSpPr>
          <p:cNvPr id="8" name="Shape 6"/>
          <p:cNvSpPr/>
          <p:nvPr/>
        </p:nvSpPr>
        <p:spPr>
          <a:xfrm>
            <a:off x="1047750" y="6239098"/>
            <a:ext cx="14287500" cy="9525"/>
          </a:xfrm>
          <a:prstGeom prst="rect">
            <a:avLst/>
          </a:prstGeom>
          <a:solidFill>
            <a:srgbClr val="E3E1DA"/>
          </a:solidFill>
          <a:ln/>
        </p:spPr>
      </p:sp>
      <p:sp>
        <p:nvSpPr>
          <p:cNvPr id="9" name="Text 7"/>
          <p:cNvSpPr/>
          <p:nvPr/>
        </p:nvSpPr>
        <p:spPr>
          <a:xfrm>
            <a:off x="1047750" y="5405661"/>
            <a:ext cx="876300" cy="623888"/>
          </a:xfrm>
          <a:prstGeom prst="rect">
            <a:avLst/>
          </a:prstGeom>
          <a:noFill/>
          <a:ln/>
        </p:spPr>
        <p:txBody>
          <a:bodyPr wrap="square" lIns="25400" tIns="25400" rIns="25400" bIns="25400" rtlCol="0" anchor="t">
            <a:normAutofit/>
          </a:bodyPr>
          <a:lstStyle/>
          <a:p>
            <a:pPr algn="l" indent="0" marL="0">
              <a:buNone/>
            </a:pPr>
            <a:r>
              <a:rPr lang="en-US" sz="4050" b="1" dirty="0">
                <a:solidFill>
                  <a:srgbClr val="1F6FEB"/>
                </a:solidFill>
                <a:latin typeface="Georgia" pitchFamily="34" charset="0"/>
                <a:ea typeface="Georgia" pitchFamily="34" charset="-122"/>
                <a:cs typeface="Georgia" pitchFamily="34" charset="-120"/>
              </a:rPr>
              <a:t>02</a:t>
            </a:r>
            <a:endParaRPr lang="en-US" sz="4050" dirty="0"/>
          </a:p>
        </p:txBody>
      </p:sp>
      <p:sp>
        <p:nvSpPr>
          <p:cNvPr id="10" name="Text 8"/>
          <p:cNvSpPr/>
          <p:nvPr/>
        </p:nvSpPr>
        <p:spPr>
          <a:xfrm>
            <a:off x="2171700" y="5562823"/>
            <a:ext cx="1024568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Arial" pitchFamily="34" charset="0"/>
                <a:ea typeface="Arial" pitchFamily="34" charset="-122"/>
                <a:cs typeface="Arial" pitchFamily="34" charset="-120"/>
              </a:rPr>
              <a:t>Get set up — account, API key, and your Python environment</a:t>
            </a:r>
            <a:endParaRPr lang="en-US" sz="2700" dirty="0"/>
          </a:p>
        </p:txBody>
      </p:sp>
      <p:sp>
        <p:nvSpPr>
          <p:cNvPr id="11" name="Text 9"/>
          <p:cNvSpPr/>
          <p:nvPr/>
        </p:nvSpPr>
        <p:spPr>
          <a:xfrm>
            <a:off x="1047750" y="6534373"/>
            <a:ext cx="876300" cy="809625"/>
          </a:xfrm>
          <a:prstGeom prst="rect">
            <a:avLst/>
          </a:prstGeom>
          <a:noFill/>
          <a:ln/>
        </p:spPr>
        <p:txBody>
          <a:bodyPr wrap="square" lIns="25400" tIns="25400" rIns="25400" bIns="25400" rtlCol="0" anchor="t">
            <a:normAutofit/>
          </a:bodyPr>
          <a:lstStyle/>
          <a:p>
            <a:pPr algn="l" indent="0" marL="0">
              <a:buNone/>
            </a:pPr>
            <a:r>
              <a:rPr lang="en-US" sz="4050" b="1" dirty="0">
                <a:solidFill>
                  <a:srgbClr val="7C7A73"/>
                </a:solidFill>
                <a:latin typeface="Georgia" pitchFamily="34" charset="0"/>
                <a:ea typeface="Georgia" pitchFamily="34" charset="-122"/>
                <a:cs typeface="Georgia" pitchFamily="34" charset="-120"/>
              </a:rPr>
              <a:t>▢</a:t>
            </a:r>
            <a:endParaRPr lang="en-US" sz="4050" dirty="0"/>
          </a:p>
        </p:txBody>
      </p:sp>
      <p:sp>
        <p:nvSpPr>
          <p:cNvPr id="12" name="Text 10"/>
          <p:cNvSpPr/>
          <p:nvPr/>
        </p:nvSpPr>
        <p:spPr>
          <a:xfrm>
            <a:off x="2171700" y="6801073"/>
            <a:ext cx="8176461"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then a break — and Part 3, your first real API call</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78A4C"/>
          </a:solidFill>
          <a:ln/>
        </p:spPr>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7C7A73"/>
                </a:solidFill>
                <a:latin typeface="Arial" pitchFamily="34" charset="0"/>
                <a:ea typeface="Arial" pitchFamily="34" charset="-122"/>
                <a:cs typeface="Arial" pitchFamily="34" charset="-120"/>
              </a:rPr>
              <a:t>SECTION 01</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algn="l" indent="0" marL="0">
              <a:lnSpc>
                <a:spcPct val="79121"/>
              </a:lnSpc>
              <a:buNone/>
            </a:pPr>
            <a:r>
              <a:rPr lang="en-US" sz="15000" b="1" dirty="0">
                <a:solidFill>
                  <a:srgbClr val="178A4C"/>
                </a:solidFill>
                <a:latin typeface="Georgia" pitchFamily="34" charset="0"/>
                <a:ea typeface="Georgia" pitchFamily="34" charset="-122"/>
                <a:cs typeface="Georgia" pitchFamily="34" charset="-120"/>
              </a:rPr>
              <a:t>01</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algn="l" indent="0" marL="0">
              <a:buNone/>
            </a:pPr>
            <a:r>
              <a:rPr lang="en-US" sz="5700" b="1" dirty="0">
                <a:solidFill>
                  <a:srgbClr val="1A1A1A"/>
                </a:solidFill>
                <a:latin typeface="Georgia" pitchFamily="34" charset="0"/>
                <a:ea typeface="Georgia" pitchFamily="34" charset="-122"/>
                <a:cs typeface="Georgia" pitchFamily="34" charset="-120"/>
              </a:rPr>
              <a:t>Tokens &amp; the Context Window</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The mechanics that decide what you pay and what fits.</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Tokens: The Unit of Everything</a:t>
            </a:r>
            <a:endParaRPr lang="en-US" sz="4800" dirty="0"/>
          </a:p>
        </p:txBody>
      </p:sp>
      <p:sp>
        <p:nvSpPr>
          <p:cNvPr id="5" name="Shape 3"/>
          <p:cNvSpPr/>
          <p:nvPr/>
        </p:nvSpPr>
        <p:spPr>
          <a:xfrm>
            <a:off x="7943701" y="3855467"/>
            <a:ext cx="2400598" cy="776288"/>
          </a:xfrm>
          <a:prstGeom prst="roundRect">
            <a:avLst>
              <a:gd name="adj" fmla="val 17178"/>
            </a:avLst>
          </a:prstGeom>
          <a:solidFill>
            <a:srgbClr val="E4F4EB"/>
          </a:solidFill>
          <a:ln w="19050">
            <a:solidFill>
              <a:srgbClr val="178A4C"/>
            </a:solidFill>
            <a:prstDash val="solid"/>
          </a:ln>
        </p:spPr>
      </p:sp>
      <p:sp>
        <p:nvSpPr>
          <p:cNvPr id="6" name="Text 4"/>
          <p:cNvSpPr/>
          <p:nvPr/>
        </p:nvSpPr>
        <p:spPr>
          <a:xfrm>
            <a:off x="8343751" y="4026917"/>
            <a:ext cx="1676698" cy="471488"/>
          </a:xfrm>
          <a:prstGeom prst="rect">
            <a:avLst/>
          </a:prstGeom>
          <a:noFill/>
          <a:ln/>
        </p:spPr>
        <p:txBody>
          <a:bodyPr wrap="square" lIns="25400" tIns="25400" rIns="25400" bIns="25400" rtlCol="0" anchor="t">
            <a:normAutofit/>
          </a:bodyPr>
          <a:lstStyle/>
          <a:p>
            <a:pPr algn="l" indent="0" marL="0">
              <a:buNone/>
            </a:pPr>
            <a:r>
              <a:rPr lang="en-US" sz="3000" dirty="0">
                <a:solidFill>
                  <a:srgbClr val="178A4C"/>
                </a:solidFill>
                <a:latin typeface="Courier New" pitchFamily="34" charset="0"/>
                <a:ea typeface="Courier New" pitchFamily="34" charset="-122"/>
                <a:cs typeface="Courier New" pitchFamily="34" charset="-120"/>
              </a:rPr>
              <a:t>1 token</a:t>
            </a:r>
            <a:endParaRPr lang="en-US" sz="3000" dirty="0"/>
          </a:p>
        </p:txBody>
      </p:sp>
      <p:sp>
        <p:nvSpPr>
          <p:cNvPr id="7" name="Shape 5"/>
          <p:cNvSpPr/>
          <p:nvPr/>
        </p:nvSpPr>
        <p:spPr>
          <a:xfrm>
            <a:off x="1047750" y="4917504"/>
            <a:ext cx="7981950" cy="1223963"/>
          </a:xfrm>
          <a:prstGeom prst="roundRect">
            <a:avLst>
              <a:gd name="adj" fmla="val 10895"/>
            </a:avLst>
          </a:prstGeom>
          <a:ln w="9525">
            <a:solidFill>
              <a:srgbClr val="E3E1DA"/>
            </a:solidFill>
            <a:prstDash val="solid"/>
          </a:ln>
        </p:spPr>
      </p:sp>
      <p:sp>
        <p:nvSpPr>
          <p:cNvPr id="8" name="Text 6"/>
          <p:cNvSpPr/>
          <p:nvPr/>
        </p:nvSpPr>
        <p:spPr>
          <a:xfrm>
            <a:off x="1343025" y="5174679"/>
            <a:ext cx="813054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1F6FEB"/>
                </a:solidFill>
                <a:latin typeface="Arial" pitchFamily="34" charset="0"/>
                <a:ea typeface="Arial" pitchFamily="34" charset="-122"/>
                <a:cs typeface="Arial" pitchFamily="34" charset="-120"/>
              </a:rPr>
              <a:t>READ</a:t>
            </a:r>
            <a:endParaRPr lang="en-US" sz="1800" dirty="0"/>
          </a:p>
        </p:txBody>
      </p:sp>
      <p:sp>
        <p:nvSpPr>
          <p:cNvPr id="9" name="Text 7"/>
          <p:cNvSpPr/>
          <p:nvPr/>
        </p:nvSpPr>
        <p:spPr>
          <a:xfrm>
            <a:off x="1343025" y="5531867"/>
            <a:ext cx="813054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What the model actually consumes</a:t>
            </a:r>
            <a:endParaRPr lang="en-US" sz="2400" dirty="0"/>
          </a:p>
        </p:txBody>
      </p:sp>
      <p:sp>
        <p:nvSpPr>
          <p:cNvPr id="10" name="Shape 8"/>
          <p:cNvSpPr/>
          <p:nvPr/>
        </p:nvSpPr>
        <p:spPr>
          <a:xfrm>
            <a:off x="9258300" y="4917504"/>
            <a:ext cx="7981950" cy="1223963"/>
          </a:xfrm>
          <a:prstGeom prst="roundRect">
            <a:avLst>
              <a:gd name="adj" fmla="val 10895"/>
            </a:avLst>
          </a:prstGeom>
          <a:ln w="9525">
            <a:solidFill>
              <a:srgbClr val="E3E1DA"/>
            </a:solidFill>
            <a:prstDash val="solid"/>
          </a:ln>
        </p:spPr>
      </p:sp>
      <p:sp>
        <p:nvSpPr>
          <p:cNvPr id="11" name="Text 9"/>
          <p:cNvSpPr/>
          <p:nvPr/>
        </p:nvSpPr>
        <p:spPr>
          <a:xfrm>
            <a:off x="9553575" y="5174679"/>
            <a:ext cx="813054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64545"/>
                </a:solidFill>
                <a:latin typeface="Arial" pitchFamily="34" charset="0"/>
                <a:ea typeface="Arial" pitchFamily="34" charset="-122"/>
                <a:cs typeface="Arial" pitchFamily="34" charset="-120"/>
              </a:rPr>
              <a:t>BILLED</a:t>
            </a:r>
            <a:endParaRPr lang="en-US" sz="1800" dirty="0"/>
          </a:p>
        </p:txBody>
      </p:sp>
      <p:sp>
        <p:nvSpPr>
          <p:cNvPr id="12" name="Text 10"/>
          <p:cNvSpPr/>
          <p:nvPr/>
        </p:nvSpPr>
        <p:spPr>
          <a:xfrm>
            <a:off x="9553575" y="5531867"/>
            <a:ext cx="813054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What you pay for — per token, in and out</a:t>
            </a:r>
            <a:endParaRPr lang="en-US" sz="2400" dirty="0"/>
          </a:p>
        </p:txBody>
      </p:sp>
      <p:sp>
        <p:nvSpPr>
          <p:cNvPr id="13" name="Shape 11"/>
          <p:cNvSpPr/>
          <p:nvPr/>
        </p:nvSpPr>
        <p:spPr>
          <a:xfrm>
            <a:off x="1047750" y="6370067"/>
            <a:ext cx="7981950" cy="1223963"/>
          </a:xfrm>
          <a:prstGeom prst="roundRect">
            <a:avLst>
              <a:gd name="adj" fmla="val 10895"/>
            </a:avLst>
          </a:prstGeom>
          <a:ln w="9525">
            <a:solidFill>
              <a:srgbClr val="E3E1DA"/>
            </a:solidFill>
            <a:prstDash val="solid"/>
          </a:ln>
        </p:spPr>
      </p:sp>
      <p:sp>
        <p:nvSpPr>
          <p:cNvPr id="14" name="Text 12"/>
          <p:cNvSpPr/>
          <p:nvPr/>
        </p:nvSpPr>
        <p:spPr>
          <a:xfrm>
            <a:off x="1343025" y="6627242"/>
            <a:ext cx="813054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C77D0A"/>
                </a:solidFill>
                <a:latin typeface="Arial" pitchFamily="34" charset="0"/>
                <a:ea typeface="Arial" pitchFamily="34" charset="-122"/>
                <a:cs typeface="Arial" pitchFamily="34" charset="-120"/>
              </a:rPr>
              <a:t>LIMITED</a:t>
            </a:r>
            <a:endParaRPr lang="en-US" sz="1800" dirty="0"/>
          </a:p>
        </p:txBody>
      </p:sp>
      <p:sp>
        <p:nvSpPr>
          <p:cNvPr id="15" name="Text 13"/>
          <p:cNvSpPr/>
          <p:nvPr/>
        </p:nvSpPr>
        <p:spPr>
          <a:xfrm>
            <a:off x="1343025" y="6984429"/>
            <a:ext cx="813054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Every model limit is counted in tokens</a:t>
            </a:r>
            <a:endParaRPr lang="en-US" sz="2400" dirty="0"/>
          </a:p>
        </p:txBody>
      </p:sp>
      <p:sp>
        <p:nvSpPr>
          <p:cNvPr id="16" name="Shape 14"/>
          <p:cNvSpPr/>
          <p:nvPr/>
        </p:nvSpPr>
        <p:spPr>
          <a:xfrm>
            <a:off x="9258300" y="6370067"/>
            <a:ext cx="7981950" cy="1223963"/>
          </a:xfrm>
          <a:prstGeom prst="roundRect">
            <a:avLst>
              <a:gd name="adj" fmla="val 10895"/>
            </a:avLst>
          </a:prstGeom>
          <a:ln w="9525">
            <a:solidFill>
              <a:srgbClr val="E3E1DA"/>
            </a:solidFill>
            <a:prstDash val="solid"/>
          </a:ln>
        </p:spPr>
      </p:sp>
      <p:sp>
        <p:nvSpPr>
          <p:cNvPr id="17" name="Text 15"/>
          <p:cNvSpPr/>
          <p:nvPr/>
        </p:nvSpPr>
        <p:spPr>
          <a:xfrm>
            <a:off x="9553575" y="6627242"/>
            <a:ext cx="813054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7A4FD0"/>
                </a:solidFill>
                <a:latin typeface="Arial" pitchFamily="34" charset="0"/>
                <a:ea typeface="Arial" pitchFamily="34" charset="-122"/>
                <a:cs typeface="Arial" pitchFamily="34" charset="-120"/>
              </a:rPr>
              <a:t>BUDGETED</a:t>
            </a:r>
            <a:endParaRPr lang="en-US" sz="1800" dirty="0"/>
          </a:p>
        </p:txBody>
      </p:sp>
      <p:sp>
        <p:nvSpPr>
          <p:cNvPr id="18" name="Text 16"/>
          <p:cNvSpPr/>
          <p:nvPr/>
        </p:nvSpPr>
        <p:spPr>
          <a:xfrm>
            <a:off x="9553575" y="6984429"/>
            <a:ext cx="813054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The context window is a token budget</a:t>
            </a:r>
            <a:endParaRPr lang="en-US" sz="2400" dirty="0"/>
          </a:p>
        </p:txBody>
      </p:sp>
      <p:sp>
        <p:nvSpPr>
          <p:cNvPr id="19" name="Shape 17"/>
          <p:cNvSpPr/>
          <p:nvPr/>
        </p:nvSpPr>
        <p:spPr>
          <a:xfrm>
            <a:off x="1047750" y="9520238"/>
            <a:ext cx="16192500" cy="9525"/>
          </a:xfrm>
          <a:prstGeom prst="rect">
            <a:avLst/>
          </a:prstGeom>
          <a:solidFill>
            <a:srgbClr val="E3E1DA"/>
          </a:solidFill>
          <a:ln/>
        </p:spPr>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What Counts as a Token</a:t>
            </a:r>
            <a:endParaRPr lang="en-US" sz="4800" dirty="0"/>
          </a:p>
        </p:txBody>
      </p:sp>
      <p:sp>
        <p:nvSpPr>
          <p:cNvPr id="5" name="Shape 3"/>
          <p:cNvSpPr/>
          <p:nvPr/>
        </p:nvSpPr>
        <p:spPr>
          <a:xfrm>
            <a:off x="1047750" y="3808809"/>
            <a:ext cx="1076474" cy="481012"/>
          </a:xfrm>
          <a:prstGeom prst="roundRect">
            <a:avLst>
              <a:gd name="adj" fmla="val 17822"/>
            </a:avLst>
          </a:prstGeom>
          <a:solidFill>
            <a:srgbClr val="E8F0FE"/>
          </a:solidFill>
          <a:ln/>
        </p:spPr>
      </p:sp>
      <p:sp>
        <p:nvSpPr>
          <p:cNvPr id="6" name="Text 4"/>
          <p:cNvSpPr/>
          <p:nvPr/>
        </p:nvSpPr>
        <p:spPr>
          <a:xfrm>
            <a:off x="1200150" y="3904059"/>
            <a:ext cx="847874" cy="328612"/>
          </a:xfrm>
          <a:prstGeom prst="rect">
            <a:avLst/>
          </a:prstGeom>
          <a:noFill/>
          <a:ln/>
        </p:spPr>
        <p:txBody>
          <a:bodyPr wrap="square" lIns="25400" tIns="25400" rIns="25400" bIns="25400" rtlCol="0" anchor="t">
            <a:normAutofit/>
          </a:bodyPr>
          <a:lstStyle/>
          <a:p>
            <a:pPr algn="l" indent="0" marL="0">
              <a:buNone/>
            </a:pPr>
            <a:r>
              <a:rPr lang="en-US" sz="2025" dirty="0">
                <a:solidFill>
                  <a:srgbClr val="1F6FEB"/>
                </a:solidFill>
                <a:latin typeface="Courier New" pitchFamily="34" charset="0"/>
                <a:ea typeface="Courier New" pitchFamily="34" charset="-122"/>
                <a:cs typeface="Courier New" pitchFamily="34" charset="-120"/>
              </a:rPr>
              <a:t>Count</a:t>
            </a:r>
            <a:endParaRPr lang="en-US" sz="2025" dirty="0"/>
          </a:p>
        </p:txBody>
      </p:sp>
      <p:sp>
        <p:nvSpPr>
          <p:cNvPr id="7" name="Shape 5"/>
          <p:cNvSpPr/>
          <p:nvPr/>
        </p:nvSpPr>
        <p:spPr>
          <a:xfrm>
            <a:off x="2219474" y="3808809"/>
            <a:ext cx="922139" cy="481012"/>
          </a:xfrm>
          <a:prstGeom prst="roundRect">
            <a:avLst>
              <a:gd name="adj" fmla="val 17822"/>
            </a:avLst>
          </a:prstGeom>
          <a:solidFill>
            <a:srgbClr val="E4F4EB"/>
          </a:solidFill>
          <a:ln/>
        </p:spPr>
      </p:sp>
      <p:sp>
        <p:nvSpPr>
          <p:cNvPr id="8" name="Text 6"/>
          <p:cNvSpPr/>
          <p:nvPr/>
        </p:nvSpPr>
        <p:spPr>
          <a:xfrm>
            <a:off x="2371874" y="3904059"/>
            <a:ext cx="693539" cy="328612"/>
          </a:xfrm>
          <a:prstGeom prst="rect">
            <a:avLst/>
          </a:prstGeom>
          <a:noFill/>
          <a:ln/>
        </p:spPr>
        <p:txBody>
          <a:bodyPr wrap="square" lIns="25400" tIns="25400" rIns="25400" bIns="25400" rtlCol="0" anchor="t">
            <a:normAutofit/>
          </a:bodyPr>
          <a:lstStyle/>
          <a:p>
            <a:pPr algn="l" indent="0" marL="0">
              <a:buNone/>
            </a:pPr>
            <a:r>
              <a:rPr lang="en-US" sz="2025" dirty="0">
                <a:solidFill>
                  <a:srgbClr val="178A4C"/>
                </a:solidFill>
                <a:latin typeface="Courier New" pitchFamily="34" charset="0"/>
                <a:ea typeface="Courier New" pitchFamily="34" charset="-122"/>
                <a:cs typeface="Courier New" pitchFamily="34" charset="-120"/>
              </a:rPr>
              <a:t>·the</a:t>
            </a:r>
            <a:endParaRPr lang="en-US" sz="2025" dirty="0"/>
          </a:p>
        </p:txBody>
      </p:sp>
      <p:sp>
        <p:nvSpPr>
          <p:cNvPr id="9" name="Shape 7"/>
          <p:cNvSpPr/>
          <p:nvPr/>
        </p:nvSpPr>
        <p:spPr>
          <a:xfrm>
            <a:off x="3236863" y="3808809"/>
            <a:ext cx="1385143" cy="481012"/>
          </a:xfrm>
          <a:prstGeom prst="roundRect">
            <a:avLst>
              <a:gd name="adj" fmla="val 17822"/>
            </a:avLst>
          </a:prstGeom>
          <a:solidFill>
            <a:srgbClr val="FBF0D9"/>
          </a:solidFill>
          <a:ln/>
        </p:spPr>
      </p:sp>
      <p:sp>
        <p:nvSpPr>
          <p:cNvPr id="10" name="Text 8"/>
          <p:cNvSpPr/>
          <p:nvPr/>
        </p:nvSpPr>
        <p:spPr>
          <a:xfrm>
            <a:off x="3389263" y="3904059"/>
            <a:ext cx="1156543" cy="328612"/>
          </a:xfrm>
          <a:prstGeom prst="rect">
            <a:avLst/>
          </a:prstGeom>
          <a:noFill/>
          <a:ln/>
        </p:spPr>
        <p:txBody>
          <a:bodyPr wrap="square" lIns="25400" tIns="25400" rIns="25400" bIns="25400" rtlCol="0" anchor="t">
            <a:normAutofit/>
          </a:bodyPr>
          <a:lstStyle/>
          <a:p>
            <a:pPr algn="l" indent="0" marL="0">
              <a:buNone/>
            </a:pPr>
            <a:r>
              <a:rPr lang="en-US" sz="2025" dirty="0">
                <a:solidFill>
                  <a:srgbClr val="C77D0A"/>
                </a:solidFill>
                <a:latin typeface="Courier New" pitchFamily="34" charset="0"/>
                <a:ea typeface="Courier New" pitchFamily="34" charset="-122"/>
                <a:cs typeface="Courier New" pitchFamily="34" charset="-120"/>
              </a:rPr>
              <a:t>·tokens</a:t>
            </a:r>
            <a:endParaRPr lang="en-US" sz="2025" dirty="0"/>
          </a:p>
        </p:txBody>
      </p:sp>
      <p:sp>
        <p:nvSpPr>
          <p:cNvPr id="11" name="Shape 9"/>
          <p:cNvSpPr/>
          <p:nvPr/>
        </p:nvSpPr>
        <p:spPr>
          <a:xfrm>
            <a:off x="4717256" y="3808809"/>
            <a:ext cx="459135" cy="481012"/>
          </a:xfrm>
          <a:prstGeom prst="roundRect">
            <a:avLst>
              <a:gd name="adj" fmla="val 18671"/>
            </a:avLst>
          </a:prstGeom>
          <a:solidFill>
            <a:srgbClr val="EFE9FB"/>
          </a:solidFill>
          <a:ln/>
        </p:spPr>
      </p:sp>
      <p:sp>
        <p:nvSpPr>
          <p:cNvPr id="12" name="Text 10"/>
          <p:cNvSpPr/>
          <p:nvPr/>
        </p:nvSpPr>
        <p:spPr>
          <a:xfrm>
            <a:off x="4869656" y="3904059"/>
            <a:ext cx="230535" cy="328612"/>
          </a:xfrm>
          <a:prstGeom prst="rect">
            <a:avLst/>
          </a:prstGeom>
          <a:noFill/>
          <a:ln/>
        </p:spPr>
        <p:txBody>
          <a:bodyPr wrap="square" lIns="25400" tIns="25400" rIns="25400" bIns="25400" rtlCol="0" anchor="t">
            <a:normAutofit/>
          </a:bodyPr>
          <a:lstStyle/>
          <a:p>
            <a:pPr algn="l" indent="0" marL="0">
              <a:buNone/>
            </a:pPr>
            <a:r>
              <a:rPr lang="en-US" sz="2025" dirty="0">
                <a:solidFill>
                  <a:srgbClr val="7A4FD0"/>
                </a:solidFill>
                <a:latin typeface="Courier New" pitchFamily="34" charset="0"/>
                <a:ea typeface="Courier New" pitchFamily="34" charset="-122"/>
                <a:cs typeface="Courier New" pitchFamily="34" charset="-120"/>
              </a:rPr>
              <a:t>,</a:t>
            </a:r>
            <a:endParaRPr lang="en-US" sz="2025" dirty="0"/>
          </a:p>
        </p:txBody>
      </p:sp>
      <p:sp>
        <p:nvSpPr>
          <p:cNvPr id="13" name="Shape 11"/>
          <p:cNvSpPr/>
          <p:nvPr/>
        </p:nvSpPr>
        <p:spPr>
          <a:xfrm>
            <a:off x="5271641" y="3808809"/>
            <a:ext cx="922139" cy="481012"/>
          </a:xfrm>
          <a:prstGeom prst="roundRect">
            <a:avLst>
              <a:gd name="adj" fmla="val 17822"/>
            </a:avLst>
          </a:prstGeom>
          <a:solidFill>
            <a:srgbClr val="FBEBEA"/>
          </a:solidFill>
          <a:ln/>
        </p:spPr>
      </p:sp>
      <p:sp>
        <p:nvSpPr>
          <p:cNvPr id="14" name="Text 12"/>
          <p:cNvSpPr/>
          <p:nvPr/>
        </p:nvSpPr>
        <p:spPr>
          <a:xfrm>
            <a:off x="5424041" y="3904059"/>
            <a:ext cx="693539" cy="328612"/>
          </a:xfrm>
          <a:prstGeom prst="rect">
            <a:avLst/>
          </a:prstGeom>
          <a:noFill/>
          <a:ln/>
        </p:spPr>
        <p:txBody>
          <a:bodyPr wrap="square" lIns="25400" tIns="25400" rIns="25400" bIns="25400" rtlCol="0" anchor="t">
            <a:normAutofit/>
          </a:bodyPr>
          <a:lstStyle/>
          <a:p>
            <a:pPr algn="l" indent="0" marL="0">
              <a:buNone/>
            </a:pPr>
            <a:r>
              <a:rPr lang="en-US" sz="2025" dirty="0">
                <a:solidFill>
                  <a:srgbClr val="D64545"/>
                </a:solidFill>
                <a:latin typeface="Courier New" pitchFamily="34" charset="0"/>
                <a:ea typeface="Courier New" pitchFamily="34" charset="-122"/>
                <a:cs typeface="Courier New" pitchFamily="34" charset="-120"/>
              </a:rPr>
              <a:t>·not</a:t>
            </a:r>
            <a:endParaRPr lang="en-US" sz="2025" dirty="0"/>
          </a:p>
        </p:txBody>
      </p:sp>
      <p:sp>
        <p:nvSpPr>
          <p:cNvPr id="15" name="Shape 13"/>
          <p:cNvSpPr/>
          <p:nvPr/>
        </p:nvSpPr>
        <p:spPr>
          <a:xfrm>
            <a:off x="6289030" y="3808809"/>
            <a:ext cx="1076474" cy="481012"/>
          </a:xfrm>
          <a:prstGeom prst="roundRect">
            <a:avLst>
              <a:gd name="adj" fmla="val 17822"/>
            </a:avLst>
          </a:prstGeom>
          <a:solidFill>
            <a:srgbClr val="E8F0FE"/>
          </a:solidFill>
          <a:ln/>
        </p:spPr>
      </p:sp>
      <p:sp>
        <p:nvSpPr>
          <p:cNvPr id="16" name="Text 14"/>
          <p:cNvSpPr/>
          <p:nvPr/>
        </p:nvSpPr>
        <p:spPr>
          <a:xfrm>
            <a:off x="6441430" y="3904059"/>
            <a:ext cx="847874" cy="328612"/>
          </a:xfrm>
          <a:prstGeom prst="rect">
            <a:avLst/>
          </a:prstGeom>
          <a:noFill/>
          <a:ln/>
        </p:spPr>
        <p:txBody>
          <a:bodyPr wrap="square" lIns="25400" tIns="25400" rIns="25400" bIns="25400" rtlCol="0" anchor="t">
            <a:normAutofit/>
          </a:bodyPr>
          <a:lstStyle/>
          <a:p>
            <a:pPr algn="l" indent="0" marL="0">
              <a:buNone/>
            </a:pPr>
            <a:r>
              <a:rPr lang="en-US" sz="2025" dirty="0">
                <a:solidFill>
                  <a:srgbClr val="1F6FEB"/>
                </a:solidFill>
                <a:latin typeface="Courier New" pitchFamily="34" charset="0"/>
                <a:ea typeface="Courier New" pitchFamily="34" charset="-122"/>
                <a:cs typeface="Courier New" pitchFamily="34" charset="-120"/>
              </a:rPr>
              <a:t>·char</a:t>
            </a:r>
            <a:endParaRPr lang="en-US" sz="2025" dirty="0"/>
          </a:p>
        </p:txBody>
      </p:sp>
      <p:sp>
        <p:nvSpPr>
          <p:cNvPr id="17" name="Shape 15"/>
          <p:cNvSpPr/>
          <p:nvPr/>
        </p:nvSpPr>
        <p:spPr>
          <a:xfrm>
            <a:off x="7460754" y="3808809"/>
            <a:ext cx="1230809" cy="481012"/>
          </a:xfrm>
          <a:prstGeom prst="roundRect">
            <a:avLst>
              <a:gd name="adj" fmla="val 17822"/>
            </a:avLst>
          </a:prstGeom>
          <a:solidFill>
            <a:srgbClr val="FFF1A8"/>
          </a:solidFill>
          <a:ln/>
        </p:spPr>
      </p:sp>
      <p:sp>
        <p:nvSpPr>
          <p:cNvPr id="18" name="Text 16"/>
          <p:cNvSpPr/>
          <p:nvPr/>
        </p:nvSpPr>
        <p:spPr>
          <a:xfrm>
            <a:off x="7613154" y="3904059"/>
            <a:ext cx="1002209" cy="328612"/>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acters</a:t>
            </a:r>
            <a:endParaRPr lang="en-US" sz="2025" dirty="0"/>
          </a:p>
        </p:txBody>
      </p:sp>
      <p:sp>
        <p:nvSpPr>
          <p:cNvPr id="19" name="Shape 17"/>
          <p:cNvSpPr/>
          <p:nvPr/>
        </p:nvSpPr>
        <p:spPr>
          <a:xfrm>
            <a:off x="8786813" y="3808809"/>
            <a:ext cx="459135" cy="481012"/>
          </a:xfrm>
          <a:prstGeom prst="roundRect">
            <a:avLst>
              <a:gd name="adj" fmla="val 18671"/>
            </a:avLst>
          </a:prstGeom>
          <a:solidFill>
            <a:srgbClr val="E4F4EB"/>
          </a:solidFill>
          <a:ln/>
        </p:spPr>
      </p:sp>
      <p:sp>
        <p:nvSpPr>
          <p:cNvPr id="20" name="Text 18"/>
          <p:cNvSpPr/>
          <p:nvPr/>
        </p:nvSpPr>
        <p:spPr>
          <a:xfrm>
            <a:off x="8939213" y="3904059"/>
            <a:ext cx="230535" cy="328612"/>
          </a:xfrm>
          <a:prstGeom prst="rect">
            <a:avLst/>
          </a:prstGeom>
          <a:noFill/>
          <a:ln/>
        </p:spPr>
        <p:txBody>
          <a:bodyPr wrap="square" lIns="25400" tIns="25400" rIns="25400" bIns="25400" rtlCol="0" anchor="t">
            <a:normAutofit/>
          </a:bodyPr>
          <a:lstStyle/>
          <a:p>
            <a:pPr algn="l" indent="0" marL="0">
              <a:buNone/>
            </a:pPr>
            <a:r>
              <a:rPr lang="en-US" sz="2025" dirty="0">
                <a:solidFill>
                  <a:srgbClr val="178A4C"/>
                </a:solidFill>
                <a:latin typeface="Courier New" pitchFamily="34" charset="0"/>
                <a:ea typeface="Courier New" pitchFamily="34" charset="-122"/>
                <a:cs typeface="Courier New" pitchFamily="34" charset="-120"/>
              </a:rPr>
              <a:t>.</a:t>
            </a:r>
            <a:endParaRPr lang="en-US" sz="2025" dirty="0"/>
          </a:p>
        </p:txBody>
      </p:sp>
      <p:sp>
        <p:nvSpPr>
          <p:cNvPr id="21" name="Text 19"/>
          <p:cNvSpPr/>
          <p:nvPr/>
        </p:nvSpPr>
        <p:spPr>
          <a:xfrm>
            <a:off x="9474547" y="3904059"/>
            <a:ext cx="1697682" cy="328613"/>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 8 tokens</a:t>
            </a:r>
            <a:endParaRPr lang="en-US" sz="2025" dirty="0"/>
          </a:p>
        </p:txBody>
      </p:sp>
      <p:sp>
        <p:nvSpPr>
          <p:cNvPr id="22" name="Shape 20"/>
          <p:cNvSpPr/>
          <p:nvPr/>
        </p:nvSpPr>
        <p:spPr>
          <a:xfrm>
            <a:off x="1047750" y="4575572"/>
            <a:ext cx="3638550" cy="990600"/>
          </a:xfrm>
          <a:prstGeom prst="roundRect">
            <a:avLst>
              <a:gd name="adj" fmla="val 11538"/>
            </a:avLst>
          </a:prstGeom>
          <a:ln w="9525">
            <a:solidFill>
              <a:srgbClr val="E3E1DA"/>
            </a:solidFill>
            <a:prstDash val="solid"/>
          </a:ln>
        </p:spPr>
      </p:sp>
      <p:sp>
        <p:nvSpPr>
          <p:cNvPr id="23" name="Text 21"/>
          <p:cNvSpPr/>
          <p:nvPr/>
        </p:nvSpPr>
        <p:spPr>
          <a:xfrm>
            <a:off x="1285875" y="4775597"/>
            <a:ext cx="3271456" cy="628650"/>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Courier New" pitchFamily="34" charset="0"/>
                <a:ea typeface="Courier New" pitchFamily="34" charset="-122"/>
                <a:cs typeface="Courier New" pitchFamily="34" charset="-120"/>
              </a:rPr>
              <a:t>“cat” </a:t>
            </a:r>
            <a:pPr algn="l" indent="0" marL="0">
              <a:buNone/>
            </a:pPr>
            <a:r>
              <a:rPr lang="en-US" sz="2025" dirty="0">
                <a:solidFill>
                  <a:srgbClr val="3D3D3D"/>
                </a:solidFill>
                <a:latin typeface="Arial" pitchFamily="34" charset="0"/>
                <a:ea typeface="Arial" pitchFamily="34" charset="-122"/>
                <a:cs typeface="Arial" pitchFamily="34" charset="-120"/>
              </a:rPr>
              <a:t>→ </a:t>
            </a:r>
            <a:pPr algn="l" indent="0" marL="0">
              <a:buNone/>
            </a:pPr>
            <a:r>
              <a:rPr lang="en-US" sz="2025" b="1" dirty="0">
                <a:solidFill>
                  <a:srgbClr val="178A4C"/>
                </a:solidFill>
                <a:latin typeface="Arial" pitchFamily="34" charset="0"/>
                <a:ea typeface="Arial" pitchFamily="34" charset="-122"/>
                <a:cs typeface="Arial" pitchFamily="34" charset="-120"/>
              </a:rPr>
              <a:t>1 token</a:t>
            </a:r>
            <a:endParaRPr lang="en-US" sz="2025" dirty="0"/>
          </a:p>
        </p:txBody>
      </p:sp>
      <p:sp>
        <p:nvSpPr>
          <p:cNvPr id="24" name="Shape 22"/>
          <p:cNvSpPr/>
          <p:nvPr/>
        </p:nvSpPr>
        <p:spPr>
          <a:xfrm>
            <a:off x="4914900" y="4575572"/>
            <a:ext cx="3638550" cy="990600"/>
          </a:xfrm>
          <a:prstGeom prst="roundRect">
            <a:avLst>
              <a:gd name="adj" fmla="val 11538"/>
            </a:avLst>
          </a:prstGeom>
          <a:ln w="9525">
            <a:solidFill>
              <a:srgbClr val="E3E1DA"/>
            </a:solidFill>
            <a:prstDash val="solid"/>
          </a:ln>
        </p:spPr>
      </p:sp>
      <p:sp>
        <p:nvSpPr>
          <p:cNvPr id="25" name="Text 23"/>
          <p:cNvSpPr/>
          <p:nvPr/>
        </p:nvSpPr>
        <p:spPr>
          <a:xfrm>
            <a:off x="5153025" y="4775597"/>
            <a:ext cx="3271456" cy="628650"/>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Courier New" pitchFamily="34" charset="0"/>
                <a:ea typeface="Courier New" pitchFamily="34" charset="-122"/>
                <a:cs typeface="Courier New" pitchFamily="34" charset="-120"/>
              </a:rPr>
              <a:t>“unbelievable” </a:t>
            </a:r>
            <a:pPr algn="l" indent="0" marL="0">
              <a:buNone/>
            </a:pPr>
            <a:r>
              <a:rPr lang="en-US" sz="2025" dirty="0">
                <a:solidFill>
                  <a:srgbClr val="3D3D3D"/>
                </a:solidFill>
                <a:latin typeface="Arial" pitchFamily="34" charset="0"/>
                <a:ea typeface="Arial" pitchFamily="34" charset="-122"/>
                <a:cs typeface="Arial" pitchFamily="34" charset="-120"/>
              </a:rPr>
              <a:t>→ </a:t>
            </a:r>
            <a:pPr algn="l" indent="0" marL="0">
              <a:buNone/>
            </a:pPr>
            <a:r>
              <a:rPr lang="en-US" sz="2025" b="1" dirty="0">
                <a:solidFill>
                  <a:srgbClr val="C77D0A"/>
                </a:solidFill>
                <a:latin typeface="Arial" pitchFamily="34" charset="0"/>
                <a:ea typeface="Arial" pitchFamily="34" charset="-122"/>
                <a:cs typeface="Arial" pitchFamily="34" charset="-120"/>
              </a:rPr>
              <a:t>3</a:t>
            </a:r>
            <a:endParaRPr lang="en-US" sz="2025" dirty="0"/>
          </a:p>
        </p:txBody>
      </p:sp>
      <p:sp>
        <p:nvSpPr>
          <p:cNvPr id="26" name="Shape 24"/>
          <p:cNvSpPr/>
          <p:nvPr/>
        </p:nvSpPr>
        <p:spPr>
          <a:xfrm>
            <a:off x="8782050" y="4575572"/>
            <a:ext cx="3638550" cy="990600"/>
          </a:xfrm>
          <a:prstGeom prst="roundRect">
            <a:avLst>
              <a:gd name="adj" fmla="val 11538"/>
            </a:avLst>
          </a:prstGeom>
          <a:ln w="9525">
            <a:solidFill>
              <a:srgbClr val="E3E1DA"/>
            </a:solidFill>
            <a:prstDash val="solid"/>
          </a:ln>
        </p:spPr>
      </p:sp>
      <p:sp>
        <p:nvSpPr>
          <p:cNvPr id="27" name="Text 25"/>
          <p:cNvSpPr/>
          <p:nvPr/>
        </p:nvSpPr>
        <p:spPr>
          <a:xfrm>
            <a:off x="9020175" y="4775597"/>
            <a:ext cx="3271456" cy="628650"/>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emoji &amp; non-English → </a:t>
            </a:r>
            <a:pPr algn="l" indent="0" marL="0">
              <a:buNone/>
            </a:pPr>
            <a:r>
              <a:rPr lang="en-US" sz="2025" b="1" dirty="0">
                <a:solidFill>
                  <a:srgbClr val="D64545"/>
                </a:solidFill>
                <a:latin typeface="Arial" pitchFamily="34" charset="0"/>
                <a:ea typeface="Arial" pitchFamily="34" charset="-122"/>
                <a:cs typeface="Arial" pitchFamily="34" charset="-120"/>
              </a:rPr>
              <a:t>many</a:t>
            </a:r>
            <a:endParaRPr lang="en-US" sz="2025" dirty="0"/>
          </a:p>
        </p:txBody>
      </p:sp>
      <p:sp>
        <p:nvSpPr>
          <p:cNvPr id="28" name="Shape 26"/>
          <p:cNvSpPr/>
          <p:nvPr/>
        </p:nvSpPr>
        <p:spPr>
          <a:xfrm>
            <a:off x="12649200" y="4575572"/>
            <a:ext cx="3638550" cy="990600"/>
          </a:xfrm>
          <a:prstGeom prst="roundRect">
            <a:avLst>
              <a:gd name="adj" fmla="val 11538"/>
            </a:avLst>
          </a:prstGeom>
          <a:ln w="9525">
            <a:solidFill>
              <a:srgbClr val="E3E1DA"/>
            </a:solidFill>
            <a:prstDash val="solid"/>
          </a:ln>
        </p:spPr>
      </p:sp>
      <p:sp>
        <p:nvSpPr>
          <p:cNvPr id="29" name="Text 27"/>
          <p:cNvSpPr/>
          <p:nvPr/>
        </p:nvSpPr>
        <p:spPr>
          <a:xfrm>
            <a:off x="12887325" y="4775597"/>
            <a:ext cx="3271456" cy="628650"/>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code / JSON → </a:t>
            </a:r>
            <a:pPr algn="l" indent="0" marL="0">
              <a:buNone/>
            </a:pPr>
            <a:r>
              <a:rPr lang="en-US" sz="2025" b="1" dirty="0">
                <a:solidFill>
                  <a:srgbClr val="D64545"/>
                </a:solidFill>
                <a:latin typeface="Arial" pitchFamily="34" charset="0"/>
                <a:ea typeface="Arial" pitchFamily="34" charset="-122"/>
                <a:cs typeface="Arial" pitchFamily="34" charset="-120"/>
              </a:rPr>
              <a:t>token-hungry</a:t>
            </a:r>
            <a:endParaRPr lang="en-US" sz="2025" dirty="0"/>
          </a:p>
        </p:txBody>
      </p:sp>
      <p:sp>
        <p:nvSpPr>
          <p:cNvPr id="30" name="Text 28"/>
          <p:cNvSpPr/>
          <p:nvPr/>
        </p:nvSpPr>
        <p:spPr>
          <a:xfrm>
            <a:off x="1047750" y="5851922"/>
            <a:ext cx="167640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Georgia" pitchFamily="34" charset="0"/>
                <a:ea typeface="Georgia" pitchFamily="34" charset="-122"/>
                <a:cs typeface="Georgia" pitchFamily="34" charset="-120"/>
              </a:rPr>
              <a:t>Rule of thumb: </a:t>
            </a:r>
            <a:pPr algn="l" indent="0" marL="0">
              <a:buNone/>
            </a:pPr>
            <a:r>
              <a:rPr lang="en-US" sz="2700" dirty="0">
                <a:solidFill>
                  <a:srgbClr val="1A1A1A"/>
                </a:solidFill>
                <a:highlight>
                  <a:srgbClr val="FFF1A8"/>
                </a:highlight>
                <a:latin typeface="Georgia" pitchFamily="34" charset="0"/>
                <a:ea typeface="Georgia" pitchFamily="34" charset="-122"/>
                <a:cs typeface="Georgia" pitchFamily="34" charset="-120"/>
              </a:rPr>
              <a:t>~750 words ≈ 1,000 tokens </a:t>
            </a:r>
            <a:pPr algn="l" indent="0" marL="0">
              <a:buNone/>
            </a:pPr>
            <a:r>
              <a:rPr lang="en-US" sz="2700" dirty="0">
                <a:solidFill>
                  <a:srgbClr val="1A1A1A"/>
                </a:solidFill>
                <a:latin typeface="Georgia" pitchFamily="34" charset="0"/>
                <a:ea typeface="Georgia" pitchFamily="34" charset="-122"/>
                <a:cs typeface="Georgia" pitchFamily="34" charset="-120"/>
              </a:rPr>
              <a:t>in English.</a:t>
            </a:r>
            <a:endParaRPr lang="en-US" sz="2700" dirty="0"/>
          </a:p>
        </p:txBody>
      </p:sp>
      <p:sp>
        <p:nvSpPr>
          <p:cNvPr id="31" name="Shape 29"/>
          <p:cNvSpPr/>
          <p:nvPr/>
        </p:nvSpPr>
        <p:spPr>
          <a:xfrm>
            <a:off x="1047750" y="6528197"/>
            <a:ext cx="15240000" cy="1093440"/>
          </a:xfrm>
          <a:prstGeom prst="roundRect">
            <a:avLst>
              <a:gd name="adj" fmla="val 10453"/>
            </a:avLst>
          </a:prstGeom>
          <a:solidFill>
            <a:srgbClr val="FBF0D9"/>
          </a:solidFill>
          <a:ln w="9525">
            <a:solidFill>
              <a:srgbClr val="C77D0A"/>
            </a:solidFill>
            <a:prstDash val="solid"/>
          </a:ln>
        </p:spPr>
      </p:sp>
      <p:sp>
        <p:nvSpPr>
          <p:cNvPr id="32" name="Text 30"/>
          <p:cNvSpPr/>
          <p:nvPr/>
        </p:nvSpPr>
        <p:spPr>
          <a:xfrm>
            <a:off x="1285875" y="6690122"/>
            <a:ext cx="15220950" cy="807690"/>
          </a:xfrm>
          <a:prstGeom prst="rect">
            <a:avLst/>
          </a:prstGeom>
          <a:noFill/>
          <a:ln/>
        </p:spPr>
        <p:txBody>
          <a:bodyPr wrap="square" lIns="25400" tIns="25400" rIns="25400" bIns="25400" rtlCol="0" anchor="t">
            <a:normAutofit/>
          </a:bodyPr>
          <a:lstStyle/>
          <a:p>
            <a:pPr algn="l" indent="0" marL="0">
              <a:lnSpc>
                <a:spcPct val="126290"/>
              </a:lnSpc>
              <a:buNone/>
            </a:pPr>
            <a:r>
              <a:rPr lang="en-US" sz="2025" b="1" dirty="0">
                <a:solidFill>
                  <a:srgbClr val="C77D0A"/>
                </a:solidFill>
                <a:latin typeface="Arial" pitchFamily="34" charset="0"/>
                <a:ea typeface="Arial" pitchFamily="34" charset="-122"/>
                <a:cs typeface="Arial" pitchFamily="34" charset="-120"/>
              </a:rPr>
              <a:t>Why models miscount letters: </a:t>
            </a:r>
            <a:pPr algn="l" indent="0" marL="0">
              <a:lnSpc>
                <a:spcPct val="126290"/>
              </a:lnSpc>
              <a:buNone/>
            </a:pPr>
            <a:r>
              <a:rPr lang="en-US" sz="2025" dirty="0">
                <a:solidFill>
                  <a:srgbClr val="3D3D3D"/>
                </a:solidFill>
                <a:highlight>
                  <a:srgbClr val="FBF0D9"/>
                </a:highlight>
                <a:latin typeface="Arial" pitchFamily="34" charset="0"/>
                <a:ea typeface="Arial" pitchFamily="34" charset="-122"/>
                <a:cs typeface="Arial" pitchFamily="34" charset="-120"/>
              </a:rPr>
              <a:t>to the model, </a:t>
            </a:r>
            <a:pPr algn="l" indent="0" marL="0">
              <a:lnSpc>
                <a:spcPct val="126290"/>
              </a:lnSpc>
              <a:buNone/>
            </a:pPr>
            <a:r>
              <a:rPr lang="en-US" sz="2025" dirty="0">
                <a:solidFill>
                  <a:srgbClr val="1A1A1A"/>
                </a:solidFill>
                <a:latin typeface="Courier New" pitchFamily="34" charset="0"/>
                <a:ea typeface="Courier New" pitchFamily="34" charset="-122"/>
                <a:cs typeface="Courier New" pitchFamily="34" charset="-120"/>
              </a:rPr>
              <a:t>“strawberry” </a:t>
            </a:r>
            <a:pPr algn="l" indent="0" marL="0">
              <a:lnSpc>
                <a:spcPct val="126290"/>
              </a:lnSpc>
              <a:buNone/>
            </a:pPr>
            <a:r>
              <a:rPr lang="en-US" sz="2025" dirty="0">
                <a:solidFill>
                  <a:srgbClr val="3D3D3D"/>
                </a:solidFill>
                <a:highlight>
                  <a:srgbClr val="FBF0D9"/>
                </a:highlight>
                <a:latin typeface="Arial" pitchFamily="34" charset="0"/>
                <a:ea typeface="Arial" pitchFamily="34" charset="-122"/>
                <a:cs typeface="Arial" pitchFamily="34" charset="-120"/>
              </a:rPr>
              <a:t>isn’t letters — it’s a few chunks. Ask how many R’s and it guesses, because it never sees the spelling.</a:t>
            </a:r>
            <a:endParaRPr lang="en-US" sz="2025" dirty="0"/>
          </a:p>
        </p:txBody>
      </p:sp>
      <p:sp>
        <p:nvSpPr>
          <p:cNvPr id="33" name="Shape 31"/>
          <p:cNvSpPr/>
          <p:nvPr/>
        </p:nvSpPr>
        <p:spPr>
          <a:xfrm>
            <a:off x="1047750" y="9520238"/>
            <a:ext cx="16192500" cy="9525"/>
          </a:xfrm>
          <a:prstGeom prst="rect">
            <a:avLst/>
          </a:prstGeom>
          <a:solidFill>
            <a:srgbClr val="E3E1DA"/>
          </a:solidFill>
          <a:ln/>
        </p:spPr>
      </p:sp>
      <p:sp>
        <p:nvSpPr>
          <p:cNvPr id="34" name="Text 32"/>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5" name="Text 33"/>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Rules of Thumb Worth Memorizing</a:t>
            </a:r>
            <a:endParaRPr lang="en-US" sz="4800" dirty="0"/>
          </a:p>
        </p:txBody>
      </p:sp>
      <p:sp>
        <p:nvSpPr>
          <p:cNvPr id="5" name="Shape 3"/>
          <p:cNvSpPr/>
          <p:nvPr/>
        </p:nvSpPr>
        <p:spPr>
          <a:xfrm>
            <a:off x="1047750" y="4567461"/>
            <a:ext cx="15430500" cy="9525"/>
          </a:xfrm>
          <a:prstGeom prst="rect">
            <a:avLst/>
          </a:prstGeom>
          <a:solidFill>
            <a:srgbClr val="E3E1DA"/>
          </a:solidFill>
          <a:ln/>
        </p:spPr>
      </p:sp>
      <p:sp>
        <p:nvSpPr>
          <p:cNvPr id="6" name="Text 4"/>
          <p:cNvSpPr/>
          <p:nvPr/>
        </p:nvSpPr>
        <p:spPr>
          <a:xfrm>
            <a:off x="1047750" y="3905473"/>
            <a:ext cx="3143250" cy="490538"/>
          </a:xfrm>
          <a:prstGeom prst="rect">
            <a:avLst/>
          </a:prstGeom>
          <a:noFill/>
          <a:ln/>
        </p:spPr>
        <p:txBody>
          <a:bodyPr wrap="square" lIns="25400" tIns="25400" rIns="25400" bIns="25400" rtlCol="0" anchor="t">
            <a:normAutofit/>
          </a:bodyPr>
          <a:lstStyle/>
          <a:p>
            <a:pPr algn="l" indent="0" marL="0">
              <a:buNone/>
            </a:pPr>
            <a:r>
              <a:rPr lang="en-US" sz="3150" b="1" dirty="0">
                <a:solidFill>
                  <a:srgbClr val="178A4C"/>
                </a:solidFill>
                <a:latin typeface="Courier New" pitchFamily="34" charset="0"/>
                <a:ea typeface="Courier New" pitchFamily="34" charset="-122"/>
                <a:cs typeface="Courier New" pitchFamily="34" charset="-120"/>
              </a:rPr>
              <a:t>1 token</a:t>
            </a:r>
            <a:endParaRPr lang="en-US" sz="3150" dirty="0"/>
          </a:p>
        </p:txBody>
      </p:sp>
      <p:sp>
        <p:nvSpPr>
          <p:cNvPr id="7" name="Text 5"/>
          <p:cNvSpPr/>
          <p:nvPr/>
        </p:nvSpPr>
        <p:spPr>
          <a:xfrm>
            <a:off x="4248150" y="3955479"/>
            <a:ext cx="13453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3D3D3D"/>
                </a:solidFill>
                <a:latin typeface="Arial" pitchFamily="34" charset="0"/>
                <a:ea typeface="Arial" pitchFamily="34" charset="-122"/>
                <a:cs typeface="Arial" pitchFamily="34" charset="-120"/>
              </a:rPr>
              <a:t>≈ </a:t>
            </a:r>
            <a:pPr algn="l" indent="0" marL="0">
              <a:buNone/>
            </a:pPr>
            <a:r>
              <a:rPr lang="en-US" sz="2400" b="1" dirty="0">
                <a:solidFill>
                  <a:srgbClr val="1A1A1A"/>
                </a:solidFill>
                <a:latin typeface="Arial" pitchFamily="34" charset="0"/>
                <a:ea typeface="Arial" pitchFamily="34" charset="-122"/>
                <a:cs typeface="Arial" pitchFamily="34" charset="-120"/>
              </a:rPr>
              <a:t>¾ of an English word </a:t>
            </a:r>
            <a:pPr algn="l" indent="0" marL="0">
              <a:buNone/>
            </a:pPr>
            <a:r>
              <a:rPr lang="en-US" sz="2400" dirty="0">
                <a:solidFill>
                  <a:srgbClr val="3D3D3D"/>
                </a:solidFill>
                <a:latin typeface="Arial" pitchFamily="34" charset="0"/>
                <a:ea typeface="Arial" pitchFamily="34" charset="-122"/>
                <a:cs typeface="Arial" pitchFamily="34" charset="-120"/>
              </a:rPr>
              <a:t>≈ 4 characters</a:t>
            </a:r>
            <a:endParaRPr lang="en-US" sz="2400" dirty="0"/>
          </a:p>
        </p:txBody>
      </p:sp>
      <p:sp>
        <p:nvSpPr>
          <p:cNvPr id="8" name="Shape 6"/>
          <p:cNvSpPr/>
          <p:nvPr/>
        </p:nvSpPr>
        <p:spPr>
          <a:xfrm>
            <a:off x="1047750" y="5448523"/>
            <a:ext cx="15430500" cy="9525"/>
          </a:xfrm>
          <a:prstGeom prst="rect">
            <a:avLst/>
          </a:prstGeom>
          <a:solidFill>
            <a:srgbClr val="E3E1DA"/>
          </a:solidFill>
          <a:ln/>
        </p:spPr>
      </p:sp>
      <p:sp>
        <p:nvSpPr>
          <p:cNvPr id="9" name="Text 7"/>
          <p:cNvSpPr/>
          <p:nvPr/>
        </p:nvSpPr>
        <p:spPr>
          <a:xfrm>
            <a:off x="1047750" y="4786536"/>
            <a:ext cx="3143250" cy="490538"/>
          </a:xfrm>
          <a:prstGeom prst="rect">
            <a:avLst/>
          </a:prstGeom>
          <a:noFill/>
          <a:ln/>
        </p:spPr>
        <p:txBody>
          <a:bodyPr wrap="square" lIns="25400" tIns="25400" rIns="25400" bIns="25400" rtlCol="0" anchor="t">
            <a:normAutofit/>
          </a:bodyPr>
          <a:lstStyle/>
          <a:p>
            <a:pPr algn="l" indent="0" marL="0">
              <a:buNone/>
            </a:pPr>
            <a:r>
              <a:rPr lang="en-US" sz="3150" b="1" dirty="0">
                <a:solidFill>
                  <a:srgbClr val="1F6FEB"/>
                </a:solidFill>
                <a:latin typeface="Courier New" pitchFamily="34" charset="0"/>
                <a:ea typeface="Courier New" pitchFamily="34" charset="-122"/>
                <a:cs typeface="Courier New" pitchFamily="34" charset="-120"/>
              </a:rPr>
              <a:t>1 page</a:t>
            </a:r>
            <a:endParaRPr lang="en-US" sz="3150" dirty="0"/>
          </a:p>
        </p:txBody>
      </p:sp>
      <p:sp>
        <p:nvSpPr>
          <p:cNvPr id="10" name="Text 8"/>
          <p:cNvSpPr/>
          <p:nvPr/>
        </p:nvSpPr>
        <p:spPr>
          <a:xfrm>
            <a:off x="4248150" y="4836542"/>
            <a:ext cx="13453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3D3D3D"/>
                </a:solidFill>
                <a:latin typeface="Arial" pitchFamily="34" charset="0"/>
                <a:ea typeface="Arial" pitchFamily="34" charset="-122"/>
                <a:cs typeface="Arial" pitchFamily="34" charset="-120"/>
              </a:rPr>
              <a:t>≈ 500 words ≈ </a:t>
            </a:r>
            <a:pPr algn="l" indent="0" marL="0">
              <a:buNone/>
            </a:pPr>
            <a:r>
              <a:rPr lang="en-US" sz="2400" b="1" dirty="0">
                <a:solidFill>
                  <a:srgbClr val="1A1A1A"/>
                </a:solidFill>
                <a:latin typeface="Arial" pitchFamily="34" charset="0"/>
                <a:ea typeface="Arial" pitchFamily="34" charset="-122"/>
                <a:cs typeface="Arial" pitchFamily="34" charset="-120"/>
              </a:rPr>
              <a:t>650 tokens</a:t>
            </a:r>
            <a:endParaRPr lang="en-US" sz="2400" dirty="0"/>
          </a:p>
        </p:txBody>
      </p:sp>
      <p:sp>
        <p:nvSpPr>
          <p:cNvPr id="11" name="Shape 9"/>
          <p:cNvSpPr/>
          <p:nvPr/>
        </p:nvSpPr>
        <p:spPr>
          <a:xfrm>
            <a:off x="1047750" y="6329586"/>
            <a:ext cx="15430500" cy="9525"/>
          </a:xfrm>
          <a:prstGeom prst="rect">
            <a:avLst/>
          </a:prstGeom>
          <a:solidFill>
            <a:srgbClr val="E3E1DA"/>
          </a:solidFill>
          <a:ln/>
        </p:spPr>
      </p:sp>
      <p:sp>
        <p:nvSpPr>
          <p:cNvPr id="12" name="Text 10"/>
          <p:cNvSpPr/>
          <p:nvPr/>
        </p:nvSpPr>
        <p:spPr>
          <a:xfrm>
            <a:off x="1047750" y="5667598"/>
            <a:ext cx="3143250" cy="490538"/>
          </a:xfrm>
          <a:prstGeom prst="rect">
            <a:avLst/>
          </a:prstGeom>
          <a:noFill/>
          <a:ln/>
        </p:spPr>
        <p:txBody>
          <a:bodyPr wrap="square" lIns="25400" tIns="25400" rIns="25400" bIns="25400" rtlCol="0" anchor="t">
            <a:normAutofit/>
          </a:bodyPr>
          <a:lstStyle/>
          <a:p>
            <a:pPr algn="l" indent="0" marL="0">
              <a:buNone/>
            </a:pPr>
            <a:r>
              <a:rPr lang="en-US" sz="3150" b="1" dirty="0">
                <a:solidFill>
                  <a:srgbClr val="C77D0A"/>
                </a:solidFill>
                <a:latin typeface="Courier New" pitchFamily="34" charset="0"/>
                <a:ea typeface="Courier New" pitchFamily="34" charset="-122"/>
                <a:cs typeface="Courier New" pitchFamily="34" charset="-120"/>
              </a:rPr>
              <a:t>1 novel</a:t>
            </a:r>
            <a:endParaRPr lang="en-US" sz="3150" dirty="0"/>
          </a:p>
        </p:txBody>
      </p:sp>
      <p:sp>
        <p:nvSpPr>
          <p:cNvPr id="13" name="Text 11"/>
          <p:cNvSpPr/>
          <p:nvPr/>
        </p:nvSpPr>
        <p:spPr>
          <a:xfrm>
            <a:off x="4248150" y="5717604"/>
            <a:ext cx="13453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3D3D3D"/>
                </a:solidFill>
                <a:latin typeface="Arial" pitchFamily="34" charset="0"/>
                <a:ea typeface="Arial" pitchFamily="34" charset="-122"/>
                <a:cs typeface="Arial" pitchFamily="34" charset="-120"/>
              </a:rPr>
              <a:t>≈ 100k words ≈ </a:t>
            </a:r>
            <a:pPr algn="l" indent="0" marL="0">
              <a:buNone/>
            </a:pPr>
            <a:r>
              <a:rPr lang="en-US" sz="2400" b="1" dirty="0">
                <a:solidFill>
                  <a:srgbClr val="1A1A1A"/>
                </a:solidFill>
                <a:latin typeface="Arial" pitchFamily="34" charset="0"/>
                <a:ea typeface="Arial" pitchFamily="34" charset="-122"/>
                <a:cs typeface="Arial" pitchFamily="34" charset="-120"/>
              </a:rPr>
              <a:t>130k tokens </a:t>
            </a:r>
            <a:pPr algn="l" indent="0" marL="0">
              <a:buNone/>
            </a:pPr>
            <a:r>
              <a:rPr lang="en-US" sz="2400" dirty="0">
                <a:solidFill>
                  <a:srgbClr val="3D3D3D"/>
                </a:solidFill>
                <a:latin typeface="Arial" pitchFamily="34" charset="0"/>
                <a:ea typeface="Arial" pitchFamily="34" charset="-122"/>
                <a:cs typeface="Arial" pitchFamily="34" charset="-120"/>
              </a:rPr>
              <a:t>— roughly one large context window</a:t>
            </a:r>
            <a:endParaRPr lang="en-US" sz="2400" dirty="0"/>
          </a:p>
        </p:txBody>
      </p:sp>
      <p:sp>
        <p:nvSpPr>
          <p:cNvPr id="14" name="Text 12"/>
          <p:cNvSpPr/>
          <p:nvPr/>
        </p:nvSpPr>
        <p:spPr>
          <a:xfrm>
            <a:off x="1047750" y="6548661"/>
            <a:ext cx="3143250" cy="490538"/>
          </a:xfrm>
          <a:prstGeom prst="rect">
            <a:avLst/>
          </a:prstGeom>
          <a:noFill/>
          <a:ln/>
        </p:spPr>
        <p:txBody>
          <a:bodyPr wrap="square" lIns="25400" tIns="25400" rIns="25400" bIns="25400" rtlCol="0" anchor="t">
            <a:normAutofit/>
          </a:bodyPr>
          <a:lstStyle/>
          <a:p>
            <a:pPr algn="l" indent="0" marL="0">
              <a:buNone/>
            </a:pPr>
            <a:r>
              <a:rPr lang="en-US" sz="3150" b="1" dirty="0">
                <a:solidFill>
                  <a:srgbClr val="D64545"/>
                </a:solidFill>
                <a:latin typeface="Courier New" pitchFamily="34" charset="0"/>
                <a:ea typeface="Courier New" pitchFamily="34" charset="-122"/>
                <a:cs typeface="Courier New" pitchFamily="34" charset="-120"/>
              </a:rPr>
              <a:t>×1.5–3</a:t>
            </a:r>
            <a:endParaRPr lang="en-US" sz="3150" dirty="0"/>
          </a:p>
        </p:txBody>
      </p:sp>
      <p:sp>
        <p:nvSpPr>
          <p:cNvPr id="15" name="Text 13"/>
          <p:cNvSpPr/>
          <p:nvPr/>
        </p:nvSpPr>
        <p:spPr>
          <a:xfrm>
            <a:off x="4248150" y="6598667"/>
            <a:ext cx="13453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3D3D3D"/>
                </a:solidFill>
                <a:latin typeface="Arial" pitchFamily="34" charset="0"/>
                <a:ea typeface="Arial" pitchFamily="34" charset="-122"/>
                <a:cs typeface="Arial" pitchFamily="34" charset="-120"/>
              </a:rPr>
              <a:t>multiplier for </a:t>
            </a:r>
            <a:pPr algn="l" indent="0" marL="0">
              <a:buNone/>
            </a:pPr>
            <a:r>
              <a:rPr lang="en-US" sz="2400" b="1" dirty="0">
                <a:solidFill>
                  <a:srgbClr val="1A1A1A"/>
                </a:solidFill>
                <a:latin typeface="Arial" pitchFamily="34" charset="0"/>
                <a:ea typeface="Arial" pitchFamily="34" charset="-122"/>
                <a:cs typeface="Arial" pitchFamily="34" charset="-120"/>
              </a:rPr>
              <a:t>code, JSON, and most non-English </a:t>
            </a:r>
            <a:pPr algn="l" indent="0" marL="0">
              <a:buNone/>
            </a:pPr>
            <a:r>
              <a:rPr lang="en-US" sz="2400" dirty="0">
                <a:solidFill>
                  <a:srgbClr val="3D3D3D"/>
                </a:solidFill>
                <a:latin typeface="Arial" pitchFamily="34" charset="0"/>
                <a:ea typeface="Arial" pitchFamily="34" charset="-122"/>
                <a:cs typeface="Arial" pitchFamily="34" charset="-120"/>
              </a:rPr>
              <a:t>languages</a:t>
            </a:r>
            <a:endParaRPr lang="en-US" sz="2400" dirty="0"/>
          </a:p>
        </p:txBody>
      </p:sp>
      <p:sp>
        <p:nvSpPr>
          <p:cNvPr id="16" name="Text 14"/>
          <p:cNvSpPr/>
          <p:nvPr/>
        </p:nvSpPr>
        <p:spPr>
          <a:xfrm>
            <a:off x="1047750" y="7286848"/>
            <a:ext cx="1697355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Georgia" pitchFamily="34" charset="0"/>
                <a:ea typeface="Georgia" pitchFamily="34" charset="-122"/>
                <a:cs typeface="Georgia" pitchFamily="34" charset="-120"/>
              </a:rPr>
              <a:t>These estimates are how you </a:t>
            </a:r>
            <a:pPr algn="l" indent="0" marL="0">
              <a:buNone/>
            </a:pPr>
            <a:r>
              <a:rPr lang="en-US" sz="2025" dirty="0">
                <a:solidFill>
                  <a:srgbClr val="1A1A1A"/>
                </a:solidFill>
                <a:highlight>
                  <a:srgbClr val="FFF1A8"/>
                </a:highlight>
                <a:latin typeface="Georgia" pitchFamily="34" charset="0"/>
                <a:ea typeface="Georgia" pitchFamily="34" charset="-122"/>
                <a:cs typeface="Georgia" pitchFamily="34" charset="-120"/>
              </a:rPr>
              <a:t>size and price a feature </a:t>
            </a:r>
            <a:pPr algn="l" indent="0" marL="0">
              <a:buNone/>
            </a:pPr>
            <a:r>
              <a:rPr lang="en-US" sz="2025" dirty="0">
                <a:solidFill>
                  <a:srgbClr val="1A1A1A"/>
                </a:solidFill>
                <a:latin typeface="Georgia" pitchFamily="34" charset="0"/>
                <a:ea typeface="Georgia" pitchFamily="34" charset="-122"/>
                <a:cs typeface="Georgia" pitchFamily="34" charset="-120"/>
              </a:rPr>
              <a:t>before writing a line of code.</a:t>
            </a:r>
            <a:endParaRPr lang="en-US" sz="2025" dirty="0"/>
          </a:p>
        </p:txBody>
      </p:sp>
      <p:sp>
        <p:nvSpPr>
          <p:cNvPr id="17" name="Shape 15"/>
          <p:cNvSpPr/>
          <p:nvPr/>
        </p:nvSpPr>
        <p:spPr>
          <a:xfrm>
            <a:off x="1047750" y="9520238"/>
            <a:ext cx="16192500" cy="9525"/>
          </a:xfrm>
          <a:prstGeom prst="rect">
            <a:avLst/>
          </a:prstGeom>
          <a:solidFill>
            <a:srgbClr val="E3E1DA"/>
          </a:solidFill>
          <a:ln/>
        </p:spPr>
      </p:sp>
      <p:sp>
        <p:nvSpPr>
          <p:cNvPr id="18" name="Text 16"/>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9" name="Text 17"/>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Same Meaning, Different Token Bill</a:t>
            </a:r>
            <a:endParaRPr lang="en-US" sz="4800" dirty="0"/>
          </a:p>
        </p:txBody>
      </p:sp>
      <p:sp>
        <p:nvSpPr>
          <p:cNvPr id="5" name="Text 3"/>
          <p:cNvSpPr/>
          <p:nvPr/>
        </p:nvSpPr>
        <p:spPr>
          <a:xfrm>
            <a:off x="1047750" y="3910236"/>
            <a:ext cx="586740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“Hello, how are you?” </a:t>
            </a:r>
            <a:pPr algn="l" indent="0" marL="0">
              <a:buNone/>
            </a:pPr>
            <a:r>
              <a:rPr lang="en-US" sz="1800" dirty="0">
                <a:solidFill>
                  <a:srgbClr val="7C7A73"/>
                </a:solidFill>
                <a:latin typeface="Arial" pitchFamily="34" charset="0"/>
                <a:ea typeface="Arial" pitchFamily="34" charset="-122"/>
                <a:cs typeface="Arial" pitchFamily="34" charset="-120"/>
              </a:rPr>
              <a:t>English</a:t>
            </a:r>
            <a:endParaRPr lang="en-US" sz="2400" dirty="0"/>
          </a:p>
        </p:txBody>
      </p:sp>
      <p:sp>
        <p:nvSpPr>
          <p:cNvPr id="6" name="Shape 4"/>
          <p:cNvSpPr/>
          <p:nvPr/>
        </p:nvSpPr>
        <p:spPr>
          <a:xfrm>
            <a:off x="6667500" y="3953098"/>
            <a:ext cx="3695700" cy="266700"/>
          </a:xfrm>
          <a:prstGeom prst="roundRect">
            <a:avLst>
              <a:gd name="adj" fmla="val 21429"/>
            </a:avLst>
          </a:prstGeom>
          <a:solidFill>
            <a:srgbClr val="178A4C"/>
          </a:solidFill>
          <a:ln/>
        </p:spPr>
      </p:sp>
      <p:sp>
        <p:nvSpPr>
          <p:cNvPr id="7" name="Text 5"/>
          <p:cNvSpPr/>
          <p:nvPr/>
        </p:nvSpPr>
        <p:spPr>
          <a:xfrm>
            <a:off x="16116300" y="3914998"/>
            <a:ext cx="933450" cy="381000"/>
          </a:xfrm>
          <a:prstGeom prst="rect">
            <a:avLst/>
          </a:prstGeom>
          <a:noFill/>
          <a:ln/>
        </p:spPr>
        <p:txBody>
          <a:bodyPr wrap="square" lIns="25400" tIns="25400" rIns="25400" bIns="25400" rtlCol="0" anchor="t">
            <a:normAutofit/>
          </a:bodyPr>
          <a:lstStyle/>
          <a:p>
            <a:pPr algn="r" indent="0" marL="0">
              <a:buNone/>
            </a:pPr>
            <a:r>
              <a:rPr lang="en-US" sz="2400" b="1" dirty="0">
                <a:solidFill>
                  <a:srgbClr val="178A4C"/>
                </a:solidFill>
                <a:latin typeface="Courier New" pitchFamily="34" charset="0"/>
                <a:ea typeface="Courier New" pitchFamily="34" charset="-122"/>
                <a:cs typeface="Courier New" pitchFamily="34" charset="-120"/>
              </a:rPr>
              <a:t>6</a:t>
            </a:r>
            <a:endParaRPr lang="en-US" sz="2400" dirty="0"/>
          </a:p>
        </p:txBody>
      </p:sp>
      <p:sp>
        <p:nvSpPr>
          <p:cNvPr id="8" name="Text 6"/>
          <p:cNvSpPr/>
          <p:nvPr/>
        </p:nvSpPr>
        <p:spPr>
          <a:xfrm>
            <a:off x="1047750" y="4491261"/>
            <a:ext cx="586740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“Bonjour, comment ça va ?” </a:t>
            </a:r>
            <a:pPr algn="l" indent="0" marL="0">
              <a:buNone/>
            </a:pPr>
            <a:r>
              <a:rPr lang="en-US" sz="1800" dirty="0">
                <a:solidFill>
                  <a:srgbClr val="7C7A73"/>
                </a:solidFill>
                <a:latin typeface="Arial" pitchFamily="34" charset="0"/>
                <a:ea typeface="Arial" pitchFamily="34" charset="-122"/>
                <a:cs typeface="Arial" pitchFamily="34" charset="-120"/>
              </a:rPr>
              <a:t>French</a:t>
            </a:r>
            <a:endParaRPr lang="en-US" sz="2400" dirty="0"/>
          </a:p>
        </p:txBody>
      </p:sp>
      <p:sp>
        <p:nvSpPr>
          <p:cNvPr id="9" name="Shape 7"/>
          <p:cNvSpPr/>
          <p:nvPr/>
        </p:nvSpPr>
        <p:spPr>
          <a:xfrm>
            <a:off x="6667500" y="4534123"/>
            <a:ext cx="5543550" cy="266700"/>
          </a:xfrm>
          <a:prstGeom prst="roundRect">
            <a:avLst>
              <a:gd name="adj" fmla="val 21429"/>
            </a:avLst>
          </a:prstGeom>
          <a:solidFill>
            <a:srgbClr val="1F6FEB"/>
          </a:solidFill>
          <a:ln/>
        </p:spPr>
      </p:sp>
      <p:sp>
        <p:nvSpPr>
          <p:cNvPr id="10" name="Text 8"/>
          <p:cNvSpPr/>
          <p:nvPr/>
        </p:nvSpPr>
        <p:spPr>
          <a:xfrm>
            <a:off x="16116300" y="4496023"/>
            <a:ext cx="933450" cy="381000"/>
          </a:xfrm>
          <a:prstGeom prst="rect">
            <a:avLst/>
          </a:prstGeom>
          <a:noFill/>
          <a:ln/>
        </p:spPr>
        <p:txBody>
          <a:bodyPr wrap="square" lIns="25400" tIns="25400" rIns="25400" bIns="25400" rtlCol="0" anchor="t">
            <a:normAutofit/>
          </a:bodyPr>
          <a:lstStyle/>
          <a:p>
            <a:pPr algn="r" indent="0" marL="0">
              <a:buNone/>
            </a:pPr>
            <a:r>
              <a:rPr lang="en-US" sz="2400" b="1" dirty="0">
                <a:solidFill>
                  <a:srgbClr val="1F6FEB"/>
                </a:solidFill>
                <a:latin typeface="Courier New" pitchFamily="34" charset="0"/>
                <a:ea typeface="Courier New" pitchFamily="34" charset="-122"/>
                <a:cs typeface="Courier New" pitchFamily="34" charset="-120"/>
              </a:rPr>
              <a:t>9</a:t>
            </a:r>
            <a:endParaRPr lang="en-US" sz="2400" dirty="0"/>
          </a:p>
        </p:txBody>
      </p:sp>
      <p:sp>
        <p:nvSpPr>
          <p:cNvPr id="11" name="Text 9"/>
          <p:cNvSpPr/>
          <p:nvPr/>
        </p:nvSpPr>
        <p:spPr>
          <a:xfrm>
            <a:off x="1047750" y="5072286"/>
            <a:ext cx="5867400" cy="495300"/>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こんにちは、お元気？ </a:t>
            </a:r>
            <a:pPr algn="l" indent="0" marL="0">
              <a:buNone/>
            </a:pPr>
            <a:r>
              <a:rPr lang="en-US" sz="1800" dirty="0">
                <a:solidFill>
                  <a:srgbClr val="7C7A73"/>
                </a:solidFill>
                <a:latin typeface="Arial" pitchFamily="34" charset="0"/>
                <a:ea typeface="Arial" pitchFamily="34" charset="-122"/>
                <a:cs typeface="Arial" pitchFamily="34" charset="-120"/>
              </a:rPr>
              <a:t>Japanese</a:t>
            </a:r>
            <a:endParaRPr lang="en-US" sz="2400" dirty="0"/>
          </a:p>
        </p:txBody>
      </p:sp>
      <p:sp>
        <p:nvSpPr>
          <p:cNvPr id="12" name="Shape 10"/>
          <p:cNvSpPr/>
          <p:nvPr/>
        </p:nvSpPr>
        <p:spPr>
          <a:xfrm>
            <a:off x="6667500" y="5167536"/>
            <a:ext cx="8038133" cy="266700"/>
          </a:xfrm>
          <a:prstGeom prst="roundRect">
            <a:avLst>
              <a:gd name="adj" fmla="val 21429"/>
            </a:avLst>
          </a:prstGeom>
          <a:solidFill>
            <a:srgbClr val="C77D0A"/>
          </a:solidFill>
          <a:ln/>
        </p:spPr>
      </p:sp>
      <p:sp>
        <p:nvSpPr>
          <p:cNvPr id="13" name="Text 11"/>
          <p:cNvSpPr/>
          <p:nvPr/>
        </p:nvSpPr>
        <p:spPr>
          <a:xfrm>
            <a:off x="16116300" y="5129436"/>
            <a:ext cx="933450" cy="381000"/>
          </a:xfrm>
          <a:prstGeom prst="rect">
            <a:avLst/>
          </a:prstGeom>
          <a:noFill/>
          <a:ln/>
        </p:spPr>
        <p:txBody>
          <a:bodyPr wrap="square" lIns="25400" tIns="25400" rIns="25400" bIns="25400" rtlCol="0" anchor="t">
            <a:normAutofit/>
          </a:bodyPr>
          <a:lstStyle/>
          <a:p>
            <a:pPr algn="r" indent="0" marL="0">
              <a:buNone/>
            </a:pPr>
            <a:r>
              <a:rPr lang="en-US" sz="2400" b="1" dirty="0">
                <a:solidFill>
                  <a:srgbClr val="C77D0A"/>
                </a:solidFill>
                <a:latin typeface="Courier New" pitchFamily="34" charset="0"/>
                <a:ea typeface="Courier New" pitchFamily="34" charset="-122"/>
                <a:cs typeface="Courier New" pitchFamily="34" charset="-120"/>
              </a:rPr>
              <a:t>13</a:t>
            </a:r>
            <a:endParaRPr lang="en-US" sz="2400" dirty="0"/>
          </a:p>
        </p:txBody>
      </p:sp>
      <p:sp>
        <p:nvSpPr>
          <p:cNvPr id="14" name="Text 12"/>
          <p:cNvSpPr/>
          <p:nvPr/>
        </p:nvSpPr>
        <p:spPr>
          <a:xfrm>
            <a:off x="1047750" y="5800948"/>
            <a:ext cx="586740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1A1A1A"/>
                </a:solidFill>
                <a:latin typeface="Courier New" pitchFamily="34" charset="0"/>
                <a:ea typeface="Courier New" pitchFamily="34" charset="-122"/>
                <a:cs typeface="Courier New" pitchFamily="34" charset="-120"/>
              </a:rPr>
              <a:t>{"greeting":"hello","mood":"?"}</a:t>
            </a:r>
            <a:endParaRPr lang="en-US" sz="1800" dirty="0"/>
          </a:p>
        </p:txBody>
      </p:sp>
      <p:sp>
        <p:nvSpPr>
          <p:cNvPr id="15" name="Shape 13"/>
          <p:cNvSpPr/>
          <p:nvPr/>
        </p:nvSpPr>
        <p:spPr>
          <a:xfrm>
            <a:off x="6667500" y="5796186"/>
            <a:ext cx="9239250" cy="266700"/>
          </a:xfrm>
          <a:prstGeom prst="roundRect">
            <a:avLst>
              <a:gd name="adj" fmla="val 21429"/>
            </a:avLst>
          </a:prstGeom>
          <a:solidFill>
            <a:srgbClr val="D64545"/>
          </a:solidFill>
          <a:ln/>
        </p:spPr>
      </p:sp>
      <p:sp>
        <p:nvSpPr>
          <p:cNvPr id="16" name="Text 14"/>
          <p:cNvSpPr/>
          <p:nvPr/>
        </p:nvSpPr>
        <p:spPr>
          <a:xfrm>
            <a:off x="16116300" y="5758086"/>
            <a:ext cx="933450" cy="381000"/>
          </a:xfrm>
          <a:prstGeom prst="rect">
            <a:avLst/>
          </a:prstGeom>
          <a:noFill/>
          <a:ln/>
        </p:spPr>
        <p:txBody>
          <a:bodyPr wrap="square" lIns="25400" tIns="25400" rIns="25400" bIns="25400" rtlCol="0" anchor="t">
            <a:normAutofit/>
          </a:bodyPr>
          <a:lstStyle/>
          <a:p>
            <a:pPr algn="r" indent="0" marL="0">
              <a:buNone/>
            </a:pPr>
            <a:r>
              <a:rPr lang="en-US" sz="2400" b="1" dirty="0">
                <a:solidFill>
                  <a:srgbClr val="D64545"/>
                </a:solidFill>
                <a:latin typeface="Courier New" pitchFamily="34" charset="0"/>
                <a:ea typeface="Courier New" pitchFamily="34" charset="-122"/>
                <a:cs typeface="Courier New" pitchFamily="34" charset="-120"/>
              </a:rPr>
              <a:t>15</a:t>
            </a:r>
            <a:endParaRPr lang="en-US" sz="2400" dirty="0"/>
          </a:p>
        </p:txBody>
      </p:sp>
      <p:sp>
        <p:nvSpPr>
          <p:cNvPr id="17" name="Shape 15"/>
          <p:cNvSpPr/>
          <p:nvPr/>
        </p:nvSpPr>
        <p:spPr>
          <a:xfrm>
            <a:off x="1047750" y="6405786"/>
            <a:ext cx="16002000" cy="1171575"/>
          </a:xfrm>
          <a:prstGeom prst="roundRect">
            <a:avLst>
              <a:gd name="adj" fmla="val 9756"/>
            </a:avLst>
          </a:prstGeom>
          <a:solidFill>
            <a:srgbClr val="FBF0D9"/>
          </a:solidFill>
          <a:ln w="9525">
            <a:solidFill>
              <a:srgbClr val="C77D0A"/>
            </a:solidFill>
            <a:prstDash val="solid"/>
          </a:ln>
        </p:spPr>
      </p:sp>
      <p:sp>
        <p:nvSpPr>
          <p:cNvPr id="18" name="Text 16"/>
          <p:cNvSpPr/>
          <p:nvPr/>
        </p:nvSpPr>
        <p:spPr>
          <a:xfrm>
            <a:off x="1304925" y="6605811"/>
            <a:ext cx="1596771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C77D0A"/>
                </a:solidFill>
                <a:latin typeface="Arial" pitchFamily="34" charset="0"/>
                <a:ea typeface="Arial" pitchFamily="34" charset="-122"/>
                <a:cs typeface="Arial" pitchFamily="34" charset="-120"/>
              </a:rPr>
              <a:t>A multilingual product pays more per user </a:t>
            </a:r>
            <a:pPr algn="l" indent="0" marL="0">
              <a:lnSpc>
                <a:spcPct val="130645"/>
              </a:lnSpc>
              <a:buNone/>
            </a:pPr>
            <a:r>
              <a:rPr lang="en-US" sz="2025" dirty="0">
                <a:solidFill>
                  <a:srgbClr val="3D3D3D"/>
                </a:solidFill>
                <a:highlight>
                  <a:srgbClr val="FBF0D9"/>
                </a:highlight>
                <a:latin typeface="Arial" pitchFamily="34" charset="0"/>
                <a:ea typeface="Arial" pitchFamily="34" charset="-122"/>
                <a:cs typeface="Arial" pitchFamily="34" charset="-120"/>
              </a:rPr>
              <a:t>for the same conversation. Tokenizers learn from mostly-English data, so other languages and symbol-heavy text split into more pieces — budget for it.</a:t>
            </a:r>
            <a:endParaRPr lang="en-US" sz="2025" dirty="0"/>
          </a:p>
        </p:txBody>
      </p:sp>
      <p:sp>
        <p:nvSpPr>
          <p:cNvPr id="19" name="Shape 17"/>
          <p:cNvSpPr/>
          <p:nvPr/>
        </p:nvSpPr>
        <p:spPr>
          <a:xfrm>
            <a:off x="1047750" y="9520238"/>
            <a:ext cx="16192500" cy="9525"/>
          </a:xfrm>
          <a:prstGeom prst="rect">
            <a:avLst/>
          </a:prstGeom>
          <a:solidFill>
            <a:srgbClr val="E3E1DA"/>
          </a:solidFill>
          <a:ln/>
        </p:spPr>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The Context Window</a:t>
            </a:r>
            <a:endParaRPr lang="en-US" sz="4800" dirty="0"/>
          </a:p>
        </p:txBody>
      </p:sp>
      <p:sp>
        <p:nvSpPr>
          <p:cNvPr id="5" name="Text 3"/>
          <p:cNvSpPr/>
          <p:nvPr/>
        </p:nvSpPr>
        <p:spPr>
          <a:xfrm>
            <a:off x="1047750" y="3491136"/>
            <a:ext cx="1781175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The model’s </a:t>
            </a:r>
            <a:pPr algn="l" indent="0" marL="0">
              <a:buNone/>
            </a:pPr>
            <a:r>
              <a:rPr lang="en-US" sz="2700" b="1" dirty="0">
                <a:solidFill>
                  <a:srgbClr val="1A1A1A"/>
                </a:solidFill>
                <a:latin typeface="Arial" pitchFamily="34" charset="0"/>
                <a:ea typeface="Arial" pitchFamily="34" charset="-122"/>
                <a:cs typeface="Arial" pitchFamily="34" charset="-120"/>
              </a:rPr>
              <a:t>short-term memory </a:t>
            </a:r>
            <a:pPr algn="l" indent="0" marL="0">
              <a:buNone/>
            </a:pPr>
            <a:r>
              <a:rPr lang="en-US" sz="2700" dirty="0">
                <a:solidFill>
                  <a:srgbClr val="3D3D3D"/>
                </a:solidFill>
                <a:latin typeface="Arial" pitchFamily="34" charset="0"/>
                <a:ea typeface="Arial" pitchFamily="34" charset="-122"/>
                <a:cs typeface="Arial" pitchFamily="34" charset="-120"/>
              </a:rPr>
              <a:t>— everything it sees in one call.</a:t>
            </a:r>
            <a:endParaRPr lang="en-US" sz="2700" dirty="0"/>
          </a:p>
        </p:txBody>
      </p:sp>
      <p:sp>
        <p:nvSpPr>
          <p:cNvPr id="6" name="Shape 4"/>
          <p:cNvSpPr/>
          <p:nvPr/>
        </p:nvSpPr>
        <p:spPr>
          <a:xfrm>
            <a:off x="1047750" y="4224561"/>
            <a:ext cx="16192500" cy="1143000"/>
          </a:xfrm>
          <a:prstGeom prst="roundRect">
            <a:avLst>
              <a:gd name="adj" fmla="val 11667"/>
            </a:avLst>
          </a:prstGeom>
          <a:ln w="9525">
            <a:solidFill>
              <a:srgbClr val="E3E1DA"/>
            </a:solidFill>
            <a:prstDash val="solid"/>
          </a:ln>
        </p:spPr>
      </p:sp>
      <p:sp>
        <p:nvSpPr>
          <p:cNvPr id="7" name="Shape 5"/>
          <p:cNvSpPr/>
          <p:nvPr/>
        </p:nvSpPr>
        <p:spPr>
          <a:xfrm>
            <a:off x="1057275" y="4234086"/>
            <a:ext cx="2587749" cy="1123950"/>
          </a:xfrm>
          <a:prstGeom prst="rect">
            <a:avLst/>
          </a:prstGeom>
          <a:solidFill>
            <a:srgbClr val="7A4FD0"/>
          </a:solidFill>
          <a:ln/>
        </p:spPr>
      </p:sp>
      <p:sp>
        <p:nvSpPr>
          <p:cNvPr id="8" name="Text 6"/>
          <p:cNvSpPr/>
          <p:nvPr/>
        </p:nvSpPr>
        <p:spPr>
          <a:xfrm>
            <a:off x="1888108" y="4505548"/>
            <a:ext cx="1002209"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system</a:t>
            </a:r>
            <a:endParaRPr lang="en-US" sz="2025" dirty="0"/>
          </a:p>
        </p:txBody>
      </p:sp>
      <p:sp>
        <p:nvSpPr>
          <p:cNvPr id="9" name="Text 7"/>
          <p:cNvSpPr/>
          <p:nvPr/>
        </p:nvSpPr>
        <p:spPr>
          <a:xfrm>
            <a:off x="1888108" y="4796061"/>
            <a:ext cx="1002209"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prompt</a:t>
            </a:r>
            <a:endParaRPr lang="en-US" sz="2025" dirty="0"/>
          </a:p>
        </p:txBody>
      </p:sp>
      <p:sp>
        <p:nvSpPr>
          <p:cNvPr id="10" name="Shape 8"/>
          <p:cNvSpPr/>
          <p:nvPr/>
        </p:nvSpPr>
        <p:spPr>
          <a:xfrm>
            <a:off x="3645024" y="4234086"/>
            <a:ext cx="5498902" cy="1123950"/>
          </a:xfrm>
          <a:prstGeom prst="rect">
            <a:avLst/>
          </a:prstGeom>
          <a:solidFill>
            <a:srgbClr val="1F6FEB"/>
          </a:solidFill>
          <a:ln/>
        </p:spPr>
      </p:sp>
      <p:sp>
        <p:nvSpPr>
          <p:cNvPr id="11" name="Text 9"/>
          <p:cNvSpPr/>
          <p:nvPr/>
        </p:nvSpPr>
        <p:spPr>
          <a:xfrm>
            <a:off x="5468466" y="4505548"/>
            <a:ext cx="1928217"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conversation</a:t>
            </a:r>
            <a:endParaRPr lang="en-US" sz="2025" dirty="0"/>
          </a:p>
        </p:txBody>
      </p:sp>
      <p:sp>
        <p:nvSpPr>
          <p:cNvPr id="12" name="Text 10"/>
          <p:cNvSpPr/>
          <p:nvPr/>
        </p:nvSpPr>
        <p:spPr>
          <a:xfrm>
            <a:off x="5854303" y="4796061"/>
            <a:ext cx="1156543"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history</a:t>
            </a:r>
            <a:endParaRPr lang="en-US" sz="2025" dirty="0"/>
          </a:p>
        </p:txBody>
      </p:sp>
      <p:sp>
        <p:nvSpPr>
          <p:cNvPr id="13" name="Shape 11"/>
          <p:cNvSpPr/>
          <p:nvPr/>
        </p:nvSpPr>
        <p:spPr>
          <a:xfrm>
            <a:off x="9143926" y="4234086"/>
            <a:ext cx="3558108" cy="1123950"/>
          </a:xfrm>
          <a:prstGeom prst="rect">
            <a:avLst/>
          </a:prstGeom>
          <a:solidFill>
            <a:srgbClr val="178A4C"/>
          </a:solidFill>
          <a:ln/>
        </p:spPr>
      </p:sp>
      <p:sp>
        <p:nvSpPr>
          <p:cNvPr id="14" name="Text 12"/>
          <p:cNvSpPr/>
          <p:nvPr/>
        </p:nvSpPr>
        <p:spPr>
          <a:xfrm>
            <a:off x="10614273" y="4505548"/>
            <a:ext cx="693539"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your</a:t>
            </a:r>
            <a:endParaRPr lang="en-US" sz="2025" dirty="0"/>
          </a:p>
        </p:txBody>
      </p:sp>
      <p:sp>
        <p:nvSpPr>
          <p:cNvPr id="15" name="Text 13"/>
          <p:cNvSpPr/>
          <p:nvPr/>
        </p:nvSpPr>
        <p:spPr>
          <a:xfrm>
            <a:off x="10537106" y="4796061"/>
            <a:ext cx="847874" cy="328613"/>
          </a:xfrm>
          <a:prstGeom prst="rect">
            <a:avLst/>
          </a:prstGeom>
          <a:noFill/>
          <a:ln/>
        </p:spPr>
        <p:txBody>
          <a:bodyPr wrap="square" lIns="0" tIns="0" rIns="0" bIns="0" rtlCol="0" anchor="t">
            <a:normAutofit/>
          </a:bodyPr>
          <a:lstStyle/>
          <a:p>
            <a:pPr algn="ctr" indent="0" marL="0">
              <a:buNone/>
            </a:pPr>
            <a:r>
              <a:rPr lang="en-US" sz="2025" dirty="0">
                <a:solidFill>
                  <a:srgbClr val="FFFFFF"/>
                </a:solidFill>
                <a:latin typeface="Courier New" pitchFamily="34" charset="0"/>
                <a:ea typeface="Courier New" pitchFamily="34" charset="-122"/>
                <a:cs typeface="Courier New" pitchFamily="34" charset="-120"/>
              </a:rPr>
              <a:t>input</a:t>
            </a:r>
            <a:endParaRPr lang="en-US" sz="2025" dirty="0"/>
          </a:p>
        </p:txBody>
      </p:sp>
      <p:sp>
        <p:nvSpPr>
          <p:cNvPr id="16" name="Shape 14"/>
          <p:cNvSpPr/>
          <p:nvPr/>
        </p:nvSpPr>
        <p:spPr>
          <a:xfrm>
            <a:off x="12702034" y="4234086"/>
            <a:ext cx="4528691" cy="1123950"/>
          </a:xfrm>
          <a:prstGeom prst="rect">
            <a:avLst/>
          </a:prstGeom>
          <a:solidFill>
            <a:srgbClr val="F1EFE9"/>
          </a:solidFill>
          <a:ln/>
        </p:spPr>
      </p:sp>
      <p:sp>
        <p:nvSpPr>
          <p:cNvPr id="17" name="Text 15"/>
          <p:cNvSpPr/>
          <p:nvPr/>
        </p:nvSpPr>
        <p:spPr>
          <a:xfrm>
            <a:off x="14349040" y="4505548"/>
            <a:ext cx="1310878" cy="328613"/>
          </a:xfrm>
          <a:prstGeom prst="rect">
            <a:avLst/>
          </a:prstGeom>
          <a:noFill/>
          <a:ln/>
        </p:spPr>
        <p:txBody>
          <a:bodyPr wrap="square" lIns="0" tIns="0" rIns="0" bIns="0" rtlCol="0" anchor="t">
            <a:normAutofit/>
          </a:bodyPr>
          <a:lstStyle/>
          <a:p>
            <a:pPr algn="ctr" indent="0" marL="0">
              <a:buNone/>
            </a:pPr>
            <a:r>
              <a:rPr lang="en-US" sz="2025" dirty="0">
                <a:solidFill>
                  <a:srgbClr val="7C7A73"/>
                </a:solidFill>
                <a:latin typeface="Courier New" pitchFamily="34" charset="0"/>
                <a:ea typeface="Courier New" pitchFamily="34" charset="-122"/>
                <a:cs typeface="Courier New" pitchFamily="34" charset="-120"/>
              </a:rPr>
              <a:t>room for</a:t>
            </a:r>
            <a:endParaRPr lang="en-US" sz="2025" dirty="0"/>
          </a:p>
        </p:txBody>
      </p:sp>
      <p:sp>
        <p:nvSpPr>
          <p:cNvPr id="18" name="Text 16"/>
          <p:cNvSpPr/>
          <p:nvPr/>
        </p:nvSpPr>
        <p:spPr>
          <a:xfrm>
            <a:off x="14194706" y="4796061"/>
            <a:ext cx="1619548" cy="328613"/>
          </a:xfrm>
          <a:prstGeom prst="rect">
            <a:avLst/>
          </a:prstGeom>
          <a:noFill/>
          <a:ln/>
        </p:spPr>
        <p:txBody>
          <a:bodyPr wrap="square" lIns="0" tIns="0" rIns="0" bIns="0" rtlCol="0" anchor="t">
            <a:normAutofit/>
          </a:bodyPr>
          <a:lstStyle/>
          <a:p>
            <a:pPr algn="ctr" indent="0" marL="0">
              <a:buNone/>
            </a:pPr>
            <a:r>
              <a:rPr lang="en-US" sz="2025" dirty="0">
                <a:solidFill>
                  <a:srgbClr val="7C7A73"/>
                </a:solidFill>
                <a:latin typeface="Courier New" pitchFamily="34" charset="0"/>
                <a:ea typeface="Courier New" pitchFamily="34" charset="-122"/>
                <a:cs typeface="Courier New" pitchFamily="34" charset="-120"/>
              </a:rPr>
              <a:t>the answer</a:t>
            </a:r>
            <a:endParaRPr lang="en-US" sz="2025" dirty="0"/>
          </a:p>
        </p:txBody>
      </p:sp>
      <p:sp>
        <p:nvSpPr>
          <p:cNvPr id="19" name="Text 17"/>
          <p:cNvSpPr/>
          <p:nvPr/>
        </p:nvSpPr>
        <p:spPr>
          <a:xfrm>
            <a:off x="1047750" y="5710461"/>
            <a:ext cx="7652385"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No memory between calls. </a:t>
            </a:r>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Each request starts fresh with whatever you place in the window.</a:t>
            </a:r>
            <a:endParaRPr lang="en-US" sz="2025" dirty="0"/>
          </a:p>
        </p:txBody>
      </p:sp>
      <p:sp>
        <p:nvSpPr>
          <p:cNvPr id="20" name="Text 18"/>
          <p:cNvSpPr/>
          <p:nvPr/>
        </p:nvSpPr>
        <p:spPr>
          <a:xfrm>
            <a:off x="8858250" y="5710461"/>
            <a:ext cx="7652385"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When it fills, content drops. </a:t>
            </a:r>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The oldest text falls out — the model forgets it.</a:t>
            </a:r>
            <a:endParaRPr lang="en-US" sz="2025" dirty="0"/>
          </a:p>
        </p:txBody>
      </p:sp>
      <p:sp>
        <p:nvSpPr>
          <p:cNvPr id="21" name="Shape 19"/>
          <p:cNvSpPr/>
          <p:nvPr/>
        </p:nvSpPr>
        <p:spPr>
          <a:xfrm>
            <a:off x="1047750" y="6824886"/>
            <a:ext cx="16192500" cy="1171575"/>
          </a:xfrm>
          <a:prstGeom prst="roundRect">
            <a:avLst>
              <a:gd name="adj" fmla="val 9756"/>
            </a:avLst>
          </a:prstGeom>
          <a:solidFill>
            <a:srgbClr val="E8F0FE"/>
          </a:solidFill>
          <a:ln w="9525">
            <a:solidFill>
              <a:srgbClr val="1F6FEB"/>
            </a:solidFill>
            <a:prstDash val="solid"/>
          </a:ln>
        </p:spPr>
      </p:sp>
      <p:sp>
        <p:nvSpPr>
          <p:cNvPr id="22" name="Text 20"/>
          <p:cNvSpPr/>
          <p:nvPr/>
        </p:nvSpPr>
        <p:spPr>
          <a:xfrm>
            <a:off x="1304925" y="7024911"/>
            <a:ext cx="16163925"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1F6FEB"/>
                </a:solidFill>
                <a:latin typeface="Arial" pitchFamily="34" charset="0"/>
                <a:ea typeface="Arial" pitchFamily="34" charset="-122"/>
                <a:cs typeface="Arial" pitchFamily="34" charset="-120"/>
              </a:rPr>
              <a:t>The “chat” is a client-side illusion. </a:t>
            </a:r>
            <a:pPr algn="l" indent="0" marL="0">
              <a:lnSpc>
                <a:spcPct val="130645"/>
              </a:lnSpc>
              <a:buNone/>
            </a:pPr>
            <a:r>
              <a:rPr lang="en-US" sz="2025" dirty="0">
                <a:solidFill>
                  <a:srgbClr val="3D3D3D"/>
                </a:solidFill>
                <a:highlight>
                  <a:srgbClr val="E8F0FE"/>
                </a:highlight>
                <a:latin typeface="Arial" pitchFamily="34" charset="0"/>
                <a:ea typeface="Arial" pitchFamily="34" charset="-122"/>
                <a:cs typeface="Arial" pitchFamily="34" charset="-120"/>
              </a:rPr>
              <a:t>The model remembers nothing between calls — to feel continuous, your code re-sends the </a:t>
            </a:r>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entire conversation history </a:t>
            </a:r>
            <a:pPr algn="l" indent="0" marL="0">
              <a:lnSpc>
                <a:spcPct val="130645"/>
              </a:lnSpc>
              <a:buNone/>
            </a:pPr>
            <a:r>
              <a:rPr lang="en-US" sz="2025" dirty="0">
                <a:solidFill>
                  <a:srgbClr val="3D3D3D"/>
                </a:solidFill>
                <a:highlight>
                  <a:srgbClr val="E8F0FE"/>
                </a:highlight>
                <a:latin typeface="Arial" pitchFamily="34" charset="0"/>
                <a:ea typeface="Arial" pitchFamily="34" charset="-122"/>
                <a:cs typeface="Arial" pitchFamily="34" charset="-120"/>
              </a:rPr>
              <a:t>in the context array on every request.</a:t>
            </a:r>
            <a:endParaRPr lang="en-US" sz="2025" dirty="0"/>
          </a:p>
        </p:txBody>
      </p:sp>
      <p:sp>
        <p:nvSpPr>
          <p:cNvPr id="23" name="Shape 21"/>
          <p:cNvSpPr/>
          <p:nvPr/>
        </p:nvSpPr>
        <p:spPr>
          <a:xfrm>
            <a:off x="1047750" y="9520238"/>
            <a:ext cx="16192500" cy="9525"/>
          </a:xfrm>
          <a:prstGeom prst="rect">
            <a:avLst/>
          </a:prstGeom>
          <a:solidFill>
            <a:srgbClr val="E3E1DA"/>
          </a:solidFill>
          <a:ln/>
        </p:spPr>
      </p:sp>
      <p:sp>
        <p:nvSpPr>
          <p:cNvPr id="24" name="Text 22"/>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5" name="Text 23"/>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Why Context Has Limits</a:t>
            </a:r>
            <a:endParaRPr lang="en-US" sz="4800" dirty="0"/>
          </a:p>
        </p:txBody>
      </p:sp>
      <p:sp>
        <p:nvSpPr>
          <p:cNvPr id="5" name="Text 3"/>
          <p:cNvSpPr/>
          <p:nvPr/>
        </p:nvSpPr>
        <p:spPr>
          <a:xfrm>
            <a:off x="1047750" y="4197921"/>
            <a:ext cx="6082665" cy="929580"/>
          </a:xfrm>
          <a:prstGeom prst="rect">
            <a:avLst/>
          </a:prstGeom>
          <a:noFill/>
          <a:ln/>
        </p:spPr>
        <p:txBody>
          <a:bodyPr wrap="square" lIns="25400" tIns="25400" rIns="25400" bIns="25400" rtlCol="0" anchor="t">
            <a:normAutofit/>
          </a:bodyPr>
          <a:lstStyle/>
          <a:p>
            <a:pPr algn="l" indent="0" marL="0">
              <a:lnSpc>
                <a:spcPct val="114146"/>
              </a:lnSpc>
              <a:buNone/>
            </a:pPr>
            <a:r>
              <a:rPr lang="en-US" sz="2700" dirty="0">
                <a:solidFill>
                  <a:srgbClr val="1A1A1A"/>
                </a:solidFill>
                <a:latin typeface="Georgia" pitchFamily="34" charset="0"/>
                <a:ea typeface="Georgia" pitchFamily="34" charset="-122"/>
                <a:cs typeface="Georgia" pitchFamily="34" charset="-120"/>
              </a:rPr>
              <a:t>Every token attends to every other token.</a:t>
            </a:r>
            <a:endParaRPr lang="en-US" sz="2700" dirty="0"/>
          </a:p>
        </p:txBody>
      </p:sp>
      <p:sp>
        <p:nvSpPr>
          <p:cNvPr id="6" name="Shape 4"/>
          <p:cNvSpPr/>
          <p:nvPr/>
        </p:nvSpPr>
        <p:spPr>
          <a:xfrm>
            <a:off x="1047750" y="5298951"/>
            <a:ext cx="1486123" cy="585788"/>
          </a:xfrm>
          <a:prstGeom prst="roundRect">
            <a:avLst>
              <a:gd name="adj" fmla="val 16260"/>
            </a:avLst>
          </a:prstGeom>
          <a:solidFill>
            <a:srgbClr val="E8F0FE"/>
          </a:solidFill>
          <a:ln/>
        </p:spPr>
      </p:sp>
      <p:sp>
        <p:nvSpPr>
          <p:cNvPr id="7" name="Text 5"/>
          <p:cNvSpPr/>
          <p:nvPr/>
        </p:nvSpPr>
        <p:spPr>
          <a:xfrm>
            <a:off x="1219200" y="5375151"/>
            <a:ext cx="1291836" cy="471488"/>
          </a:xfrm>
          <a:prstGeom prst="rect">
            <a:avLst/>
          </a:prstGeom>
          <a:noFill/>
          <a:ln/>
        </p:spPr>
        <p:txBody>
          <a:bodyPr wrap="square" lIns="25400" tIns="25400" rIns="25400" bIns="25400" rtlCol="0" anchor="t">
            <a:normAutofit/>
          </a:bodyPr>
          <a:lstStyle/>
          <a:p>
            <a:pPr algn="l" indent="0" marL="0">
              <a:buNone/>
            </a:pPr>
            <a:r>
              <a:rPr lang="en-US" sz="3000" b="1" dirty="0">
                <a:solidFill>
                  <a:srgbClr val="1F6FEB"/>
                </a:solidFill>
                <a:latin typeface="Courier New" pitchFamily="34" charset="0"/>
                <a:ea typeface="Courier New" pitchFamily="34" charset="-122"/>
                <a:cs typeface="Courier New" pitchFamily="34" charset="-120"/>
              </a:rPr>
              <a:t>O(N²)</a:t>
            </a:r>
            <a:endParaRPr lang="en-US" sz="3000" dirty="0"/>
          </a:p>
        </p:txBody>
      </p:sp>
      <p:sp>
        <p:nvSpPr>
          <p:cNvPr id="8" name="Text 6"/>
          <p:cNvSpPr/>
          <p:nvPr/>
        </p:nvSpPr>
        <p:spPr>
          <a:xfrm>
            <a:off x="2686273" y="5484688"/>
            <a:ext cx="3496211" cy="300038"/>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7C7A73"/>
                </a:solidFill>
                <a:latin typeface="Arial" pitchFamily="34" charset="0"/>
                <a:ea typeface="Arial" pitchFamily="34" charset="-122"/>
                <a:cs typeface="Arial" pitchFamily="34" charset="-120"/>
              </a:rPr>
              <a:t>QUADRATIC COMPLEXITY</a:t>
            </a:r>
            <a:endParaRPr lang="en-US" sz="1800" dirty="0"/>
          </a:p>
        </p:txBody>
      </p:sp>
      <p:sp>
        <p:nvSpPr>
          <p:cNvPr id="9" name="Text 7"/>
          <p:cNvSpPr/>
          <p:nvPr/>
        </p:nvSpPr>
        <p:spPr>
          <a:xfrm>
            <a:off x="1047750" y="6094288"/>
            <a:ext cx="6082665" cy="1195388"/>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Work grows with the </a:t>
            </a:r>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square </a:t>
            </a:r>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of the length — </a:t>
            </a:r>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double </a:t>
            </a:r>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the tokens and the compute jumps </a:t>
            </a:r>
            <a:pPr algn="l" indent="0" marL="0">
              <a:lnSpc>
                <a:spcPct val="130645"/>
              </a:lnSpc>
              <a:buNone/>
            </a:pPr>
            <a:r>
              <a:rPr lang="en-US" sz="2025" b="1" dirty="0">
                <a:solidFill>
                  <a:srgbClr val="1A1A1A"/>
                </a:solidFill>
                <a:latin typeface="Arial" pitchFamily="34" charset="0"/>
                <a:ea typeface="Arial" pitchFamily="34" charset="-122"/>
                <a:cs typeface="Arial" pitchFamily="34" charset="-120"/>
              </a:rPr>
              <a:t>4× </a:t>
            </a:r>
            <a:pPr algn="l" indent="0" marL="0">
              <a:lnSpc>
                <a:spcPct val="130645"/>
              </a:lnSpc>
              <a:buNone/>
            </a:pPr>
            <a:r>
              <a:rPr lang="en-US" sz="2025" dirty="0">
                <a:solidFill>
                  <a:srgbClr val="3D3D3D"/>
                </a:solidFill>
                <a:latin typeface="Arial" pitchFamily="34" charset="0"/>
                <a:ea typeface="Arial" pitchFamily="34" charset="-122"/>
                <a:cs typeface="Arial" pitchFamily="34" charset="-120"/>
              </a:rPr>
              <a:t>. That is the cost of a longer window.</a:t>
            </a:r>
            <a:endParaRPr lang="en-US" sz="2025" dirty="0"/>
          </a:p>
        </p:txBody>
      </p:sp>
      <p:sp>
        <p:nvSpPr>
          <p:cNvPr id="10" name="Text 8"/>
          <p:cNvSpPr/>
          <p:nvPr/>
        </p:nvSpPr>
        <p:spPr>
          <a:xfrm>
            <a:off x="7524750" y="4598417"/>
            <a:ext cx="10687050"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Windows have grown fast (illustrative)</a:t>
            </a:r>
            <a:endParaRPr lang="en-US" sz="1800" dirty="0"/>
          </a:p>
        </p:txBody>
      </p:sp>
      <p:sp>
        <p:nvSpPr>
          <p:cNvPr id="11" name="Text 9"/>
          <p:cNvSpPr/>
          <p:nvPr/>
        </p:nvSpPr>
        <p:spPr>
          <a:xfrm>
            <a:off x="7524750" y="5057998"/>
            <a:ext cx="12192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2022</a:t>
            </a:r>
            <a:endParaRPr lang="en-US" sz="2025" dirty="0"/>
          </a:p>
        </p:txBody>
      </p:sp>
      <p:sp>
        <p:nvSpPr>
          <p:cNvPr id="12" name="Shape 10"/>
          <p:cNvSpPr/>
          <p:nvPr/>
        </p:nvSpPr>
        <p:spPr>
          <a:xfrm>
            <a:off x="8858250" y="5068491"/>
            <a:ext cx="335235" cy="304800"/>
          </a:xfrm>
          <a:prstGeom prst="roundRect">
            <a:avLst>
              <a:gd name="adj" fmla="val 15625"/>
            </a:avLst>
          </a:prstGeom>
          <a:solidFill>
            <a:srgbClr val="178A4C"/>
          </a:solidFill>
          <a:ln/>
        </p:spPr>
      </p:sp>
      <p:sp>
        <p:nvSpPr>
          <p:cNvPr id="13" name="Text 11"/>
          <p:cNvSpPr/>
          <p:nvPr/>
        </p:nvSpPr>
        <p:spPr>
          <a:xfrm>
            <a:off x="9307785" y="5055617"/>
            <a:ext cx="489347" cy="290513"/>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~4K</a:t>
            </a:r>
            <a:endParaRPr lang="en-US" sz="1800" dirty="0"/>
          </a:p>
        </p:txBody>
      </p:sp>
      <p:sp>
        <p:nvSpPr>
          <p:cNvPr id="14" name="Text 12"/>
          <p:cNvSpPr/>
          <p:nvPr/>
        </p:nvSpPr>
        <p:spPr>
          <a:xfrm>
            <a:off x="7524750" y="5534248"/>
            <a:ext cx="12192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2023</a:t>
            </a:r>
            <a:endParaRPr lang="en-US" sz="2025" dirty="0"/>
          </a:p>
        </p:txBody>
      </p:sp>
      <p:sp>
        <p:nvSpPr>
          <p:cNvPr id="15" name="Shape 13"/>
          <p:cNvSpPr/>
          <p:nvPr/>
        </p:nvSpPr>
        <p:spPr>
          <a:xfrm>
            <a:off x="8858250" y="5544741"/>
            <a:ext cx="1173435" cy="304800"/>
          </a:xfrm>
          <a:prstGeom prst="roundRect">
            <a:avLst>
              <a:gd name="adj" fmla="val 15625"/>
            </a:avLst>
          </a:prstGeom>
          <a:solidFill>
            <a:srgbClr val="178A4C"/>
          </a:solidFill>
          <a:ln/>
        </p:spPr>
      </p:sp>
      <p:sp>
        <p:nvSpPr>
          <p:cNvPr id="16" name="Text 14"/>
          <p:cNvSpPr/>
          <p:nvPr/>
        </p:nvSpPr>
        <p:spPr>
          <a:xfrm>
            <a:off x="10145985" y="5531867"/>
            <a:ext cx="1124992" cy="290513"/>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~32–128K</a:t>
            </a:r>
            <a:endParaRPr lang="en-US" sz="1800" dirty="0"/>
          </a:p>
        </p:txBody>
      </p:sp>
      <p:sp>
        <p:nvSpPr>
          <p:cNvPr id="17" name="Text 15"/>
          <p:cNvSpPr/>
          <p:nvPr/>
        </p:nvSpPr>
        <p:spPr>
          <a:xfrm>
            <a:off x="7524750" y="6010498"/>
            <a:ext cx="12192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Courier New" pitchFamily="34" charset="0"/>
                <a:ea typeface="Courier New" pitchFamily="34" charset="-122"/>
                <a:cs typeface="Courier New" pitchFamily="34" charset="-120"/>
              </a:rPr>
              <a:t>2026</a:t>
            </a:r>
            <a:endParaRPr lang="en-US" sz="2025" dirty="0"/>
          </a:p>
        </p:txBody>
      </p:sp>
      <p:sp>
        <p:nvSpPr>
          <p:cNvPr id="18" name="Shape 16"/>
          <p:cNvSpPr/>
          <p:nvPr/>
        </p:nvSpPr>
        <p:spPr>
          <a:xfrm>
            <a:off x="8858250" y="6020991"/>
            <a:ext cx="6873180" cy="304800"/>
          </a:xfrm>
          <a:prstGeom prst="roundRect">
            <a:avLst>
              <a:gd name="adj" fmla="val 15625"/>
            </a:avLst>
          </a:prstGeom>
          <a:solidFill>
            <a:srgbClr val="1F6FEB"/>
          </a:solidFill>
          <a:ln/>
        </p:spPr>
      </p:sp>
      <p:sp>
        <p:nvSpPr>
          <p:cNvPr id="19" name="Text 17"/>
          <p:cNvSpPr/>
          <p:nvPr/>
        </p:nvSpPr>
        <p:spPr>
          <a:xfrm>
            <a:off x="15845730" y="6008117"/>
            <a:ext cx="1200894" cy="290513"/>
          </a:xfrm>
          <a:prstGeom prst="rect">
            <a:avLst/>
          </a:prstGeom>
          <a:noFill/>
          <a:ln/>
        </p:spPr>
        <p:txBody>
          <a:bodyPr wrap="square" lIns="25400" tIns="25400" rIns="25400" bIns="25400" rtlCol="0" anchor="t">
            <a:normAutofit/>
          </a:bodyPr>
          <a:lstStyle/>
          <a:p>
            <a:pPr algn="l" indent="0" marL="0">
              <a:buNone/>
            </a:pPr>
            <a:r>
              <a:rPr lang="en-US" sz="1800" b="1" dirty="0">
                <a:solidFill>
                  <a:srgbClr val="1F6FEB"/>
                </a:solidFill>
                <a:latin typeface="Arial" pitchFamily="34" charset="0"/>
                <a:ea typeface="Arial" pitchFamily="34" charset="-122"/>
                <a:cs typeface="Arial" pitchFamily="34" charset="-120"/>
              </a:rPr>
              <a:t>200K–1M+</a:t>
            </a:r>
            <a:endParaRPr lang="en-US" sz="1800" dirty="0"/>
          </a:p>
        </p:txBody>
      </p:sp>
      <p:sp>
        <p:nvSpPr>
          <p:cNvPr id="20" name="Text 18"/>
          <p:cNvSpPr/>
          <p:nvPr/>
        </p:nvSpPr>
        <p:spPr>
          <a:xfrm>
            <a:off x="7524750" y="6555804"/>
            <a:ext cx="1068705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Georgia" pitchFamily="34" charset="0"/>
                <a:ea typeface="Georgia" pitchFamily="34" charset="-122"/>
                <a:cs typeface="Georgia" pitchFamily="34" charset="-120"/>
              </a:rPr>
              <a:t>Bigger — but </a:t>
            </a:r>
            <a:pPr algn="l" indent="0" marL="0">
              <a:buNone/>
            </a:pPr>
            <a:r>
              <a:rPr lang="en-US" sz="2025" dirty="0">
                <a:solidFill>
                  <a:srgbClr val="1A1A1A"/>
                </a:solidFill>
                <a:highlight>
                  <a:srgbClr val="FFF1A8"/>
                </a:highlight>
                <a:latin typeface="Georgia" pitchFamily="34" charset="0"/>
                <a:ea typeface="Georgia" pitchFamily="34" charset="-122"/>
                <a:cs typeface="Georgia" pitchFamily="34" charset="-120"/>
              </a:rPr>
              <a:t>never free</a:t>
            </a:r>
            <a:pPr algn="l" indent="0" marL="0">
              <a:buNone/>
            </a:pP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21" name="Shape 19"/>
          <p:cNvSpPr/>
          <p:nvPr/>
        </p:nvSpPr>
        <p:spPr>
          <a:xfrm>
            <a:off x="1047750" y="9520238"/>
            <a:ext cx="16192500" cy="9525"/>
          </a:xfrm>
          <a:prstGeom prst="rect">
            <a:avLst/>
          </a:prstGeom>
          <a:solidFill>
            <a:srgbClr val="E3E1DA"/>
          </a:solidFill>
          <a:ln/>
        </p:spPr>
      </p:sp>
      <p:sp>
        <p:nvSpPr>
          <p:cNvPr id="22" name="Text 20"/>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3" name="Text 21"/>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Three Limits You’ll Actually Hit</a:t>
            </a:r>
            <a:endParaRPr lang="en-US" sz="4800" dirty="0"/>
          </a:p>
        </p:txBody>
      </p:sp>
      <p:sp>
        <p:nvSpPr>
          <p:cNvPr id="5" name="Shape 3"/>
          <p:cNvSpPr/>
          <p:nvPr/>
        </p:nvSpPr>
        <p:spPr>
          <a:xfrm>
            <a:off x="1047750" y="4880372"/>
            <a:ext cx="16192500" cy="9525"/>
          </a:xfrm>
          <a:prstGeom prst="rect">
            <a:avLst/>
          </a:prstGeom>
          <a:solidFill>
            <a:srgbClr val="E3E1DA"/>
          </a:solidFill>
          <a:ln/>
        </p:spPr>
      </p:sp>
      <p:sp>
        <p:nvSpPr>
          <p:cNvPr id="6" name="Text 4"/>
          <p:cNvSpPr/>
          <p:nvPr/>
        </p:nvSpPr>
        <p:spPr>
          <a:xfrm>
            <a:off x="1047750" y="3812158"/>
            <a:ext cx="914400" cy="535260"/>
          </a:xfrm>
          <a:prstGeom prst="rect">
            <a:avLst/>
          </a:prstGeom>
          <a:noFill/>
          <a:ln/>
        </p:spPr>
        <p:txBody>
          <a:bodyPr wrap="square" lIns="25400" tIns="25400" rIns="25400" bIns="25400" rtlCol="0" anchor="t">
            <a:normAutofit/>
          </a:bodyPr>
          <a:lstStyle/>
          <a:p>
            <a:pPr algn="l" indent="0" marL="0">
              <a:lnSpc>
                <a:spcPct val="79695"/>
              </a:lnSpc>
              <a:buNone/>
            </a:pPr>
            <a:r>
              <a:rPr lang="en-US" sz="4350" b="1" dirty="0">
                <a:solidFill>
                  <a:srgbClr val="D64545"/>
                </a:solidFill>
                <a:latin typeface="Georgia" pitchFamily="34" charset="0"/>
                <a:ea typeface="Georgia" pitchFamily="34" charset="-122"/>
                <a:cs typeface="Georgia" pitchFamily="34" charset="-120"/>
              </a:rPr>
              <a:t>1</a:t>
            </a:r>
            <a:endParaRPr lang="en-US" sz="4350" dirty="0"/>
          </a:p>
        </p:txBody>
      </p:sp>
      <p:sp>
        <p:nvSpPr>
          <p:cNvPr id="7" name="Text 5"/>
          <p:cNvSpPr/>
          <p:nvPr/>
        </p:nvSpPr>
        <p:spPr>
          <a:xfrm>
            <a:off x="2171700" y="3812158"/>
            <a:ext cx="1657540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Georgia" pitchFamily="34" charset="0"/>
                <a:ea typeface="Georgia" pitchFamily="34" charset="-122"/>
                <a:cs typeface="Georgia" pitchFamily="34" charset="-120"/>
              </a:rPr>
              <a:t>Overflow — the request is rejected, or old history is silently dropped</a:t>
            </a:r>
            <a:endParaRPr lang="en-US" sz="2700" dirty="0"/>
          </a:p>
        </p:txBody>
      </p:sp>
      <p:sp>
        <p:nvSpPr>
          <p:cNvPr id="8" name="Text 6"/>
          <p:cNvSpPr/>
          <p:nvPr/>
        </p:nvSpPr>
        <p:spPr>
          <a:xfrm>
            <a:off x="2171700" y="4278883"/>
            <a:ext cx="16575405" cy="41098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Count tokens </a:t>
            </a:r>
            <a:pPr algn="l" indent="0" marL="0">
              <a:lnSpc>
                <a:spcPct val="126290"/>
              </a:lnSpc>
              <a:buNone/>
            </a:pPr>
            <a:r>
              <a:rPr lang="en-US" sz="2025" b="1" dirty="0">
                <a:solidFill>
                  <a:srgbClr val="1A1A1A"/>
                </a:solidFill>
                <a:latin typeface="Arial" pitchFamily="34" charset="0"/>
                <a:ea typeface="Arial" pitchFamily="34" charset="-122"/>
                <a:cs typeface="Arial" pitchFamily="34" charset="-120"/>
              </a:rPr>
              <a:t>before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you send; summarize or trim old turns yourself — don’t let the API decide what to forget.</a:t>
            </a:r>
            <a:endParaRPr lang="en-US" sz="2025" dirty="0"/>
          </a:p>
        </p:txBody>
      </p:sp>
      <p:sp>
        <p:nvSpPr>
          <p:cNvPr id="9" name="Shape 7"/>
          <p:cNvSpPr/>
          <p:nvPr/>
        </p:nvSpPr>
        <p:spPr>
          <a:xfrm>
            <a:off x="1047750" y="6559600"/>
            <a:ext cx="16192500" cy="9525"/>
          </a:xfrm>
          <a:prstGeom prst="rect">
            <a:avLst/>
          </a:prstGeom>
          <a:solidFill>
            <a:srgbClr val="E3E1DA"/>
          </a:solidFill>
          <a:ln/>
        </p:spPr>
      </p:sp>
      <p:sp>
        <p:nvSpPr>
          <p:cNvPr id="10" name="Text 8"/>
          <p:cNvSpPr/>
          <p:nvPr/>
        </p:nvSpPr>
        <p:spPr>
          <a:xfrm>
            <a:off x="1047750" y="5118497"/>
            <a:ext cx="914400" cy="535260"/>
          </a:xfrm>
          <a:prstGeom prst="rect">
            <a:avLst/>
          </a:prstGeom>
          <a:noFill/>
          <a:ln/>
        </p:spPr>
        <p:txBody>
          <a:bodyPr wrap="square" lIns="25400" tIns="25400" rIns="25400" bIns="25400" rtlCol="0" anchor="t">
            <a:normAutofit/>
          </a:bodyPr>
          <a:lstStyle/>
          <a:p>
            <a:pPr algn="l" indent="0" marL="0">
              <a:lnSpc>
                <a:spcPct val="79695"/>
              </a:lnSpc>
              <a:buNone/>
            </a:pPr>
            <a:r>
              <a:rPr lang="en-US" sz="4350" b="1" dirty="0">
                <a:solidFill>
                  <a:srgbClr val="C77D0A"/>
                </a:solidFill>
                <a:latin typeface="Georgia" pitchFamily="34" charset="0"/>
                <a:ea typeface="Georgia" pitchFamily="34" charset="-122"/>
                <a:cs typeface="Georgia" pitchFamily="34" charset="-120"/>
              </a:rPr>
              <a:t>2</a:t>
            </a:r>
            <a:endParaRPr lang="en-US" sz="4350" dirty="0"/>
          </a:p>
        </p:txBody>
      </p:sp>
      <p:sp>
        <p:nvSpPr>
          <p:cNvPr id="11" name="Text 9"/>
          <p:cNvSpPr/>
          <p:nvPr/>
        </p:nvSpPr>
        <p:spPr>
          <a:xfrm>
            <a:off x="2171700" y="5118497"/>
            <a:ext cx="1657540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highlight>
                  <a:srgbClr val="FFF1A8"/>
                </a:highlight>
                <a:latin typeface="Georgia" pitchFamily="34" charset="0"/>
                <a:ea typeface="Georgia" pitchFamily="34" charset="-122"/>
                <a:cs typeface="Georgia" pitchFamily="34" charset="-120"/>
              </a:rPr>
              <a:t>Lost in the middle </a:t>
            </a:r>
            <a:pPr algn="l" indent="0" marL="0">
              <a:buNone/>
            </a:pPr>
            <a:r>
              <a:rPr lang="en-US" sz="2700" dirty="0">
                <a:solidFill>
                  <a:srgbClr val="1A1A1A"/>
                </a:solidFill>
                <a:latin typeface="Georgia" pitchFamily="34" charset="0"/>
                <a:ea typeface="Georgia" pitchFamily="34" charset="-122"/>
                <a:cs typeface="Georgia" pitchFamily="34" charset="-120"/>
              </a:rPr>
              <a:t>— recall is best at the edges</a:t>
            </a:r>
            <a:endParaRPr lang="en-US" sz="2700" dirty="0"/>
          </a:p>
        </p:txBody>
      </p:sp>
      <p:sp>
        <p:nvSpPr>
          <p:cNvPr id="12" name="Text 10"/>
          <p:cNvSpPr/>
          <p:nvPr/>
        </p:nvSpPr>
        <p:spPr>
          <a:xfrm>
            <a:off x="2171700" y="5585222"/>
            <a:ext cx="15520607" cy="783878"/>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In long contexts, models attend most reliably to the </a:t>
            </a:r>
            <a:pPr algn="l" indent="0" marL="0">
              <a:lnSpc>
                <a:spcPct val="126290"/>
              </a:lnSpc>
              <a:buNone/>
            </a:pPr>
            <a:r>
              <a:rPr lang="en-US" sz="2025" b="1" dirty="0">
                <a:solidFill>
                  <a:srgbClr val="1A1A1A"/>
                </a:solidFill>
                <a:latin typeface="Arial" pitchFamily="34" charset="0"/>
                <a:ea typeface="Arial" pitchFamily="34" charset="-122"/>
                <a:cs typeface="Arial" pitchFamily="34" charset="-120"/>
              </a:rPr>
              <a:t>beginning and end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 Put instructions and key facts there — not buried on page 40.</a:t>
            </a:r>
            <a:endParaRPr lang="en-US" sz="2025" dirty="0"/>
          </a:p>
        </p:txBody>
      </p:sp>
      <p:sp>
        <p:nvSpPr>
          <p:cNvPr id="13" name="Text 11"/>
          <p:cNvSpPr/>
          <p:nvPr/>
        </p:nvSpPr>
        <p:spPr>
          <a:xfrm>
            <a:off x="1047750" y="6797725"/>
            <a:ext cx="914400" cy="535260"/>
          </a:xfrm>
          <a:prstGeom prst="rect">
            <a:avLst/>
          </a:prstGeom>
          <a:noFill/>
          <a:ln/>
        </p:spPr>
        <p:txBody>
          <a:bodyPr wrap="square" lIns="25400" tIns="25400" rIns="25400" bIns="25400" rtlCol="0" anchor="t">
            <a:normAutofit/>
          </a:bodyPr>
          <a:lstStyle/>
          <a:p>
            <a:pPr algn="l" indent="0" marL="0">
              <a:lnSpc>
                <a:spcPct val="79695"/>
              </a:lnSpc>
              <a:buNone/>
            </a:pPr>
            <a:r>
              <a:rPr lang="en-US" sz="4350" b="1" dirty="0">
                <a:solidFill>
                  <a:srgbClr val="1F6FEB"/>
                </a:solidFill>
                <a:latin typeface="Georgia" pitchFamily="34" charset="0"/>
                <a:ea typeface="Georgia" pitchFamily="34" charset="-122"/>
                <a:cs typeface="Georgia" pitchFamily="34" charset="-120"/>
              </a:rPr>
              <a:t>3</a:t>
            </a:r>
            <a:endParaRPr lang="en-US" sz="4350" dirty="0"/>
          </a:p>
        </p:txBody>
      </p:sp>
      <p:sp>
        <p:nvSpPr>
          <p:cNvPr id="14" name="Text 12"/>
          <p:cNvSpPr/>
          <p:nvPr/>
        </p:nvSpPr>
        <p:spPr>
          <a:xfrm>
            <a:off x="2171700" y="6797725"/>
            <a:ext cx="16575405"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Georgia" pitchFamily="34" charset="0"/>
                <a:ea typeface="Georgia" pitchFamily="34" charset="-122"/>
                <a:cs typeface="Georgia" pitchFamily="34" charset="-120"/>
              </a:rPr>
              <a:t>Slower and pricier — every single call</a:t>
            </a:r>
            <a:endParaRPr lang="en-US" sz="2700" dirty="0"/>
          </a:p>
        </p:txBody>
      </p:sp>
      <p:sp>
        <p:nvSpPr>
          <p:cNvPr id="15" name="Text 13"/>
          <p:cNvSpPr/>
          <p:nvPr/>
        </p:nvSpPr>
        <p:spPr>
          <a:xfrm>
            <a:off x="2171700" y="7264450"/>
            <a:ext cx="16575405" cy="410989"/>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“Just paste everything in” can cost </a:t>
            </a:r>
            <a:pPr algn="l" indent="0" marL="0">
              <a:lnSpc>
                <a:spcPct val="126290"/>
              </a:lnSpc>
              <a:buNone/>
            </a:pPr>
            <a:r>
              <a:rPr lang="en-US" sz="2025" b="1" dirty="0">
                <a:solidFill>
                  <a:srgbClr val="1A1A1A"/>
                </a:solidFill>
                <a:latin typeface="Arial" pitchFamily="34" charset="0"/>
                <a:ea typeface="Arial" pitchFamily="34" charset="-122"/>
                <a:cs typeface="Arial" pitchFamily="34" charset="-120"/>
              </a:rPr>
              <a:t>10×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a focused prompt at twice the latency. Send what’s relevant.</a:t>
            </a:r>
            <a:endParaRPr lang="en-US" sz="2025" dirty="0"/>
          </a:p>
        </p:txBody>
      </p:sp>
      <p:sp>
        <p:nvSpPr>
          <p:cNvPr id="16" name="Shape 14"/>
          <p:cNvSpPr/>
          <p:nvPr/>
        </p:nvSpPr>
        <p:spPr>
          <a:xfrm>
            <a:off x="1047750" y="9520238"/>
            <a:ext cx="16192500" cy="9525"/>
          </a:xfrm>
          <a:prstGeom prst="rect">
            <a:avLst/>
          </a:prstGeom>
          <a:solidFill>
            <a:srgbClr val="E3E1DA"/>
          </a:solidFill>
          <a:ln/>
        </p:spPr>
      </p:sp>
      <p:sp>
        <p:nvSpPr>
          <p:cNvPr id="17" name="Text 15"/>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8" name="Text 16"/>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Tokens Drive Cost and Limits</a:t>
            </a:r>
            <a:endParaRPr lang="en-US" sz="4800" dirty="0"/>
          </a:p>
        </p:txBody>
      </p:sp>
      <p:sp>
        <p:nvSpPr>
          <p:cNvPr id="5" name="Shape 3"/>
          <p:cNvSpPr/>
          <p:nvPr/>
        </p:nvSpPr>
        <p:spPr>
          <a:xfrm>
            <a:off x="1047750" y="3603575"/>
            <a:ext cx="6667500" cy="4223296"/>
          </a:xfrm>
          <a:prstGeom prst="roundRect">
            <a:avLst>
              <a:gd name="adj" fmla="val 3609"/>
            </a:avLst>
          </a:prstGeom>
          <a:ln w="9525">
            <a:solidFill>
              <a:srgbClr val="E3E1DA"/>
            </a:solidFill>
            <a:prstDash val="solid"/>
          </a:ln>
        </p:spPr>
      </p:sp>
      <p:sp>
        <p:nvSpPr>
          <p:cNvPr id="6" name="Shape 4"/>
          <p:cNvSpPr/>
          <p:nvPr/>
        </p:nvSpPr>
        <p:spPr>
          <a:xfrm>
            <a:off x="1057275" y="3613100"/>
            <a:ext cx="6648450" cy="576263"/>
          </a:xfrm>
          <a:prstGeom prst="rect">
            <a:avLst/>
          </a:prstGeom>
          <a:solidFill>
            <a:srgbClr val="F8F7F3"/>
          </a:solidFill>
          <a:ln/>
        </p:spPr>
      </p:sp>
      <p:sp>
        <p:nvSpPr>
          <p:cNvPr id="7" name="Shape 5"/>
          <p:cNvSpPr/>
          <p:nvPr/>
        </p:nvSpPr>
        <p:spPr>
          <a:xfrm>
            <a:off x="1057275" y="4179838"/>
            <a:ext cx="6648450" cy="9525"/>
          </a:xfrm>
          <a:prstGeom prst="rect">
            <a:avLst/>
          </a:prstGeom>
          <a:solidFill>
            <a:srgbClr val="E3E1DA"/>
          </a:solidFill>
          <a:ln/>
        </p:spPr>
      </p:sp>
      <p:sp>
        <p:nvSpPr>
          <p:cNvPr id="8" name="Text 6"/>
          <p:cNvSpPr/>
          <p:nvPr/>
        </p:nvSpPr>
        <p:spPr>
          <a:xfrm>
            <a:off x="1323975" y="3765500"/>
            <a:ext cx="6314504"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7C7A73"/>
                </a:solidFill>
                <a:latin typeface="Arial" pitchFamily="34" charset="0"/>
                <a:ea typeface="Arial" pitchFamily="34" charset="-122"/>
                <a:cs typeface="Arial" pitchFamily="34" charset="-120"/>
              </a:rPr>
              <a:t>ONE CALL — ILLUSTRATIVE RATES</a:t>
            </a:r>
            <a:endParaRPr lang="en-US" sz="1800" dirty="0"/>
          </a:p>
        </p:txBody>
      </p:sp>
      <p:sp>
        <p:nvSpPr>
          <p:cNvPr id="9" name="Text 7"/>
          <p:cNvSpPr/>
          <p:nvPr/>
        </p:nvSpPr>
        <p:spPr>
          <a:xfrm>
            <a:off x="1323975" y="4437013"/>
            <a:ext cx="4632360" cy="61912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Input 2,000 tokens </a:t>
            </a:r>
            <a:pPr algn="l" indent="0" marL="0">
              <a:buNone/>
            </a:pPr>
            <a:r>
              <a:rPr lang="en-US" sz="2025" dirty="0">
                <a:solidFill>
                  <a:srgbClr val="7C7A73"/>
                </a:solidFill>
                <a:latin typeface="Courier New" pitchFamily="34" charset="0"/>
                <a:ea typeface="Courier New" pitchFamily="34" charset="-122"/>
                <a:cs typeface="Courier New" pitchFamily="34" charset="-120"/>
              </a:rPr>
              <a:t>@ $3 / 1M</a:t>
            </a:r>
            <a:endParaRPr lang="en-US" sz="2025" dirty="0"/>
          </a:p>
        </p:txBody>
      </p:sp>
      <p:sp>
        <p:nvSpPr>
          <p:cNvPr id="10" name="Text 8"/>
          <p:cNvSpPr/>
          <p:nvPr/>
        </p:nvSpPr>
        <p:spPr>
          <a:xfrm>
            <a:off x="6050012" y="4437013"/>
            <a:ext cx="1465213" cy="619125"/>
          </a:xfrm>
          <a:prstGeom prst="rect">
            <a:avLst/>
          </a:prstGeom>
          <a:noFill/>
          <a:ln/>
        </p:spPr>
        <p:txBody>
          <a:bodyPr wrap="square" lIns="25400" tIns="25400" rIns="25400" bIns="25400" rtlCol="0" anchor="t">
            <a:normAutofit/>
          </a:bodyPr>
          <a:lstStyle/>
          <a:p>
            <a:pPr algn="l" indent="0" marL="0">
              <a:buNone/>
            </a:pPr>
            <a:r>
              <a:rPr lang="en-US" sz="2025" b="1" dirty="0">
                <a:solidFill>
                  <a:srgbClr val="1F6FEB"/>
                </a:solidFill>
                <a:latin typeface="Courier New" pitchFamily="34" charset="0"/>
                <a:ea typeface="Courier New" pitchFamily="34" charset="-122"/>
                <a:cs typeface="Courier New" pitchFamily="34" charset="-120"/>
              </a:rPr>
              <a:t>$0.0060</a:t>
            </a:r>
            <a:endParaRPr lang="en-US" sz="2025" dirty="0"/>
          </a:p>
        </p:txBody>
      </p:sp>
      <p:sp>
        <p:nvSpPr>
          <p:cNvPr id="11" name="Text 9"/>
          <p:cNvSpPr/>
          <p:nvPr/>
        </p:nvSpPr>
        <p:spPr>
          <a:xfrm>
            <a:off x="1323975" y="5132338"/>
            <a:ext cx="4632360" cy="61912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Output 500 tokens </a:t>
            </a:r>
            <a:pPr algn="l" indent="0" marL="0">
              <a:buNone/>
            </a:pPr>
            <a:r>
              <a:rPr lang="en-US" sz="2025" dirty="0">
                <a:solidFill>
                  <a:srgbClr val="7C7A73"/>
                </a:solidFill>
                <a:latin typeface="Courier New" pitchFamily="34" charset="0"/>
                <a:ea typeface="Courier New" pitchFamily="34" charset="-122"/>
                <a:cs typeface="Courier New" pitchFamily="34" charset="-120"/>
              </a:rPr>
              <a:t>@ $15 / 1M</a:t>
            </a:r>
            <a:endParaRPr lang="en-US" sz="2025" dirty="0"/>
          </a:p>
        </p:txBody>
      </p:sp>
      <p:sp>
        <p:nvSpPr>
          <p:cNvPr id="12" name="Text 10"/>
          <p:cNvSpPr/>
          <p:nvPr/>
        </p:nvSpPr>
        <p:spPr>
          <a:xfrm>
            <a:off x="6050012" y="5132338"/>
            <a:ext cx="1465213" cy="619125"/>
          </a:xfrm>
          <a:prstGeom prst="rect">
            <a:avLst/>
          </a:prstGeom>
          <a:noFill/>
          <a:ln/>
        </p:spPr>
        <p:txBody>
          <a:bodyPr wrap="square" lIns="25400" tIns="25400" rIns="25400" bIns="25400" rtlCol="0" anchor="t">
            <a:normAutofit/>
          </a:bodyPr>
          <a:lstStyle/>
          <a:p>
            <a:pPr algn="l" indent="0" marL="0">
              <a:buNone/>
            </a:pPr>
            <a:r>
              <a:rPr lang="en-US" sz="2025" b="1" dirty="0">
                <a:solidFill>
                  <a:srgbClr val="D64545"/>
                </a:solidFill>
                <a:latin typeface="Courier New" pitchFamily="34" charset="0"/>
                <a:ea typeface="Courier New" pitchFamily="34" charset="-122"/>
                <a:cs typeface="Courier New" pitchFamily="34" charset="-120"/>
              </a:rPr>
              <a:t>$0.0075</a:t>
            </a:r>
            <a:endParaRPr lang="en-US" sz="2025" dirty="0"/>
          </a:p>
        </p:txBody>
      </p:sp>
      <p:sp>
        <p:nvSpPr>
          <p:cNvPr id="13" name="Shape 11"/>
          <p:cNvSpPr/>
          <p:nvPr/>
        </p:nvSpPr>
        <p:spPr>
          <a:xfrm>
            <a:off x="1323975" y="5827663"/>
            <a:ext cx="4497437" cy="9525"/>
          </a:xfrm>
          <a:prstGeom prst="rect">
            <a:avLst/>
          </a:prstGeom>
          <a:solidFill>
            <a:srgbClr val="E3E1DA"/>
          </a:solidFill>
          <a:ln/>
        </p:spPr>
      </p:sp>
      <p:sp>
        <p:nvSpPr>
          <p:cNvPr id="14" name="Text 12"/>
          <p:cNvSpPr/>
          <p:nvPr/>
        </p:nvSpPr>
        <p:spPr>
          <a:xfrm>
            <a:off x="1323975" y="5970538"/>
            <a:ext cx="463236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Courier New" pitchFamily="34" charset="0"/>
                <a:ea typeface="Courier New" pitchFamily="34" charset="-122"/>
                <a:cs typeface="Courier New" pitchFamily="34" charset="-120"/>
              </a:rPr>
              <a:t>Per call</a:t>
            </a:r>
            <a:endParaRPr lang="en-US" sz="2025" dirty="0"/>
          </a:p>
        </p:txBody>
      </p:sp>
      <p:sp>
        <p:nvSpPr>
          <p:cNvPr id="15" name="Shape 13"/>
          <p:cNvSpPr/>
          <p:nvPr/>
        </p:nvSpPr>
        <p:spPr>
          <a:xfrm>
            <a:off x="6050012" y="5827663"/>
            <a:ext cx="1389013" cy="9525"/>
          </a:xfrm>
          <a:prstGeom prst="rect">
            <a:avLst/>
          </a:prstGeom>
          <a:solidFill>
            <a:srgbClr val="E3E1DA"/>
          </a:solidFill>
          <a:ln/>
        </p:spPr>
      </p:sp>
      <p:sp>
        <p:nvSpPr>
          <p:cNvPr id="16" name="Text 14"/>
          <p:cNvSpPr/>
          <p:nvPr/>
        </p:nvSpPr>
        <p:spPr>
          <a:xfrm>
            <a:off x="6050012" y="5970538"/>
            <a:ext cx="1465213" cy="328613"/>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Courier New" pitchFamily="34" charset="0"/>
                <a:ea typeface="Courier New" pitchFamily="34" charset="-122"/>
                <a:cs typeface="Courier New" pitchFamily="34" charset="-120"/>
              </a:rPr>
              <a:t>≈ $0.0135</a:t>
            </a:r>
            <a:endParaRPr lang="en-US" sz="2025" dirty="0"/>
          </a:p>
        </p:txBody>
      </p:sp>
      <p:sp>
        <p:nvSpPr>
          <p:cNvPr id="17" name="Shape 15"/>
          <p:cNvSpPr/>
          <p:nvPr/>
        </p:nvSpPr>
        <p:spPr>
          <a:xfrm>
            <a:off x="1057275" y="6508700"/>
            <a:ext cx="6648450" cy="1308646"/>
          </a:xfrm>
          <a:prstGeom prst="rect">
            <a:avLst/>
          </a:prstGeom>
          <a:solidFill>
            <a:srgbClr val="FBEBEA"/>
          </a:solidFill>
          <a:ln/>
        </p:spPr>
      </p:sp>
      <p:sp>
        <p:nvSpPr>
          <p:cNvPr id="18" name="Shape 16"/>
          <p:cNvSpPr/>
          <p:nvPr/>
        </p:nvSpPr>
        <p:spPr>
          <a:xfrm>
            <a:off x="1057275" y="6508700"/>
            <a:ext cx="6648450" cy="9525"/>
          </a:xfrm>
          <a:prstGeom prst="rect">
            <a:avLst/>
          </a:prstGeom>
          <a:solidFill>
            <a:srgbClr val="E3E1DA"/>
          </a:solidFill>
          <a:ln/>
        </p:spPr>
      </p:sp>
      <p:sp>
        <p:nvSpPr>
          <p:cNvPr id="19" name="Text 17"/>
          <p:cNvSpPr/>
          <p:nvPr/>
        </p:nvSpPr>
        <p:spPr>
          <a:xfrm>
            <a:off x="1323975" y="6670625"/>
            <a:ext cx="6314504" cy="1032421"/>
          </a:xfrm>
          <a:prstGeom prst="rect">
            <a:avLst/>
          </a:prstGeom>
          <a:noFill/>
          <a:ln/>
        </p:spPr>
        <p:txBody>
          <a:bodyPr wrap="square" lIns="25400" tIns="25400" rIns="25400" bIns="25400" rtlCol="0" anchor="t">
            <a:normAutofit/>
          </a:bodyPr>
          <a:lstStyle/>
          <a:p>
            <a:pPr algn="l" indent="0" marL="0">
              <a:lnSpc>
                <a:spcPct val="126545"/>
              </a:lnSpc>
              <a:buNone/>
            </a:pPr>
            <a:r>
              <a:rPr lang="en-US" sz="1800" b="1" dirty="0">
                <a:solidFill>
                  <a:srgbClr val="D64545"/>
                </a:solidFill>
                <a:latin typeface="Arial" pitchFamily="34" charset="0"/>
                <a:ea typeface="Arial" pitchFamily="34" charset="-122"/>
                <a:cs typeface="Arial" pitchFamily="34" charset="-120"/>
              </a:rPr>
              <a:t>Why output costs ~5× more: </a:t>
            </a:r>
            <a:pPr algn="l" indent="0" marL="0">
              <a:lnSpc>
                <a:spcPct val="126545"/>
              </a:lnSpc>
              <a:buNone/>
            </a:pPr>
            <a:r>
              <a:rPr lang="en-US" sz="1800" dirty="0">
                <a:solidFill>
                  <a:srgbClr val="3D3D3D"/>
                </a:solidFill>
                <a:highlight>
                  <a:srgbClr val="FBEBEA"/>
                </a:highlight>
                <a:latin typeface="Arial" pitchFamily="34" charset="0"/>
                <a:ea typeface="Arial" pitchFamily="34" charset="-122"/>
                <a:cs typeface="Arial" pitchFamily="34" charset="-120"/>
              </a:rPr>
              <a:t>input is digested in </a:t>
            </a:r>
            <a:pPr algn="l" indent="0" marL="0">
              <a:lnSpc>
                <a:spcPct val="126545"/>
              </a:lnSpc>
              <a:buNone/>
            </a:pPr>
            <a:r>
              <a:rPr lang="en-US" sz="1800" b="1" dirty="0">
                <a:solidFill>
                  <a:srgbClr val="1A1A1A"/>
                </a:solidFill>
                <a:latin typeface="Arial" pitchFamily="34" charset="0"/>
                <a:ea typeface="Arial" pitchFamily="34" charset="-122"/>
                <a:cs typeface="Arial" pitchFamily="34" charset="-120"/>
              </a:rPr>
              <a:t>parallel </a:t>
            </a:r>
            <a:pPr algn="l" indent="0" marL="0">
              <a:lnSpc>
                <a:spcPct val="126545"/>
              </a:lnSpc>
              <a:buNone/>
            </a:pPr>
            <a:r>
              <a:rPr lang="en-US" sz="1800" dirty="0">
                <a:solidFill>
                  <a:srgbClr val="3D3D3D"/>
                </a:solidFill>
                <a:highlight>
                  <a:srgbClr val="FBEBEA"/>
                </a:highlight>
                <a:latin typeface="Arial" pitchFamily="34" charset="0"/>
                <a:ea typeface="Arial" pitchFamily="34" charset="-122"/>
                <a:cs typeface="Arial" pitchFamily="34" charset="-120"/>
              </a:rPr>
              <a:t>(prefill); output is generated </a:t>
            </a:r>
            <a:pPr algn="l" indent="0" marL="0">
              <a:lnSpc>
                <a:spcPct val="126545"/>
              </a:lnSpc>
              <a:buNone/>
            </a:pPr>
            <a:r>
              <a:rPr lang="en-US" sz="1800" b="1" dirty="0">
                <a:solidFill>
                  <a:srgbClr val="1A1A1A"/>
                </a:solidFill>
                <a:latin typeface="Arial" pitchFamily="34" charset="0"/>
                <a:ea typeface="Arial" pitchFamily="34" charset="-122"/>
                <a:cs typeface="Arial" pitchFamily="34" charset="-120"/>
              </a:rPr>
              <a:t>one token at a time </a:t>
            </a:r>
            <a:pPr algn="l" indent="0" marL="0">
              <a:lnSpc>
                <a:spcPct val="126545"/>
              </a:lnSpc>
              <a:buNone/>
            </a:pPr>
            <a:r>
              <a:rPr lang="en-US" sz="1800" dirty="0">
                <a:solidFill>
                  <a:srgbClr val="3D3D3D"/>
                </a:solidFill>
                <a:highlight>
                  <a:srgbClr val="FBEBEA"/>
                </a:highlight>
                <a:latin typeface="Arial" pitchFamily="34" charset="0"/>
                <a:ea typeface="Arial" pitchFamily="34" charset="-122"/>
                <a:cs typeface="Arial" pitchFamily="34" charset="-120"/>
              </a:rPr>
              <a:t>(sequential) — re-reading the whole model each step.</a:t>
            </a:r>
            <a:endParaRPr lang="en-US" sz="1800" dirty="0"/>
          </a:p>
        </p:txBody>
      </p:sp>
      <p:sp>
        <p:nvSpPr>
          <p:cNvPr id="20" name="Text 18"/>
          <p:cNvSpPr/>
          <p:nvPr/>
        </p:nvSpPr>
        <p:spPr>
          <a:xfrm>
            <a:off x="8248650" y="4037409"/>
            <a:ext cx="9890760" cy="483840"/>
          </a:xfrm>
          <a:prstGeom prst="rect">
            <a:avLst/>
          </a:prstGeom>
          <a:noFill/>
          <a:ln/>
        </p:spPr>
        <p:txBody>
          <a:bodyPr wrap="square" lIns="25400" tIns="25400" rIns="25400" bIns="25400" rtlCol="0" anchor="t">
            <a:normAutofit/>
          </a:bodyPr>
          <a:lstStyle/>
          <a:p>
            <a:pPr algn="l" indent="0" marL="0">
              <a:lnSpc>
                <a:spcPct val="114146"/>
              </a:lnSpc>
              <a:buNone/>
            </a:pPr>
            <a:r>
              <a:rPr lang="en-US" sz="2700" dirty="0">
                <a:solidFill>
                  <a:srgbClr val="1A1A1A"/>
                </a:solidFill>
                <a:latin typeface="Georgia" pitchFamily="34" charset="0"/>
                <a:ea typeface="Georgia" pitchFamily="34" charset="-122"/>
                <a:cs typeface="Georgia" pitchFamily="34" charset="-120"/>
              </a:rPr>
              <a:t>A cent a call — </a:t>
            </a:r>
            <a:pPr algn="l" indent="0" marL="0">
              <a:lnSpc>
                <a:spcPct val="114146"/>
              </a:lnSpc>
              <a:buNone/>
            </a:pPr>
            <a:r>
              <a:rPr lang="en-US" sz="2700" dirty="0">
                <a:solidFill>
                  <a:srgbClr val="1A1A1A"/>
                </a:solidFill>
                <a:highlight>
                  <a:srgbClr val="FFF1A8"/>
                </a:highlight>
                <a:latin typeface="Georgia" pitchFamily="34" charset="0"/>
                <a:ea typeface="Georgia" pitchFamily="34" charset="-122"/>
                <a:cs typeface="Georgia" pitchFamily="34" charset="-120"/>
              </a:rPr>
              <a:t>× millions </a:t>
            </a:r>
            <a:pPr algn="l" indent="0" marL="0">
              <a:lnSpc>
                <a:spcPct val="114146"/>
              </a:lnSpc>
              <a:buNone/>
            </a:pPr>
            <a:r>
              <a:rPr lang="en-US" sz="2700" dirty="0">
                <a:solidFill>
                  <a:srgbClr val="1A1A1A"/>
                </a:solidFill>
                <a:latin typeface="Georgia" pitchFamily="34" charset="0"/>
                <a:ea typeface="Georgia" pitchFamily="34" charset="-122"/>
                <a:cs typeface="Georgia" pitchFamily="34" charset="-120"/>
              </a:rPr>
              <a:t>is your bill.</a:t>
            </a:r>
            <a:endParaRPr lang="en-US" sz="2700" dirty="0"/>
          </a:p>
        </p:txBody>
      </p:sp>
      <p:sp>
        <p:nvSpPr>
          <p:cNvPr id="21" name="Text 19"/>
          <p:cNvSpPr/>
          <p:nvPr/>
        </p:nvSpPr>
        <p:spPr>
          <a:xfrm>
            <a:off x="8248650" y="4692700"/>
            <a:ext cx="989076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7C7A73"/>
                </a:solidFill>
                <a:latin typeface="Arial" pitchFamily="34" charset="0"/>
                <a:ea typeface="Arial" pitchFamily="34" charset="-122"/>
                <a:cs typeface="Arial" pitchFamily="34" charset="-120"/>
              </a:rPr>
              <a:t>YOUR LEVERS</a:t>
            </a:r>
            <a:endParaRPr lang="en-US" sz="1800" dirty="0"/>
          </a:p>
        </p:txBody>
      </p:sp>
      <p:sp>
        <p:nvSpPr>
          <p:cNvPr id="22" name="Shape 20"/>
          <p:cNvSpPr/>
          <p:nvPr/>
        </p:nvSpPr>
        <p:spPr>
          <a:xfrm>
            <a:off x="8248650" y="5173712"/>
            <a:ext cx="104775" cy="104775"/>
          </a:xfrm>
          <a:prstGeom prst="roundRect">
            <a:avLst>
              <a:gd name="adj" fmla="val 27273"/>
            </a:avLst>
          </a:prstGeom>
          <a:solidFill>
            <a:srgbClr val="178A4C"/>
          </a:solidFill>
          <a:ln/>
        </p:spPr>
      </p:sp>
      <p:sp>
        <p:nvSpPr>
          <p:cNvPr id="23" name="Text 21"/>
          <p:cNvSpPr/>
          <p:nvPr/>
        </p:nvSpPr>
        <p:spPr>
          <a:xfrm>
            <a:off x="8496300" y="5087987"/>
            <a:ext cx="9006269" cy="628650"/>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Right-size the model </a:t>
            </a:r>
            <a:pPr algn="l" indent="0" marL="0">
              <a:buNone/>
            </a:pPr>
            <a:r>
              <a:rPr lang="en-US" sz="2025" dirty="0">
                <a:solidFill>
                  <a:srgbClr val="1A1A1A"/>
                </a:solidFill>
                <a:latin typeface="Arial" pitchFamily="34" charset="0"/>
                <a:ea typeface="Arial" pitchFamily="34" charset="-122"/>
                <a:cs typeface="Arial" pitchFamily="34" charset="-120"/>
              </a:rPr>
              <a:t>— small models do extraction &amp; routing at ~1/10th the cost</a:t>
            </a:r>
            <a:endParaRPr lang="en-US" sz="2025" dirty="0"/>
          </a:p>
        </p:txBody>
      </p:sp>
      <p:sp>
        <p:nvSpPr>
          <p:cNvPr id="24" name="Shape 22"/>
          <p:cNvSpPr/>
          <p:nvPr/>
        </p:nvSpPr>
        <p:spPr>
          <a:xfrm>
            <a:off x="8248650" y="5897612"/>
            <a:ext cx="104775" cy="104775"/>
          </a:xfrm>
          <a:prstGeom prst="roundRect">
            <a:avLst>
              <a:gd name="adj" fmla="val 27273"/>
            </a:avLst>
          </a:prstGeom>
          <a:solidFill>
            <a:srgbClr val="178A4C"/>
          </a:solidFill>
          <a:ln/>
        </p:spPr>
      </p:sp>
      <p:sp>
        <p:nvSpPr>
          <p:cNvPr id="25" name="Text 23"/>
          <p:cNvSpPr/>
          <p:nvPr/>
        </p:nvSpPr>
        <p:spPr>
          <a:xfrm>
            <a:off x="8496300" y="5811887"/>
            <a:ext cx="8993133"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Cap the output </a:t>
            </a:r>
            <a:pPr algn="l" indent="0" marL="0">
              <a:buNone/>
            </a:pPr>
            <a:r>
              <a:rPr lang="en-US" sz="2025" dirty="0">
                <a:solidFill>
                  <a:srgbClr val="1A1A1A"/>
                </a:solidFill>
                <a:latin typeface="Arial" pitchFamily="34" charset="0"/>
                <a:ea typeface="Arial" pitchFamily="34" charset="-122"/>
                <a:cs typeface="Arial" pitchFamily="34" charset="-120"/>
              </a:rPr>
              <a:t>— the expensive direction; set max_tokens deliberately</a:t>
            </a:r>
            <a:endParaRPr lang="en-US" sz="2025" dirty="0"/>
          </a:p>
        </p:txBody>
      </p:sp>
      <p:sp>
        <p:nvSpPr>
          <p:cNvPr id="26" name="Shape 24"/>
          <p:cNvSpPr/>
          <p:nvPr/>
        </p:nvSpPr>
        <p:spPr>
          <a:xfrm>
            <a:off x="8248650" y="6326237"/>
            <a:ext cx="104775" cy="104775"/>
          </a:xfrm>
          <a:prstGeom prst="roundRect">
            <a:avLst>
              <a:gd name="adj" fmla="val 27273"/>
            </a:avLst>
          </a:prstGeom>
          <a:solidFill>
            <a:srgbClr val="178A4C"/>
          </a:solidFill>
          <a:ln/>
        </p:spPr>
      </p:sp>
      <p:sp>
        <p:nvSpPr>
          <p:cNvPr id="27" name="Text 25"/>
          <p:cNvSpPr/>
          <p:nvPr/>
        </p:nvSpPr>
        <p:spPr>
          <a:xfrm>
            <a:off x="8496300" y="6240512"/>
            <a:ext cx="7508520"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Cache the prefix </a:t>
            </a:r>
            <a:pPr algn="l" indent="0" marL="0">
              <a:buNone/>
            </a:pPr>
            <a:r>
              <a:rPr lang="en-US" sz="2025" dirty="0">
                <a:solidFill>
                  <a:srgbClr val="1A1A1A"/>
                </a:solidFill>
                <a:latin typeface="Arial" pitchFamily="34" charset="0"/>
                <a:ea typeface="Arial" pitchFamily="34" charset="-122"/>
                <a:cs typeface="Arial" pitchFamily="34" charset="-120"/>
              </a:rPr>
              <a:t>— repeated prompts discount up to </a:t>
            </a:r>
            <a:pPr algn="l" indent="0" marL="0">
              <a:buNone/>
            </a:pPr>
            <a:r>
              <a:rPr lang="en-US" sz="2025" b="1" dirty="0">
                <a:solidFill>
                  <a:srgbClr val="1A1A1A"/>
                </a:solidFill>
                <a:latin typeface="Arial" pitchFamily="34" charset="0"/>
                <a:ea typeface="Arial" pitchFamily="34" charset="-122"/>
                <a:cs typeface="Arial" pitchFamily="34" charset="-120"/>
              </a:rPr>
              <a:t>~90%</a:t>
            </a:r>
            <a:endParaRPr lang="en-US" sz="2025" dirty="0"/>
          </a:p>
        </p:txBody>
      </p:sp>
      <p:sp>
        <p:nvSpPr>
          <p:cNvPr id="28" name="Shape 26"/>
          <p:cNvSpPr/>
          <p:nvPr/>
        </p:nvSpPr>
        <p:spPr>
          <a:xfrm>
            <a:off x="8248650" y="6754862"/>
            <a:ext cx="104775" cy="104775"/>
          </a:xfrm>
          <a:prstGeom prst="roundRect">
            <a:avLst>
              <a:gd name="adj" fmla="val 27273"/>
            </a:avLst>
          </a:prstGeom>
          <a:solidFill>
            <a:srgbClr val="178A4C"/>
          </a:solidFill>
          <a:ln/>
        </p:spPr>
      </p:sp>
      <p:sp>
        <p:nvSpPr>
          <p:cNvPr id="29" name="Text 27"/>
          <p:cNvSpPr/>
          <p:nvPr/>
        </p:nvSpPr>
        <p:spPr>
          <a:xfrm>
            <a:off x="8496300" y="6669137"/>
            <a:ext cx="7735587"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Trim the history </a:t>
            </a:r>
            <a:pPr algn="l" indent="0" marL="0">
              <a:buNone/>
            </a:pPr>
            <a:r>
              <a:rPr lang="en-US" sz="2025" dirty="0">
                <a:solidFill>
                  <a:srgbClr val="1A1A1A"/>
                </a:solidFill>
                <a:latin typeface="Arial" pitchFamily="34" charset="0"/>
                <a:ea typeface="Arial" pitchFamily="34" charset="-122"/>
                <a:cs typeface="Arial" pitchFamily="34" charset="-120"/>
              </a:rPr>
              <a:t>— summarize old turns instead of resending</a:t>
            </a:r>
            <a:endParaRPr lang="en-US" sz="2025" dirty="0"/>
          </a:p>
        </p:txBody>
      </p:sp>
      <p:sp>
        <p:nvSpPr>
          <p:cNvPr id="30" name="Shape 28"/>
          <p:cNvSpPr/>
          <p:nvPr/>
        </p:nvSpPr>
        <p:spPr>
          <a:xfrm>
            <a:off x="8248650" y="7183487"/>
            <a:ext cx="104775" cy="104775"/>
          </a:xfrm>
          <a:prstGeom prst="roundRect">
            <a:avLst>
              <a:gd name="adj" fmla="val 27273"/>
            </a:avLst>
          </a:prstGeom>
          <a:solidFill>
            <a:srgbClr val="178A4C"/>
          </a:solidFill>
          <a:ln/>
        </p:spPr>
      </p:sp>
      <p:sp>
        <p:nvSpPr>
          <p:cNvPr id="31" name="Text 29"/>
          <p:cNvSpPr/>
          <p:nvPr/>
        </p:nvSpPr>
        <p:spPr>
          <a:xfrm>
            <a:off x="8496300" y="7097762"/>
            <a:ext cx="842767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Measure from day one </a:t>
            </a:r>
            <a:pPr algn="l" indent="0" marL="0">
              <a:buNone/>
            </a:pPr>
            <a:r>
              <a:rPr lang="en-US" sz="2025" dirty="0">
                <a:solidFill>
                  <a:srgbClr val="1A1A1A"/>
                </a:solidFill>
                <a:latin typeface="Arial" pitchFamily="34" charset="0"/>
                <a:ea typeface="Arial" pitchFamily="34" charset="-122"/>
                <a:cs typeface="Arial" pitchFamily="34" charset="-120"/>
              </a:rPr>
              <a:t>— token counts ride in every API response</a:t>
            </a:r>
            <a:endParaRPr lang="en-US" sz="2025" dirty="0"/>
          </a:p>
        </p:txBody>
      </p:sp>
      <p:sp>
        <p:nvSpPr>
          <p:cNvPr id="32" name="Shape 30"/>
          <p:cNvSpPr/>
          <p:nvPr/>
        </p:nvSpPr>
        <p:spPr>
          <a:xfrm>
            <a:off x="1047750" y="9520238"/>
            <a:ext cx="16192500" cy="9525"/>
          </a:xfrm>
          <a:prstGeom prst="rect">
            <a:avLst/>
          </a:prstGeom>
          <a:solidFill>
            <a:srgbClr val="E3E1DA"/>
          </a:solidFill>
          <a:ln/>
        </p:spPr>
      </p:sp>
      <p:sp>
        <p:nvSpPr>
          <p:cNvPr id="33" name="Text 31"/>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4" name="Text 32"/>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sp>
      <p:sp>
        <p:nvSpPr>
          <p:cNvPr id="3" name="Text 1"/>
          <p:cNvSpPr/>
          <p:nvPr/>
        </p:nvSpPr>
        <p:spPr>
          <a:xfrm>
            <a:off x="1304925" y="800100"/>
            <a:ext cx="3374328"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COST · ILLUSTRATIVE</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What Would Your Feature Cost?</a:t>
            </a:r>
            <a:endParaRPr lang="en-US" sz="4800" dirty="0"/>
          </a:p>
        </p:txBody>
      </p:sp>
      <p:sp>
        <p:nvSpPr>
          <p:cNvPr id="5" name="Shape 3"/>
          <p:cNvSpPr/>
          <p:nvPr/>
        </p:nvSpPr>
        <p:spPr>
          <a:xfrm>
            <a:off x="1047750" y="2421954"/>
            <a:ext cx="13480033" cy="538163"/>
          </a:xfrm>
          <a:prstGeom prst="roundRect">
            <a:avLst>
              <a:gd name="adj" fmla="val 17699"/>
            </a:avLst>
          </a:prstGeom>
          <a:solidFill>
            <a:srgbClr val="F8F7F3"/>
          </a:solidFill>
          <a:ln w="9525">
            <a:solidFill>
              <a:srgbClr val="E3E1DA"/>
            </a:solidFill>
            <a:prstDash val="solid"/>
          </a:ln>
        </p:spPr>
      </p:sp>
      <p:sp>
        <p:nvSpPr>
          <p:cNvPr id="6" name="Text 4"/>
          <p:cNvSpPr/>
          <p:nvPr/>
        </p:nvSpPr>
        <p:spPr>
          <a:xfrm>
            <a:off x="1228725" y="2545779"/>
            <a:ext cx="13522484" cy="328613"/>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Same feature · 2,000 in + 500 out tok / request · 1,000 requests / day · 30-day month</a:t>
            </a:r>
            <a:endParaRPr lang="en-US" sz="2025" dirty="0"/>
          </a:p>
        </p:txBody>
      </p:sp>
      <p:sp>
        <p:nvSpPr>
          <p:cNvPr id="7" name="Shape 5"/>
          <p:cNvSpPr/>
          <p:nvPr/>
        </p:nvSpPr>
        <p:spPr>
          <a:xfrm>
            <a:off x="1047750" y="3479229"/>
            <a:ext cx="16192500" cy="9525"/>
          </a:xfrm>
          <a:prstGeom prst="rect">
            <a:avLst/>
          </a:prstGeom>
          <a:solidFill>
            <a:srgbClr val="E3E1DA"/>
          </a:solidFill>
          <a:ln/>
        </p:spPr>
      </p:sp>
      <p:sp>
        <p:nvSpPr>
          <p:cNvPr id="8" name="Text 6"/>
          <p:cNvSpPr/>
          <p:nvPr/>
        </p:nvSpPr>
        <p:spPr>
          <a:xfrm>
            <a:off x="1047750" y="3083942"/>
            <a:ext cx="356235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7C7A73"/>
                </a:solidFill>
                <a:latin typeface="Arial" pitchFamily="34" charset="0"/>
                <a:ea typeface="Arial" pitchFamily="34" charset="-122"/>
                <a:cs typeface="Arial" pitchFamily="34" charset="-120"/>
              </a:rPr>
              <a:t>MODEL</a:t>
            </a:r>
            <a:endParaRPr lang="en-US" sz="1800" dirty="0"/>
          </a:p>
        </p:txBody>
      </p:sp>
      <p:sp>
        <p:nvSpPr>
          <p:cNvPr id="9" name="Text 7"/>
          <p:cNvSpPr/>
          <p:nvPr/>
        </p:nvSpPr>
        <p:spPr>
          <a:xfrm>
            <a:off x="4495800" y="3083942"/>
            <a:ext cx="2095500" cy="30003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7C7A73"/>
                </a:solidFill>
                <a:latin typeface="Arial" pitchFamily="34" charset="0"/>
                <a:ea typeface="Arial" pitchFamily="34" charset="-122"/>
                <a:cs typeface="Arial" pitchFamily="34" charset="-120"/>
              </a:rPr>
              <a:t>RATE / MTOK</a:t>
            </a:r>
            <a:endParaRPr lang="en-US" sz="1800" dirty="0"/>
          </a:p>
        </p:txBody>
      </p:sp>
      <p:sp>
        <p:nvSpPr>
          <p:cNvPr id="10" name="Text 8"/>
          <p:cNvSpPr/>
          <p:nvPr/>
        </p:nvSpPr>
        <p:spPr>
          <a:xfrm>
            <a:off x="6457950" y="3083942"/>
            <a:ext cx="1676400" cy="300038"/>
          </a:xfrm>
          <a:prstGeom prst="rect">
            <a:avLst/>
          </a:prstGeom>
          <a:noFill/>
          <a:ln/>
        </p:spPr>
        <p:txBody>
          <a:bodyPr wrap="square" lIns="25400" tIns="25400" rIns="25400" bIns="25400" rtlCol="0" anchor="t">
            <a:normAutofit/>
          </a:bodyPr>
          <a:lstStyle/>
          <a:p>
            <a:pPr algn="r" indent="0" marL="0">
              <a:buNone/>
            </a:pPr>
            <a:r>
              <a:rPr lang="en-US" sz="1800" b="1" spc="180" kern="0" dirty="0">
                <a:solidFill>
                  <a:srgbClr val="7C7A73"/>
                </a:solidFill>
                <a:latin typeface="Arial" pitchFamily="34" charset="0"/>
                <a:ea typeface="Arial" pitchFamily="34" charset="-122"/>
                <a:cs typeface="Arial" pitchFamily="34" charset="-120"/>
              </a:rPr>
              <a:t>/ REQUEST</a:t>
            </a:r>
            <a:endParaRPr lang="en-US" sz="1800" dirty="0"/>
          </a:p>
        </p:txBody>
      </p:sp>
      <p:sp>
        <p:nvSpPr>
          <p:cNvPr id="11" name="Text 9"/>
          <p:cNvSpPr/>
          <p:nvPr/>
        </p:nvSpPr>
        <p:spPr>
          <a:xfrm>
            <a:off x="8210550" y="3083942"/>
            <a:ext cx="1466850" cy="300038"/>
          </a:xfrm>
          <a:prstGeom prst="rect">
            <a:avLst/>
          </a:prstGeom>
          <a:noFill/>
          <a:ln/>
        </p:spPr>
        <p:txBody>
          <a:bodyPr wrap="square" lIns="25400" tIns="25400" rIns="25400" bIns="25400" rtlCol="0" anchor="t">
            <a:normAutofit/>
          </a:bodyPr>
          <a:lstStyle/>
          <a:p>
            <a:pPr algn="r" indent="0" marL="0">
              <a:buNone/>
            </a:pPr>
            <a:r>
              <a:rPr lang="en-US" sz="1800" b="1" spc="180" kern="0" dirty="0">
                <a:solidFill>
                  <a:srgbClr val="7C7A73"/>
                </a:solidFill>
                <a:latin typeface="Arial" pitchFamily="34" charset="0"/>
                <a:ea typeface="Arial" pitchFamily="34" charset="-122"/>
                <a:cs typeface="Arial" pitchFamily="34" charset="-120"/>
              </a:rPr>
              <a:t>/ DAY</a:t>
            </a:r>
            <a:endParaRPr lang="en-US" sz="1800" dirty="0"/>
          </a:p>
        </p:txBody>
      </p:sp>
      <p:sp>
        <p:nvSpPr>
          <p:cNvPr id="12" name="Text 10"/>
          <p:cNvSpPr/>
          <p:nvPr/>
        </p:nvSpPr>
        <p:spPr>
          <a:xfrm>
            <a:off x="9151620" y="3083942"/>
            <a:ext cx="8088630" cy="300038"/>
          </a:xfrm>
          <a:prstGeom prst="rect">
            <a:avLst/>
          </a:prstGeom>
          <a:noFill/>
          <a:ln/>
        </p:spPr>
        <p:txBody>
          <a:bodyPr wrap="square" lIns="25400" tIns="25400" rIns="25400" bIns="25400" rtlCol="0" anchor="t">
            <a:normAutofit/>
          </a:bodyPr>
          <a:lstStyle/>
          <a:p>
            <a:pPr algn="r" indent="0" marL="0">
              <a:buNone/>
            </a:pPr>
            <a:r>
              <a:rPr lang="en-US" sz="1800" b="1" spc="180" kern="0" dirty="0">
                <a:solidFill>
                  <a:srgbClr val="7C7A73"/>
                </a:solidFill>
                <a:latin typeface="Arial" pitchFamily="34" charset="0"/>
                <a:ea typeface="Arial" pitchFamily="34" charset="-122"/>
                <a:cs typeface="Arial" pitchFamily="34" charset="-120"/>
              </a:rPr>
              <a:t>PER MONTH</a:t>
            </a:r>
            <a:endParaRPr lang="en-US" sz="1800" dirty="0"/>
          </a:p>
        </p:txBody>
      </p:sp>
      <p:sp>
        <p:nvSpPr>
          <p:cNvPr id="13" name="Shape 11"/>
          <p:cNvSpPr/>
          <p:nvPr/>
        </p:nvSpPr>
        <p:spPr>
          <a:xfrm>
            <a:off x="1047750" y="4417442"/>
            <a:ext cx="16192500" cy="9525"/>
          </a:xfrm>
          <a:prstGeom prst="rect">
            <a:avLst/>
          </a:prstGeom>
          <a:solidFill>
            <a:srgbClr val="E3E1DA"/>
          </a:solidFill>
          <a:ln/>
        </p:spPr>
      </p:sp>
      <p:sp>
        <p:nvSpPr>
          <p:cNvPr id="14" name="Shape 12"/>
          <p:cNvSpPr/>
          <p:nvPr/>
        </p:nvSpPr>
        <p:spPr>
          <a:xfrm>
            <a:off x="1047750" y="3881661"/>
            <a:ext cx="142875" cy="142875"/>
          </a:xfrm>
          <a:prstGeom prst="ellipse">
            <a:avLst/>
          </a:prstGeom>
          <a:solidFill>
            <a:srgbClr val="7A4FD0"/>
          </a:solidFill>
          <a:ln/>
        </p:spPr>
      </p:sp>
      <p:sp>
        <p:nvSpPr>
          <p:cNvPr id="15" name="Text 13"/>
          <p:cNvSpPr/>
          <p:nvPr/>
        </p:nvSpPr>
        <p:spPr>
          <a:xfrm>
            <a:off x="1323975" y="3660204"/>
            <a:ext cx="1980411"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Claude Sonnet</a:t>
            </a:r>
            <a:endParaRPr lang="en-US" sz="2025" dirty="0"/>
          </a:p>
        </p:txBody>
      </p:sp>
      <p:sp>
        <p:nvSpPr>
          <p:cNvPr id="16" name="Text 14"/>
          <p:cNvSpPr/>
          <p:nvPr/>
        </p:nvSpPr>
        <p:spPr>
          <a:xfrm>
            <a:off x="1323975" y="3984054"/>
            <a:ext cx="1980411" cy="300038"/>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7C7A73"/>
                </a:solidFill>
                <a:latin typeface="Arial" pitchFamily="34" charset="0"/>
                <a:ea typeface="Arial" pitchFamily="34" charset="-122"/>
                <a:cs typeface="Arial" pitchFamily="34" charset="-120"/>
              </a:rPr>
              <a:t>FRONTIER</a:t>
            </a:r>
            <a:endParaRPr lang="en-US" sz="1800" dirty="0"/>
          </a:p>
        </p:txBody>
      </p:sp>
      <p:sp>
        <p:nvSpPr>
          <p:cNvPr id="17" name="Text 15"/>
          <p:cNvSpPr/>
          <p:nvPr/>
        </p:nvSpPr>
        <p:spPr>
          <a:xfrm>
            <a:off x="4495800" y="3807842"/>
            <a:ext cx="20955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$3 / $15</a:t>
            </a:r>
            <a:endParaRPr lang="en-US" sz="2025" dirty="0"/>
          </a:p>
        </p:txBody>
      </p:sp>
      <p:sp>
        <p:nvSpPr>
          <p:cNvPr id="18" name="Text 16"/>
          <p:cNvSpPr/>
          <p:nvPr/>
        </p:nvSpPr>
        <p:spPr>
          <a:xfrm>
            <a:off x="6457950" y="3807842"/>
            <a:ext cx="167640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$0.0135</a:t>
            </a:r>
            <a:endParaRPr lang="en-US" sz="2025" dirty="0"/>
          </a:p>
        </p:txBody>
      </p:sp>
      <p:sp>
        <p:nvSpPr>
          <p:cNvPr id="19" name="Text 17"/>
          <p:cNvSpPr/>
          <p:nvPr/>
        </p:nvSpPr>
        <p:spPr>
          <a:xfrm>
            <a:off x="8210550" y="3807842"/>
            <a:ext cx="146685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$13.50</a:t>
            </a:r>
            <a:endParaRPr lang="en-US" sz="2025" dirty="0"/>
          </a:p>
        </p:txBody>
      </p:sp>
      <p:sp>
        <p:nvSpPr>
          <p:cNvPr id="20" name="Shape 18"/>
          <p:cNvSpPr/>
          <p:nvPr/>
        </p:nvSpPr>
        <p:spPr>
          <a:xfrm>
            <a:off x="9886950" y="3867373"/>
            <a:ext cx="5943600" cy="171450"/>
          </a:xfrm>
          <a:prstGeom prst="roundRect">
            <a:avLst>
              <a:gd name="adj" fmla="val 50000"/>
            </a:avLst>
          </a:prstGeom>
          <a:solidFill>
            <a:srgbClr val="F1EFE9"/>
          </a:solidFill>
          <a:ln/>
        </p:spPr>
      </p:sp>
      <p:sp>
        <p:nvSpPr>
          <p:cNvPr id="21" name="Shape 19"/>
          <p:cNvSpPr/>
          <p:nvPr/>
        </p:nvSpPr>
        <p:spPr>
          <a:xfrm>
            <a:off x="9886950" y="3867373"/>
            <a:ext cx="5943600" cy="171450"/>
          </a:xfrm>
          <a:prstGeom prst="roundRect">
            <a:avLst>
              <a:gd name="adj" fmla="val 50000"/>
            </a:avLst>
          </a:prstGeom>
          <a:solidFill>
            <a:srgbClr val="7A4FD0"/>
          </a:solidFill>
          <a:ln/>
        </p:spPr>
      </p:sp>
      <p:sp>
        <p:nvSpPr>
          <p:cNvPr id="22" name="Text 20"/>
          <p:cNvSpPr/>
          <p:nvPr/>
        </p:nvSpPr>
        <p:spPr>
          <a:xfrm>
            <a:off x="15878175" y="3726879"/>
            <a:ext cx="1362075" cy="490538"/>
          </a:xfrm>
          <a:prstGeom prst="rect">
            <a:avLst/>
          </a:prstGeom>
          <a:noFill/>
          <a:ln/>
        </p:spPr>
        <p:txBody>
          <a:bodyPr wrap="square" lIns="25400" tIns="25400" rIns="25400" bIns="25400" rtlCol="0" anchor="t">
            <a:normAutofit/>
          </a:bodyPr>
          <a:lstStyle/>
          <a:p>
            <a:pPr algn="r" indent="0" marL="0">
              <a:buNone/>
            </a:pPr>
            <a:r>
              <a:rPr lang="en-US" sz="3150" b="1" dirty="0">
                <a:solidFill>
                  <a:srgbClr val="7A4FD0"/>
                </a:solidFill>
                <a:latin typeface="Courier New" pitchFamily="34" charset="0"/>
                <a:ea typeface="Courier New" pitchFamily="34" charset="-122"/>
                <a:cs typeface="Courier New" pitchFamily="34" charset="-120"/>
              </a:rPr>
              <a:t>$405</a:t>
            </a:r>
            <a:endParaRPr lang="en-US" sz="3150" dirty="0"/>
          </a:p>
        </p:txBody>
      </p:sp>
      <p:sp>
        <p:nvSpPr>
          <p:cNvPr id="23" name="Shape 21"/>
          <p:cNvSpPr/>
          <p:nvPr/>
        </p:nvSpPr>
        <p:spPr>
          <a:xfrm>
            <a:off x="1047750" y="5355654"/>
            <a:ext cx="16192500" cy="9525"/>
          </a:xfrm>
          <a:prstGeom prst="rect">
            <a:avLst/>
          </a:prstGeom>
          <a:solidFill>
            <a:srgbClr val="E3E1DA"/>
          </a:solidFill>
          <a:ln/>
        </p:spPr>
      </p:sp>
      <p:sp>
        <p:nvSpPr>
          <p:cNvPr id="24" name="Shape 22"/>
          <p:cNvSpPr/>
          <p:nvPr/>
        </p:nvSpPr>
        <p:spPr>
          <a:xfrm>
            <a:off x="1047750" y="4819873"/>
            <a:ext cx="142875" cy="142875"/>
          </a:xfrm>
          <a:prstGeom prst="ellipse">
            <a:avLst/>
          </a:prstGeom>
          <a:solidFill>
            <a:srgbClr val="1F6FEB"/>
          </a:solidFill>
          <a:ln/>
        </p:spPr>
      </p:sp>
      <p:sp>
        <p:nvSpPr>
          <p:cNvPr id="25" name="Text 23"/>
          <p:cNvSpPr/>
          <p:nvPr/>
        </p:nvSpPr>
        <p:spPr>
          <a:xfrm>
            <a:off x="1323975" y="4598417"/>
            <a:ext cx="1744667"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GPT flagship</a:t>
            </a:r>
            <a:endParaRPr lang="en-US" sz="2025" dirty="0"/>
          </a:p>
        </p:txBody>
      </p:sp>
      <p:sp>
        <p:nvSpPr>
          <p:cNvPr id="26" name="Text 24"/>
          <p:cNvSpPr/>
          <p:nvPr/>
        </p:nvSpPr>
        <p:spPr>
          <a:xfrm>
            <a:off x="1323975" y="4922267"/>
            <a:ext cx="1744667" cy="300038"/>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7C7A73"/>
                </a:solidFill>
                <a:latin typeface="Arial" pitchFamily="34" charset="0"/>
                <a:ea typeface="Arial" pitchFamily="34" charset="-122"/>
                <a:cs typeface="Arial" pitchFamily="34" charset="-120"/>
              </a:rPr>
              <a:t>FRONTIER</a:t>
            </a:r>
            <a:endParaRPr lang="en-US" sz="1800" dirty="0"/>
          </a:p>
        </p:txBody>
      </p:sp>
      <p:sp>
        <p:nvSpPr>
          <p:cNvPr id="27" name="Text 25"/>
          <p:cNvSpPr/>
          <p:nvPr/>
        </p:nvSpPr>
        <p:spPr>
          <a:xfrm>
            <a:off x="4495800" y="4746054"/>
            <a:ext cx="20955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$2.5 / $10</a:t>
            </a:r>
            <a:endParaRPr lang="en-US" sz="2025" dirty="0"/>
          </a:p>
        </p:txBody>
      </p:sp>
      <p:sp>
        <p:nvSpPr>
          <p:cNvPr id="28" name="Text 26"/>
          <p:cNvSpPr/>
          <p:nvPr/>
        </p:nvSpPr>
        <p:spPr>
          <a:xfrm>
            <a:off x="6457950" y="4746054"/>
            <a:ext cx="167640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$0.0100</a:t>
            </a:r>
            <a:endParaRPr lang="en-US" sz="2025" dirty="0"/>
          </a:p>
        </p:txBody>
      </p:sp>
      <p:sp>
        <p:nvSpPr>
          <p:cNvPr id="29" name="Text 27"/>
          <p:cNvSpPr/>
          <p:nvPr/>
        </p:nvSpPr>
        <p:spPr>
          <a:xfrm>
            <a:off x="8210550" y="4746054"/>
            <a:ext cx="146685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$10.00</a:t>
            </a:r>
            <a:endParaRPr lang="en-US" sz="2025" dirty="0"/>
          </a:p>
        </p:txBody>
      </p:sp>
      <p:sp>
        <p:nvSpPr>
          <p:cNvPr id="30" name="Shape 28"/>
          <p:cNvSpPr/>
          <p:nvPr/>
        </p:nvSpPr>
        <p:spPr>
          <a:xfrm>
            <a:off x="9886950" y="4805586"/>
            <a:ext cx="5943600" cy="171450"/>
          </a:xfrm>
          <a:prstGeom prst="roundRect">
            <a:avLst>
              <a:gd name="adj" fmla="val 50000"/>
            </a:avLst>
          </a:prstGeom>
          <a:solidFill>
            <a:srgbClr val="F1EFE9"/>
          </a:solidFill>
          <a:ln/>
        </p:spPr>
      </p:sp>
      <p:sp>
        <p:nvSpPr>
          <p:cNvPr id="31" name="Shape 29"/>
          <p:cNvSpPr/>
          <p:nvPr/>
        </p:nvSpPr>
        <p:spPr>
          <a:xfrm>
            <a:off x="9886950" y="4805586"/>
            <a:ext cx="4398243" cy="171450"/>
          </a:xfrm>
          <a:prstGeom prst="roundRect">
            <a:avLst>
              <a:gd name="adj" fmla="val 50000"/>
            </a:avLst>
          </a:prstGeom>
          <a:solidFill>
            <a:srgbClr val="1F6FEB"/>
          </a:solidFill>
          <a:ln/>
        </p:spPr>
      </p:sp>
      <p:sp>
        <p:nvSpPr>
          <p:cNvPr id="32" name="Text 30"/>
          <p:cNvSpPr/>
          <p:nvPr/>
        </p:nvSpPr>
        <p:spPr>
          <a:xfrm>
            <a:off x="15878175" y="4665092"/>
            <a:ext cx="1362075" cy="490538"/>
          </a:xfrm>
          <a:prstGeom prst="rect">
            <a:avLst/>
          </a:prstGeom>
          <a:noFill/>
          <a:ln/>
        </p:spPr>
        <p:txBody>
          <a:bodyPr wrap="square" lIns="25400" tIns="25400" rIns="25400" bIns="25400" rtlCol="0" anchor="t">
            <a:normAutofit/>
          </a:bodyPr>
          <a:lstStyle/>
          <a:p>
            <a:pPr algn="r" indent="0" marL="0">
              <a:buNone/>
            </a:pPr>
            <a:r>
              <a:rPr lang="en-US" sz="3150" b="1" dirty="0">
                <a:solidFill>
                  <a:srgbClr val="1F6FEB"/>
                </a:solidFill>
                <a:latin typeface="Courier New" pitchFamily="34" charset="0"/>
                <a:ea typeface="Courier New" pitchFamily="34" charset="-122"/>
                <a:cs typeface="Courier New" pitchFamily="34" charset="-120"/>
              </a:rPr>
              <a:t>$300</a:t>
            </a:r>
            <a:endParaRPr lang="en-US" sz="3150" dirty="0"/>
          </a:p>
        </p:txBody>
      </p:sp>
      <p:sp>
        <p:nvSpPr>
          <p:cNvPr id="33" name="Shape 31"/>
          <p:cNvSpPr/>
          <p:nvPr/>
        </p:nvSpPr>
        <p:spPr>
          <a:xfrm>
            <a:off x="1047750" y="6293867"/>
            <a:ext cx="16192500" cy="9525"/>
          </a:xfrm>
          <a:prstGeom prst="rect">
            <a:avLst/>
          </a:prstGeom>
          <a:solidFill>
            <a:srgbClr val="E3E1DA"/>
          </a:solidFill>
          <a:ln/>
        </p:spPr>
      </p:sp>
      <p:sp>
        <p:nvSpPr>
          <p:cNvPr id="34" name="Shape 32"/>
          <p:cNvSpPr/>
          <p:nvPr/>
        </p:nvSpPr>
        <p:spPr>
          <a:xfrm>
            <a:off x="1047750" y="5758086"/>
            <a:ext cx="142875" cy="142875"/>
          </a:xfrm>
          <a:prstGeom prst="ellipse">
            <a:avLst/>
          </a:prstGeom>
          <a:solidFill>
            <a:srgbClr val="178A4C"/>
          </a:solidFill>
          <a:ln/>
        </p:spPr>
      </p:sp>
      <p:sp>
        <p:nvSpPr>
          <p:cNvPr id="35" name="Text 33"/>
          <p:cNvSpPr/>
          <p:nvPr/>
        </p:nvSpPr>
        <p:spPr>
          <a:xfrm>
            <a:off x="1323975" y="5536629"/>
            <a:ext cx="2006523"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Claude Haiku</a:t>
            </a:r>
            <a:endParaRPr lang="en-US" sz="2025" dirty="0"/>
          </a:p>
        </p:txBody>
      </p:sp>
      <p:sp>
        <p:nvSpPr>
          <p:cNvPr id="36" name="Text 34"/>
          <p:cNvSpPr/>
          <p:nvPr/>
        </p:nvSpPr>
        <p:spPr>
          <a:xfrm>
            <a:off x="1323975" y="5860479"/>
            <a:ext cx="2006523" cy="300038"/>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7C7A73"/>
                </a:solidFill>
                <a:latin typeface="Arial" pitchFamily="34" charset="0"/>
                <a:ea typeface="Arial" pitchFamily="34" charset="-122"/>
                <a:cs typeface="Arial" pitchFamily="34" charset="-120"/>
              </a:rPr>
              <a:t>SMALL &amp; FAST</a:t>
            </a:r>
            <a:endParaRPr lang="en-US" sz="1800" dirty="0"/>
          </a:p>
        </p:txBody>
      </p:sp>
      <p:sp>
        <p:nvSpPr>
          <p:cNvPr id="37" name="Text 35"/>
          <p:cNvSpPr/>
          <p:nvPr/>
        </p:nvSpPr>
        <p:spPr>
          <a:xfrm>
            <a:off x="4495800" y="5684267"/>
            <a:ext cx="20955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$0.8 / $4</a:t>
            </a:r>
            <a:endParaRPr lang="en-US" sz="2025" dirty="0"/>
          </a:p>
        </p:txBody>
      </p:sp>
      <p:sp>
        <p:nvSpPr>
          <p:cNvPr id="38" name="Text 36"/>
          <p:cNvSpPr/>
          <p:nvPr/>
        </p:nvSpPr>
        <p:spPr>
          <a:xfrm>
            <a:off x="6457950" y="5684267"/>
            <a:ext cx="167640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$0.0036</a:t>
            </a:r>
            <a:endParaRPr lang="en-US" sz="2025" dirty="0"/>
          </a:p>
        </p:txBody>
      </p:sp>
      <p:sp>
        <p:nvSpPr>
          <p:cNvPr id="39" name="Text 37"/>
          <p:cNvSpPr/>
          <p:nvPr/>
        </p:nvSpPr>
        <p:spPr>
          <a:xfrm>
            <a:off x="8210550" y="5684267"/>
            <a:ext cx="146685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$3.60</a:t>
            </a:r>
            <a:endParaRPr lang="en-US" sz="2025" dirty="0"/>
          </a:p>
        </p:txBody>
      </p:sp>
      <p:sp>
        <p:nvSpPr>
          <p:cNvPr id="40" name="Shape 38"/>
          <p:cNvSpPr/>
          <p:nvPr/>
        </p:nvSpPr>
        <p:spPr>
          <a:xfrm>
            <a:off x="9886950" y="5743798"/>
            <a:ext cx="5943600" cy="171450"/>
          </a:xfrm>
          <a:prstGeom prst="roundRect">
            <a:avLst>
              <a:gd name="adj" fmla="val 50000"/>
            </a:avLst>
          </a:prstGeom>
          <a:solidFill>
            <a:srgbClr val="F1EFE9"/>
          </a:solidFill>
          <a:ln/>
        </p:spPr>
      </p:sp>
      <p:sp>
        <p:nvSpPr>
          <p:cNvPr id="41" name="Shape 39"/>
          <p:cNvSpPr/>
          <p:nvPr/>
        </p:nvSpPr>
        <p:spPr>
          <a:xfrm>
            <a:off x="9886950" y="5743798"/>
            <a:ext cx="1604739" cy="171450"/>
          </a:xfrm>
          <a:prstGeom prst="roundRect">
            <a:avLst>
              <a:gd name="adj" fmla="val 50000"/>
            </a:avLst>
          </a:prstGeom>
          <a:solidFill>
            <a:srgbClr val="178A4C"/>
          </a:solidFill>
          <a:ln/>
        </p:spPr>
      </p:sp>
      <p:sp>
        <p:nvSpPr>
          <p:cNvPr id="42" name="Text 40"/>
          <p:cNvSpPr/>
          <p:nvPr/>
        </p:nvSpPr>
        <p:spPr>
          <a:xfrm>
            <a:off x="15878175" y="5603304"/>
            <a:ext cx="1362075" cy="490538"/>
          </a:xfrm>
          <a:prstGeom prst="rect">
            <a:avLst/>
          </a:prstGeom>
          <a:noFill/>
          <a:ln/>
        </p:spPr>
        <p:txBody>
          <a:bodyPr wrap="square" lIns="25400" tIns="25400" rIns="25400" bIns="25400" rtlCol="0" anchor="t">
            <a:normAutofit/>
          </a:bodyPr>
          <a:lstStyle/>
          <a:p>
            <a:pPr algn="r" indent="0" marL="0">
              <a:buNone/>
            </a:pPr>
            <a:r>
              <a:rPr lang="en-US" sz="3150" b="1" dirty="0">
                <a:solidFill>
                  <a:srgbClr val="178A4C"/>
                </a:solidFill>
                <a:latin typeface="Courier New" pitchFamily="34" charset="0"/>
                <a:ea typeface="Courier New" pitchFamily="34" charset="-122"/>
                <a:cs typeface="Courier New" pitchFamily="34" charset="-120"/>
              </a:rPr>
              <a:t>$108</a:t>
            </a:r>
            <a:endParaRPr lang="en-US" sz="3150" dirty="0"/>
          </a:p>
        </p:txBody>
      </p:sp>
      <p:sp>
        <p:nvSpPr>
          <p:cNvPr id="43" name="Shape 41"/>
          <p:cNvSpPr/>
          <p:nvPr/>
        </p:nvSpPr>
        <p:spPr>
          <a:xfrm>
            <a:off x="1047750" y="6696298"/>
            <a:ext cx="142875" cy="142875"/>
          </a:xfrm>
          <a:prstGeom prst="ellipse">
            <a:avLst/>
          </a:prstGeom>
          <a:solidFill>
            <a:srgbClr val="C77D0A"/>
          </a:solidFill>
          <a:ln/>
        </p:spPr>
      </p:sp>
      <p:sp>
        <p:nvSpPr>
          <p:cNvPr id="44" name="Text 42"/>
          <p:cNvSpPr/>
          <p:nvPr/>
        </p:nvSpPr>
        <p:spPr>
          <a:xfrm>
            <a:off x="1323975" y="6474842"/>
            <a:ext cx="2006523"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GPT mini</a:t>
            </a:r>
            <a:endParaRPr lang="en-US" sz="2025" dirty="0"/>
          </a:p>
        </p:txBody>
      </p:sp>
      <p:sp>
        <p:nvSpPr>
          <p:cNvPr id="45" name="Text 43"/>
          <p:cNvSpPr/>
          <p:nvPr/>
        </p:nvSpPr>
        <p:spPr>
          <a:xfrm>
            <a:off x="1323975" y="6798692"/>
            <a:ext cx="2006523" cy="300038"/>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7C7A73"/>
                </a:solidFill>
                <a:latin typeface="Arial" pitchFamily="34" charset="0"/>
                <a:ea typeface="Arial" pitchFamily="34" charset="-122"/>
                <a:cs typeface="Arial" pitchFamily="34" charset="-120"/>
              </a:rPr>
              <a:t>SMALL &amp; FAST</a:t>
            </a:r>
            <a:endParaRPr lang="en-US" sz="1800" dirty="0"/>
          </a:p>
        </p:txBody>
      </p:sp>
      <p:sp>
        <p:nvSpPr>
          <p:cNvPr id="46" name="Text 44"/>
          <p:cNvSpPr/>
          <p:nvPr/>
        </p:nvSpPr>
        <p:spPr>
          <a:xfrm>
            <a:off x="4495800" y="6622479"/>
            <a:ext cx="2095500" cy="328613"/>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Courier New" pitchFamily="34" charset="0"/>
                <a:ea typeface="Courier New" pitchFamily="34" charset="-122"/>
                <a:cs typeface="Courier New" pitchFamily="34" charset="-120"/>
              </a:rPr>
              <a:t>$0.4 / $1.6</a:t>
            </a:r>
            <a:endParaRPr lang="en-US" sz="2025" dirty="0"/>
          </a:p>
        </p:txBody>
      </p:sp>
      <p:sp>
        <p:nvSpPr>
          <p:cNvPr id="47" name="Text 45"/>
          <p:cNvSpPr/>
          <p:nvPr/>
        </p:nvSpPr>
        <p:spPr>
          <a:xfrm>
            <a:off x="6457950" y="6622479"/>
            <a:ext cx="167640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$0.0016</a:t>
            </a:r>
            <a:endParaRPr lang="en-US" sz="2025" dirty="0"/>
          </a:p>
        </p:txBody>
      </p:sp>
      <p:sp>
        <p:nvSpPr>
          <p:cNvPr id="48" name="Text 46"/>
          <p:cNvSpPr/>
          <p:nvPr/>
        </p:nvSpPr>
        <p:spPr>
          <a:xfrm>
            <a:off x="8210550" y="6622479"/>
            <a:ext cx="1466850" cy="328613"/>
          </a:xfrm>
          <a:prstGeom prst="rect">
            <a:avLst/>
          </a:prstGeom>
          <a:noFill/>
          <a:ln/>
        </p:spPr>
        <p:txBody>
          <a:bodyPr wrap="square" lIns="25400" tIns="25400" rIns="25400" bIns="25400" rtlCol="0" anchor="t">
            <a:normAutofit/>
          </a:bodyPr>
          <a:lstStyle/>
          <a:p>
            <a:pPr algn="r" indent="0" marL="0">
              <a:buNone/>
            </a:pPr>
            <a:r>
              <a:rPr lang="en-US" sz="2025" dirty="0">
                <a:solidFill>
                  <a:srgbClr val="3D3D3D"/>
                </a:solidFill>
                <a:latin typeface="Courier New" pitchFamily="34" charset="0"/>
                <a:ea typeface="Courier New" pitchFamily="34" charset="-122"/>
                <a:cs typeface="Courier New" pitchFamily="34" charset="-120"/>
              </a:rPr>
              <a:t>$1.60</a:t>
            </a:r>
            <a:endParaRPr lang="en-US" sz="2025" dirty="0"/>
          </a:p>
        </p:txBody>
      </p:sp>
      <p:sp>
        <p:nvSpPr>
          <p:cNvPr id="49" name="Shape 47"/>
          <p:cNvSpPr/>
          <p:nvPr/>
        </p:nvSpPr>
        <p:spPr>
          <a:xfrm>
            <a:off x="9886950" y="6682011"/>
            <a:ext cx="5943600" cy="171450"/>
          </a:xfrm>
          <a:prstGeom prst="roundRect">
            <a:avLst>
              <a:gd name="adj" fmla="val 50000"/>
            </a:avLst>
          </a:prstGeom>
          <a:solidFill>
            <a:srgbClr val="F1EFE9"/>
          </a:solidFill>
          <a:ln/>
        </p:spPr>
      </p:sp>
      <p:sp>
        <p:nvSpPr>
          <p:cNvPr id="50" name="Shape 48"/>
          <p:cNvSpPr/>
          <p:nvPr/>
        </p:nvSpPr>
        <p:spPr>
          <a:xfrm>
            <a:off x="9886950" y="6682011"/>
            <a:ext cx="713184" cy="171450"/>
          </a:xfrm>
          <a:prstGeom prst="roundRect">
            <a:avLst>
              <a:gd name="adj" fmla="val 50000"/>
            </a:avLst>
          </a:prstGeom>
          <a:solidFill>
            <a:srgbClr val="C77D0A"/>
          </a:solidFill>
          <a:ln/>
        </p:spPr>
      </p:sp>
      <p:sp>
        <p:nvSpPr>
          <p:cNvPr id="51" name="Text 49"/>
          <p:cNvSpPr/>
          <p:nvPr/>
        </p:nvSpPr>
        <p:spPr>
          <a:xfrm>
            <a:off x="15878175" y="6541517"/>
            <a:ext cx="1362075" cy="490538"/>
          </a:xfrm>
          <a:prstGeom prst="rect">
            <a:avLst/>
          </a:prstGeom>
          <a:noFill/>
          <a:ln/>
        </p:spPr>
        <p:txBody>
          <a:bodyPr wrap="square" lIns="25400" tIns="25400" rIns="25400" bIns="25400" rtlCol="0" anchor="t">
            <a:normAutofit/>
          </a:bodyPr>
          <a:lstStyle/>
          <a:p>
            <a:pPr algn="r" indent="0" marL="0">
              <a:buNone/>
            </a:pPr>
            <a:r>
              <a:rPr lang="en-US" sz="3150" b="1" dirty="0">
                <a:solidFill>
                  <a:srgbClr val="C77D0A"/>
                </a:solidFill>
                <a:latin typeface="Courier New" pitchFamily="34" charset="0"/>
                <a:ea typeface="Courier New" pitchFamily="34" charset="-122"/>
                <a:cs typeface="Courier New" pitchFamily="34" charset="-120"/>
              </a:rPr>
              <a:t>$48</a:t>
            </a:r>
            <a:endParaRPr lang="en-US" sz="3150" dirty="0"/>
          </a:p>
        </p:txBody>
      </p:sp>
      <p:sp>
        <p:nvSpPr>
          <p:cNvPr id="52" name="Shape 50"/>
          <p:cNvSpPr/>
          <p:nvPr/>
        </p:nvSpPr>
        <p:spPr>
          <a:xfrm>
            <a:off x="1047750" y="7498779"/>
            <a:ext cx="16192500" cy="971550"/>
          </a:xfrm>
          <a:prstGeom prst="roundRect">
            <a:avLst>
              <a:gd name="adj" fmla="val 11765"/>
            </a:avLst>
          </a:prstGeom>
          <a:solidFill>
            <a:srgbClr val="FBF0D9"/>
          </a:solidFill>
          <a:ln/>
        </p:spPr>
      </p:sp>
      <p:sp>
        <p:nvSpPr>
          <p:cNvPr id="53" name="Text 51"/>
          <p:cNvSpPr/>
          <p:nvPr/>
        </p:nvSpPr>
        <p:spPr>
          <a:xfrm>
            <a:off x="1295400" y="7689279"/>
            <a:ext cx="16182975" cy="628650"/>
          </a:xfrm>
          <a:prstGeom prst="rect">
            <a:avLst/>
          </a:prstGeom>
          <a:noFill/>
          <a:ln/>
        </p:spPr>
        <p:txBody>
          <a:bodyPr wrap="square" lIns="25400" tIns="25400" rIns="25400" bIns="25400" rtlCol="0" anchor="t">
            <a:normAutofit/>
          </a:bodyPr>
          <a:lstStyle/>
          <a:p>
            <a:pPr algn="l" indent="0" marL="0">
              <a:buNone/>
            </a:pPr>
            <a:r>
              <a:rPr lang="en-US" sz="2025" b="1" dirty="0">
                <a:solidFill>
                  <a:srgbClr val="C77D0A"/>
                </a:solidFill>
                <a:latin typeface="Arial" pitchFamily="34" charset="0"/>
                <a:ea typeface="Arial" pitchFamily="34" charset="-122"/>
                <a:cs typeface="Arial" pitchFamily="34" charset="-120"/>
              </a:rPr>
              <a:t>Same feature, ~8× the spread. </a:t>
            </a:r>
            <a:pPr algn="l" indent="0" marL="0">
              <a:buNone/>
            </a:pPr>
            <a:r>
              <a:rPr lang="en-US" sz="2025" dirty="0">
                <a:solidFill>
                  <a:srgbClr val="3D3D3D"/>
                </a:solidFill>
                <a:latin typeface="Arial" pitchFamily="34" charset="0"/>
                <a:ea typeface="Arial" pitchFamily="34" charset="-122"/>
                <a:cs typeface="Arial" pitchFamily="34" charset="-120"/>
              </a:rPr>
              <a:t>Identical volume runs about $405/mo on a frontier model versus ~$48/mo on a small, fast one. Right-size the model to the job — reach for the biggest only when the task needs it.</a:t>
            </a:r>
            <a:endParaRPr lang="en-US" sz="1200" dirty="0"/>
          </a:p>
        </p:txBody>
      </p:sp>
      <p:sp>
        <p:nvSpPr>
          <p:cNvPr id="54" name="Text 52"/>
          <p:cNvSpPr/>
          <p:nvPr/>
        </p:nvSpPr>
        <p:spPr>
          <a:xfrm>
            <a:off x="1047750" y="8622729"/>
            <a:ext cx="17811750"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Illustrative pricing, USD per million tokens — always check the provider’s live pricing page.</a:t>
            </a:r>
            <a:endParaRPr lang="en-US" sz="1800" dirty="0"/>
          </a:p>
        </p:txBody>
      </p:sp>
      <p:sp>
        <p:nvSpPr>
          <p:cNvPr id="55" name="Shape 53"/>
          <p:cNvSpPr/>
          <p:nvPr/>
        </p:nvSpPr>
        <p:spPr>
          <a:xfrm>
            <a:off x="1047750" y="9520238"/>
            <a:ext cx="16192500" cy="9525"/>
          </a:xfrm>
          <a:prstGeom prst="rect">
            <a:avLst/>
          </a:prstGeom>
          <a:solidFill>
            <a:srgbClr val="E3E1DA"/>
          </a:solidFill>
          <a:ln/>
        </p:spPr>
      </p:sp>
      <p:sp>
        <p:nvSpPr>
          <p:cNvPr id="56" name="Text 54"/>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57" name="Text 55"/>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526257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TOKENS &amp; THE CONTEXT WINDOW</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Context at Scale</a:t>
            </a:r>
            <a:endParaRPr lang="en-US" sz="4800" dirty="0"/>
          </a:p>
        </p:txBody>
      </p:sp>
      <p:sp>
        <p:nvSpPr>
          <p:cNvPr id="5" name="Text 3"/>
          <p:cNvSpPr/>
          <p:nvPr/>
        </p:nvSpPr>
        <p:spPr>
          <a:xfrm>
            <a:off x="1047750" y="4234086"/>
            <a:ext cx="23050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78A4C"/>
                </a:solidFill>
                <a:latin typeface="Courier New" pitchFamily="34" charset="0"/>
                <a:ea typeface="Courier New" pitchFamily="34" charset="-122"/>
                <a:cs typeface="Courier New" pitchFamily="34" charset="-120"/>
              </a:rPr>
              <a:t>1K</a:t>
            </a:r>
            <a:endParaRPr lang="en-US" sz="2400" dirty="0"/>
          </a:p>
        </p:txBody>
      </p:sp>
      <p:sp>
        <p:nvSpPr>
          <p:cNvPr id="6" name="Shape 4"/>
          <p:cNvSpPr/>
          <p:nvPr/>
        </p:nvSpPr>
        <p:spPr>
          <a:xfrm>
            <a:off x="3390900" y="4243611"/>
            <a:ext cx="830907" cy="323850"/>
          </a:xfrm>
          <a:prstGeom prst="roundRect">
            <a:avLst>
              <a:gd name="adj" fmla="val 14706"/>
            </a:avLst>
          </a:prstGeom>
          <a:solidFill>
            <a:srgbClr val="178A4C"/>
          </a:solidFill>
          <a:ln/>
        </p:spPr>
      </p:sp>
      <p:sp>
        <p:nvSpPr>
          <p:cNvPr id="7" name="Text 5"/>
          <p:cNvSpPr/>
          <p:nvPr/>
        </p:nvSpPr>
        <p:spPr>
          <a:xfrm>
            <a:off x="4412307" y="4257898"/>
            <a:ext cx="1966496" cy="33337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about one page</a:t>
            </a:r>
            <a:endParaRPr lang="en-US" sz="2025" dirty="0"/>
          </a:p>
        </p:txBody>
      </p:sp>
      <p:sp>
        <p:nvSpPr>
          <p:cNvPr id="8" name="Text 6"/>
          <p:cNvSpPr/>
          <p:nvPr/>
        </p:nvSpPr>
        <p:spPr>
          <a:xfrm>
            <a:off x="1047750" y="4824636"/>
            <a:ext cx="23050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78A4C"/>
                </a:solidFill>
                <a:latin typeface="Courier New" pitchFamily="34" charset="0"/>
                <a:ea typeface="Courier New" pitchFamily="34" charset="-122"/>
                <a:cs typeface="Courier New" pitchFamily="34" charset="-120"/>
              </a:rPr>
              <a:t>8K</a:t>
            </a:r>
            <a:endParaRPr lang="en-US" sz="2400" dirty="0"/>
          </a:p>
        </p:txBody>
      </p:sp>
      <p:sp>
        <p:nvSpPr>
          <p:cNvPr id="9" name="Shape 7"/>
          <p:cNvSpPr/>
          <p:nvPr/>
        </p:nvSpPr>
        <p:spPr>
          <a:xfrm>
            <a:off x="3390900" y="4834161"/>
            <a:ext cx="1938858" cy="323850"/>
          </a:xfrm>
          <a:prstGeom prst="roundRect">
            <a:avLst>
              <a:gd name="adj" fmla="val 14706"/>
            </a:avLst>
          </a:prstGeom>
          <a:solidFill>
            <a:srgbClr val="178A4C"/>
          </a:solidFill>
          <a:ln/>
        </p:spPr>
      </p:sp>
      <p:sp>
        <p:nvSpPr>
          <p:cNvPr id="10" name="Text 8"/>
          <p:cNvSpPr/>
          <p:nvPr/>
        </p:nvSpPr>
        <p:spPr>
          <a:xfrm>
            <a:off x="5520258" y="4848448"/>
            <a:ext cx="1556482" cy="33337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a short story</a:t>
            </a:r>
            <a:endParaRPr lang="en-US" sz="2025" dirty="0"/>
          </a:p>
        </p:txBody>
      </p:sp>
      <p:sp>
        <p:nvSpPr>
          <p:cNvPr id="11" name="Text 9"/>
          <p:cNvSpPr/>
          <p:nvPr/>
        </p:nvSpPr>
        <p:spPr>
          <a:xfrm>
            <a:off x="1047750" y="5415186"/>
            <a:ext cx="23050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C77D0A"/>
                </a:solidFill>
                <a:latin typeface="Courier New" pitchFamily="34" charset="0"/>
                <a:ea typeface="Courier New" pitchFamily="34" charset="-122"/>
                <a:cs typeface="Courier New" pitchFamily="34" charset="-120"/>
              </a:rPr>
              <a:t>100K</a:t>
            </a:r>
            <a:endParaRPr lang="en-US" sz="2400" dirty="0"/>
          </a:p>
        </p:txBody>
      </p:sp>
      <p:sp>
        <p:nvSpPr>
          <p:cNvPr id="12" name="Shape 10"/>
          <p:cNvSpPr/>
          <p:nvPr/>
        </p:nvSpPr>
        <p:spPr>
          <a:xfrm>
            <a:off x="3390900" y="5424711"/>
            <a:ext cx="6370662" cy="323850"/>
          </a:xfrm>
          <a:prstGeom prst="roundRect">
            <a:avLst>
              <a:gd name="adj" fmla="val 14706"/>
            </a:avLst>
          </a:prstGeom>
          <a:solidFill>
            <a:srgbClr val="C77D0A"/>
          </a:solidFill>
          <a:ln/>
        </p:spPr>
      </p:sp>
      <p:sp>
        <p:nvSpPr>
          <p:cNvPr id="13" name="Text 11"/>
          <p:cNvSpPr/>
          <p:nvPr/>
        </p:nvSpPr>
        <p:spPr>
          <a:xfrm>
            <a:off x="9952062" y="5438998"/>
            <a:ext cx="218636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a 300-page novel</a:t>
            </a:r>
            <a:endParaRPr lang="en-US" sz="2025" dirty="0"/>
          </a:p>
        </p:txBody>
      </p:sp>
      <p:sp>
        <p:nvSpPr>
          <p:cNvPr id="14" name="Text 12"/>
          <p:cNvSpPr/>
          <p:nvPr/>
        </p:nvSpPr>
        <p:spPr>
          <a:xfrm>
            <a:off x="1047750" y="6129561"/>
            <a:ext cx="23050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F6FEB"/>
                </a:solidFill>
                <a:latin typeface="Courier New" pitchFamily="34" charset="0"/>
                <a:ea typeface="Courier New" pitchFamily="34" charset="-122"/>
                <a:cs typeface="Courier New" pitchFamily="34" charset="-120"/>
              </a:rPr>
              <a:t>1M+</a:t>
            </a:r>
            <a:endParaRPr lang="en-US" sz="2400" dirty="0"/>
          </a:p>
        </p:txBody>
      </p:sp>
      <p:sp>
        <p:nvSpPr>
          <p:cNvPr id="15" name="Shape 13"/>
          <p:cNvSpPr/>
          <p:nvPr/>
        </p:nvSpPr>
        <p:spPr>
          <a:xfrm>
            <a:off x="3390900" y="6139086"/>
            <a:ext cx="9764762" cy="323850"/>
          </a:xfrm>
          <a:prstGeom prst="roundRect">
            <a:avLst>
              <a:gd name="adj" fmla="val 14706"/>
            </a:avLst>
          </a:prstGeom>
          <a:solidFill>
            <a:srgbClr val="1F6FEB"/>
          </a:solidFill>
          <a:ln/>
        </p:spPr>
      </p:sp>
      <p:sp>
        <p:nvSpPr>
          <p:cNvPr id="16" name="Text 14"/>
          <p:cNvSpPr/>
          <p:nvPr/>
        </p:nvSpPr>
        <p:spPr>
          <a:xfrm>
            <a:off x="13346162" y="6005736"/>
            <a:ext cx="4010911" cy="628650"/>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a shelf of books — or a mid-size codebase</a:t>
            </a:r>
            <a:endParaRPr lang="en-US" sz="2025" dirty="0"/>
          </a:p>
        </p:txBody>
      </p:sp>
      <p:sp>
        <p:nvSpPr>
          <p:cNvPr id="17" name="Text 15"/>
          <p:cNvSpPr/>
          <p:nvPr/>
        </p:nvSpPr>
        <p:spPr>
          <a:xfrm>
            <a:off x="1047750" y="6958236"/>
            <a:ext cx="1781175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1A1A1A"/>
                </a:solidFill>
                <a:latin typeface="Georgia" pitchFamily="34" charset="0"/>
                <a:ea typeface="Georgia" pitchFamily="34" charset="-122"/>
                <a:cs typeface="Georgia" pitchFamily="34" charset="-120"/>
              </a:rPr>
              <a:t>Big windows fit whole documents — but every token still </a:t>
            </a:r>
            <a:pPr algn="l" indent="0" marL="0">
              <a:buNone/>
            </a:pPr>
            <a:r>
              <a:rPr lang="en-US" sz="2025" dirty="0">
                <a:solidFill>
                  <a:srgbClr val="1A1A1A"/>
                </a:solidFill>
                <a:highlight>
                  <a:srgbClr val="FFF1A8"/>
                </a:highlight>
                <a:latin typeface="Georgia" pitchFamily="34" charset="0"/>
                <a:ea typeface="Georgia" pitchFamily="34" charset="-122"/>
                <a:cs typeface="Georgia" pitchFamily="34" charset="-120"/>
              </a:rPr>
              <a:t>costs time and money</a:t>
            </a:r>
            <a:pPr algn="l" indent="0" marL="0">
              <a:buNone/>
            </a:pPr>
            <a:r>
              <a:rPr lang="en-US" sz="2025" dirty="0">
                <a:solidFill>
                  <a:srgbClr val="1A1A1A"/>
                </a:solidFill>
                <a:latin typeface="Georgia" pitchFamily="34" charset="0"/>
                <a:ea typeface="Georgia" pitchFamily="34" charset="-122"/>
                <a:cs typeface="Georgia" pitchFamily="34" charset="-120"/>
              </a:rPr>
              <a:t>.</a:t>
            </a:r>
            <a:endParaRPr lang="en-US" sz="2025" dirty="0"/>
          </a:p>
        </p:txBody>
      </p:sp>
      <p:sp>
        <p:nvSpPr>
          <p:cNvPr id="18" name="Shape 16"/>
          <p:cNvSpPr/>
          <p:nvPr/>
        </p:nvSpPr>
        <p:spPr>
          <a:xfrm>
            <a:off x="1047750" y="9520238"/>
            <a:ext cx="16192500" cy="9525"/>
          </a:xfrm>
          <a:prstGeom prst="rect">
            <a:avLst/>
          </a:prstGeom>
          <a:solidFill>
            <a:srgbClr val="E3E1DA"/>
          </a:solidFill>
          <a:ln/>
        </p:spPr>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F6FEB"/>
          </a:solidFill>
          <a:ln/>
        </p:spPr>
      </p:sp>
      <p:sp>
        <p:nvSpPr>
          <p:cNvPr id="3" name="Text 1"/>
          <p:cNvSpPr/>
          <p:nvPr/>
        </p:nvSpPr>
        <p:spPr>
          <a:xfrm>
            <a:off x="1200150" y="3302794"/>
            <a:ext cx="1764411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7C7A73"/>
                </a:solidFill>
                <a:latin typeface="Arial" pitchFamily="34" charset="0"/>
                <a:ea typeface="Arial" pitchFamily="34" charset="-122"/>
                <a:cs typeface="Arial" pitchFamily="34" charset="-120"/>
              </a:rPr>
              <a:t>SECTION 02</a:t>
            </a:r>
            <a:endParaRPr lang="en-US" sz="1800" dirty="0"/>
          </a:p>
        </p:txBody>
      </p:sp>
      <p:sp>
        <p:nvSpPr>
          <p:cNvPr id="4" name="Text 2"/>
          <p:cNvSpPr/>
          <p:nvPr/>
        </p:nvSpPr>
        <p:spPr>
          <a:xfrm>
            <a:off x="1200150" y="3659981"/>
            <a:ext cx="17644110" cy="1752600"/>
          </a:xfrm>
          <a:prstGeom prst="rect">
            <a:avLst/>
          </a:prstGeom>
          <a:noFill/>
          <a:ln/>
        </p:spPr>
        <p:txBody>
          <a:bodyPr wrap="square" lIns="25400" tIns="25400" rIns="25400" bIns="25400" rtlCol="0" anchor="t">
            <a:normAutofit/>
          </a:bodyPr>
          <a:lstStyle/>
          <a:p>
            <a:pPr algn="l" indent="0" marL="0">
              <a:lnSpc>
                <a:spcPct val="79121"/>
              </a:lnSpc>
              <a:buNone/>
            </a:pPr>
            <a:r>
              <a:rPr lang="en-US" sz="15000" b="1" dirty="0">
                <a:solidFill>
                  <a:srgbClr val="1F6FEB"/>
                </a:solidFill>
                <a:latin typeface="Georgia" pitchFamily="34" charset="0"/>
                <a:ea typeface="Georgia" pitchFamily="34" charset="-122"/>
                <a:cs typeface="Georgia" pitchFamily="34" charset="-120"/>
              </a:rPr>
              <a:t>02</a:t>
            </a:r>
            <a:endParaRPr lang="en-US" sz="15000" dirty="0"/>
          </a:p>
        </p:txBody>
      </p:sp>
      <p:sp>
        <p:nvSpPr>
          <p:cNvPr id="5" name="Text 3"/>
          <p:cNvSpPr/>
          <p:nvPr/>
        </p:nvSpPr>
        <p:spPr>
          <a:xfrm>
            <a:off x="1200150" y="5450681"/>
            <a:ext cx="17644110" cy="857250"/>
          </a:xfrm>
          <a:prstGeom prst="rect">
            <a:avLst/>
          </a:prstGeom>
          <a:noFill/>
          <a:ln/>
        </p:spPr>
        <p:txBody>
          <a:bodyPr wrap="square" lIns="25400" tIns="25400" rIns="25400" bIns="25400" rtlCol="0" anchor="t">
            <a:normAutofit/>
          </a:bodyPr>
          <a:lstStyle/>
          <a:p>
            <a:pPr algn="l" indent="0" marL="0">
              <a:buNone/>
            </a:pPr>
            <a:r>
              <a:rPr lang="en-US" sz="5700" b="1" dirty="0">
                <a:solidFill>
                  <a:srgbClr val="1A1A1A"/>
                </a:solidFill>
                <a:latin typeface="Georgia" pitchFamily="34" charset="0"/>
                <a:ea typeface="Georgia" pitchFamily="34" charset="-122"/>
                <a:cs typeface="Georgia" pitchFamily="34" charset="-120"/>
              </a:rPr>
              <a:t>Get Set Up to Build</a:t>
            </a:r>
            <a:endParaRPr lang="en-US" sz="5700" dirty="0"/>
          </a:p>
        </p:txBody>
      </p:sp>
      <p:sp>
        <p:nvSpPr>
          <p:cNvPr id="6" name="Text 4"/>
          <p:cNvSpPr/>
          <p:nvPr/>
        </p:nvSpPr>
        <p:spPr>
          <a:xfrm>
            <a:off x="1200150" y="6441281"/>
            <a:ext cx="1152525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Account, API key, and a working Python environment.</a:t>
            </a:r>
            <a:endParaRPr lang="en-US"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sp>
      <p:sp>
        <p:nvSpPr>
          <p:cNvPr id="3" name="Text 1"/>
          <p:cNvSpPr/>
          <p:nvPr/>
        </p:nvSpPr>
        <p:spPr>
          <a:xfrm>
            <a:off x="1304925" y="800100"/>
            <a:ext cx="99841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What You’ll Need</a:t>
            </a:r>
            <a:endParaRPr lang="en-US" sz="4800" dirty="0"/>
          </a:p>
        </p:txBody>
      </p:sp>
      <p:sp>
        <p:nvSpPr>
          <p:cNvPr id="5" name="Shape 3"/>
          <p:cNvSpPr/>
          <p:nvPr/>
        </p:nvSpPr>
        <p:spPr>
          <a:xfrm>
            <a:off x="1047750" y="4296966"/>
            <a:ext cx="5206975" cy="2893665"/>
          </a:xfrm>
          <a:prstGeom prst="roundRect">
            <a:avLst>
              <a:gd name="adj" fmla="val 5267"/>
            </a:avLst>
          </a:prstGeom>
          <a:ln w="9525">
            <a:solidFill>
              <a:srgbClr val="E3E1DA"/>
            </a:solidFill>
            <a:prstDash val="solid"/>
          </a:ln>
        </p:spPr>
      </p:sp>
      <p:sp>
        <p:nvSpPr>
          <p:cNvPr id="6" name="Text 4"/>
          <p:cNvSpPr/>
          <p:nvPr/>
        </p:nvSpPr>
        <p:spPr>
          <a:xfrm>
            <a:off x="1400175" y="4687491"/>
            <a:ext cx="4952338" cy="685800"/>
          </a:xfrm>
          <a:prstGeom prst="rect">
            <a:avLst/>
          </a:prstGeom>
          <a:noFill/>
          <a:ln/>
        </p:spPr>
        <p:txBody>
          <a:bodyPr wrap="square" lIns="25400" tIns="25400" rIns="25400" bIns="25400" rtlCol="0" anchor="t">
            <a:normAutofit/>
          </a:bodyPr>
          <a:lstStyle/>
          <a:p>
            <a:pPr algn="l" indent="0" marL="0">
              <a:buNone/>
            </a:pPr>
            <a:r>
              <a:rPr lang="en-US" sz="4500" b="1" dirty="0">
                <a:solidFill>
                  <a:srgbClr val="7A4FD0"/>
                </a:solidFill>
                <a:latin typeface="Georgia" pitchFamily="34" charset="0"/>
                <a:ea typeface="Georgia" pitchFamily="34" charset="-122"/>
                <a:cs typeface="Georgia" pitchFamily="34" charset="-120"/>
              </a:rPr>
              <a:t>01</a:t>
            </a:r>
            <a:endParaRPr lang="en-US" sz="4500" dirty="0"/>
          </a:p>
        </p:txBody>
      </p:sp>
      <p:sp>
        <p:nvSpPr>
          <p:cNvPr id="7" name="Text 5"/>
          <p:cNvSpPr/>
          <p:nvPr/>
        </p:nvSpPr>
        <p:spPr>
          <a:xfrm>
            <a:off x="1400175" y="5487591"/>
            <a:ext cx="4952338" cy="490538"/>
          </a:xfrm>
          <a:prstGeom prst="rect">
            <a:avLst/>
          </a:prstGeom>
          <a:noFill/>
          <a:ln/>
        </p:spPr>
        <p:txBody>
          <a:bodyPr wrap="square" lIns="25400" tIns="25400" rIns="25400" bIns="25400" rtlCol="0" anchor="t">
            <a:normAutofit/>
          </a:bodyPr>
          <a:lstStyle/>
          <a:p>
            <a:pPr algn="l" indent="0" marL="0">
              <a:buNone/>
            </a:pPr>
            <a:r>
              <a:rPr lang="en-US" sz="3150" dirty="0">
                <a:solidFill>
                  <a:srgbClr val="1A1A1A"/>
                </a:solidFill>
                <a:latin typeface="Georgia" pitchFamily="34" charset="0"/>
                <a:ea typeface="Georgia" pitchFamily="34" charset="-122"/>
                <a:cs typeface="Georgia" pitchFamily="34" charset="-120"/>
              </a:rPr>
              <a:t>An API key</a:t>
            </a:r>
            <a:endParaRPr lang="en-US" sz="3150" dirty="0"/>
          </a:p>
        </p:txBody>
      </p:sp>
      <p:sp>
        <p:nvSpPr>
          <p:cNvPr id="8" name="Text 6"/>
          <p:cNvSpPr/>
          <p:nvPr/>
        </p:nvSpPr>
        <p:spPr>
          <a:xfrm>
            <a:off x="1400175" y="6054328"/>
            <a:ext cx="4637189" cy="783878"/>
          </a:xfrm>
          <a:prstGeom prst="rect">
            <a:avLst/>
          </a:prstGeom>
          <a:noFill/>
          <a:ln/>
        </p:spPr>
        <p:txBody>
          <a:bodyPr wrap="square" lIns="25400" tIns="25400" rIns="25400" bIns="25400" rtlCol="0" anchor="t">
            <a:normAutofit/>
          </a:bodyPr>
          <a:lstStyle/>
          <a:p>
            <a:pPr algn="l" indent="0" marL="0">
              <a:lnSpc>
                <a:spcPct val="126290"/>
              </a:lnSpc>
              <a:buNone/>
            </a:pPr>
            <a:r>
              <a:rPr lang="en-US" sz="2025" b="1" dirty="0">
                <a:solidFill>
                  <a:srgbClr val="1A1A1A"/>
                </a:solidFill>
                <a:latin typeface="Arial" pitchFamily="34" charset="0"/>
                <a:ea typeface="Arial" pitchFamily="34" charset="-122"/>
                <a:cs typeface="Arial" pitchFamily="34" charset="-120"/>
              </a:rPr>
              <a:t>Provided for the session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 or bring your own (OpenAI or Anthropic).</a:t>
            </a:r>
            <a:endParaRPr lang="en-US" sz="2025" dirty="0"/>
          </a:p>
        </p:txBody>
      </p:sp>
      <p:sp>
        <p:nvSpPr>
          <p:cNvPr id="9" name="Shape 7"/>
          <p:cNvSpPr/>
          <p:nvPr/>
        </p:nvSpPr>
        <p:spPr>
          <a:xfrm>
            <a:off x="6540475" y="4285059"/>
            <a:ext cx="5207050" cy="2917478"/>
          </a:xfrm>
          <a:prstGeom prst="roundRect">
            <a:avLst>
              <a:gd name="adj" fmla="val 5224"/>
            </a:avLst>
          </a:prstGeom>
          <a:ln w="9525">
            <a:solidFill>
              <a:srgbClr val="E3E1DA"/>
            </a:solidFill>
            <a:prstDash val="solid"/>
          </a:ln>
        </p:spPr>
      </p:sp>
      <p:sp>
        <p:nvSpPr>
          <p:cNvPr id="10" name="Text 8"/>
          <p:cNvSpPr/>
          <p:nvPr/>
        </p:nvSpPr>
        <p:spPr>
          <a:xfrm>
            <a:off x="6892900" y="4675584"/>
            <a:ext cx="4952420" cy="685800"/>
          </a:xfrm>
          <a:prstGeom prst="rect">
            <a:avLst/>
          </a:prstGeom>
          <a:noFill/>
          <a:ln/>
        </p:spPr>
        <p:txBody>
          <a:bodyPr wrap="square" lIns="25400" tIns="25400" rIns="25400" bIns="25400" rtlCol="0" anchor="t">
            <a:normAutofit/>
          </a:bodyPr>
          <a:lstStyle/>
          <a:p>
            <a:pPr algn="l" indent="0" marL="0">
              <a:buNone/>
            </a:pPr>
            <a:r>
              <a:rPr lang="en-US" sz="4500" b="1" dirty="0">
                <a:solidFill>
                  <a:srgbClr val="178A4C"/>
                </a:solidFill>
                <a:latin typeface="Georgia" pitchFamily="34" charset="0"/>
                <a:ea typeface="Georgia" pitchFamily="34" charset="-122"/>
                <a:cs typeface="Georgia" pitchFamily="34" charset="-120"/>
              </a:rPr>
              <a:t>02</a:t>
            </a:r>
            <a:endParaRPr lang="en-US" sz="4500" dirty="0"/>
          </a:p>
        </p:txBody>
      </p:sp>
      <p:sp>
        <p:nvSpPr>
          <p:cNvPr id="11" name="Text 9"/>
          <p:cNvSpPr/>
          <p:nvPr/>
        </p:nvSpPr>
        <p:spPr>
          <a:xfrm>
            <a:off x="6892900" y="5475684"/>
            <a:ext cx="4952420" cy="490538"/>
          </a:xfrm>
          <a:prstGeom prst="rect">
            <a:avLst/>
          </a:prstGeom>
          <a:noFill/>
          <a:ln/>
        </p:spPr>
        <p:txBody>
          <a:bodyPr wrap="square" lIns="25400" tIns="25400" rIns="25400" bIns="25400" rtlCol="0" anchor="t">
            <a:normAutofit/>
          </a:bodyPr>
          <a:lstStyle/>
          <a:p>
            <a:pPr algn="l" indent="0" marL="0">
              <a:buNone/>
            </a:pPr>
            <a:r>
              <a:rPr lang="en-US" sz="3150" dirty="0">
                <a:solidFill>
                  <a:srgbClr val="1A1A1A"/>
                </a:solidFill>
                <a:latin typeface="Georgia" pitchFamily="34" charset="0"/>
                <a:ea typeface="Georgia" pitchFamily="34" charset="-122"/>
                <a:cs typeface="Georgia" pitchFamily="34" charset="-120"/>
              </a:rPr>
              <a:t>Python 3.9+</a:t>
            </a:r>
            <a:endParaRPr lang="en-US" sz="3150" dirty="0"/>
          </a:p>
        </p:txBody>
      </p:sp>
      <p:sp>
        <p:nvSpPr>
          <p:cNvPr id="12" name="Text 10"/>
          <p:cNvSpPr/>
          <p:nvPr/>
        </p:nvSpPr>
        <p:spPr>
          <a:xfrm>
            <a:off x="6892900" y="6042422"/>
            <a:ext cx="4637266" cy="807690"/>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Check with </a:t>
            </a:r>
            <a:pPr algn="l" indent="0" marL="0">
              <a:lnSpc>
                <a:spcPct val="126290"/>
              </a:lnSpc>
              <a:buNone/>
            </a:pPr>
            <a:r>
              <a:rPr lang="en-US" sz="2025" dirty="0">
                <a:solidFill>
                  <a:srgbClr val="3D3D3D"/>
                </a:solidFill>
                <a:latin typeface="Courier New" pitchFamily="34" charset="0"/>
                <a:ea typeface="Courier New" pitchFamily="34" charset="-122"/>
                <a:cs typeface="Courier New" pitchFamily="34" charset="-120"/>
              </a:rPr>
              <a:t>python --version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in a terminal.</a:t>
            </a:r>
            <a:endParaRPr lang="en-US" sz="2025" dirty="0"/>
          </a:p>
        </p:txBody>
      </p:sp>
      <p:sp>
        <p:nvSpPr>
          <p:cNvPr id="13" name="Shape 11"/>
          <p:cNvSpPr/>
          <p:nvPr/>
        </p:nvSpPr>
        <p:spPr>
          <a:xfrm>
            <a:off x="12033275" y="4285059"/>
            <a:ext cx="5206975" cy="2917478"/>
          </a:xfrm>
          <a:prstGeom prst="roundRect">
            <a:avLst>
              <a:gd name="adj" fmla="val 5224"/>
            </a:avLst>
          </a:prstGeom>
          <a:ln w="9525">
            <a:solidFill>
              <a:srgbClr val="E3E1DA"/>
            </a:solidFill>
            <a:prstDash val="solid"/>
          </a:ln>
        </p:spPr>
      </p:sp>
      <p:sp>
        <p:nvSpPr>
          <p:cNvPr id="14" name="Text 12"/>
          <p:cNvSpPr/>
          <p:nvPr/>
        </p:nvSpPr>
        <p:spPr>
          <a:xfrm>
            <a:off x="12385700" y="4675584"/>
            <a:ext cx="4952338" cy="685800"/>
          </a:xfrm>
          <a:prstGeom prst="rect">
            <a:avLst/>
          </a:prstGeom>
          <a:noFill/>
          <a:ln/>
        </p:spPr>
        <p:txBody>
          <a:bodyPr wrap="square" lIns="25400" tIns="25400" rIns="25400" bIns="25400" rtlCol="0" anchor="t">
            <a:normAutofit/>
          </a:bodyPr>
          <a:lstStyle/>
          <a:p>
            <a:pPr algn="l" indent="0" marL="0">
              <a:buNone/>
            </a:pPr>
            <a:r>
              <a:rPr lang="en-US" sz="4500" b="1" dirty="0">
                <a:solidFill>
                  <a:srgbClr val="1F6FEB"/>
                </a:solidFill>
                <a:latin typeface="Georgia" pitchFamily="34" charset="0"/>
                <a:ea typeface="Georgia" pitchFamily="34" charset="-122"/>
                <a:cs typeface="Georgia" pitchFamily="34" charset="-120"/>
              </a:rPr>
              <a:t>03</a:t>
            </a:r>
            <a:endParaRPr lang="en-US" sz="4500" dirty="0"/>
          </a:p>
        </p:txBody>
      </p:sp>
      <p:sp>
        <p:nvSpPr>
          <p:cNvPr id="15" name="Text 13"/>
          <p:cNvSpPr/>
          <p:nvPr/>
        </p:nvSpPr>
        <p:spPr>
          <a:xfrm>
            <a:off x="12385700" y="5475684"/>
            <a:ext cx="4952338" cy="490538"/>
          </a:xfrm>
          <a:prstGeom prst="rect">
            <a:avLst/>
          </a:prstGeom>
          <a:noFill/>
          <a:ln/>
        </p:spPr>
        <p:txBody>
          <a:bodyPr wrap="square" lIns="25400" tIns="25400" rIns="25400" bIns="25400" rtlCol="0" anchor="t">
            <a:normAutofit/>
          </a:bodyPr>
          <a:lstStyle/>
          <a:p>
            <a:pPr algn="l" indent="0" marL="0">
              <a:buNone/>
            </a:pPr>
            <a:r>
              <a:rPr lang="en-US" sz="3150" dirty="0">
                <a:solidFill>
                  <a:srgbClr val="1A1A1A"/>
                </a:solidFill>
                <a:latin typeface="Georgia" pitchFamily="34" charset="0"/>
                <a:ea typeface="Georgia" pitchFamily="34" charset="-122"/>
                <a:cs typeface="Georgia" pitchFamily="34" charset="-120"/>
              </a:rPr>
              <a:t>The SDK</a:t>
            </a:r>
            <a:endParaRPr lang="en-US" sz="3150" dirty="0"/>
          </a:p>
        </p:txBody>
      </p:sp>
      <p:sp>
        <p:nvSpPr>
          <p:cNvPr id="16" name="Text 14"/>
          <p:cNvSpPr/>
          <p:nvPr/>
        </p:nvSpPr>
        <p:spPr>
          <a:xfrm>
            <a:off x="12385700" y="6042422"/>
            <a:ext cx="4637189" cy="807690"/>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One </a:t>
            </a:r>
            <a:pPr algn="l" indent="0" marL="0">
              <a:lnSpc>
                <a:spcPct val="126290"/>
              </a:lnSpc>
              <a:buNone/>
            </a:pPr>
            <a:r>
              <a:rPr lang="en-US" sz="2025" dirty="0">
                <a:solidFill>
                  <a:srgbClr val="3D3D3D"/>
                </a:solidFill>
                <a:latin typeface="Courier New" pitchFamily="34" charset="0"/>
                <a:ea typeface="Courier New" pitchFamily="34" charset="-122"/>
                <a:cs typeface="Courier New" pitchFamily="34" charset="-120"/>
              </a:rPr>
              <a:t>pip install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 we do it together next.</a:t>
            </a:r>
            <a:endParaRPr lang="en-US" sz="2025" dirty="0"/>
          </a:p>
        </p:txBody>
      </p:sp>
      <p:sp>
        <p:nvSpPr>
          <p:cNvPr id="17" name="Shape 15"/>
          <p:cNvSpPr/>
          <p:nvPr/>
        </p:nvSpPr>
        <p:spPr>
          <a:xfrm>
            <a:off x="1047750" y="9520238"/>
            <a:ext cx="16192500" cy="9525"/>
          </a:xfrm>
          <a:prstGeom prst="rect">
            <a:avLst/>
          </a:prstGeom>
          <a:solidFill>
            <a:srgbClr val="E3E1DA"/>
          </a:solidFill>
          <a:ln/>
        </p:spPr>
      </p:sp>
      <p:sp>
        <p:nvSpPr>
          <p:cNvPr id="18" name="Text 16"/>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9" name="Text 17"/>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sp>
      <p:sp>
        <p:nvSpPr>
          <p:cNvPr id="3" name="Text 1"/>
          <p:cNvSpPr/>
          <p:nvPr/>
        </p:nvSpPr>
        <p:spPr>
          <a:xfrm>
            <a:off x="1304925" y="800100"/>
            <a:ext cx="99841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Getting an API Key</a:t>
            </a:r>
            <a:endParaRPr lang="en-US" sz="4800" dirty="0"/>
          </a:p>
        </p:txBody>
      </p:sp>
      <p:sp>
        <p:nvSpPr>
          <p:cNvPr id="5" name="Shape 3"/>
          <p:cNvSpPr/>
          <p:nvPr/>
        </p:nvSpPr>
        <p:spPr>
          <a:xfrm>
            <a:off x="1047750" y="2057921"/>
            <a:ext cx="16192500" cy="657225"/>
          </a:xfrm>
          <a:prstGeom prst="roundRect">
            <a:avLst>
              <a:gd name="adj" fmla="val 17391"/>
            </a:avLst>
          </a:prstGeom>
          <a:solidFill>
            <a:srgbClr val="FBF0D9"/>
          </a:solidFill>
          <a:ln w="9525">
            <a:solidFill>
              <a:srgbClr val="C77D0A"/>
            </a:solidFill>
            <a:prstDash val="solid"/>
          </a:ln>
        </p:spPr>
      </p:sp>
      <p:sp>
        <p:nvSpPr>
          <p:cNvPr id="6" name="Text 4"/>
          <p:cNvSpPr/>
          <p:nvPr/>
        </p:nvSpPr>
        <p:spPr>
          <a:xfrm>
            <a:off x="1304925" y="2238896"/>
            <a:ext cx="16163925"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C77D0A"/>
                </a:solidFill>
                <a:latin typeface="Arial" pitchFamily="34" charset="0"/>
                <a:ea typeface="Arial" pitchFamily="34" charset="-122"/>
                <a:cs typeface="Arial" pitchFamily="34" charset="-120"/>
              </a:rPr>
              <a:t>Keys are provided for the session </a:t>
            </a:r>
            <a:pPr algn="l" indent="0" marL="0">
              <a:buNone/>
            </a:pPr>
            <a:r>
              <a:rPr lang="en-US" sz="2025" dirty="0">
                <a:solidFill>
                  <a:srgbClr val="1A1A1A"/>
                </a:solidFill>
                <a:highlight>
                  <a:srgbClr val="FBF0D9"/>
                </a:highlight>
                <a:latin typeface="Arial" pitchFamily="34" charset="0"/>
                <a:ea typeface="Arial" pitchFamily="34" charset="-122"/>
                <a:cs typeface="Arial" pitchFamily="34" charset="-120"/>
              </a:rPr>
              <a:t>— ask your instructor for yours; make your own only if you’d prefer.</a:t>
            </a:r>
            <a:endParaRPr lang="en-US" sz="2025" dirty="0"/>
          </a:p>
        </p:txBody>
      </p:sp>
      <p:sp>
        <p:nvSpPr>
          <p:cNvPr id="7" name="Shape 5"/>
          <p:cNvSpPr/>
          <p:nvPr/>
        </p:nvSpPr>
        <p:spPr>
          <a:xfrm>
            <a:off x="1047750" y="2943746"/>
            <a:ext cx="7953375" cy="5885929"/>
          </a:xfrm>
          <a:prstGeom prst="roundRect">
            <a:avLst>
              <a:gd name="adj" fmla="val 2589"/>
            </a:avLst>
          </a:prstGeom>
          <a:ln w="9525">
            <a:solidFill>
              <a:srgbClr val="E3E1DA"/>
            </a:solidFill>
            <a:prstDash val="solid"/>
          </a:ln>
        </p:spPr>
      </p:sp>
      <p:sp>
        <p:nvSpPr>
          <p:cNvPr id="8" name="Text 6"/>
          <p:cNvSpPr/>
          <p:nvPr/>
        </p:nvSpPr>
        <p:spPr>
          <a:xfrm>
            <a:off x="1381125" y="3258071"/>
            <a:ext cx="8015288"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78A4C"/>
                </a:solidFill>
                <a:latin typeface="Courier New" pitchFamily="34" charset="0"/>
                <a:ea typeface="Courier New" pitchFamily="34" charset="-122"/>
                <a:cs typeface="Courier New" pitchFamily="34" charset="-120"/>
              </a:rPr>
              <a:t>OpenAI</a:t>
            </a:r>
            <a:endParaRPr lang="en-US" sz="2400" dirty="0"/>
          </a:p>
        </p:txBody>
      </p:sp>
      <p:sp>
        <p:nvSpPr>
          <p:cNvPr id="9" name="Text 7"/>
          <p:cNvSpPr/>
          <p:nvPr/>
        </p:nvSpPr>
        <p:spPr>
          <a:xfrm>
            <a:off x="1381125" y="3791471"/>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1</a:t>
            </a:r>
            <a:pPr algn="l" indent="0" marL="0">
              <a:buNone/>
            </a:pPr>
            <a:r>
              <a:rPr lang="en-US" sz="2025" dirty="0">
                <a:solidFill>
                  <a:srgbClr val="1A1A1A"/>
                </a:solidFill>
                <a:latin typeface="Courier New" pitchFamily="34" charset="0"/>
                <a:ea typeface="Courier New" pitchFamily="34" charset="-122"/>
                <a:cs typeface="Courier New" pitchFamily="34" charset="-120"/>
              </a:rPr>
              <a:t>platform.openai.com </a:t>
            </a:r>
            <a:pPr algn="l" indent="0" marL="0">
              <a:buNone/>
            </a:pPr>
            <a:r>
              <a:rPr lang="en-US" sz="2025" dirty="0">
                <a:solidFill>
                  <a:srgbClr val="3D3D3D"/>
                </a:solidFill>
                <a:latin typeface="Arial" pitchFamily="34" charset="0"/>
                <a:ea typeface="Arial" pitchFamily="34" charset="-122"/>
                <a:cs typeface="Arial" pitchFamily="34" charset="-120"/>
              </a:rPr>
              <a:t>→ sign in</a:t>
            </a:r>
            <a:endParaRPr lang="en-US" sz="2025" dirty="0"/>
          </a:p>
        </p:txBody>
      </p:sp>
      <p:sp>
        <p:nvSpPr>
          <p:cNvPr id="10" name="Text 8"/>
          <p:cNvSpPr/>
          <p:nvPr/>
        </p:nvSpPr>
        <p:spPr>
          <a:xfrm>
            <a:off x="1381125" y="4239146"/>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2</a:t>
            </a:r>
            <a:pPr algn="l" indent="0" marL="0">
              <a:buNone/>
            </a:pPr>
            <a:r>
              <a:rPr lang="en-US" sz="2025" b="1" dirty="0">
                <a:solidFill>
                  <a:srgbClr val="1A1A1A"/>
                </a:solidFill>
                <a:latin typeface="Arial" pitchFamily="34" charset="0"/>
                <a:ea typeface="Arial" pitchFamily="34" charset="-122"/>
                <a:cs typeface="Arial" pitchFamily="34" charset="-120"/>
              </a:rPr>
              <a:t>API keys </a:t>
            </a:r>
            <a:pPr algn="l" indent="0" marL="0">
              <a:buNone/>
            </a:pPr>
            <a:r>
              <a:rPr lang="en-US" sz="2025" dirty="0">
                <a:solidFill>
                  <a:srgbClr val="3D3D3D"/>
                </a:solidFill>
                <a:latin typeface="Arial" pitchFamily="34" charset="0"/>
                <a:ea typeface="Arial" pitchFamily="34" charset="-122"/>
                <a:cs typeface="Arial" pitchFamily="34" charset="-120"/>
              </a:rPr>
              <a:t>→ Create new secret key</a:t>
            </a:r>
            <a:endParaRPr lang="en-US" sz="2025" dirty="0"/>
          </a:p>
        </p:txBody>
      </p:sp>
      <p:sp>
        <p:nvSpPr>
          <p:cNvPr id="11" name="Text 9"/>
          <p:cNvSpPr/>
          <p:nvPr/>
        </p:nvSpPr>
        <p:spPr>
          <a:xfrm>
            <a:off x="1381125" y="4686821"/>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3 </a:t>
            </a:r>
            <a:pPr algn="l" indent="0" marL="0">
              <a:buNone/>
            </a:pPr>
            <a:r>
              <a:rPr lang="en-US" sz="2025" dirty="0">
                <a:solidFill>
                  <a:srgbClr val="3D3D3D"/>
                </a:solidFill>
                <a:latin typeface="Arial" pitchFamily="34" charset="0"/>
                <a:ea typeface="Arial" pitchFamily="34" charset="-122"/>
                <a:cs typeface="Arial" pitchFamily="34" charset="-120"/>
              </a:rPr>
              <a:t>Add billing · copy the key now</a:t>
            </a:r>
            <a:endParaRPr lang="en-US" sz="2025" dirty="0"/>
          </a:p>
        </p:txBody>
      </p:sp>
      <p:sp>
        <p:nvSpPr>
          <p:cNvPr id="12" name="Shape 10"/>
          <p:cNvSpPr/>
          <p:nvPr/>
        </p:nvSpPr>
        <p:spPr>
          <a:xfrm>
            <a:off x="9286875" y="2943746"/>
            <a:ext cx="7953375" cy="5885929"/>
          </a:xfrm>
          <a:prstGeom prst="roundRect">
            <a:avLst>
              <a:gd name="adj" fmla="val 2589"/>
            </a:avLst>
          </a:prstGeom>
          <a:ln w="9525">
            <a:solidFill>
              <a:srgbClr val="E3E1DA"/>
            </a:solidFill>
            <a:prstDash val="solid"/>
          </a:ln>
        </p:spPr>
      </p:sp>
      <p:sp>
        <p:nvSpPr>
          <p:cNvPr id="13" name="Text 11"/>
          <p:cNvSpPr/>
          <p:nvPr/>
        </p:nvSpPr>
        <p:spPr>
          <a:xfrm>
            <a:off x="9620250" y="3258071"/>
            <a:ext cx="8015288"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7A4FD0"/>
                </a:solidFill>
                <a:latin typeface="Courier New" pitchFamily="34" charset="0"/>
                <a:ea typeface="Courier New" pitchFamily="34" charset="-122"/>
                <a:cs typeface="Courier New" pitchFamily="34" charset="-120"/>
              </a:rPr>
              <a:t>Anthropic (Claude)</a:t>
            </a:r>
            <a:endParaRPr lang="en-US" sz="2400" dirty="0"/>
          </a:p>
        </p:txBody>
      </p:sp>
      <p:sp>
        <p:nvSpPr>
          <p:cNvPr id="14" name="Text 12"/>
          <p:cNvSpPr/>
          <p:nvPr/>
        </p:nvSpPr>
        <p:spPr>
          <a:xfrm>
            <a:off x="9620250" y="3791471"/>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1</a:t>
            </a:r>
            <a:pPr algn="l" indent="0" marL="0">
              <a:buNone/>
            </a:pPr>
            <a:r>
              <a:rPr lang="en-US" sz="2025" dirty="0">
                <a:solidFill>
                  <a:srgbClr val="1A1A1A"/>
                </a:solidFill>
                <a:latin typeface="Courier New" pitchFamily="34" charset="0"/>
                <a:ea typeface="Courier New" pitchFamily="34" charset="-122"/>
                <a:cs typeface="Courier New" pitchFamily="34" charset="-120"/>
              </a:rPr>
              <a:t>console.anthropic.com </a:t>
            </a:r>
            <a:pPr algn="l" indent="0" marL="0">
              <a:buNone/>
            </a:pPr>
            <a:r>
              <a:rPr lang="en-US" sz="2025" dirty="0">
                <a:solidFill>
                  <a:srgbClr val="3D3D3D"/>
                </a:solidFill>
                <a:latin typeface="Arial" pitchFamily="34" charset="0"/>
                <a:ea typeface="Arial" pitchFamily="34" charset="-122"/>
                <a:cs typeface="Arial" pitchFamily="34" charset="-120"/>
              </a:rPr>
              <a:t>→ sign in</a:t>
            </a:r>
            <a:endParaRPr lang="en-US" sz="2025" dirty="0"/>
          </a:p>
        </p:txBody>
      </p:sp>
      <p:sp>
        <p:nvSpPr>
          <p:cNvPr id="15" name="Text 13"/>
          <p:cNvSpPr/>
          <p:nvPr/>
        </p:nvSpPr>
        <p:spPr>
          <a:xfrm>
            <a:off x="9620250" y="4239146"/>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2</a:t>
            </a:r>
            <a:pPr algn="l" indent="0" marL="0">
              <a:buNone/>
            </a:pPr>
            <a:r>
              <a:rPr lang="en-US" sz="2025" b="1" dirty="0">
                <a:solidFill>
                  <a:srgbClr val="1A1A1A"/>
                </a:solidFill>
                <a:latin typeface="Arial" pitchFamily="34" charset="0"/>
                <a:ea typeface="Arial" pitchFamily="34" charset="-122"/>
                <a:cs typeface="Arial" pitchFamily="34" charset="-120"/>
              </a:rPr>
              <a:t>API keys </a:t>
            </a:r>
            <a:pPr algn="l" indent="0" marL="0">
              <a:buNone/>
            </a:pPr>
            <a:r>
              <a:rPr lang="en-US" sz="2025" dirty="0">
                <a:solidFill>
                  <a:srgbClr val="3D3D3D"/>
                </a:solidFill>
                <a:latin typeface="Arial" pitchFamily="34" charset="0"/>
                <a:ea typeface="Arial" pitchFamily="34" charset="-122"/>
                <a:cs typeface="Arial" pitchFamily="34" charset="-120"/>
              </a:rPr>
              <a:t>→ Create key</a:t>
            </a:r>
            <a:endParaRPr lang="en-US" sz="2025" dirty="0"/>
          </a:p>
        </p:txBody>
      </p:sp>
      <p:sp>
        <p:nvSpPr>
          <p:cNvPr id="16" name="Text 14"/>
          <p:cNvSpPr/>
          <p:nvPr/>
        </p:nvSpPr>
        <p:spPr>
          <a:xfrm>
            <a:off x="9620250" y="4686821"/>
            <a:ext cx="8015288" cy="352425"/>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3 </a:t>
            </a:r>
            <a:pPr algn="l" indent="0" marL="0">
              <a:buNone/>
            </a:pPr>
            <a:r>
              <a:rPr lang="en-US" sz="2025" dirty="0">
                <a:solidFill>
                  <a:srgbClr val="3D3D3D"/>
                </a:solidFill>
                <a:latin typeface="Arial" pitchFamily="34" charset="0"/>
                <a:ea typeface="Arial" pitchFamily="34" charset="-122"/>
                <a:cs typeface="Arial" pitchFamily="34" charset="-120"/>
              </a:rPr>
              <a:t>Add billing · copy the key now</a:t>
            </a:r>
            <a:endParaRPr lang="en-US" sz="2025" dirty="0"/>
          </a:p>
        </p:txBody>
      </p:sp>
      <p:sp>
        <p:nvSpPr>
          <p:cNvPr id="17" name="Text 15"/>
          <p:cNvSpPr/>
          <p:nvPr/>
        </p:nvSpPr>
        <p:spPr>
          <a:xfrm>
            <a:off x="1047750" y="9039225"/>
            <a:ext cx="1781175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D64545"/>
                </a:solidFill>
                <a:latin typeface="Georgia" pitchFamily="34" charset="0"/>
                <a:ea typeface="Georgia" pitchFamily="34" charset="-122"/>
                <a:cs typeface="Georgia" pitchFamily="34" charset="-120"/>
              </a:rPr>
              <a:t>You can only see a key </a:t>
            </a:r>
            <a:pPr algn="l" indent="0" marL="0">
              <a:buNone/>
            </a:pPr>
            <a:r>
              <a:rPr lang="en-US" sz="2025" dirty="0">
                <a:solidFill>
                  <a:srgbClr val="1A1A1A"/>
                </a:solidFill>
                <a:highlight>
                  <a:srgbClr val="FFF1A8"/>
                </a:highlight>
                <a:latin typeface="Georgia" pitchFamily="34" charset="0"/>
                <a:ea typeface="Georgia" pitchFamily="34" charset="-122"/>
                <a:cs typeface="Georgia" pitchFamily="34" charset="-120"/>
              </a:rPr>
              <a:t>once </a:t>
            </a:r>
            <a:pPr algn="l" indent="0" marL="0">
              <a:buNone/>
            </a:pPr>
            <a:r>
              <a:rPr lang="en-US" sz="2025" dirty="0">
                <a:solidFill>
                  <a:srgbClr val="D64545"/>
                </a:solidFill>
                <a:latin typeface="Georgia" pitchFamily="34" charset="0"/>
                <a:ea typeface="Georgia" pitchFamily="34" charset="-122"/>
                <a:cs typeface="Georgia" pitchFamily="34" charset="-120"/>
              </a:rPr>
              <a:t>— copy it the moment you create it.</a:t>
            </a:r>
            <a:endParaRPr lang="en-US" sz="2025" dirty="0"/>
          </a:p>
        </p:txBody>
      </p:sp>
      <p:sp>
        <p:nvSpPr>
          <p:cNvPr id="18" name="Shape 16"/>
          <p:cNvSpPr/>
          <p:nvPr/>
        </p:nvSpPr>
        <p:spPr>
          <a:xfrm>
            <a:off x="1047750" y="9520238"/>
            <a:ext cx="16192500" cy="9525"/>
          </a:xfrm>
          <a:prstGeom prst="rect">
            <a:avLst/>
          </a:prstGeom>
          <a:solidFill>
            <a:srgbClr val="E3E1DA"/>
          </a:solidFill>
          <a:ln/>
        </p:spPr>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D64545"/>
          </a:solidFill>
          <a:ln/>
        </p:spPr>
      </p:sp>
      <p:sp>
        <p:nvSpPr>
          <p:cNvPr id="3" name="Text 1"/>
          <p:cNvSpPr/>
          <p:nvPr/>
        </p:nvSpPr>
        <p:spPr>
          <a:xfrm>
            <a:off x="1304925" y="800100"/>
            <a:ext cx="99841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Keep Your Key Safe</a:t>
            </a:r>
            <a:endParaRPr lang="en-US" sz="4800" dirty="0"/>
          </a:p>
        </p:txBody>
      </p:sp>
      <p:sp>
        <p:nvSpPr>
          <p:cNvPr id="5" name="Shape 3"/>
          <p:cNvSpPr/>
          <p:nvPr/>
        </p:nvSpPr>
        <p:spPr>
          <a:xfrm>
            <a:off x="1047750" y="4016946"/>
            <a:ext cx="7820025" cy="1579215"/>
          </a:xfrm>
          <a:prstGeom prst="roundRect">
            <a:avLst>
              <a:gd name="adj" fmla="val 8444"/>
            </a:avLst>
          </a:prstGeom>
          <a:solidFill>
            <a:srgbClr val="FBEBEA"/>
          </a:solidFill>
          <a:ln w="9525">
            <a:solidFill>
              <a:srgbClr val="D64545"/>
            </a:solidFill>
            <a:prstDash val="solid"/>
          </a:ln>
        </p:spPr>
      </p:sp>
      <p:sp>
        <p:nvSpPr>
          <p:cNvPr id="6" name="Text 4"/>
          <p:cNvSpPr/>
          <p:nvPr/>
        </p:nvSpPr>
        <p:spPr>
          <a:xfrm>
            <a:off x="1323975" y="4255071"/>
            <a:ext cx="7994333"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64545"/>
                </a:solidFill>
                <a:latin typeface="Arial" pitchFamily="34" charset="0"/>
                <a:ea typeface="Arial" pitchFamily="34" charset="-122"/>
                <a:cs typeface="Arial" pitchFamily="34" charset="-120"/>
              </a:rPr>
              <a:t>DON’T</a:t>
            </a:r>
            <a:endParaRPr lang="en-US" sz="1800" dirty="0"/>
          </a:p>
        </p:txBody>
      </p:sp>
      <p:sp>
        <p:nvSpPr>
          <p:cNvPr id="7" name="Text 5"/>
          <p:cNvSpPr/>
          <p:nvPr/>
        </p:nvSpPr>
        <p:spPr>
          <a:xfrm>
            <a:off x="1323975" y="4612258"/>
            <a:ext cx="7485602" cy="783878"/>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Hardcode it in source, or commit it to git. Keys get scraped and billed within minutes.</a:t>
            </a:r>
            <a:endParaRPr lang="en-US" sz="2025" dirty="0"/>
          </a:p>
        </p:txBody>
      </p:sp>
      <p:sp>
        <p:nvSpPr>
          <p:cNvPr id="8" name="Shape 6"/>
          <p:cNvSpPr/>
          <p:nvPr/>
        </p:nvSpPr>
        <p:spPr>
          <a:xfrm>
            <a:off x="1047750" y="5786661"/>
            <a:ext cx="7820025" cy="1626840"/>
          </a:xfrm>
          <a:prstGeom prst="roundRect">
            <a:avLst>
              <a:gd name="adj" fmla="val 8197"/>
            </a:avLst>
          </a:prstGeom>
          <a:solidFill>
            <a:srgbClr val="E4F4EB"/>
          </a:solidFill>
          <a:ln w="9525">
            <a:solidFill>
              <a:srgbClr val="178A4C"/>
            </a:solidFill>
            <a:prstDash val="solid"/>
          </a:ln>
        </p:spPr>
      </p:sp>
      <p:sp>
        <p:nvSpPr>
          <p:cNvPr id="9" name="Text 7"/>
          <p:cNvSpPr/>
          <p:nvPr/>
        </p:nvSpPr>
        <p:spPr>
          <a:xfrm>
            <a:off x="1323975" y="6024786"/>
            <a:ext cx="7994333"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178A4C"/>
                </a:solidFill>
                <a:latin typeface="Arial" pitchFamily="34" charset="0"/>
                <a:ea typeface="Arial" pitchFamily="34" charset="-122"/>
                <a:cs typeface="Arial" pitchFamily="34" charset="-120"/>
              </a:rPr>
              <a:t>DO</a:t>
            </a:r>
            <a:endParaRPr lang="en-US" sz="1800" dirty="0"/>
          </a:p>
        </p:txBody>
      </p:sp>
      <p:sp>
        <p:nvSpPr>
          <p:cNvPr id="10" name="Text 8"/>
          <p:cNvSpPr/>
          <p:nvPr/>
        </p:nvSpPr>
        <p:spPr>
          <a:xfrm>
            <a:off x="1323975" y="6381973"/>
            <a:ext cx="7485602" cy="831503"/>
          </a:xfrm>
          <a:prstGeom prst="rect">
            <a:avLst/>
          </a:prstGeom>
          <a:noFill/>
          <a:ln/>
        </p:spPr>
        <p:txBody>
          <a:bodyPr wrap="square" lIns="25400" tIns="25400" rIns="25400" bIns="25400" rtlCol="0" anchor="t">
            <a:normAutofit/>
          </a:bodyPr>
          <a:lstStyle/>
          <a:p>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Store it in an env var or </a:t>
            </a:r>
            <a:pPr algn="l" indent="0" marL="0">
              <a:lnSpc>
                <a:spcPct val="126290"/>
              </a:lnSpc>
              <a:buNone/>
            </a:pPr>
            <a:r>
              <a:rPr lang="en-US" sz="2025" dirty="0">
                <a:solidFill>
                  <a:srgbClr val="3D3D3D"/>
                </a:solidFill>
                <a:latin typeface="Courier New" pitchFamily="34" charset="0"/>
                <a:ea typeface="Courier New" pitchFamily="34" charset="-122"/>
                <a:cs typeface="Courier New" pitchFamily="34" charset="-120"/>
              </a:rPr>
              <a:t>.env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file — and add </a:t>
            </a:r>
            <a:pPr algn="l" indent="0" marL="0">
              <a:lnSpc>
                <a:spcPct val="126290"/>
              </a:lnSpc>
              <a:buNone/>
            </a:pPr>
            <a:r>
              <a:rPr lang="en-US" sz="2025" dirty="0">
                <a:solidFill>
                  <a:srgbClr val="3D3D3D"/>
                </a:solidFill>
                <a:latin typeface="Courier New" pitchFamily="34" charset="0"/>
                <a:ea typeface="Courier New" pitchFamily="34" charset="-122"/>
                <a:cs typeface="Courier New" pitchFamily="34" charset="-120"/>
              </a:rPr>
              <a:t>.env </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to </a:t>
            </a:r>
            <a:pPr algn="l" indent="0" marL="0">
              <a:lnSpc>
                <a:spcPct val="126290"/>
              </a:lnSpc>
              <a:buNone/>
            </a:pPr>
            <a:r>
              <a:rPr lang="en-US" sz="2025" dirty="0">
                <a:solidFill>
                  <a:srgbClr val="3D3D3D"/>
                </a:solidFill>
                <a:latin typeface="Courier New" pitchFamily="34" charset="0"/>
                <a:ea typeface="Courier New" pitchFamily="34" charset="-122"/>
                <a:cs typeface="Courier New" pitchFamily="34" charset="-120"/>
              </a:rPr>
              <a:t>.gitignore</a:t>
            </a:r>
            <a:pPr algn="l" indent="0" marL="0">
              <a:lnSpc>
                <a:spcPct val="126290"/>
              </a:lnSpc>
              <a:buNone/>
            </a:pPr>
            <a:r>
              <a:rPr lang="en-US" sz="2025" dirty="0">
                <a:solidFill>
                  <a:srgbClr val="3D3D3D"/>
                </a:solidFill>
                <a:latin typeface="Arial" pitchFamily="34" charset="0"/>
                <a:ea typeface="Arial" pitchFamily="34" charset="-122"/>
                <a:cs typeface="Arial" pitchFamily="34" charset="-120"/>
              </a:rPr>
              <a:t>.</a:t>
            </a:r>
            <a:endParaRPr lang="en-US" sz="2025" dirty="0"/>
          </a:p>
        </p:txBody>
      </p:sp>
      <p:sp>
        <p:nvSpPr>
          <p:cNvPr id="11" name="Shape 9"/>
          <p:cNvSpPr/>
          <p:nvPr/>
        </p:nvSpPr>
        <p:spPr>
          <a:xfrm>
            <a:off x="9401175" y="3525515"/>
            <a:ext cx="7839075" cy="4379491"/>
          </a:xfrm>
          <a:prstGeom prst="roundRect">
            <a:avLst>
              <a:gd name="adj" fmla="val 3045"/>
            </a:avLst>
          </a:prstGeom>
          <a:solidFill>
            <a:srgbClr val="F8F7F3"/>
          </a:solidFill>
          <a:ln w="9525">
            <a:solidFill>
              <a:srgbClr val="E3E1DA"/>
            </a:solidFill>
            <a:prstDash val="solid"/>
          </a:ln>
        </p:spPr>
      </p:sp>
      <p:sp>
        <p:nvSpPr>
          <p:cNvPr id="12" name="Shape 10"/>
          <p:cNvSpPr/>
          <p:nvPr/>
        </p:nvSpPr>
        <p:spPr>
          <a:xfrm>
            <a:off x="9410700" y="4130353"/>
            <a:ext cx="7820025" cy="9525"/>
          </a:xfrm>
          <a:prstGeom prst="rect">
            <a:avLst/>
          </a:prstGeom>
          <a:solidFill>
            <a:srgbClr val="E3E1DA"/>
          </a:solidFill>
          <a:ln/>
        </p:spPr>
      </p:sp>
      <p:sp>
        <p:nvSpPr>
          <p:cNvPr id="13" name="Text 11"/>
          <p:cNvSpPr/>
          <p:nvPr/>
        </p:nvSpPr>
        <p:spPr>
          <a:xfrm>
            <a:off x="9639300" y="3687440"/>
            <a:ext cx="7597426" cy="328613"/>
          </a:xfrm>
          <a:prstGeom prst="rect">
            <a:avLst/>
          </a:prstGeom>
          <a:noFill/>
          <a:ln/>
        </p:spPr>
        <p:txBody>
          <a:bodyPr wrap="square" lIns="25400" tIns="25400" rIns="25400" bIns="25400" rtlCol="0" anchor="t">
            <a:normAutofit/>
          </a:bodyPr>
          <a:lstStyle/>
          <a:p>
            <a:pPr algn="l" indent="0" marL="0">
              <a:buNone/>
            </a:pPr>
            <a:r>
              <a:rPr lang="en-US" sz="2025" dirty="0">
                <a:solidFill>
                  <a:srgbClr val="7C7A73"/>
                </a:solidFill>
                <a:latin typeface="Courier New" pitchFamily="34" charset="0"/>
                <a:ea typeface="Courier New" pitchFamily="34" charset="-122"/>
                <a:cs typeface="Courier New" pitchFamily="34" charset="-120"/>
              </a:rPr>
              <a:t># .env (never commit)</a:t>
            </a:r>
            <a:endParaRPr lang="en-US" sz="2025" dirty="0"/>
          </a:p>
        </p:txBody>
      </p:sp>
      <p:sp>
        <p:nvSpPr>
          <p:cNvPr id="14" name="Text 12"/>
          <p:cNvSpPr/>
          <p:nvPr/>
        </p:nvSpPr>
        <p:spPr>
          <a:xfrm>
            <a:off x="9639300" y="4311328"/>
            <a:ext cx="7597426" cy="912465"/>
          </a:xfrm>
          <a:prstGeom prst="rect">
            <a:avLst/>
          </a:prstGeom>
          <a:noFill/>
          <a:ln/>
        </p:spPr>
        <p:txBody>
          <a:bodyPr wrap="square" lIns="25400" tIns="25400" rIns="25400" bIns="25400" rtlCol="0" anchor="t">
            <a:normAutofit/>
          </a:bodyPr>
          <a:lstStyle/>
          <a:p>
            <a:pPr algn="l" indent="0" marL="0">
              <a:lnSpc>
                <a:spcPct val="150492"/>
              </a:lnSpc>
              <a:buNone/>
            </a:pPr>
            <a:r>
              <a:rPr lang="en-US" sz="2025" dirty="0">
                <a:solidFill>
                  <a:srgbClr val="3D3D3D"/>
                </a:solidFill>
                <a:latin typeface="Courier New" pitchFamily="34" charset="0"/>
                <a:ea typeface="Courier New" pitchFamily="34" charset="-122"/>
                <a:cs typeface="Courier New" pitchFamily="34" charset="-120"/>
              </a:rPr>
              <a:t>OPENAI_API_KEY=</a:t>
            </a:r>
            <a:pPr algn="l" indent="0" marL="0">
              <a:lnSpc>
                <a:spcPct val="150492"/>
              </a:lnSpc>
              <a:buNone/>
            </a:pPr>
            <a:r>
              <a:rPr lang="en-US" sz="2025" dirty="0">
                <a:solidFill>
                  <a:srgbClr val="7C7A73"/>
                </a:solidFill>
                <a:latin typeface="Courier New" pitchFamily="34" charset="0"/>
                <a:ea typeface="Courier New" pitchFamily="34" charset="-122"/>
                <a:cs typeface="Courier New" pitchFamily="34" charset="-120"/>
              </a:rPr>
              <a:t>sk-… </a:t>
            </a:r>
            <a:pPr algn="l" indent="0" marL="0">
              <a:lnSpc>
                <a:spcPct val="150492"/>
              </a:lnSpc>
              <a:buNone/>
            </a:pPr>
            <a:r>
              <a:rPr lang="en-US" sz="2025" dirty="0">
                <a:solidFill>
                  <a:srgbClr val="3D3D3D"/>
                </a:solidFill>
                <a:latin typeface="Courier New" pitchFamily="34" charset="0"/>
                <a:ea typeface="Courier New" pitchFamily="34" charset="-122"/>
                <a:cs typeface="Courier New" pitchFamily="34" charset="-120"/>
              </a:rPr>
              <a:t>ANTHROPIC_API_KEY=</a:t>
            </a:r>
            <a:pPr algn="l" indent="0" marL="0">
              <a:lnSpc>
                <a:spcPct val="150492"/>
              </a:lnSpc>
              <a:buNone/>
            </a:pPr>
            <a:r>
              <a:rPr lang="en-US" sz="2025" dirty="0">
                <a:solidFill>
                  <a:srgbClr val="7C7A73"/>
                </a:solidFill>
                <a:latin typeface="Courier New" pitchFamily="34" charset="0"/>
                <a:ea typeface="Courier New" pitchFamily="34" charset="-122"/>
                <a:cs typeface="Courier New" pitchFamily="34" charset="-120"/>
              </a:rPr>
              <a:t>sk-ant-…</a:t>
            </a:r>
            <a:endParaRPr lang="en-US" sz="2025" dirty="0"/>
          </a:p>
        </p:txBody>
      </p:sp>
      <p:sp>
        <p:nvSpPr>
          <p:cNvPr id="15" name="Shape 13"/>
          <p:cNvSpPr/>
          <p:nvPr/>
        </p:nvSpPr>
        <p:spPr>
          <a:xfrm>
            <a:off x="9410700" y="5357143"/>
            <a:ext cx="7820025" cy="2538338"/>
          </a:xfrm>
          <a:prstGeom prst="rect">
            <a:avLst/>
          </a:prstGeom>
          <a:solidFill>
            <a:srgbClr val="FFFFFF"/>
          </a:solidFill>
          <a:ln/>
        </p:spPr>
      </p:sp>
      <p:sp>
        <p:nvSpPr>
          <p:cNvPr id="16" name="Shape 14"/>
          <p:cNvSpPr/>
          <p:nvPr/>
        </p:nvSpPr>
        <p:spPr>
          <a:xfrm>
            <a:off x="9410700" y="5357143"/>
            <a:ext cx="7820025" cy="9525"/>
          </a:xfrm>
          <a:prstGeom prst="rect">
            <a:avLst/>
          </a:prstGeom>
          <a:solidFill>
            <a:srgbClr val="E3E1DA"/>
          </a:solidFill>
          <a:ln/>
        </p:spPr>
      </p:sp>
      <p:sp>
        <p:nvSpPr>
          <p:cNvPr id="17" name="Text 15"/>
          <p:cNvSpPr/>
          <p:nvPr/>
        </p:nvSpPr>
        <p:spPr>
          <a:xfrm>
            <a:off x="9639300" y="5538118"/>
            <a:ext cx="7597426" cy="2224013"/>
          </a:xfrm>
          <a:prstGeom prst="rect">
            <a:avLst/>
          </a:prstGeom>
          <a:noFill/>
          <a:ln/>
        </p:spPr>
        <p:txBody>
          <a:bodyPr wrap="square" lIns="25400" tIns="25400" rIns="25400" bIns="25400" rtlCol="0" anchor="t">
            <a:normAutofit/>
          </a:bodyPr>
          <a:lstStyle/>
          <a:p>
            <a:pPr algn="l" indent="0" marL="0">
              <a:lnSpc>
                <a:spcPct val="150492"/>
              </a:lnSpc>
              <a:buNone/>
            </a:pPr>
            <a:r>
              <a:rPr lang="en-US" sz="2025" dirty="0">
                <a:solidFill>
                  <a:srgbClr val="1F6FEB"/>
                </a:solidFill>
                <a:latin typeface="Courier New" pitchFamily="34" charset="0"/>
                <a:ea typeface="Courier New" pitchFamily="34" charset="-122"/>
                <a:cs typeface="Courier New" pitchFamily="34" charset="-120"/>
              </a:rPr>
              <a:t>import </a:t>
            </a:r>
            <a:pPr algn="l" indent="0" marL="0">
              <a:lnSpc>
                <a:spcPct val="150492"/>
              </a:lnSpc>
              <a:buNone/>
            </a:pPr>
            <a:r>
              <a:rPr lang="en-US" sz="2025" dirty="0">
                <a:solidFill>
                  <a:srgbClr val="1A1A1A"/>
                </a:solidFill>
                <a:highlight>
                  <a:srgbClr val="FFFFFF"/>
                </a:highlight>
                <a:latin typeface="Courier New" pitchFamily="34" charset="0"/>
                <a:ea typeface="Courier New" pitchFamily="34" charset="-122"/>
                <a:cs typeface="Courier New" pitchFamily="34" charset="-120"/>
              </a:rPr>
              <a:t>os </a:t>
            </a:r>
            <a:pPr algn="l" indent="0" marL="0">
              <a:lnSpc>
                <a:spcPct val="150492"/>
              </a:lnSpc>
              <a:buNone/>
            </a:pPr>
            <a:r>
              <a:rPr lang="en-US" sz="2025" dirty="0">
                <a:solidFill>
                  <a:srgbClr val="1F6FEB"/>
                </a:solidFill>
                <a:latin typeface="Courier New" pitchFamily="34" charset="0"/>
                <a:ea typeface="Courier New" pitchFamily="34" charset="-122"/>
                <a:cs typeface="Courier New" pitchFamily="34" charset="-120"/>
              </a:rPr>
              <a:t>from </a:t>
            </a:r>
            <a:pPr algn="l" indent="0" marL="0">
              <a:lnSpc>
                <a:spcPct val="150492"/>
              </a:lnSpc>
              <a:buNone/>
            </a:pPr>
            <a:r>
              <a:rPr lang="en-US" sz="2025" dirty="0">
                <a:solidFill>
                  <a:srgbClr val="1A1A1A"/>
                </a:solidFill>
                <a:highlight>
                  <a:srgbClr val="FFFFFF"/>
                </a:highlight>
                <a:latin typeface="Courier New" pitchFamily="34" charset="0"/>
                <a:ea typeface="Courier New" pitchFamily="34" charset="-122"/>
                <a:cs typeface="Courier New" pitchFamily="34" charset="-120"/>
              </a:rPr>
              <a:t>dotenv </a:t>
            </a:r>
            <a:pPr algn="l" indent="0" marL="0">
              <a:lnSpc>
                <a:spcPct val="150492"/>
              </a:lnSpc>
              <a:buNone/>
            </a:pPr>
            <a:r>
              <a:rPr lang="en-US" sz="2025" dirty="0">
                <a:solidFill>
                  <a:srgbClr val="1F6FEB"/>
                </a:solidFill>
                <a:latin typeface="Courier New" pitchFamily="34" charset="0"/>
                <a:ea typeface="Courier New" pitchFamily="34" charset="-122"/>
                <a:cs typeface="Courier New" pitchFamily="34" charset="-120"/>
              </a:rPr>
              <a:t>import </a:t>
            </a:r>
            <a:pPr algn="l" indent="0" marL="0">
              <a:lnSpc>
                <a:spcPct val="150492"/>
              </a:lnSpc>
              <a:buNone/>
            </a:pPr>
            <a:r>
              <a:rPr lang="en-US" sz="2025" dirty="0">
                <a:solidFill>
                  <a:srgbClr val="1A1A1A"/>
                </a:solidFill>
                <a:highlight>
                  <a:srgbClr val="FFFFFF"/>
                </a:highlight>
                <a:latin typeface="Courier New" pitchFamily="34" charset="0"/>
                <a:ea typeface="Courier New" pitchFamily="34" charset="-122"/>
                <a:cs typeface="Courier New" pitchFamily="34" charset="-120"/>
              </a:rPr>
              <a:t>load_dotenv load_dotenv() </a:t>
            </a:r>
            <a:pPr algn="l" indent="0" marL="0">
              <a:lnSpc>
                <a:spcPct val="150492"/>
              </a:lnSpc>
              <a:buNone/>
            </a:pPr>
            <a:r>
              <a:rPr lang="en-US" sz="2025" dirty="0">
                <a:solidFill>
                  <a:srgbClr val="7C7A73"/>
                </a:solidFill>
                <a:latin typeface="Courier New" pitchFamily="34" charset="0"/>
                <a:ea typeface="Courier New" pitchFamily="34" charset="-122"/>
                <a:cs typeface="Courier New" pitchFamily="34" charset="-120"/>
              </a:rPr>
              <a:t># reads the .env file </a:t>
            </a:r>
            <a:pPr algn="l" indent="0" marL="0">
              <a:lnSpc>
                <a:spcPct val="150492"/>
              </a:lnSpc>
              <a:buNone/>
            </a:pPr>
            <a:r>
              <a:rPr lang="en-US" sz="2025" dirty="0">
                <a:solidFill>
                  <a:srgbClr val="1A1A1A"/>
                </a:solidFill>
                <a:highlight>
                  <a:srgbClr val="FFFFFF"/>
                </a:highlight>
                <a:latin typeface="Courier New" pitchFamily="34" charset="0"/>
                <a:ea typeface="Courier New" pitchFamily="34" charset="-122"/>
                <a:cs typeface="Courier New" pitchFamily="34" charset="-120"/>
              </a:rPr>
              <a:t>key = os.environ[</a:t>
            </a:r>
            <a:pPr algn="l" indent="0" marL="0">
              <a:lnSpc>
                <a:spcPct val="150492"/>
              </a:lnSpc>
              <a:buNone/>
            </a:pPr>
            <a:r>
              <a:rPr lang="en-US" sz="2025" dirty="0">
                <a:solidFill>
                  <a:srgbClr val="178A4C"/>
                </a:solidFill>
                <a:latin typeface="Courier New" pitchFamily="34" charset="0"/>
                <a:ea typeface="Courier New" pitchFamily="34" charset="-122"/>
                <a:cs typeface="Courier New" pitchFamily="34" charset="-120"/>
              </a:rPr>
              <a:t>"OPENAI_API_KEY"</a:t>
            </a:r>
            <a:pPr algn="l" indent="0" marL="0">
              <a:lnSpc>
                <a:spcPct val="150492"/>
              </a:lnSpc>
              <a:buNone/>
            </a:pPr>
            <a:r>
              <a:rPr lang="en-US" sz="2025" dirty="0">
                <a:solidFill>
                  <a:srgbClr val="1A1A1A"/>
                </a:solidFill>
                <a:highlight>
                  <a:srgbClr val="FFFFFF"/>
                </a:highlight>
                <a:latin typeface="Courier New" pitchFamily="34" charset="0"/>
                <a:ea typeface="Courier New" pitchFamily="34" charset="-122"/>
                <a:cs typeface="Courier New" pitchFamily="34" charset="-120"/>
              </a:rPr>
              <a:t>]</a:t>
            </a:r>
            <a:endParaRPr lang="en-US" sz="2025" dirty="0"/>
          </a:p>
        </p:txBody>
      </p:sp>
      <p:sp>
        <p:nvSpPr>
          <p:cNvPr id="18" name="Shape 16"/>
          <p:cNvSpPr/>
          <p:nvPr/>
        </p:nvSpPr>
        <p:spPr>
          <a:xfrm>
            <a:off x="1047750" y="9520238"/>
            <a:ext cx="16192500" cy="9525"/>
          </a:xfrm>
          <a:prstGeom prst="rect">
            <a:avLst/>
          </a:prstGeom>
          <a:solidFill>
            <a:srgbClr val="E3E1DA"/>
          </a:solidFill>
          <a:ln/>
        </p:spPr>
      </p:sp>
      <p:sp>
        <p:nvSpPr>
          <p:cNvPr id="19" name="Text 17"/>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0" name="Text 18"/>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sp>
      <p:sp>
        <p:nvSpPr>
          <p:cNvPr id="3" name="Text 1"/>
          <p:cNvSpPr/>
          <p:nvPr/>
        </p:nvSpPr>
        <p:spPr>
          <a:xfrm>
            <a:off x="1304925" y="800100"/>
            <a:ext cx="99841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Install &amp; Import</a:t>
            </a:r>
            <a:endParaRPr lang="en-US" sz="4800" dirty="0"/>
          </a:p>
        </p:txBody>
      </p:sp>
      <p:sp>
        <p:nvSpPr>
          <p:cNvPr id="5" name="Shape 3"/>
          <p:cNvSpPr/>
          <p:nvPr/>
        </p:nvSpPr>
        <p:spPr>
          <a:xfrm>
            <a:off x="1047750" y="3536454"/>
            <a:ext cx="14287500" cy="1980158"/>
          </a:xfrm>
          <a:prstGeom prst="roundRect">
            <a:avLst>
              <a:gd name="adj" fmla="val 6734"/>
            </a:avLst>
          </a:prstGeom>
          <a:solidFill>
            <a:srgbClr val="F8F7F3"/>
          </a:solidFill>
          <a:ln w="9525">
            <a:solidFill>
              <a:srgbClr val="E3E1DA"/>
            </a:solidFill>
            <a:prstDash val="solid"/>
          </a:ln>
        </p:spPr>
      </p:sp>
      <p:sp>
        <p:nvSpPr>
          <p:cNvPr id="6" name="Text 4"/>
          <p:cNvSpPr/>
          <p:nvPr/>
        </p:nvSpPr>
        <p:spPr>
          <a:xfrm>
            <a:off x="1343025" y="3793629"/>
            <a:ext cx="14107859" cy="526703"/>
          </a:xfrm>
          <a:prstGeom prst="rect">
            <a:avLst/>
          </a:prstGeom>
          <a:noFill/>
          <a:ln/>
        </p:spPr>
        <p:txBody>
          <a:bodyPr wrap="square" lIns="25400" tIns="25400" rIns="25400" bIns="25400" rtlCol="0" anchor="t">
            <a:normAutofit/>
          </a:bodyPr>
          <a:lstStyle/>
          <a:p>
            <a:pPr algn="l" indent="0" marL="0">
              <a:lnSpc>
                <a:spcPct val="168197"/>
              </a:lnSpc>
              <a:buNone/>
            </a:pPr>
            <a:r>
              <a:rPr lang="en-US" sz="2025" dirty="0">
                <a:solidFill>
                  <a:srgbClr val="7C7A73"/>
                </a:solidFill>
                <a:latin typeface="Courier New" pitchFamily="34" charset="0"/>
                <a:ea typeface="Courier New" pitchFamily="34" charset="-122"/>
                <a:cs typeface="Courier New" pitchFamily="34" charset="-120"/>
              </a:rPr>
              <a:t>$ </a:t>
            </a:r>
            <a:pPr algn="l" indent="0" marL="0">
              <a:lnSpc>
                <a:spcPct val="168197"/>
              </a:lnSpc>
              <a:buNone/>
            </a:pPr>
            <a:r>
              <a:rPr lang="en-US" sz="2025" dirty="0">
                <a:solidFill>
                  <a:srgbClr val="3D3D3D"/>
                </a:solidFill>
                <a:latin typeface="Courier New" pitchFamily="34" charset="0"/>
                <a:ea typeface="Courier New" pitchFamily="34" charset="-122"/>
                <a:cs typeface="Courier New" pitchFamily="34" charset="-120"/>
              </a:rPr>
              <a:t>python -m venv .venv</a:t>
            </a:r>
            <a:endParaRPr lang="en-US" sz="2025" dirty="0"/>
          </a:p>
        </p:txBody>
      </p:sp>
      <p:sp>
        <p:nvSpPr>
          <p:cNvPr id="7" name="Text 5"/>
          <p:cNvSpPr/>
          <p:nvPr/>
        </p:nvSpPr>
        <p:spPr>
          <a:xfrm>
            <a:off x="1343025" y="4282232"/>
            <a:ext cx="14107859" cy="526703"/>
          </a:xfrm>
          <a:prstGeom prst="rect">
            <a:avLst/>
          </a:prstGeom>
          <a:noFill/>
          <a:ln/>
        </p:spPr>
        <p:txBody>
          <a:bodyPr wrap="square" lIns="25400" tIns="25400" rIns="25400" bIns="25400" rtlCol="0" anchor="t">
            <a:normAutofit/>
          </a:bodyPr>
          <a:lstStyle/>
          <a:p>
            <a:pPr algn="l" indent="0" marL="0">
              <a:lnSpc>
                <a:spcPct val="168197"/>
              </a:lnSpc>
              <a:buNone/>
            </a:pPr>
            <a:r>
              <a:rPr lang="en-US" sz="2025" dirty="0">
                <a:solidFill>
                  <a:srgbClr val="7C7A73"/>
                </a:solidFill>
                <a:latin typeface="Courier New" pitchFamily="34" charset="0"/>
                <a:ea typeface="Courier New" pitchFamily="34" charset="-122"/>
                <a:cs typeface="Courier New" pitchFamily="34" charset="-120"/>
              </a:rPr>
              <a:t>$ </a:t>
            </a:r>
            <a:pPr algn="l" indent="0" marL="0">
              <a:lnSpc>
                <a:spcPct val="168197"/>
              </a:lnSpc>
              <a:buNone/>
            </a:pPr>
            <a:r>
              <a:rPr lang="en-US" sz="2025" dirty="0">
                <a:solidFill>
                  <a:srgbClr val="3D3D3D"/>
                </a:solidFill>
                <a:latin typeface="Courier New" pitchFamily="34" charset="0"/>
                <a:ea typeface="Courier New" pitchFamily="34" charset="-122"/>
                <a:cs typeface="Courier New" pitchFamily="34" charset="-120"/>
              </a:rPr>
              <a:t>source .venv/bin/activate </a:t>
            </a:r>
            <a:pPr algn="l" indent="0" marL="0">
              <a:lnSpc>
                <a:spcPct val="168197"/>
              </a:lnSpc>
              <a:buNone/>
            </a:pPr>
            <a:r>
              <a:rPr lang="en-US" sz="2025" dirty="0">
                <a:solidFill>
                  <a:srgbClr val="7C7A73"/>
                </a:solidFill>
                <a:latin typeface="Courier New" pitchFamily="34" charset="0"/>
                <a:ea typeface="Courier New" pitchFamily="34" charset="-122"/>
                <a:cs typeface="Courier New" pitchFamily="34" charset="-120"/>
              </a:rPr>
              <a:t># Windows: .venv\Scripts\activate</a:t>
            </a:r>
            <a:endParaRPr lang="en-US" sz="2025" dirty="0"/>
          </a:p>
        </p:txBody>
      </p:sp>
      <p:sp>
        <p:nvSpPr>
          <p:cNvPr id="8" name="Text 6"/>
          <p:cNvSpPr/>
          <p:nvPr/>
        </p:nvSpPr>
        <p:spPr>
          <a:xfrm>
            <a:off x="1343025" y="4770834"/>
            <a:ext cx="14107859" cy="526703"/>
          </a:xfrm>
          <a:prstGeom prst="rect">
            <a:avLst/>
          </a:prstGeom>
          <a:noFill/>
          <a:ln/>
        </p:spPr>
        <p:txBody>
          <a:bodyPr wrap="square" lIns="25400" tIns="25400" rIns="25400" bIns="25400" rtlCol="0" anchor="t">
            <a:normAutofit/>
          </a:bodyPr>
          <a:lstStyle/>
          <a:p>
            <a:pPr algn="l" indent="0" marL="0">
              <a:lnSpc>
                <a:spcPct val="168197"/>
              </a:lnSpc>
              <a:buNone/>
            </a:pPr>
            <a:r>
              <a:rPr lang="en-US" sz="2025" dirty="0">
                <a:solidFill>
                  <a:srgbClr val="7C7A73"/>
                </a:solidFill>
                <a:latin typeface="Courier New" pitchFamily="34" charset="0"/>
                <a:ea typeface="Courier New" pitchFamily="34" charset="-122"/>
                <a:cs typeface="Courier New" pitchFamily="34" charset="-120"/>
              </a:rPr>
              <a:t>$ </a:t>
            </a:r>
            <a:pPr algn="l" indent="0" marL="0">
              <a:lnSpc>
                <a:spcPct val="168197"/>
              </a:lnSpc>
              <a:buNone/>
            </a:pPr>
            <a:r>
              <a:rPr lang="en-US" sz="2025" dirty="0">
                <a:solidFill>
                  <a:srgbClr val="3D3D3D"/>
                </a:solidFill>
                <a:latin typeface="Courier New" pitchFamily="34" charset="0"/>
                <a:ea typeface="Courier New" pitchFamily="34" charset="-122"/>
                <a:cs typeface="Courier New" pitchFamily="34" charset="-120"/>
              </a:rPr>
              <a:t>pip install </a:t>
            </a:r>
            <a:pPr algn="l" indent="0" marL="0">
              <a:lnSpc>
                <a:spcPct val="168197"/>
              </a:lnSpc>
              <a:buNone/>
            </a:pPr>
            <a:r>
              <a:rPr lang="en-US" sz="2025" dirty="0">
                <a:solidFill>
                  <a:srgbClr val="1F6FEB"/>
                </a:solidFill>
                <a:latin typeface="Courier New" pitchFamily="34" charset="0"/>
                <a:ea typeface="Courier New" pitchFamily="34" charset="-122"/>
                <a:cs typeface="Courier New" pitchFamily="34" charset="-120"/>
              </a:rPr>
              <a:t>openai anthropic </a:t>
            </a:r>
            <a:pPr algn="l" indent="0" marL="0">
              <a:lnSpc>
                <a:spcPct val="168197"/>
              </a:lnSpc>
              <a:buNone/>
            </a:pPr>
            <a:r>
              <a:rPr lang="en-US" sz="2025" dirty="0">
                <a:solidFill>
                  <a:srgbClr val="3D3D3D"/>
                </a:solidFill>
                <a:latin typeface="Courier New" pitchFamily="34" charset="0"/>
                <a:ea typeface="Courier New" pitchFamily="34" charset="-122"/>
                <a:cs typeface="Courier New" pitchFamily="34" charset="-120"/>
              </a:rPr>
              <a:t>python-dotenv</a:t>
            </a:r>
            <a:endParaRPr lang="en-US" sz="2025" dirty="0"/>
          </a:p>
        </p:txBody>
      </p:sp>
      <p:sp>
        <p:nvSpPr>
          <p:cNvPr id="9" name="Shape 7"/>
          <p:cNvSpPr/>
          <p:nvPr/>
        </p:nvSpPr>
        <p:spPr>
          <a:xfrm>
            <a:off x="1047750" y="5764262"/>
            <a:ext cx="14287500" cy="1491555"/>
          </a:xfrm>
          <a:prstGeom prst="roundRect">
            <a:avLst>
              <a:gd name="adj" fmla="val 8940"/>
            </a:avLst>
          </a:prstGeom>
          <a:solidFill>
            <a:srgbClr val="FFFFFF"/>
          </a:solidFill>
          <a:ln w="9525">
            <a:solidFill>
              <a:srgbClr val="E3E1DA"/>
            </a:solidFill>
            <a:prstDash val="solid"/>
          </a:ln>
        </p:spPr>
      </p:sp>
      <p:sp>
        <p:nvSpPr>
          <p:cNvPr id="10" name="Text 8"/>
          <p:cNvSpPr/>
          <p:nvPr/>
        </p:nvSpPr>
        <p:spPr>
          <a:xfrm>
            <a:off x="1343025" y="6021437"/>
            <a:ext cx="14107859" cy="526703"/>
          </a:xfrm>
          <a:prstGeom prst="rect">
            <a:avLst/>
          </a:prstGeom>
          <a:noFill/>
          <a:ln/>
        </p:spPr>
        <p:txBody>
          <a:bodyPr wrap="square" lIns="25400" tIns="25400" rIns="25400" bIns="25400" rtlCol="0" anchor="t">
            <a:normAutofit/>
          </a:bodyPr>
          <a:lstStyle/>
          <a:p>
            <a:pPr algn="l" indent="0" marL="0">
              <a:lnSpc>
                <a:spcPct val="168197"/>
              </a:lnSpc>
              <a:buNone/>
            </a:pPr>
            <a:r>
              <a:rPr lang="en-US" sz="2025" dirty="0">
                <a:solidFill>
                  <a:srgbClr val="1F6FEB"/>
                </a:solidFill>
                <a:latin typeface="Courier New" pitchFamily="34" charset="0"/>
                <a:ea typeface="Courier New" pitchFamily="34" charset="-122"/>
                <a:cs typeface="Courier New" pitchFamily="34" charset="-120"/>
              </a:rPr>
              <a:t>from </a:t>
            </a:r>
            <a:pPr algn="l" indent="0" marL="0">
              <a:lnSpc>
                <a:spcPct val="168197"/>
              </a:lnSpc>
              <a:buNone/>
            </a:pPr>
            <a:r>
              <a:rPr lang="en-US" sz="2025" dirty="0">
                <a:solidFill>
                  <a:srgbClr val="1A1A1A"/>
                </a:solidFill>
                <a:latin typeface="Courier New" pitchFamily="34" charset="0"/>
                <a:ea typeface="Courier New" pitchFamily="34" charset="-122"/>
                <a:cs typeface="Courier New" pitchFamily="34" charset="-120"/>
              </a:rPr>
              <a:t>openai </a:t>
            </a:r>
            <a:pPr algn="l" indent="0" marL="0">
              <a:lnSpc>
                <a:spcPct val="168197"/>
              </a:lnSpc>
              <a:buNone/>
            </a:pPr>
            <a:r>
              <a:rPr lang="en-US" sz="2025" dirty="0">
                <a:solidFill>
                  <a:srgbClr val="1F6FEB"/>
                </a:solidFill>
                <a:latin typeface="Courier New" pitchFamily="34" charset="0"/>
                <a:ea typeface="Courier New" pitchFamily="34" charset="-122"/>
                <a:cs typeface="Courier New" pitchFamily="34" charset="-120"/>
              </a:rPr>
              <a:t>import </a:t>
            </a:r>
            <a:pPr algn="l" indent="0" marL="0">
              <a:lnSpc>
                <a:spcPct val="168197"/>
              </a:lnSpc>
              <a:buNone/>
            </a:pPr>
            <a:r>
              <a:rPr lang="en-US" sz="2025" dirty="0">
                <a:solidFill>
                  <a:srgbClr val="1A1A1A"/>
                </a:solidFill>
                <a:latin typeface="Courier New" pitchFamily="34" charset="0"/>
                <a:ea typeface="Courier New" pitchFamily="34" charset="-122"/>
                <a:cs typeface="Courier New" pitchFamily="34" charset="-120"/>
              </a:rPr>
              <a:t>OpenAI</a:t>
            </a:r>
            <a:endParaRPr lang="en-US" sz="2025" dirty="0"/>
          </a:p>
        </p:txBody>
      </p:sp>
      <p:sp>
        <p:nvSpPr>
          <p:cNvPr id="11" name="Text 9"/>
          <p:cNvSpPr/>
          <p:nvPr/>
        </p:nvSpPr>
        <p:spPr>
          <a:xfrm>
            <a:off x="1343025" y="6510040"/>
            <a:ext cx="14107859" cy="526703"/>
          </a:xfrm>
          <a:prstGeom prst="rect">
            <a:avLst/>
          </a:prstGeom>
          <a:noFill/>
          <a:ln/>
        </p:spPr>
        <p:txBody>
          <a:bodyPr wrap="square" lIns="25400" tIns="25400" rIns="25400" bIns="25400" rtlCol="0" anchor="t">
            <a:normAutofit/>
          </a:bodyPr>
          <a:lstStyle/>
          <a:p>
            <a:pPr algn="l" indent="0" marL="0">
              <a:lnSpc>
                <a:spcPct val="168197"/>
              </a:lnSpc>
              <a:buNone/>
            </a:pPr>
            <a:r>
              <a:rPr lang="en-US" sz="2025" dirty="0">
                <a:solidFill>
                  <a:srgbClr val="1F6FEB"/>
                </a:solidFill>
                <a:latin typeface="Courier New" pitchFamily="34" charset="0"/>
                <a:ea typeface="Courier New" pitchFamily="34" charset="-122"/>
                <a:cs typeface="Courier New" pitchFamily="34" charset="-120"/>
              </a:rPr>
              <a:t>from </a:t>
            </a:r>
            <a:pPr algn="l" indent="0" marL="0">
              <a:lnSpc>
                <a:spcPct val="168197"/>
              </a:lnSpc>
              <a:buNone/>
            </a:pPr>
            <a:r>
              <a:rPr lang="en-US" sz="2025" dirty="0">
                <a:solidFill>
                  <a:srgbClr val="1A1A1A"/>
                </a:solidFill>
                <a:latin typeface="Courier New" pitchFamily="34" charset="0"/>
                <a:ea typeface="Courier New" pitchFamily="34" charset="-122"/>
                <a:cs typeface="Courier New" pitchFamily="34" charset="-120"/>
              </a:rPr>
              <a:t>anthropic </a:t>
            </a:r>
            <a:pPr algn="l" indent="0" marL="0">
              <a:lnSpc>
                <a:spcPct val="168197"/>
              </a:lnSpc>
              <a:buNone/>
            </a:pPr>
            <a:r>
              <a:rPr lang="en-US" sz="2025" dirty="0">
                <a:solidFill>
                  <a:srgbClr val="1F6FEB"/>
                </a:solidFill>
                <a:latin typeface="Courier New" pitchFamily="34" charset="0"/>
                <a:ea typeface="Courier New" pitchFamily="34" charset="-122"/>
                <a:cs typeface="Courier New" pitchFamily="34" charset="-120"/>
              </a:rPr>
              <a:t>import </a:t>
            </a:r>
            <a:pPr algn="l" indent="0" marL="0">
              <a:lnSpc>
                <a:spcPct val="168197"/>
              </a:lnSpc>
              <a:buNone/>
            </a:pPr>
            <a:r>
              <a:rPr lang="en-US" sz="2025" dirty="0">
                <a:solidFill>
                  <a:srgbClr val="1A1A1A"/>
                </a:solidFill>
                <a:latin typeface="Courier New" pitchFamily="34" charset="0"/>
                <a:ea typeface="Courier New" pitchFamily="34" charset="-122"/>
                <a:cs typeface="Courier New" pitchFamily="34" charset="-120"/>
              </a:rPr>
              <a:t>Anthropic</a:t>
            </a:r>
            <a:endParaRPr lang="en-US" sz="2025" dirty="0"/>
          </a:p>
        </p:txBody>
      </p:sp>
      <p:sp>
        <p:nvSpPr>
          <p:cNvPr id="12" name="Text 10"/>
          <p:cNvSpPr/>
          <p:nvPr/>
        </p:nvSpPr>
        <p:spPr>
          <a:xfrm>
            <a:off x="1047750" y="7503468"/>
            <a:ext cx="1571625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Georgia" pitchFamily="34" charset="0"/>
                <a:ea typeface="Georgia" pitchFamily="34" charset="-122"/>
                <a:cs typeface="Georgia" pitchFamily="34" charset="-120"/>
              </a:rPr>
              <a:t>If these two imports run, your environment is </a:t>
            </a:r>
            <a:pPr algn="l" indent="0" marL="0">
              <a:buNone/>
            </a:pPr>
            <a:r>
              <a:rPr lang="en-US" sz="2700" dirty="0">
                <a:solidFill>
                  <a:srgbClr val="1A1A1A"/>
                </a:solidFill>
                <a:highlight>
                  <a:srgbClr val="FFF1A8"/>
                </a:highlight>
                <a:latin typeface="Georgia" pitchFamily="34" charset="0"/>
                <a:ea typeface="Georgia" pitchFamily="34" charset="-122"/>
                <a:cs typeface="Georgia" pitchFamily="34" charset="-120"/>
              </a:rPr>
              <a:t>ready</a:t>
            </a:r>
            <a:pPr algn="l" indent="0" marL="0">
              <a:buNone/>
            </a:pPr>
            <a:r>
              <a:rPr lang="en-US" sz="2700" dirty="0">
                <a:solidFill>
                  <a:srgbClr val="1A1A1A"/>
                </a:solidFill>
                <a:latin typeface="Georgia" pitchFamily="34" charset="0"/>
                <a:ea typeface="Georgia" pitchFamily="34" charset="-122"/>
                <a:cs typeface="Georgia" pitchFamily="34" charset="-120"/>
              </a:rPr>
              <a:t>.</a:t>
            </a:r>
            <a:endParaRPr lang="en-US" sz="2700" dirty="0"/>
          </a:p>
        </p:txBody>
      </p:sp>
      <p:sp>
        <p:nvSpPr>
          <p:cNvPr id="13" name="Shape 11"/>
          <p:cNvSpPr/>
          <p:nvPr/>
        </p:nvSpPr>
        <p:spPr>
          <a:xfrm>
            <a:off x="1047750" y="9520238"/>
            <a:ext cx="16192500" cy="9525"/>
          </a:xfrm>
          <a:prstGeom prst="rect">
            <a:avLst/>
          </a:prstGeom>
          <a:solidFill>
            <a:srgbClr val="E3E1DA"/>
          </a:solidFill>
          <a:ln/>
        </p:spPr>
      </p:sp>
      <p:sp>
        <p:nvSpPr>
          <p:cNvPr id="14" name="Text 12"/>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15" name="Text 13"/>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F6FEB"/>
          </a:solidFill>
          <a:ln/>
        </p:spPr>
      </p:sp>
      <p:sp>
        <p:nvSpPr>
          <p:cNvPr id="3" name="Text 1"/>
          <p:cNvSpPr/>
          <p:nvPr/>
        </p:nvSpPr>
        <p:spPr>
          <a:xfrm>
            <a:off x="1304925" y="800100"/>
            <a:ext cx="998413"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Choosing a Model</a:t>
            </a:r>
            <a:endParaRPr lang="en-US" sz="4800" dirty="0"/>
          </a:p>
        </p:txBody>
      </p:sp>
      <p:sp>
        <p:nvSpPr>
          <p:cNvPr id="5" name="Text 3"/>
          <p:cNvSpPr/>
          <p:nvPr/>
        </p:nvSpPr>
        <p:spPr>
          <a:xfrm>
            <a:off x="1047750" y="4279329"/>
            <a:ext cx="1781175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Don’t memorize names — learn the </a:t>
            </a:r>
            <a:pPr algn="l" indent="0" marL="0">
              <a:buNone/>
            </a:pPr>
            <a:r>
              <a:rPr lang="en-US" sz="2700" b="1" dirty="0">
                <a:solidFill>
                  <a:srgbClr val="1A1A1A"/>
                </a:solidFill>
                <a:latin typeface="Arial" pitchFamily="34" charset="0"/>
                <a:ea typeface="Arial" pitchFamily="34" charset="-122"/>
                <a:cs typeface="Arial" pitchFamily="34" charset="-120"/>
              </a:rPr>
              <a:t>ladder</a:t>
            </a:r>
            <a:pPr algn="l" indent="0" marL="0">
              <a:buNone/>
            </a:pPr>
            <a:r>
              <a:rPr lang="en-US" sz="2700" dirty="0">
                <a:solidFill>
                  <a:srgbClr val="3D3D3D"/>
                </a:solidFill>
                <a:latin typeface="Arial" pitchFamily="34" charset="0"/>
                <a:ea typeface="Arial" pitchFamily="34" charset="-122"/>
                <a:cs typeface="Arial" pitchFamily="34" charset="-120"/>
              </a:rPr>
              <a:t>. Each provider has one:</a:t>
            </a:r>
            <a:endParaRPr lang="en-US" sz="2700" dirty="0"/>
          </a:p>
        </p:txBody>
      </p:sp>
      <p:sp>
        <p:nvSpPr>
          <p:cNvPr id="6" name="Shape 4"/>
          <p:cNvSpPr/>
          <p:nvPr/>
        </p:nvSpPr>
        <p:spPr>
          <a:xfrm>
            <a:off x="1047750" y="4936554"/>
            <a:ext cx="5257800" cy="1671638"/>
          </a:xfrm>
          <a:prstGeom prst="roundRect">
            <a:avLst>
              <a:gd name="adj" fmla="val 9117"/>
            </a:avLst>
          </a:prstGeom>
          <a:solidFill>
            <a:srgbClr val="E4F4EB"/>
          </a:solidFill>
          <a:ln w="19050">
            <a:solidFill>
              <a:srgbClr val="178A4C"/>
            </a:solidFill>
            <a:prstDash val="solid"/>
          </a:ln>
        </p:spPr>
      </p:sp>
      <p:sp>
        <p:nvSpPr>
          <p:cNvPr id="7" name="Text 5"/>
          <p:cNvSpPr/>
          <p:nvPr/>
        </p:nvSpPr>
        <p:spPr>
          <a:xfrm>
            <a:off x="1371600" y="5241354"/>
            <a:ext cx="507111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178A4C"/>
                </a:solidFill>
                <a:latin typeface="Arial" pitchFamily="34" charset="0"/>
                <a:ea typeface="Arial" pitchFamily="34" charset="-122"/>
                <a:cs typeface="Arial" pitchFamily="34" charset="-120"/>
              </a:rPr>
              <a:t>SMALL &amp; FAST</a:t>
            </a:r>
            <a:endParaRPr lang="en-US" sz="1800" dirty="0"/>
          </a:p>
        </p:txBody>
      </p:sp>
      <p:sp>
        <p:nvSpPr>
          <p:cNvPr id="8" name="Text 6"/>
          <p:cNvSpPr/>
          <p:nvPr/>
        </p:nvSpPr>
        <p:spPr>
          <a:xfrm>
            <a:off x="1371600" y="5617592"/>
            <a:ext cx="5071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Most tasks — cheap, quick</a:t>
            </a:r>
            <a:endParaRPr lang="en-US" sz="2400" dirty="0"/>
          </a:p>
        </p:txBody>
      </p:sp>
      <p:sp>
        <p:nvSpPr>
          <p:cNvPr id="9" name="Text 7"/>
          <p:cNvSpPr/>
          <p:nvPr/>
        </p:nvSpPr>
        <p:spPr>
          <a:xfrm>
            <a:off x="1371600" y="6046217"/>
            <a:ext cx="507111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Courier New" pitchFamily="34" charset="0"/>
                <a:ea typeface="Courier New" pitchFamily="34" charset="-122"/>
                <a:cs typeface="Courier New" pitchFamily="34" charset="-120"/>
              </a:rPr>
              <a:t>e.g. Claude Haiku</a:t>
            </a:r>
            <a:endParaRPr lang="en-US" sz="1800" dirty="0"/>
          </a:p>
        </p:txBody>
      </p:sp>
      <p:sp>
        <p:nvSpPr>
          <p:cNvPr id="10" name="Shape 8"/>
          <p:cNvSpPr/>
          <p:nvPr/>
        </p:nvSpPr>
        <p:spPr>
          <a:xfrm>
            <a:off x="6534150" y="4936554"/>
            <a:ext cx="5238750" cy="1671638"/>
          </a:xfrm>
          <a:prstGeom prst="roundRect">
            <a:avLst>
              <a:gd name="adj" fmla="val 9117"/>
            </a:avLst>
          </a:prstGeom>
          <a:ln w="9525">
            <a:solidFill>
              <a:srgbClr val="E3E1DA"/>
            </a:solidFill>
            <a:prstDash val="solid"/>
          </a:ln>
        </p:spPr>
      </p:sp>
      <p:sp>
        <p:nvSpPr>
          <p:cNvPr id="11" name="Text 9"/>
          <p:cNvSpPr/>
          <p:nvPr/>
        </p:nvSpPr>
        <p:spPr>
          <a:xfrm>
            <a:off x="6848475" y="5231829"/>
            <a:ext cx="507111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C77D0A"/>
                </a:solidFill>
                <a:latin typeface="Arial" pitchFamily="34" charset="0"/>
                <a:ea typeface="Arial" pitchFamily="34" charset="-122"/>
                <a:cs typeface="Arial" pitchFamily="34" charset="-120"/>
              </a:rPr>
              <a:t>MID</a:t>
            </a:r>
            <a:endParaRPr lang="en-US" sz="1800" dirty="0"/>
          </a:p>
        </p:txBody>
      </p:sp>
      <p:sp>
        <p:nvSpPr>
          <p:cNvPr id="12" name="Text 10"/>
          <p:cNvSpPr/>
          <p:nvPr/>
        </p:nvSpPr>
        <p:spPr>
          <a:xfrm>
            <a:off x="6848475" y="5608067"/>
            <a:ext cx="5071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The balanced default</a:t>
            </a:r>
            <a:endParaRPr lang="en-US" sz="2400" dirty="0"/>
          </a:p>
        </p:txBody>
      </p:sp>
      <p:sp>
        <p:nvSpPr>
          <p:cNvPr id="13" name="Text 11"/>
          <p:cNvSpPr/>
          <p:nvPr/>
        </p:nvSpPr>
        <p:spPr>
          <a:xfrm>
            <a:off x="6848475" y="6036692"/>
            <a:ext cx="507111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Courier New" pitchFamily="34" charset="0"/>
                <a:ea typeface="Courier New" pitchFamily="34" charset="-122"/>
                <a:cs typeface="Courier New" pitchFamily="34" charset="-120"/>
              </a:rPr>
              <a:t>e.g. Claude Sonnet</a:t>
            </a:r>
            <a:endParaRPr lang="en-US" sz="1800" dirty="0"/>
          </a:p>
        </p:txBody>
      </p:sp>
      <p:sp>
        <p:nvSpPr>
          <p:cNvPr id="14" name="Shape 12"/>
          <p:cNvSpPr/>
          <p:nvPr/>
        </p:nvSpPr>
        <p:spPr>
          <a:xfrm>
            <a:off x="12001500" y="4936554"/>
            <a:ext cx="5238750" cy="1671638"/>
          </a:xfrm>
          <a:prstGeom prst="roundRect">
            <a:avLst>
              <a:gd name="adj" fmla="val 9117"/>
            </a:avLst>
          </a:prstGeom>
          <a:ln w="9525">
            <a:solidFill>
              <a:srgbClr val="E3E1DA"/>
            </a:solidFill>
            <a:prstDash val="solid"/>
          </a:ln>
        </p:spPr>
      </p:sp>
      <p:sp>
        <p:nvSpPr>
          <p:cNvPr id="15" name="Text 13"/>
          <p:cNvSpPr/>
          <p:nvPr/>
        </p:nvSpPr>
        <p:spPr>
          <a:xfrm>
            <a:off x="12315825" y="5231829"/>
            <a:ext cx="5071110" cy="30003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7A4FD0"/>
                </a:solidFill>
                <a:latin typeface="Arial" pitchFamily="34" charset="0"/>
                <a:ea typeface="Arial" pitchFamily="34" charset="-122"/>
                <a:cs typeface="Arial" pitchFamily="34" charset="-120"/>
              </a:rPr>
              <a:t>LARGE &amp; CAPABLE</a:t>
            </a:r>
            <a:endParaRPr lang="en-US" sz="1800" dirty="0"/>
          </a:p>
        </p:txBody>
      </p:sp>
      <p:sp>
        <p:nvSpPr>
          <p:cNvPr id="16" name="Text 14"/>
          <p:cNvSpPr/>
          <p:nvPr/>
        </p:nvSpPr>
        <p:spPr>
          <a:xfrm>
            <a:off x="12315825" y="5608067"/>
            <a:ext cx="507111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Hard reasoning — pricier, slower</a:t>
            </a:r>
            <a:endParaRPr lang="en-US" sz="2400" dirty="0"/>
          </a:p>
        </p:txBody>
      </p:sp>
      <p:sp>
        <p:nvSpPr>
          <p:cNvPr id="17" name="Text 15"/>
          <p:cNvSpPr/>
          <p:nvPr/>
        </p:nvSpPr>
        <p:spPr>
          <a:xfrm>
            <a:off x="12315825" y="6036692"/>
            <a:ext cx="5071110" cy="295275"/>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Courier New" pitchFamily="34" charset="0"/>
                <a:ea typeface="Courier New" pitchFamily="34" charset="-122"/>
                <a:cs typeface="Courier New" pitchFamily="34" charset="-120"/>
              </a:rPr>
              <a:t>e.g. Claude Opus</a:t>
            </a:r>
            <a:endParaRPr lang="en-US" sz="1800" dirty="0"/>
          </a:p>
        </p:txBody>
      </p:sp>
      <p:sp>
        <p:nvSpPr>
          <p:cNvPr id="18" name="Text 16"/>
          <p:cNvSpPr/>
          <p:nvPr/>
        </p:nvSpPr>
        <p:spPr>
          <a:xfrm>
            <a:off x="1047750" y="6874892"/>
            <a:ext cx="17811750" cy="333375"/>
          </a:xfrm>
          <a:prstGeom prst="rect">
            <a:avLst/>
          </a:prstGeom>
          <a:noFill/>
          <a:ln/>
        </p:spPr>
        <p:txBody>
          <a:bodyPr wrap="square" lIns="25400" tIns="25400" rIns="25400" bIns="25400" rtlCol="0" anchor="t">
            <a:normAutofit/>
          </a:bodyPr>
          <a:lstStyle/>
          <a:p>
            <a:pPr algn="l" indent="0" marL="0">
              <a:buNone/>
            </a:pPr>
            <a:r>
              <a:rPr lang="en-US" sz="2025" dirty="0">
                <a:solidFill>
                  <a:srgbClr val="3D3D3D"/>
                </a:solidFill>
                <a:latin typeface="Arial" pitchFamily="34" charset="0"/>
                <a:ea typeface="Arial" pitchFamily="34" charset="-122"/>
                <a:cs typeface="Arial" pitchFamily="34" charset="-120"/>
              </a:rPr>
              <a:t>Start on the </a:t>
            </a:r>
            <a:pPr algn="l" indent="0" marL="0">
              <a:buNone/>
            </a:pPr>
            <a:r>
              <a:rPr lang="en-US" sz="2025" dirty="0">
                <a:solidFill>
                  <a:srgbClr val="3D3D3D"/>
                </a:solidFill>
                <a:highlight>
                  <a:srgbClr val="FFF1A8"/>
                </a:highlight>
                <a:latin typeface="Arial" pitchFamily="34" charset="0"/>
                <a:ea typeface="Arial" pitchFamily="34" charset="-122"/>
                <a:cs typeface="Arial" pitchFamily="34" charset="-120"/>
              </a:rPr>
              <a:t>cheap, fast tier</a:t>
            </a:r>
            <a:pPr algn="l" indent="0" marL="0">
              <a:buNone/>
            </a:pPr>
            <a:r>
              <a:rPr lang="en-US" sz="2025" dirty="0">
                <a:solidFill>
                  <a:srgbClr val="3D3D3D"/>
                </a:solidFill>
                <a:latin typeface="Arial" pitchFamily="34" charset="0"/>
                <a:ea typeface="Arial" pitchFamily="34" charset="-122"/>
                <a:cs typeface="Arial" pitchFamily="34" charset="-120"/>
              </a:rPr>
              <a:t>; move up only if quality needs it. Check the provider’s model page for current names &amp; prices.</a:t>
            </a:r>
            <a:endParaRPr lang="en-US" sz="2025" dirty="0"/>
          </a:p>
        </p:txBody>
      </p:sp>
      <p:sp>
        <p:nvSpPr>
          <p:cNvPr id="19" name="Shape 17"/>
          <p:cNvSpPr/>
          <p:nvPr/>
        </p:nvSpPr>
        <p:spPr>
          <a:xfrm>
            <a:off x="1047750" y="9520238"/>
            <a:ext cx="16192500" cy="9525"/>
          </a:xfrm>
          <a:prstGeom prst="rect">
            <a:avLst/>
          </a:prstGeom>
          <a:solidFill>
            <a:srgbClr val="E3E1DA"/>
          </a:solidFill>
          <a:ln/>
        </p:spPr>
      </p:sp>
      <p:sp>
        <p:nvSpPr>
          <p:cNvPr id="20" name="Text 18"/>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21" name="Text 19"/>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869156"/>
            <a:ext cx="123825" cy="123825"/>
          </a:xfrm>
          <a:prstGeom prst="ellipse">
            <a:avLst/>
          </a:prstGeom>
          <a:solidFill>
            <a:srgbClr val="178A4C"/>
          </a:solidFill>
          <a:ln/>
        </p:spPr>
      </p:sp>
      <p:sp>
        <p:nvSpPr>
          <p:cNvPr id="3" name="Text 1"/>
          <p:cNvSpPr/>
          <p:nvPr/>
        </p:nvSpPr>
        <p:spPr>
          <a:xfrm>
            <a:off x="1304925" y="800100"/>
            <a:ext cx="3094710" cy="30003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7C7A73"/>
                </a:solidFill>
                <a:latin typeface="Arial" pitchFamily="34" charset="0"/>
                <a:ea typeface="Arial" pitchFamily="34" charset="-122"/>
                <a:cs typeface="Arial" pitchFamily="34" charset="-120"/>
              </a:rPr>
              <a:t>SETUP · CHECKLIST</a:t>
            </a:r>
            <a:endParaRPr lang="en-US" sz="1800" dirty="0"/>
          </a:p>
        </p:txBody>
      </p:sp>
      <p:sp>
        <p:nvSpPr>
          <p:cNvPr id="4" name="Text 2"/>
          <p:cNvSpPr/>
          <p:nvPr/>
        </p:nvSpPr>
        <p:spPr>
          <a:xfrm>
            <a:off x="1047750" y="1195388"/>
            <a:ext cx="17811750" cy="672033"/>
          </a:xfrm>
          <a:prstGeom prst="rect">
            <a:avLst/>
          </a:prstGeom>
          <a:noFill/>
          <a:ln/>
        </p:spPr>
        <p:txBody>
          <a:bodyPr wrap="square" lIns="25400" tIns="25400" rIns="25400" bIns="25400" rtlCol="0" anchor="t">
            <a:normAutofit/>
          </a:bodyPr>
          <a:lstStyle/>
          <a:p>
            <a:pPr algn="l" indent="0" marL="0">
              <a:lnSpc>
                <a:spcPct val="91807"/>
              </a:lnSpc>
              <a:buNone/>
            </a:pPr>
            <a:r>
              <a:rPr lang="en-US" sz="4800" b="1" dirty="0">
                <a:solidFill>
                  <a:srgbClr val="1A1A1A"/>
                </a:solidFill>
                <a:latin typeface="Georgia" pitchFamily="34" charset="0"/>
                <a:ea typeface="Georgia" pitchFamily="34" charset="-122"/>
                <a:cs typeface="Georgia" pitchFamily="34" charset="-120"/>
              </a:rPr>
              <a:t>You’re Ready</a:t>
            </a:r>
            <a:endParaRPr lang="en-US" sz="4800" dirty="0"/>
          </a:p>
        </p:txBody>
      </p:sp>
      <p:sp>
        <p:nvSpPr>
          <p:cNvPr id="5" name="Shape 3"/>
          <p:cNvSpPr/>
          <p:nvPr/>
        </p:nvSpPr>
        <p:spPr>
          <a:xfrm>
            <a:off x="1047750" y="3800698"/>
            <a:ext cx="13335000" cy="9525"/>
          </a:xfrm>
          <a:prstGeom prst="rect">
            <a:avLst/>
          </a:prstGeom>
          <a:solidFill>
            <a:srgbClr val="E3E1DA"/>
          </a:solidFill>
          <a:ln/>
        </p:spPr>
      </p:sp>
      <p:sp>
        <p:nvSpPr>
          <p:cNvPr id="6" name="Shape 4"/>
          <p:cNvSpPr/>
          <p:nvPr/>
        </p:nvSpPr>
        <p:spPr>
          <a:xfrm>
            <a:off x="1047750" y="3272061"/>
            <a:ext cx="323850" cy="323850"/>
          </a:xfrm>
          <a:prstGeom prst="roundRect">
            <a:avLst>
              <a:gd name="adj" fmla="val 23529"/>
            </a:avLst>
          </a:prstGeom>
          <a:ln w="19050">
            <a:solidFill>
              <a:srgbClr val="178A4C"/>
            </a:solidFill>
            <a:prstDash val="solid"/>
          </a:ln>
        </p:spPr>
      </p:sp>
      <p:sp>
        <p:nvSpPr>
          <p:cNvPr id="7" name="Text 5"/>
          <p:cNvSpPr/>
          <p:nvPr/>
        </p:nvSpPr>
        <p:spPr>
          <a:xfrm>
            <a:off x="1028700" y="3291111"/>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1581150" y="3257773"/>
            <a:ext cx="8367757"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API key in hand — provided for the session, or your own</a:t>
            </a:r>
            <a:endParaRPr lang="en-US" sz="2400" dirty="0"/>
          </a:p>
        </p:txBody>
      </p:sp>
      <p:sp>
        <p:nvSpPr>
          <p:cNvPr id="9" name="Shape 7"/>
          <p:cNvSpPr/>
          <p:nvPr/>
        </p:nvSpPr>
        <p:spPr>
          <a:xfrm>
            <a:off x="1047750" y="4562698"/>
            <a:ext cx="13335000" cy="9525"/>
          </a:xfrm>
          <a:prstGeom prst="rect">
            <a:avLst/>
          </a:prstGeom>
          <a:solidFill>
            <a:srgbClr val="E3E1DA"/>
          </a:solidFill>
          <a:ln/>
        </p:spPr>
      </p:sp>
      <p:sp>
        <p:nvSpPr>
          <p:cNvPr id="10" name="Shape 8"/>
          <p:cNvSpPr/>
          <p:nvPr/>
        </p:nvSpPr>
        <p:spPr>
          <a:xfrm>
            <a:off x="1047750" y="4034061"/>
            <a:ext cx="323850" cy="323850"/>
          </a:xfrm>
          <a:prstGeom prst="roundRect">
            <a:avLst>
              <a:gd name="adj" fmla="val 23529"/>
            </a:avLst>
          </a:prstGeom>
          <a:ln w="19050">
            <a:solidFill>
              <a:srgbClr val="178A4C"/>
            </a:solidFill>
            <a:prstDash val="solid"/>
          </a:ln>
        </p:spPr>
      </p:sp>
      <p:sp>
        <p:nvSpPr>
          <p:cNvPr id="11" name="Text 9"/>
          <p:cNvSpPr/>
          <p:nvPr/>
        </p:nvSpPr>
        <p:spPr>
          <a:xfrm>
            <a:off x="1028700" y="4053111"/>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1581150" y="4019773"/>
            <a:ext cx="7548220"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Key stored as an environment variable, not in code</a:t>
            </a:r>
            <a:endParaRPr lang="en-US" sz="2400" dirty="0"/>
          </a:p>
        </p:txBody>
      </p:sp>
      <p:sp>
        <p:nvSpPr>
          <p:cNvPr id="13" name="Shape 11"/>
          <p:cNvSpPr/>
          <p:nvPr/>
        </p:nvSpPr>
        <p:spPr>
          <a:xfrm>
            <a:off x="1047750" y="5324698"/>
            <a:ext cx="13335000" cy="9525"/>
          </a:xfrm>
          <a:prstGeom prst="rect">
            <a:avLst/>
          </a:prstGeom>
          <a:solidFill>
            <a:srgbClr val="E3E1DA"/>
          </a:solidFill>
          <a:ln/>
        </p:spPr>
      </p:sp>
      <p:sp>
        <p:nvSpPr>
          <p:cNvPr id="14" name="Shape 12"/>
          <p:cNvSpPr/>
          <p:nvPr/>
        </p:nvSpPr>
        <p:spPr>
          <a:xfrm>
            <a:off x="1047750" y="4796061"/>
            <a:ext cx="323850" cy="323850"/>
          </a:xfrm>
          <a:prstGeom prst="roundRect">
            <a:avLst>
              <a:gd name="adj" fmla="val 23529"/>
            </a:avLst>
          </a:prstGeom>
          <a:ln w="19050">
            <a:solidFill>
              <a:srgbClr val="178A4C"/>
            </a:solidFill>
            <a:prstDash val="solid"/>
          </a:ln>
        </p:spPr>
      </p:sp>
      <p:sp>
        <p:nvSpPr>
          <p:cNvPr id="15" name="Text 13"/>
          <p:cNvSpPr/>
          <p:nvPr/>
        </p:nvSpPr>
        <p:spPr>
          <a:xfrm>
            <a:off x="1028700" y="4815111"/>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581150" y="4781773"/>
            <a:ext cx="5516404"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Python + virtual env + SDKs installed</a:t>
            </a:r>
            <a:endParaRPr lang="en-US" sz="2400" dirty="0"/>
          </a:p>
        </p:txBody>
      </p:sp>
      <p:sp>
        <p:nvSpPr>
          <p:cNvPr id="17" name="Shape 15"/>
          <p:cNvSpPr/>
          <p:nvPr/>
        </p:nvSpPr>
        <p:spPr>
          <a:xfrm>
            <a:off x="1047750" y="6105748"/>
            <a:ext cx="13335000" cy="9525"/>
          </a:xfrm>
          <a:prstGeom prst="rect">
            <a:avLst/>
          </a:prstGeom>
          <a:solidFill>
            <a:srgbClr val="E3E1DA"/>
          </a:solidFill>
          <a:ln/>
        </p:spPr>
      </p:sp>
      <p:sp>
        <p:nvSpPr>
          <p:cNvPr id="18" name="Shape 16"/>
          <p:cNvSpPr/>
          <p:nvPr/>
        </p:nvSpPr>
        <p:spPr>
          <a:xfrm>
            <a:off x="1047750" y="5567586"/>
            <a:ext cx="323850" cy="323850"/>
          </a:xfrm>
          <a:prstGeom prst="roundRect">
            <a:avLst>
              <a:gd name="adj" fmla="val 23529"/>
            </a:avLst>
          </a:prstGeom>
          <a:ln w="19050">
            <a:solidFill>
              <a:srgbClr val="178A4C"/>
            </a:solidFill>
            <a:prstDash val="solid"/>
          </a:ln>
        </p:spPr>
      </p:sp>
      <p:sp>
        <p:nvSpPr>
          <p:cNvPr id="19" name="Text 17"/>
          <p:cNvSpPr/>
          <p:nvPr/>
        </p:nvSpPr>
        <p:spPr>
          <a:xfrm>
            <a:off x="1028700" y="5586636"/>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20" name="Text 18"/>
          <p:cNvSpPr/>
          <p:nvPr/>
        </p:nvSpPr>
        <p:spPr>
          <a:xfrm>
            <a:off x="1581150" y="5543773"/>
            <a:ext cx="9436462"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Git installed — </a:t>
            </a:r>
            <a:pPr algn="l" indent="0" marL="0">
              <a:buNone/>
            </a:pPr>
            <a:r>
              <a:rPr lang="en-US" sz="2400" dirty="0">
                <a:solidFill>
                  <a:srgbClr val="1A1A1A"/>
                </a:solidFill>
                <a:latin typeface="Courier New" pitchFamily="34" charset="0"/>
                <a:ea typeface="Courier New" pitchFamily="34" charset="-122"/>
                <a:cs typeface="Courier New" pitchFamily="34" charset="-120"/>
              </a:rPr>
              <a:t>git init </a:t>
            </a:r>
            <a:pPr algn="l" indent="0" marL="0">
              <a:buNone/>
            </a:pPr>
            <a:r>
              <a:rPr lang="en-US" sz="2400" dirty="0">
                <a:solidFill>
                  <a:srgbClr val="1A1A1A"/>
                </a:solidFill>
                <a:latin typeface="Arial" pitchFamily="34" charset="0"/>
                <a:ea typeface="Arial" pitchFamily="34" charset="-122"/>
                <a:cs typeface="Arial" pitchFamily="34" charset="-120"/>
              </a:rPr>
              <a:t>works (your undo button for the labs)</a:t>
            </a:r>
            <a:endParaRPr lang="en-US" sz="2400" dirty="0"/>
          </a:p>
        </p:txBody>
      </p:sp>
      <p:sp>
        <p:nvSpPr>
          <p:cNvPr id="21" name="Shape 19"/>
          <p:cNvSpPr/>
          <p:nvPr/>
        </p:nvSpPr>
        <p:spPr>
          <a:xfrm>
            <a:off x="1047750" y="6886798"/>
            <a:ext cx="13335000" cy="9525"/>
          </a:xfrm>
          <a:prstGeom prst="rect">
            <a:avLst/>
          </a:prstGeom>
          <a:solidFill>
            <a:srgbClr val="E3E1DA"/>
          </a:solidFill>
          <a:ln/>
        </p:spPr>
      </p:sp>
      <p:sp>
        <p:nvSpPr>
          <p:cNvPr id="22" name="Shape 20"/>
          <p:cNvSpPr/>
          <p:nvPr/>
        </p:nvSpPr>
        <p:spPr>
          <a:xfrm>
            <a:off x="1047750" y="6348636"/>
            <a:ext cx="323850" cy="323850"/>
          </a:xfrm>
          <a:prstGeom prst="roundRect">
            <a:avLst>
              <a:gd name="adj" fmla="val 23529"/>
            </a:avLst>
          </a:prstGeom>
          <a:ln w="19050">
            <a:solidFill>
              <a:srgbClr val="178A4C"/>
            </a:solidFill>
            <a:prstDash val="solid"/>
          </a:ln>
        </p:spPr>
      </p:sp>
      <p:sp>
        <p:nvSpPr>
          <p:cNvPr id="23" name="Text 21"/>
          <p:cNvSpPr/>
          <p:nvPr/>
        </p:nvSpPr>
        <p:spPr>
          <a:xfrm>
            <a:off x="1028700" y="6367686"/>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1581150" y="6324823"/>
            <a:ext cx="12291581" cy="40957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Node.js + npm — for Claude Code (</a:t>
            </a:r>
            <a:pPr algn="l" indent="0" marL="0">
              <a:buNone/>
            </a:pPr>
            <a:r>
              <a:rPr lang="en-US" sz="2400" dirty="0">
                <a:solidFill>
                  <a:srgbClr val="1A1A1A"/>
                </a:solidFill>
                <a:latin typeface="Courier New" pitchFamily="34" charset="0"/>
                <a:ea typeface="Courier New" pitchFamily="34" charset="-122"/>
                <a:cs typeface="Courier New" pitchFamily="34" charset="-120"/>
              </a:rPr>
              <a:t>npm i -g @anthropic-ai/claude-code</a:t>
            </a:r>
            <a:pPr algn="l" indent="0" marL="0">
              <a:buNone/>
            </a:pPr>
            <a:r>
              <a:rPr lang="en-US" sz="2400" dirty="0">
                <a:solidFill>
                  <a:srgbClr val="1A1A1A"/>
                </a:solidFill>
                <a:latin typeface="Arial" pitchFamily="34" charset="0"/>
                <a:ea typeface="Arial" pitchFamily="34" charset="-122"/>
                <a:cs typeface="Arial" pitchFamily="34" charset="-120"/>
              </a:rPr>
              <a:t>)</a:t>
            </a:r>
            <a:endParaRPr lang="en-US" sz="2400" dirty="0"/>
          </a:p>
        </p:txBody>
      </p:sp>
      <p:sp>
        <p:nvSpPr>
          <p:cNvPr id="25" name="Shape 23"/>
          <p:cNvSpPr/>
          <p:nvPr/>
        </p:nvSpPr>
        <p:spPr>
          <a:xfrm>
            <a:off x="1047750" y="7120161"/>
            <a:ext cx="323850" cy="323850"/>
          </a:xfrm>
          <a:prstGeom prst="roundRect">
            <a:avLst>
              <a:gd name="adj" fmla="val 23529"/>
            </a:avLst>
          </a:prstGeom>
          <a:ln w="19050">
            <a:solidFill>
              <a:srgbClr val="178A4C"/>
            </a:solidFill>
            <a:prstDash val="solid"/>
          </a:ln>
        </p:spPr>
      </p:sp>
      <p:sp>
        <p:nvSpPr>
          <p:cNvPr id="26" name="Text 24"/>
          <p:cNvSpPr/>
          <p:nvPr/>
        </p:nvSpPr>
        <p:spPr>
          <a:xfrm>
            <a:off x="1028700" y="7139211"/>
            <a:ext cx="361950" cy="3238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78A4C"/>
                </a:solidFill>
                <a:latin typeface="Arial" pitchFamily="34" charset="0"/>
                <a:ea typeface="Arial" pitchFamily="34" charset="-122"/>
                <a:cs typeface="Arial" pitchFamily="34" charset="-120"/>
              </a:rPr>
              <a:t>✓</a:t>
            </a:r>
            <a:endParaRPr lang="en-US" sz="1800" dirty="0"/>
          </a:p>
        </p:txBody>
      </p:sp>
      <p:sp>
        <p:nvSpPr>
          <p:cNvPr id="27" name="Text 25"/>
          <p:cNvSpPr/>
          <p:nvPr/>
        </p:nvSpPr>
        <p:spPr>
          <a:xfrm>
            <a:off x="1581150" y="7105873"/>
            <a:ext cx="4304288" cy="390525"/>
          </a:xfrm>
          <a:prstGeom prst="rect">
            <a:avLst/>
          </a:prstGeom>
          <a:noFill/>
          <a:ln/>
        </p:spPr>
        <p:txBody>
          <a:bodyPr wrap="square" lIns="25400" tIns="25400" rIns="25400" bIns="25400" rtlCol="0" anchor="t">
            <a:normAutofit/>
          </a:bodyPr>
          <a:lstStyle/>
          <a:p>
            <a:pPr algn="l" indent="0" marL="0">
              <a:buNone/>
            </a:pPr>
            <a:r>
              <a:rPr lang="en-US" sz="2400" dirty="0">
                <a:solidFill>
                  <a:srgbClr val="1A1A1A"/>
                </a:solidFill>
                <a:latin typeface="Arial" pitchFamily="34" charset="0"/>
                <a:ea typeface="Arial" pitchFamily="34" charset="-122"/>
                <a:cs typeface="Arial" pitchFamily="34" charset="-120"/>
              </a:rPr>
              <a:t>The imports run without error</a:t>
            </a:r>
            <a:endParaRPr lang="en-US" sz="2400" dirty="0"/>
          </a:p>
        </p:txBody>
      </p:sp>
      <p:sp>
        <p:nvSpPr>
          <p:cNvPr id="28" name="Text 26"/>
          <p:cNvSpPr/>
          <p:nvPr/>
        </p:nvSpPr>
        <p:spPr>
          <a:xfrm>
            <a:off x="1047750" y="7820248"/>
            <a:ext cx="14668500" cy="428625"/>
          </a:xfrm>
          <a:prstGeom prst="rect">
            <a:avLst/>
          </a:prstGeom>
          <a:noFill/>
          <a:ln/>
        </p:spPr>
        <p:txBody>
          <a:bodyPr wrap="square" lIns="25400" tIns="25400" rIns="25400" bIns="25400" rtlCol="0" anchor="t">
            <a:normAutofit/>
          </a:bodyPr>
          <a:lstStyle/>
          <a:p>
            <a:pPr algn="l" indent="0" marL="0">
              <a:buNone/>
            </a:pPr>
            <a:r>
              <a:rPr lang="en-US" sz="2700" dirty="0">
                <a:solidFill>
                  <a:srgbClr val="1A1A1A"/>
                </a:solidFill>
                <a:latin typeface="Georgia" pitchFamily="34" charset="0"/>
                <a:ea typeface="Georgia" pitchFamily="34" charset="-122"/>
                <a:cs typeface="Georgia" pitchFamily="34" charset="-120"/>
              </a:rPr>
              <a:t>Take a break — then </a:t>
            </a:r>
            <a:pPr algn="l" indent="0" marL="0">
              <a:buNone/>
            </a:pPr>
            <a:r>
              <a:rPr lang="en-US" sz="2700" dirty="0">
                <a:solidFill>
                  <a:srgbClr val="1A1A1A"/>
                </a:solidFill>
                <a:highlight>
                  <a:srgbClr val="FFF1A8"/>
                </a:highlight>
                <a:latin typeface="Georgia" pitchFamily="34" charset="0"/>
                <a:ea typeface="Georgia" pitchFamily="34" charset="-122"/>
                <a:cs typeface="Georgia" pitchFamily="34" charset="-120"/>
              </a:rPr>
              <a:t>Part 3</a:t>
            </a:r>
            <a:pPr algn="l" indent="0" marL="0">
              <a:buNone/>
            </a:pPr>
            <a:r>
              <a:rPr lang="en-US" sz="2700" dirty="0">
                <a:solidFill>
                  <a:srgbClr val="1A1A1A"/>
                </a:solidFill>
                <a:latin typeface="Georgia" pitchFamily="34" charset="0"/>
                <a:ea typeface="Georgia" pitchFamily="34" charset="-122"/>
                <a:cs typeface="Georgia" pitchFamily="34" charset="-120"/>
              </a:rPr>
              <a:t>, our first real call.</a:t>
            </a:r>
            <a:endParaRPr lang="en-US" sz="2700" dirty="0"/>
          </a:p>
        </p:txBody>
      </p:sp>
      <p:sp>
        <p:nvSpPr>
          <p:cNvPr id="29" name="Shape 27"/>
          <p:cNvSpPr/>
          <p:nvPr/>
        </p:nvSpPr>
        <p:spPr>
          <a:xfrm>
            <a:off x="1047750" y="9520238"/>
            <a:ext cx="16192500" cy="9525"/>
          </a:xfrm>
          <a:prstGeom prst="rect">
            <a:avLst/>
          </a:prstGeom>
          <a:solidFill>
            <a:srgbClr val="E3E1DA"/>
          </a:solidFill>
          <a:ln/>
        </p:spPr>
      </p:sp>
      <p:sp>
        <p:nvSpPr>
          <p:cNvPr id="30" name="Text 28"/>
          <p:cNvSpPr/>
          <p:nvPr/>
        </p:nvSpPr>
        <p:spPr>
          <a:xfrm>
            <a:off x="1047750" y="9663113"/>
            <a:ext cx="4458667"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Getting Started with LLMs for Engineers</a:t>
            </a:r>
            <a:endParaRPr lang="en-US" sz="1800" dirty="0"/>
          </a:p>
        </p:txBody>
      </p:sp>
      <p:sp>
        <p:nvSpPr>
          <p:cNvPr id="31" name="Text 29"/>
          <p:cNvSpPr/>
          <p:nvPr/>
        </p:nvSpPr>
        <p:spPr>
          <a:xfrm>
            <a:off x="14830127" y="9663113"/>
            <a:ext cx="2651135" cy="300038"/>
          </a:xfrm>
          <a:prstGeom prst="rect">
            <a:avLst/>
          </a:prstGeom>
          <a:noFill/>
          <a:ln/>
        </p:spPr>
        <p:txBody>
          <a:bodyPr wrap="square" lIns="25400" tIns="25400" rIns="25400" bIns="25400" rtlCol="0" anchor="t">
            <a:normAutofit/>
          </a:bodyPr>
          <a:lstStyle/>
          <a:p>
            <a:pPr algn="l" indent="0" marL="0">
              <a:buNone/>
            </a:pPr>
            <a:r>
              <a:rPr lang="en-US" sz="1800" dirty="0">
                <a:solidFill>
                  <a:srgbClr val="7C7A73"/>
                </a:solidFill>
                <a:latin typeface="Arial" pitchFamily="34" charset="0"/>
                <a:ea typeface="Arial" pitchFamily="34" charset="-122"/>
                <a:cs typeface="Arial" pitchFamily="34" charset="-120"/>
              </a:rPr>
              <a:t>Part 2 · Tokens &amp; Setup</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0" y="0"/>
            <a:ext cx="152400" cy="10287000"/>
          </a:xfrm>
          <a:prstGeom prst="rect">
            <a:avLst/>
          </a:prstGeom>
          <a:solidFill>
            <a:srgbClr val="1F6FEB"/>
          </a:solidFill>
          <a:ln/>
        </p:spPr>
      </p:sp>
      <p:sp>
        <p:nvSpPr>
          <p:cNvPr id="3" name="Text 1"/>
          <p:cNvSpPr/>
          <p:nvPr/>
        </p:nvSpPr>
        <p:spPr>
          <a:xfrm>
            <a:off x="1200150" y="3512344"/>
            <a:ext cx="17644110" cy="300038"/>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7C7A73"/>
                </a:solidFill>
                <a:latin typeface="Arial" pitchFamily="34" charset="0"/>
                <a:ea typeface="Arial" pitchFamily="34" charset="-122"/>
                <a:cs typeface="Arial" pitchFamily="34" charset="-120"/>
              </a:rPr>
              <a:t>AFTER THE BREAK · PART 3</a:t>
            </a:r>
            <a:endParaRPr lang="en-US" sz="1800" dirty="0"/>
          </a:p>
        </p:txBody>
      </p:sp>
      <p:sp>
        <p:nvSpPr>
          <p:cNvPr id="4" name="Text 2"/>
          <p:cNvSpPr/>
          <p:nvPr/>
        </p:nvSpPr>
        <p:spPr>
          <a:xfrm>
            <a:off x="1200150" y="3907631"/>
            <a:ext cx="1764411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1A1A1A"/>
                </a:solidFill>
                <a:latin typeface="Georgia" pitchFamily="34" charset="0"/>
                <a:ea typeface="Georgia" pitchFamily="34" charset="-122"/>
                <a:cs typeface="Georgia" pitchFamily="34" charset="-120"/>
              </a:rPr>
              <a:t>Hands-On: Your First API Call</a:t>
            </a:r>
            <a:endParaRPr lang="en-US" sz="5400" dirty="0"/>
          </a:p>
        </p:txBody>
      </p:sp>
      <p:sp>
        <p:nvSpPr>
          <p:cNvPr id="5" name="Shape 3"/>
          <p:cNvSpPr/>
          <p:nvPr/>
        </p:nvSpPr>
        <p:spPr>
          <a:xfrm>
            <a:off x="1200150" y="5198269"/>
            <a:ext cx="133350" cy="133350"/>
          </a:xfrm>
          <a:prstGeom prst="roundRect">
            <a:avLst>
              <a:gd name="adj" fmla="val 28571"/>
            </a:avLst>
          </a:prstGeom>
          <a:solidFill>
            <a:srgbClr val="1F6FEB"/>
          </a:solidFill>
          <a:ln/>
        </p:spPr>
      </p:sp>
      <p:sp>
        <p:nvSpPr>
          <p:cNvPr id="6" name="Text 4"/>
          <p:cNvSpPr/>
          <p:nvPr/>
        </p:nvSpPr>
        <p:spPr>
          <a:xfrm>
            <a:off x="1524000" y="5074444"/>
            <a:ext cx="9167686" cy="419100"/>
          </a:xfrm>
          <a:prstGeom prst="rect">
            <a:avLst/>
          </a:prstGeom>
          <a:noFill/>
          <a:ln/>
        </p:spPr>
        <p:txBody>
          <a:bodyPr wrap="square" lIns="0" tIns="0" rIns="0" bIns="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Call OpenAI or Anthropic — and get structured JSON back</a:t>
            </a:r>
            <a:endParaRPr lang="en-US" sz="2700" dirty="0"/>
          </a:p>
        </p:txBody>
      </p:sp>
      <p:sp>
        <p:nvSpPr>
          <p:cNvPr id="7" name="Shape 5"/>
          <p:cNvSpPr/>
          <p:nvPr/>
        </p:nvSpPr>
        <p:spPr>
          <a:xfrm>
            <a:off x="1200150" y="5779294"/>
            <a:ext cx="133350" cy="133350"/>
          </a:xfrm>
          <a:prstGeom prst="roundRect">
            <a:avLst>
              <a:gd name="adj" fmla="val 28571"/>
            </a:avLst>
          </a:prstGeom>
          <a:solidFill>
            <a:srgbClr val="178A4C"/>
          </a:solidFill>
          <a:ln/>
        </p:spPr>
      </p:sp>
      <p:sp>
        <p:nvSpPr>
          <p:cNvPr id="8" name="Text 6"/>
          <p:cNvSpPr/>
          <p:nvPr/>
        </p:nvSpPr>
        <p:spPr>
          <a:xfrm>
            <a:off x="1524000" y="5655469"/>
            <a:ext cx="9088357" cy="419100"/>
          </a:xfrm>
          <a:prstGeom prst="rect">
            <a:avLst/>
          </a:prstGeom>
          <a:noFill/>
          <a:ln/>
        </p:spPr>
        <p:txBody>
          <a:bodyPr wrap="square" lIns="0" tIns="0" rIns="0" bIns="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Prompting basics — clear instructions &amp; worked examples</a:t>
            </a:r>
            <a:endParaRPr lang="en-US" sz="2700" dirty="0"/>
          </a:p>
        </p:txBody>
      </p:sp>
      <p:sp>
        <p:nvSpPr>
          <p:cNvPr id="9" name="Shape 7"/>
          <p:cNvSpPr/>
          <p:nvPr/>
        </p:nvSpPr>
        <p:spPr>
          <a:xfrm>
            <a:off x="1200150" y="6360319"/>
            <a:ext cx="133350" cy="133350"/>
          </a:xfrm>
          <a:prstGeom prst="roundRect">
            <a:avLst>
              <a:gd name="adj" fmla="val 28571"/>
            </a:avLst>
          </a:prstGeom>
          <a:solidFill>
            <a:srgbClr val="C77D0A"/>
          </a:solidFill>
          <a:ln/>
        </p:spPr>
      </p:sp>
      <p:sp>
        <p:nvSpPr>
          <p:cNvPr id="10" name="Text 8"/>
          <p:cNvSpPr/>
          <p:nvPr/>
        </p:nvSpPr>
        <p:spPr>
          <a:xfrm>
            <a:off x="1524000" y="6236494"/>
            <a:ext cx="7734627" cy="419100"/>
          </a:xfrm>
          <a:prstGeom prst="rect">
            <a:avLst/>
          </a:prstGeom>
          <a:noFill/>
          <a:ln/>
        </p:spPr>
        <p:txBody>
          <a:bodyPr wrap="square" lIns="0" tIns="0" rIns="0" bIns="0" rtlCol="0" anchor="t">
            <a:normAutofit/>
          </a:bodyPr>
          <a:lstStyle/>
          <a:p>
            <a:pPr algn="l" indent="0" marL="0">
              <a:buNone/>
            </a:pPr>
            <a:r>
              <a:rPr lang="en-US" sz="2700" dirty="0">
                <a:solidFill>
                  <a:srgbClr val="3D3D3D"/>
                </a:solidFill>
                <a:latin typeface="Arial" pitchFamily="34" charset="0"/>
                <a:ea typeface="Arial" pitchFamily="34" charset="-122"/>
                <a:cs typeface="Arial" pitchFamily="34" charset="-120"/>
              </a:rPr>
              <a:t>Use a coding assistant — Cursor or Claude Code</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2026-07-10T04:50:05Z</dcterms:created>
  <dcterms:modified xsi:type="dcterms:W3CDTF">2026-07-10T04:50:05Z</dcterms:modified>
</cp:coreProperties>
</file>