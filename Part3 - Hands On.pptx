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18"/>
  </p:normalViewPr>
  <p:slideViewPr>
    <p:cSldViewPr snapToGrid="0" snapToObjects="1">
      <p:cViewPr varScale="1">
        <p:scale>
          <a:sx n="90" d="100"/>
          <a:sy n="90" d="100"/>
        </p:scale>
        <p:origin x="264" y="360"/>
      </p:cViewPr>
      <p:guideLst/>
    </p:cSldViewPr>
  </p:slideViewPr>
  <p:notesTextViewPr>
    <p:cViewPr>
      <p:scale>
        <a:sx n="1" d="1"/>
        <a:sy n="1" d="1"/>
      </p:scale>
      <p:origin x="0" y="-8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1787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Part 3 is all hands-on. Three things: make a real API call that returns structured JSON, learn the prompting basics that make outputs reliable, and start using an AI coding assistant in your everyday workflow. Keys and environments should be ready from before the break.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now, all hands-on. The API call and JSON. The prompting habits that make results reliable. Setting up your workspace, terminal and VS Code. The coding assistants, Cursor and Claude Code. And a real-world playbook of patterns you can use immediately. Open your editor and follow along.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We make a real call and, crucially, get back JSON your program can use, not just prose.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is the same three things. You pick a model. You send messages, a list of roles and content, usually a system message setting the rules and a user message with the task. And you set a few parameters like temperature and a max token cap. Send that, get a response back. That is the whole shape.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minimal call, both providers side by side. The client reads your API key from the environment automatically. You pass a model and a messages list. The response shapes differ a little: OpenAI puts the text at choices zero message content; Anthropic at content zero text. Notice Anthropic requires a max tokens value. Run one of these and you have made your first call. The cheap defaults are hardcoded on the slide, gpt-4o-mini for OpenAI and claude-3-5-haiku-latest for Anthropic, so nobody stalls hunting for model ids in the docs.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is more than text. You get the generated content, and you also get usage: how many input and output tokens the call cost. Log that usage from day one, it is your live cost meter. Also check the finish or stop reason, if it says length you hit your max tokens cap and the answer was cut off.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goal for engineers: not prose, but data your program can use. Ask for JSON explicitly, describe the exact fields you want, then parse it with json loads. The model fills in the shape. Suddenly the LLM is a function that turns messy text into structured records. One gotcha to call out: models often wrap the JSON in triple-backtick markdown fences, and if you pass that straight into json loads it crashes. Strip the fence, and for production switch on JSON mode or tools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nicely mostly works, but for production you want a guarantee. Both providers have a structured-output feature: OpenAI has a JSON or schema mode you switch on with response format; Anthropic gets strict shapes through tool use. Whichever you use, always validate on your side, wrap json loads in a try, or use a schema library like pydantic, and retry on failure. Never trust the shape blindly.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every real integration needs. Calls fail, so wrap them and retry with backoff. You will hit rate limits, so slow down and queue. Track cost per call using the usage numbers. And never put the key in client-side code, calls go through your backend. Get these right and your first prototype survives contact with real traffic.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The prompt is your main control surface. We start with the habits that take you most of the way, then walk the named techniques you will meet everywhere: few-shot and role, chain-of-thought, self-consistency, ReAct, directional stimulus, testing, and guardrails.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do most of the work. The system message sets who the model is and the rules it must follow, tone, format, constraints. The user message carries the actual task and input. Keeping the durable rules in system and the changing task in user makes your prompts reusable and easier to debug.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lever. Vague prompts get vague answers. Say exactly what you want: the format, the length, the audience, the constraints. Compare the two here. The vague one could return anything; the specific one is almost deterministic. Spell out what good looks like and the model delivers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map for the slides that follow: the named techniques you will meet in docs, papers, and interviews. They stack. The baselines at the top handle most work, and you reach further down the list as the task gets harder or higher-stakes. You will rarely need all seven at once; the skill is recognising which one the problem in front of you calls for.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baseline moves. Zero-shot is just asking, and it is perfect when the task is easy and unambiguous. Few-shot adds two or three input-to-output pairs, which lock in the format and settle the edge cases far better than a paragraph of description; put your trickiest case in the examples on purpose. Role prompting sets a persona in the system message: who the model is, its voice and standards. Start zero-shot, add examples when the format drifts, add a role when tone or judgement matters.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Chain-of-thought. For anything with steps — math, logic, multi-criteria decisions — ask the model to reason first and answer last. Because it generates one token at a time, working through the problem gives the final answer better tokens to build on. Two flavours now: prompted, where you literally add think step by step and the reasoning appears in visible output tokens you pay for; and native reasoning models, the o-series or DeepSeek-R1, which do it in hidden internal tokens automatically. Skip it for extraction and classification, where you would just pay for tokens you do not need.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Self-consistency builds straight on chain-of-thought. Instead of trusting a single reasoning path, you run the same prompt several times at a non-zero temperature, get a spread of answers, and take the majority. One unlucky reasoning slip gets outvoted. The catch is obvious: it costs N times as much, so save it for high-stakes numeric or logical answers where being wrong is expensive, and skip it for cheap or easy tasks.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reason plus act. Instead of answering in one shot, the model interleaves a thought, an action such as calling a tool or searching, and then an observation of what came back, looping until it can answer. That lets it use live data and real tools instead of guessing, and it is the direct foundation of the agents you will meet later in the program. Here it needs a currency rate, calls a tool, reads the result, does the arithmetic, and only then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 stimulus prompting sits between a bare ask and full worked examples. You drop in a few hint keywords — a stimulus — that steer the answer toward the points that matter, without scripting the whole thing. Here, a plain summarise request returns something generic; adding the hints revenue, EU launch, and hiring freeze makes the model weave exactly those beats into its summary. Reach for it when you know the salient points and want them surfaced but do not want to over-constrain the output.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Prompting is a loop, not a one-shot craft: write, run on real cases, see where it fails, change one thing, compare. What turns usually works into something you can ship is discipline around that loop. Keep a test set of ten to twenty real inputs with expected outputs, including the weird ones; change one thing at a time so you can tell what actually moved quality; version prompts in Git next to the code; and feed real production failures back into the set. The common fixes are worth memorising: wrong format, show an example rather than describe it; a rule ignored, use a numbered list with the critical rule first and last; inconsistent runs, drop the temperature to zero and pin the ambiguous cases with examples.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technique, and the one production cares about most: guardrails. Treat the model as a smart but occasionally wrong — and manipulable — component, and don't trust either its inputs or its outputs. On the way in: resist prompt injection like ignore previous instructions, cap input size, and keep your system rules weighted above user text. On the way out: validate the structure with Pydantic or Zod, check business rules the schema can't express, run content moderation, and always leave an unclear or refuse escape hatch instead of forcing a confident wrong answer. Around the whole thing: least privilege for any tools, a human in the loop for risky actions, and log every call.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and here is the reframe for a room of engineers: this is not a beginner shell lesson, it is your prerequisite checklist for agentic tools. Tools like Claude Code drive your terminal autonomously, running commands and editing files. You need to know where your terminal is executing so you can supervise what the AI changes in real time. So we make sure everyone is fluent first.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you will use constantly. The terminal is how you run code, install packages, and drive the AI tools like Claude Code. A real editor, VS Code, is where you read, write, and review. Get comfortable with both and everything else in this session gets easier. If you are already fluent, this is a quick refresher.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feels intimidating but it is really four moves. Where am I: pwd prints the current folder. What is here: ls lists files. Move around: cd changes directory, cd dot dot goes up. Run something: type the program and press enter. That is 90 percent of daily terminal use. Everything else you look up.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one-screen reference. These cover almost everything you do day to day. Three time-savers worth calling out: Tab auto-completes file names, the up arrow recalls your last command, and Control C stops whatever is running. Screenshot this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be a git expert, but you need four commands, because AI assistants write code and git is how you review and undo it. status shows what changed. diff shows the exact lines. add and commit save a checkpoint you can always roll back to. Commit before you let an assistant make big changes, and you can never lose work.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to a working editor. Download VS Code from code dot visualstudio dot com and install it. Open your project folder, either File Open Folder or type code dot in the terminal from inside the folder. Then install the Python extension from the Extensions panel, it gives you run buttons, linting, and debugging.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has a terminal built in, so you never leave the window. Open it with Control backtick. Then pick your Python interpreter, the venv you made in Part 2, from the command palette, Python Select Interpreter, so run and debug use the right packages. Now editing, running, and the terminal all live together.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Now the payoff: the same models, wired into that editor and terminal, become a pair programmer that reads and writes code with you.</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flavors, same engine. Cursor is an AI-native code editor, a fork of VS Code, with completion, inline edits, and a chat that knows your codebase. Claude Code lives in your terminal and is more agentic: you give it a goal and it reads files, edits across many of them, and runs commands, checking in with you. Editor-integrated versus terminal-agentic. Many engineers use both.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is a fork of VS Code, so it feels instantly familiar and it can import your existing extensions and settings in one click. Download it from cursor dot com, install, sign in, and open your project folder just like VS Code.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do most of the work in Cursor. Tab accepts an AI completion as you type, like autocomplete on steroids. Command K lets you select code, describe a change in plain English, and it rewrites it in place. Chat, command L, is a conversation about your codebase where you can pull in specific files with the at sign. And the agent takes a whole goal and edits across many files. Start with Tab and Command K; grow into chat and the agent.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lives in your terminal. Install it once, globally, with npm. Then go into your project folder and just type claude. The first time, it walks you through signing in. From then on you are talking to an agent that can see and change the files in that folder. It is a different feel from Cursor, less clicking, more describing.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 real task looks like. You describe the goal in plain English. Claude Code plans, tells you which files it will touch, makes the edits, and can run your tests to check itself. Then it stops and asks you to approve before anything is final. This plan, edit, verify, approve loop is the whole point: it does the typing, you stay in control.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things you will actually type, day to day. Explain this file. Fix this failing test. Add a function that does X. Refactor this to be cleaner. Write tests for this module. Notice they are all plain English, no special syntax. Drop your own Claude Code screenshot on the right. Best habit: one task at a time, and commit to git between tasks.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you drive it, the loop is the same four steps. Give context: point it at the files and state the goal. Let it draft the change. Review every diff, this is the non-negotiable step. Then run and test. The assistant is fast at producing code; you stay the engineer who decides whether it is correct. Small steps beat big blind ones every time.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honestly. Assistants shine at boilerplate, tests, refactors, explaining unfamiliar code, and one-off scripts, the tedious stuff. Be careful with security-sensitive code, subtle correctness, licensing, and large blind changes you have not read. Rule of thumb: let it accelerate what you could do yourself and would recognize when wrong. Do not let it do things you cannot check.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Everything so far, applied. Five patterns you can use on Monday, each combining what we covered: the API, prompting, and the assistants.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highest-value pattern for most engineers: turn messy text into clean data. Feed a support ticket, ask for category, urgency, and a one-line summary as JSON, parse it, and route it. This alone replaces piles of brittle regex and manual triage. Anywhere you have unstructured text and want structured fields, this is your tool.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 a small feature with an assistant. The safe rhythm: commit first so you have a checkpoint, ask for the change, read the diff carefully, run the tests, then commit again. The assistant does the mechanical work; the review and the tests are how you stay responsible for what ships. Small scoped tasks work far better than one giant request.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fastest way into an unfamiliar codebase. Open the repo, point the assistant at it, and ask it to explain the module, trace how a request flows, or list where a function is used. What used to be a day of reading becomes a ten-minute guided tour. This is a huge unlock for onboarding and for touching code you did not write.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everyone means to write and never does. Point the assistant at a function and ask for tests, including the edge cases. It drafts them, you review that they actually assert the right thing, and you run them. You still own correctness, but the blank-page cost is gone. Great for raising coverage on code you already trust.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one-off scripts you would normally do by hand. Rename a few hundred files, pull numbers out of a log, convert a CSV to JSON. Describe it, get a script in a couple of minutes, run it, done. Individually small, but over a week these add up to real time back. The rule stays the same: read what it wrote before you run it on anything that matters.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back and look at the whole session. You understand how an LLM works. You know why tokens and context drive cost and limits. You can make a real API call and get JSON back. You can write clear, example-driven prompts. And you can work with a coding assistant. That is the full on-ramp, from zero to building.</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go next. The best next step is to build one small thing this week, a script that turns some messy text into JSON is perfect. Keep the provider docs open. And this on-ramp sets up the rest of the program: retrieval and RAG, embeddings and vector search, and agents. You are ready for all of it. Thanks, everyone.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3622849"/>
            <a:ext cx="533400" cy="57150"/>
          </a:xfrm>
          <a:prstGeom prst="rect">
            <a:avLst/>
          </a:prstGeom>
          <a:solidFill>
            <a:srgbClr val="1F6FEB"/>
          </a:solidFill>
          <a:ln/>
        </p:spPr>
        <p:txBody>
          <a:bodyPr/>
          <a:lstStyle/>
          <a:p>
            <a:endParaRPr lang="en-US"/>
          </a:p>
        </p:txBody>
      </p:sp>
      <p:sp>
        <p:nvSpPr>
          <p:cNvPr id="3" name="Text 1"/>
          <p:cNvSpPr/>
          <p:nvPr/>
        </p:nvSpPr>
        <p:spPr>
          <a:xfrm>
            <a:off x="1733550" y="3520455"/>
            <a:ext cx="9004675"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GETTING STARTED WITH LLMS FOR ENGINEERS · PART 3</a:t>
            </a:r>
            <a:endParaRPr lang="en-US" sz="1800" dirty="0"/>
          </a:p>
        </p:txBody>
      </p:sp>
      <p:sp>
        <p:nvSpPr>
          <p:cNvPr id="4" name="Text 2"/>
          <p:cNvSpPr/>
          <p:nvPr/>
        </p:nvSpPr>
        <p:spPr>
          <a:xfrm>
            <a:off x="1047750" y="4068142"/>
            <a:ext cx="17811750" cy="912465"/>
          </a:xfrm>
          <a:prstGeom prst="rect">
            <a:avLst/>
          </a:prstGeom>
          <a:noFill/>
          <a:ln/>
        </p:spPr>
        <p:txBody>
          <a:bodyPr wrap="square" lIns="25400" tIns="25400" rIns="25400" bIns="25400" rtlCol="0" anchor="t">
            <a:normAutofit/>
          </a:bodyPr>
          <a:lstStyle/>
          <a:p>
            <a:pPr marL="0" indent="0" algn="l">
              <a:lnSpc>
                <a:spcPct val="102000"/>
              </a:lnSpc>
              <a:buNone/>
            </a:pPr>
            <a:r>
              <a:rPr lang="en-US" sz="6750" b="1" kern="0" spc="-67" dirty="0">
                <a:solidFill>
                  <a:srgbClr val="1A1A1A"/>
                </a:solidFill>
                <a:latin typeface="Georgia" pitchFamily="34" charset="0"/>
                <a:ea typeface="Georgia" pitchFamily="34" charset="-122"/>
                <a:cs typeface="Georgia" pitchFamily="34" charset="-120"/>
              </a:rPr>
              <a:t>Hands-On: Build with LLMs</a:t>
            </a:r>
            <a:endParaRPr lang="en-US" sz="6750" dirty="0"/>
          </a:p>
        </p:txBody>
      </p:sp>
      <p:sp>
        <p:nvSpPr>
          <p:cNvPr id="5" name="Text 3"/>
          <p:cNvSpPr/>
          <p:nvPr/>
        </p:nvSpPr>
        <p:spPr>
          <a:xfrm>
            <a:off x="1047750" y="5190158"/>
            <a:ext cx="13096875"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Your first API call, the prompting basics, and your new AI pair programmer.</a:t>
            </a:r>
            <a:endParaRPr lang="en-US" sz="2700" dirty="0"/>
          </a:p>
        </p:txBody>
      </p:sp>
      <p:sp>
        <p:nvSpPr>
          <p:cNvPr id="6" name="Shape 4"/>
          <p:cNvSpPr/>
          <p:nvPr/>
        </p:nvSpPr>
        <p:spPr>
          <a:xfrm>
            <a:off x="1047750" y="6095033"/>
            <a:ext cx="1615678" cy="519113"/>
          </a:xfrm>
          <a:prstGeom prst="roundRect">
            <a:avLst>
              <a:gd name="adj" fmla="val 22018"/>
            </a:avLst>
          </a:prstGeom>
          <a:solidFill>
            <a:srgbClr val="E8F0FE"/>
          </a:solidFill>
          <a:ln/>
        </p:spPr>
        <p:txBody>
          <a:bodyPr/>
          <a:lstStyle/>
          <a:p>
            <a:endParaRPr lang="en-US"/>
          </a:p>
        </p:txBody>
      </p:sp>
      <p:sp>
        <p:nvSpPr>
          <p:cNvPr id="7" name="Text 5"/>
          <p:cNvSpPr/>
          <p:nvPr/>
        </p:nvSpPr>
        <p:spPr>
          <a:xfrm>
            <a:off x="1238250" y="6209333"/>
            <a:ext cx="1310878"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F6FEB"/>
                </a:solidFill>
                <a:latin typeface="Courier New" pitchFamily="34" charset="0"/>
                <a:ea typeface="Courier New" pitchFamily="34" charset="-122"/>
                <a:cs typeface="Courier New" pitchFamily="34" charset="-120"/>
              </a:rPr>
              <a:t>API call</a:t>
            </a:r>
            <a:endParaRPr lang="en-US" sz="2025" dirty="0"/>
          </a:p>
        </p:txBody>
      </p:sp>
      <p:sp>
        <p:nvSpPr>
          <p:cNvPr id="8" name="Shape 6"/>
          <p:cNvSpPr/>
          <p:nvPr/>
        </p:nvSpPr>
        <p:spPr>
          <a:xfrm>
            <a:off x="2796778" y="6095033"/>
            <a:ext cx="998339" cy="519113"/>
          </a:xfrm>
          <a:prstGeom prst="roundRect">
            <a:avLst>
              <a:gd name="adj" fmla="val 22018"/>
            </a:avLst>
          </a:prstGeom>
          <a:solidFill>
            <a:srgbClr val="E4F4EB"/>
          </a:solidFill>
          <a:ln/>
        </p:spPr>
        <p:txBody>
          <a:bodyPr/>
          <a:lstStyle/>
          <a:p>
            <a:endParaRPr lang="en-US"/>
          </a:p>
        </p:txBody>
      </p:sp>
      <p:sp>
        <p:nvSpPr>
          <p:cNvPr id="9" name="Text 7"/>
          <p:cNvSpPr/>
          <p:nvPr/>
        </p:nvSpPr>
        <p:spPr>
          <a:xfrm>
            <a:off x="2987278" y="6209333"/>
            <a:ext cx="693539"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78A4C"/>
                </a:solidFill>
                <a:latin typeface="Courier New" pitchFamily="34" charset="0"/>
                <a:ea typeface="Courier New" pitchFamily="34" charset="-122"/>
                <a:cs typeface="Courier New" pitchFamily="34" charset="-120"/>
              </a:rPr>
              <a:t>JSON</a:t>
            </a:r>
            <a:endParaRPr lang="en-US" sz="2025" dirty="0"/>
          </a:p>
        </p:txBody>
      </p:sp>
      <p:sp>
        <p:nvSpPr>
          <p:cNvPr id="10" name="Shape 8"/>
          <p:cNvSpPr/>
          <p:nvPr/>
        </p:nvSpPr>
        <p:spPr>
          <a:xfrm>
            <a:off x="3928467" y="6095033"/>
            <a:ext cx="1770013" cy="519113"/>
          </a:xfrm>
          <a:prstGeom prst="roundRect">
            <a:avLst>
              <a:gd name="adj" fmla="val 22018"/>
            </a:avLst>
          </a:prstGeom>
          <a:solidFill>
            <a:srgbClr val="FBF0D9"/>
          </a:solidFill>
          <a:ln/>
        </p:spPr>
        <p:txBody>
          <a:bodyPr/>
          <a:lstStyle/>
          <a:p>
            <a:endParaRPr lang="en-US"/>
          </a:p>
        </p:txBody>
      </p:sp>
      <p:sp>
        <p:nvSpPr>
          <p:cNvPr id="11" name="Text 9"/>
          <p:cNvSpPr/>
          <p:nvPr/>
        </p:nvSpPr>
        <p:spPr>
          <a:xfrm>
            <a:off x="4118967" y="6209333"/>
            <a:ext cx="1465213"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C77D0A"/>
                </a:solidFill>
                <a:latin typeface="Courier New" pitchFamily="34" charset="0"/>
                <a:ea typeface="Courier New" pitchFamily="34" charset="-122"/>
                <a:cs typeface="Courier New" pitchFamily="34" charset="-120"/>
              </a:rPr>
              <a:t>prompting</a:t>
            </a:r>
            <a:endParaRPr lang="en-US" sz="2025" dirty="0"/>
          </a:p>
        </p:txBody>
      </p:sp>
      <p:sp>
        <p:nvSpPr>
          <p:cNvPr id="12" name="Shape 10"/>
          <p:cNvSpPr/>
          <p:nvPr/>
        </p:nvSpPr>
        <p:spPr>
          <a:xfrm>
            <a:off x="5831830" y="6095033"/>
            <a:ext cx="2850282" cy="519113"/>
          </a:xfrm>
          <a:prstGeom prst="roundRect">
            <a:avLst>
              <a:gd name="adj" fmla="val 22018"/>
            </a:avLst>
          </a:prstGeom>
          <a:solidFill>
            <a:srgbClr val="EFE9FB"/>
          </a:solidFill>
          <a:ln/>
        </p:spPr>
        <p:txBody>
          <a:bodyPr/>
          <a:lstStyle/>
          <a:p>
            <a:endParaRPr lang="en-US"/>
          </a:p>
        </p:txBody>
      </p:sp>
      <p:sp>
        <p:nvSpPr>
          <p:cNvPr id="13" name="Text 11"/>
          <p:cNvSpPr/>
          <p:nvPr/>
        </p:nvSpPr>
        <p:spPr>
          <a:xfrm>
            <a:off x="6022330" y="6209333"/>
            <a:ext cx="255479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Courier New" pitchFamily="34" charset="0"/>
                <a:ea typeface="Courier New" pitchFamily="34" charset="-122"/>
                <a:cs typeface="Courier New" pitchFamily="34" charset="-120"/>
              </a:rPr>
              <a:t>coding assistant</a:t>
            </a:r>
            <a:endParaRPr lang="en-US" sz="20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30525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PART 3 · HANDS-ON</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What This Part Covers</a:t>
            </a:r>
            <a:endParaRPr lang="en-US" sz="4800" dirty="0"/>
          </a:p>
        </p:txBody>
      </p:sp>
      <p:sp>
        <p:nvSpPr>
          <p:cNvPr id="5" name="Shape 3"/>
          <p:cNvSpPr/>
          <p:nvPr/>
        </p:nvSpPr>
        <p:spPr>
          <a:xfrm>
            <a:off x="1047750" y="4367436"/>
            <a:ext cx="14859000" cy="9525"/>
          </a:xfrm>
          <a:prstGeom prst="rect">
            <a:avLst/>
          </a:prstGeom>
          <a:solidFill>
            <a:srgbClr val="E3E1DA"/>
          </a:solidFill>
          <a:ln/>
        </p:spPr>
        <p:txBody>
          <a:bodyPr/>
          <a:lstStyle/>
          <a:p>
            <a:endParaRPr lang="en-US"/>
          </a:p>
        </p:txBody>
      </p:sp>
      <p:sp>
        <p:nvSpPr>
          <p:cNvPr id="6" name="Text 4"/>
          <p:cNvSpPr/>
          <p:nvPr/>
        </p:nvSpPr>
        <p:spPr>
          <a:xfrm>
            <a:off x="1047750" y="3653061"/>
            <a:ext cx="876300" cy="581025"/>
          </a:xfrm>
          <a:prstGeom prst="rect">
            <a:avLst/>
          </a:prstGeom>
          <a:noFill/>
          <a:ln/>
        </p:spPr>
        <p:txBody>
          <a:bodyPr wrap="square" lIns="25400" tIns="25400" rIns="25400" bIns="25400" rtlCol="0" anchor="t">
            <a:normAutofit/>
          </a:bodyPr>
          <a:lstStyle/>
          <a:p>
            <a:pPr marL="0" indent="0" algn="l">
              <a:buNone/>
            </a:pPr>
            <a:r>
              <a:rPr lang="en-US" sz="3750" b="1" dirty="0">
                <a:solidFill>
                  <a:srgbClr val="1F6FEB"/>
                </a:solidFill>
                <a:latin typeface="Georgia" pitchFamily="34" charset="0"/>
                <a:ea typeface="Georgia" pitchFamily="34" charset="-122"/>
                <a:cs typeface="Georgia" pitchFamily="34" charset="-120"/>
              </a:rPr>
              <a:t>01</a:t>
            </a:r>
            <a:endParaRPr lang="en-US" sz="3750" dirty="0"/>
          </a:p>
        </p:txBody>
      </p:sp>
      <p:sp>
        <p:nvSpPr>
          <p:cNvPr id="7" name="Text 5"/>
          <p:cNvSpPr/>
          <p:nvPr/>
        </p:nvSpPr>
        <p:spPr>
          <a:xfrm>
            <a:off x="2171700" y="3776886"/>
            <a:ext cx="7553623"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Your first API call — a structured JSON result</a:t>
            </a:r>
            <a:endParaRPr lang="en-US" sz="2700" dirty="0"/>
          </a:p>
        </p:txBody>
      </p:sp>
      <p:sp>
        <p:nvSpPr>
          <p:cNvPr id="8" name="Shape 6"/>
          <p:cNvSpPr/>
          <p:nvPr/>
        </p:nvSpPr>
        <p:spPr>
          <a:xfrm>
            <a:off x="1047750" y="5300886"/>
            <a:ext cx="14859000" cy="9525"/>
          </a:xfrm>
          <a:prstGeom prst="rect">
            <a:avLst/>
          </a:prstGeom>
          <a:solidFill>
            <a:srgbClr val="E3E1DA"/>
          </a:solidFill>
          <a:ln/>
        </p:spPr>
        <p:txBody>
          <a:bodyPr/>
          <a:lstStyle/>
          <a:p>
            <a:endParaRPr lang="en-US"/>
          </a:p>
        </p:txBody>
      </p:sp>
      <p:sp>
        <p:nvSpPr>
          <p:cNvPr id="9" name="Text 7"/>
          <p:cNvSpPr/>
          <p:nvPr/>
        </p:nvSpPr>
        <p:spPr>
          <a:xfrm>
            <a:off x="1047750" y="4586511"/>
            <a:ext cx="876300" cy="581025"/>
          </a:xfrm>
          <a:prstGeom prst="rect">
            <a:avLst/>
          </a:prstGeom>
          <a:noFill/>
          <a:ln/>
        </p:spPr>
        <p:txBody>
          <a:bodyPr wrap="square" lIns="25400" tIns="25400" rIns="25400" bIns="25400" rtlCol="0" anchor="t">
            <a:normAutofit/>
          </a:bodyPr>
          <a:lstStyle/>
          <a:p>
            <a:pPr marL="0" indent="0" algn="l">
              <a:buNone/>
            </a:pPr>
            <a:r>
              <a:rPr lang="en-US" sz="3750" b="1" dirty="0">
                <a:solidFill>
                  <a:srgbClr val="178A4C"/>
                </a:solidFill>
                <a:latin typeface="Georgia" pitchFamily="34" charset="0"/>
                <a:ea typeface="Georgia" pitchFamily="34" charset="-122"/>
                <a:cs typeface="Georgia" pitchFamily="34" charset="-120"/>
              </a:rPr>
              <a:t>02</a:t>
            </a:r>
            <a:endParaRPr lang="en-US" sz="3750" dirty="0"/>
          </a:p>
        </p:txBody>
      </p:sp>
      <p:sp>
        <p:nvSpPr>
          <p:cNvPr id="10" name="Text 8"/>
          <p:cNvSpPr/>
          <p:nvPr/>
        </p:nvSpPr>
        <p:spPr>
          <a:xfrm>
            <a:off x="2171700" y="4710336"/>
            <a:ext cx="8323801"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Prompting — core habits &amp; the named techniques</a:t>
            </a:r>
            <a:endParaRPr lang="en-US" sz="2700" dirty="0"/>
          </a:p>
        </p:txBody>
      </p:sp>
      <p:sp>
        <p:nvSpPr>
          <p:cNvPr id="11" name="Shape 9"/>
          <p:cNvSpPr/>
          <p:nvPr/>
        </p:nvSpPr>
        <p:spPr>
          <a:xfrm>
            <a:off x="1047750" y="6234336"/>
            <a:ext cx="14859000" cy="9525"/>
          </a:xfrm>
          <a:prstGeom prst="rect">
            <a:avLst/>
          </a:prstGeom>
          <a:solidFill>
            <a:srgbClr val="E3E1DA"/>
          </a:solidFill>
          <a:ln/>
        </p:spPr>
        <p:txBody>
          <a:bodyPr/>
          <a:lstStyle/>
          <a:p>
            <a:endParaRPr lang="en-US"/>
          </a:p>
        </p:txBody>
      </p:sp>
      <p:sp>
        <p:nvSpPr>
          <p:cNvPr id="12" name="Text 10"/>
          <p:cNvSpPr/>
          <p:nvPr/>
        </p:nvSpPr>
        <p:spPr>
          <a:xfrm>
            <a:off x="1047750" y="5519961"/>
            <a:ext cx="876300" cy="581025"/>
          </a:xfrm>
          <a:prstGeom prst="rect">
            <a:avLst/>
          </a:prstGeom>
          <a:noFill/>
          <a:ln/>
        </p:spPr>
        <p:txBody>
          <a:bodyPr wrap="square" lIns="25400" tIns="25400" rIns="25400" bIns="25400" rtlCol="0" anchor="t">
            <a:normAutofit/>
          </a:bodyPr>
          <a:lstStyle/>
          <a:p>
            <a:pPr marL="0" indent="0" algn="l">
              <a:buNone/>
            </a:pPr>
            <a:r>
              <a:rPr lang="en-US" sz="3750" b="1" dirty="0">
                <a:solidFill>
                  <a:srgbClr val="7A4FD0"/>
                </a:solidFill>
                <a:latin typeface="Georgia" pitchFamily="34" charset="0"/>
                <a:ea typeface="Georgia" pitchFamily="34" charset="-122"/>
                <a:cs typeface="Georgia" pitchFamily="34" charset="-120"/>
              </a:rPr>
              <a:t>03</a:t>
            </a:r>
            <a:endParaRPr lang="en-US" sz="3750" dirty="0"/>
          </a:p>
        </p:txBody>
      </p:sp>
      <p:sp>
        <p:nvSpPr>
          <p:cNvPr id="13" name="Text 11"/>
          <p:cNvSpPr/>
          <p:nvPr/>
        </p:nvSpPr>
        <p:spPr>
          <a:xfrm>
            <a:off x="2171700" y="5643786"/>
            <a:ext cx="7198124"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Your workspace — the terminal &amp; VS Code</a:t>
            </a:r>
            <a:endParaRPr lang="en-US" sz="2700" dirty="0"/>
          </a:p>
        </p:txBody>
      </p:sp>
      <p:sp>
        <p:nvSpPr>
          <p:cNvPr id="14" name="Shape 12"/>
          <p:cNvSpPr/>
          <p:nvPr/>
        </p:nvSpPr>
        <p:spPr>
          <a:xfrm>
            <a:off x="1047750" y="7167786"/>
            <a:ext cx="14859000" cy="9525"/>
          </a:xfrm>
          <a:prstGeom prst="rect">
            <a:avLst/>
          </a:prstGeom>
          <a:solidFill>
            <a:srgbClr val="E3E1DA"/>
          </a:solidFill>
          <a:ln/>
        </p:spPr>
        <p:txBody>
          <a:bodyPr/>
          <a:lstStyle/>
          <a:p>
            <a:endParaRPr lang="en-US"/>
          </a:p>
        </p:txBody>
      </p:sp>
      <p:sp>
        <p:nvSpPr>
          <p:cNvPr id="15" name="Text 13"/>
          <p:cNvSpPr/>
          <p:nvPr/>
        </p:nvSpPr>
        <p:spPr>
          <a:xfrm>
            <a:off x="1047750" y="6453411"/>
            <a:ext cx="876300" cy="581025"/>
          </a:xfrm>
          <a:prstGeom prst="rect">
            <a:avLst/>
          </a:prstGeom>
          <a:noFill/>
          <a:ln/>
        </p:spPr>
        <p:txBody>
          <a:bodyPr wrap="square" lIns="25400" tIns="25400" rIns="25400" bIns="25400" rtlCol="0" anchor="t">
            <a:normAutofit/>
          </a:bodyPr>
          <a:lstStyle/>
          <a:p>
            <a:pPr marL="0" indent="0" algn="l">
              <a:buNone/>
            </a:pPr>
            <a:r>
              <a:rPr lang="en-US" sz="3750" b="1" dirty="0">
                <a:solidFill>
                  <a:srgbClr val="C77D0A"/>
                </a:solidFill>
                <a:latin typeface="Georgia" pitchFamily="34" charset="0"/>
                <a:ea typeface="Georgia" pitchFamily="34" charset="-122"/>
                <a:cs typeface="Georgia" pitchFamily="34" charset="-120"/>
              </a:rPr>
              <a:t>04</a:t>
            </a:r>
            <a:endParaRPr lang="en-US" sz="3750" dirty="0"/>
          </a:p>
        </p:txBody>
      </p:sp>
      <p:sp>
        <p:nvSpPr>
          <p:cNvPr id="16" name="Text 14"/>
          <p:cNvSpPr/>
          <p:nvPr/>
        </p:nvSpPr>
        <p:spPr>
          <a:xfrm>
            <a:off x="2171700" y="6577236"/>
            <a:ext cx="7736078"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AI coding assistants — Cursor &amp; Claude Code</a:t>
            </a:r>
            <a:endParaRPr lang="en-US" sz="2700" dirty="0"/>
          </a:p>
        </p:txBody>
      </p:sp>
      <p:sp>
        <p:nvSpPr>
          <p:cNvPr id="17" name="Text 15"/>
          <p:cNvSpPr/>
          <p:nvPr/>
        </p:nvSpPr>
        <p:spPr>
          <a:xfrm>
            <a:off x="1047750" y="7386861"/>
            <a:ext cx="876300" cy="581025"/>
          </a:xfrm>
          <a:prstGeom prst="rect">
            <a:avLst/>
          </a:prstGeom>
          <a:noFill/>
          <a:ln/>
        </p:spPr>
        <p:txBody>
          <a:bodyPr wrap="square" lIns="25400" tIns="25400" rIns="25400" bIns="25400" rtlCol="0" anchor="t">
            <a:normAutofit/>
          </a:bodyPr>
          <a:lstStyle/>
          <a:p>
            <a:pPr marL="0" indent="0" algn="l">
              <a:buNone/>
            </a:pPr>
            <a:r>
              <a:rPr lang="en-US" sz="3750" b="1" dirty="0">
                <a:solidFill>
                  <a:srgbClr val="D64545"/>
                </a:solidFill>
                <a:latin typeface="Georgia" pitchFamily="34" charset="0"/>
                <a:ea typeface="Georgia" pitchFamily="34" charset="-122"/>
                <a:cs typeface="Georgia" pitchFamily="34" charset="-120"/>
              </a:rPr>
              <a:t>05</a:t>
            </a:r>
            <a:endParaRPr lang="en-US" sz="3750" dirty="0"/>
          </a:p>
        </p:txBody>
      </p:sp>
      <p:sp>
        <p:nvSpPr>
          <p:cNvPr id="18" name="Text 16"/>
          <p:cNvSpPr/>
          <p:nvPr/>
        </p:nvSpPr>
        <p:spPr>
          <a:xfrm>
            <a:off x="2171700" y="7510686"/>
            <a:ext cx="7946038" cy="428625"/>
          </a:xfrm>
          <a:prstGeom prst="rect">
            <a:avLst/>
          </a:prstGeom>
          <a:noFill/>
          <a:ln/>
        </p:spPr>
        <p:txBody>
          <a:bodyPr wrap="square" lIns="25400" tIns="25400" rIns="25400" bIns="25400" rtlCol="0" anchor="t">
            <a:normAutofit/>
          </a:bodyPr>
          <a:lstStyle/>
          <a:p>
            <a:pPr marL="0" indent="0" algn="l">
              <a:buNone/>
            </a:pPr>
            <a:r>
              <a:rPr lang="en-US" sz="2700" dirty="0">
                <a:solidFill>
                  <a:srgbClr val="1A1A1A"/>
                </a:solidFill>
                <a:latin typeface="Arial" pitchFamily="34" charset="0"/>
                <a:ea typeface="Arial" pitchFamily="34" charset="-122"/>
                <a:cs typeface="Arial" pitchFamily="34" charset="-120"/>
              </a:rPr>
              <a:t>Real-world playbook — patterns to use Monday</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F6FEB"/>
          </a:solidFill>
          <a:ln/>
        </p:spPr>
        <p:txBody>
          <a:bodyPr/>
          <a:lstStyle/>
          <a:p>
            <a:endParaRPr lang="en-US"/>
          </a:p>
        </p:txBody>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01</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1F6FEB"/>
                </a:solidFill>
                <a:latin typeface="Georgia" pitchFamily="34" charset="0"/>
                <a:ea typeface="Georgia" pitchFamily="34" charset="-122"/>
                <a:cs typeface="Georgia" pitchFamily="34" charset="-120"/>
              </a:rPr>
              <a:t>01</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Your First API Call</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From a prompt to a structured result your code can use.</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34116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FIRST API CALL</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Anatomy of a Call</a:t>
            </a:r>
            <a:endParaRPr lang="en-US" sz="4800" dirty="0"/>
          </a:p>
        </p:txBody>
      </p:sp>
      <p:sp>
        <p:nvSpPr>
          <p:cNvPr id="5" name="Shape 3"/>
          <p:cNvSpPr/>
          <p:nvPr/>
        </p:nvSpPr>
        <p:spPr>
          <a:xfrm>
            <a:off x="1047750" y="5984304"/>
            <a:ext cx="5245075" cy="9525"/>
          </a:xfrm>
          <a:prstGeom prst="rect">
            <a:avLst/>
          </a:prstGeom>
          <a:solidFill>
            <a:srgbClr val="E3E1DA"/>
          </a:solidFill>
          <a:ln/>
        </p:spPr>
        <p:txBody>
          <a:bodyPr/>
          <a:lstStyle/>
          <a:p>
            <a:endParaRPr lang="en-US"/>
          </a:p>
        </p:txBody>
      </p:sp>
      <p:sp>
        <p:nvSpPr>
          <p:cNvPr id="6" name="Shape 4"/>
          <p:cNvSpPr/>
          <p:nvPr/>
        </p:nvSpPr>
        <p:spPr>
          <a:xfrm>
            <a:off x="1047750" y="4707954"/>
            <a:ext cx="5245075" cy="47625"/>
          </a:xfrm>
          <a:prstGeom prst="rect">
            <a:avLst/>
          </a:prstGeom>
          <a:solidFill>
            <a:srgbClr val="1F6FEB"/>
          </a:solidFill>
          <a:ln/>
        </p:spPr>
        <p:txBody>
          <a:bodyPr/>
          <a:lstStyle/>
          <a:p>
            <a:endParaRPr lang="en-US"/>
          </a:p>
        </p:txBody>
      </p:sp>
      <p:sp>
        <p:nvSpPr>
          <p:cNvPr id="7" name="Shape 5"/>
          <p:cNvSpPr/>
          <p:nvPr/>
        </p:nvSpPr>
        <p:spPr>
          <a:xfrm>
            <a:off x="1047750" y="4707954"/>
            <a:ext cx="9525" cy="1285875"/>
          </a:xfrm>
          <a:prstGeom prst="rect">
            <a:avLst/>
          </a:prstGeom>
          <a:solidFill>
            <a:srgbClr val="E3E1DA"/>
          </a:solidFill>
          <a:ln/>
        </p:spPr>
        <p:txBody>
          <a:bodyPr/>
          <a:lstStyle/>
          <a:p>
            <a:endParaRPr lang="en-US"/>
          </a:p>
        </p:txBody>
      </p:sp>
      <p:sp>
        <p:nvSpPr>
          <p:cNvPr id="8" name="Shape 6"/>
          <p:cNvSpPr/>
          <p:nvPr/>
        </p:nvSpPr>
        <p:spPr>
          <a:xfrm>
            <a:off x="6283300" y="4707954"/>
            <a:ext cx="9525" cy="1285875"/>
          </a:xfrm>
          <a:prstGeom prst="rect">
            <a:avLst/>
          </a:prstGeom>
          <a:solidFill>
            <a:srgbClr val="E3E1DA"/>
          </a:solidFill>
          <a:ln/>
        </p:spPr>
        <p:txBody>
          <a:bodyPr/>
          <a:lstStyle/>
          <a:p>
            <a:endParaRPr lang="en-US"/>
          </a:p>
        </p:txBody>
      </p:sp>
      <p:sp>
        <p:nvSpPr>
          <p:cNvPr id="9" name="Text 7"/>
          <p:cNvSpPr/>
          <p:nvPr/>
        </p:nvSpPr>
        <p:spPr>
          <a:xfrm>
            <a:off x="1343025" y="5003229"/>
            <a:ext cx="5119978"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model</a:t>
            </a:r>
            <a:endParaRPr lang="en-US" sz="2400" dirty="0"/>
          </a:p>
        </p:txBody>
      </p:sp>
      <p:sp>
        <p:nvSpPr>
          <p:cNvPr id="10" name="Text 8"/>
          <p:cNvSpPr/>
          <p:nvPr/>
        </p:nvSpPr>
        <p:spPr>
          <a:xfrm>
            <a:off x="1343025" y="5441379"/>
            <a:ext cx="5119978"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which model — pick a tier</a:t>
            </a:r>
            <a:endParaRPr lang="en-US" sz="2025" dirty="0"/>
          </a:p>
        </p:txBody>
      </p:sp>
      <p:sp>
        <p:nvSpPr>
          <p:cNvPr id="11" name="Shape 9"/>
          <p:cNvSpPr/>
          <p:nvPr/>
        </p:nvSpPr>
        <p:spPr>
          <a:xfrm>
            <a:off x="6521425" y="5984304"/>
            <a:ext cx="5245150" cy="9525"/>
          </a:xfrm>
          <a:prstGeom prst="rect">
            <a:avLst/>
          </a:prstGeom>
          <a:solidFill>
            <a:srgbClr val="E3E1DA"/>
          </a:solidFill>
          <a:ln/>
        </p:spPr>
        <p:txBody>
          <a:bodyPr/>
          <a:lstStyle/>
          <a:p>
            <a:endParaRPr lang="en-US"/>
          </a:p>
        </p:txBody>
      </p:sp>
      <p:sp>
        <p:nvSpPr>
          <p:cNvPr id="12" name="Shape 10"/>
          <p:cNvSpPr/>
          <p:nvPr/>
        </p:nvSpPr>
        <p:spPr>
          <a:xfrm>
            <a:off x="6521425" y="4707954"/>
            <a:ext cx="5245150" cy="47625"/>
          </a:xfrm>
          <a:prstGeom prst="rect">
            <a:avLst/>
          </a:prstGeom>
          <a:solidFill>
            <a:srgbClr val="178A4C"/>
          </a:solidFill>
          <a:ln/>
        </p:spPr>
        <p:txBody>
          <a:bodyPr/>
          <a:lstStyle/>
          <a:p>
            <a:endParaRPr lang="en-US"/>
          </a:p>
        </p:txBody>
      </p:sp>
      <p:sp>
        <p:nvSpPr>
          <p:cNvPr id="13" name="Shape 11"/>
          <p:cNvSpPr/>
          <p:nvPr/>
        </p:nvSpPr>
        <p:spPr>
          <a:xfrm>
            <a:off x="6521425" y="4707954"/>
            <a:ext cx="9525" cy="1285875"/>
          </a:xfrm>
          <a:prstGeom prst="rect">
            <a:avLst/>
          </a:prstGeom>
          <a:solidFill>
            <a:srgbClr val="E3E1DA"/>
          </a:solidFill>
          <a:ln/>
        </p:spPr>
        <p:txBody>
          <a:bodyPr/>
          <a:lstStyle/>
          <a:p>
            <a:endParaRPr lang="en-US"/>
          </a:p>
        </p:txBody>
      </p:sp>
      <p:sp>
        <p:nvSpPr>
          <p:cNvPr id="14" name="Shape 12"/>
          <p:cNvSpPr/>
          <p:nvPr/>
        </p:nvSpPr>
        <p:spPr>
          <a:xfrm>
            <a:off x="11757050" y="4707954"/>
            <a:ext cx="9525" cy="1285875"/>
          </a:xfrm>
          <a:prstGeom prst="rect">
            <a:avLst/>
          </a:prstGeom>
          <a:solidFill>
            <a:srgbClr val="E3E1DA"/>
          </a:solidFill>
          <a:ln/>
        </p:spPr>
        <p:txBody>
          <a:bodyPr/>
          <a:lstStyle/>
          <a:p>
            <a:endParaRPr lang="en-US"/>
          </a:p>
        </p:txBody>
      </p:sp>
      <p:sp>
        <p:nvSpPr>
          <p:cNvPr id="15" name="Text 13"/>
          <p:cNvSpPr/>
          <p:nvPr/>
        </p:nvSpPr>
        <p:spPr>
          <a:xfrm>
            <a:off x="6816700" y="5003229"/>
            <a:ext cx="512006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78A4C"/>
                </a:solidFill>
                <a:latin typeface="Courier New" pitchFamily="34" charset="0"/>
                <a:ea typeface="Courier New" pitchFamily="34" charset="-122"/>
                <a:cs typeface="Courier New" pitchFamily="34" charset="-120"/>
              </a:rPr>
              <a:t>messages</a:t>
            </a:r>
            <a:endParaRPr lang="en-US" sz="2400" dirty="0"/>
          </a:p>
        </p:txBody>
      </p:sp>
      <p:sp>
        <p:nvSpPr>
          <p:cNvPr id="16" name="Text 14"/>
          <p:cNvSpPr/>
          <p:nvPr/>
        </p:nvSpPr>
        <p:spPr>
          <a:xfrm>
            <a:off x="6816700" y="5441379"/>
            <a:ext cx="512006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system rules + your input</a:t>
            </a:r>
            <a:endParaRPr lang="en-US" sz="2025" dirty="0"/>
          </a:p>
        </p:txBody>
      </p:sp>
      <p:sp>
        <p:nvSpPr>
          <p:cNvPr id="17" name="Shape 15"/>
          <p:cNvSpPr/>
          <p:nvPr/>
        </p:nvSpPr>
        <p:spPr>
          <a:xfrm>
            <a:off x="11995175" y="5984304"/>
            <a:ext cx="5245075" cy="9525"/>
          </a:xfrm>
          <a:prstGeom prst="rect">
            <a:avLst/>
          </a:prstGeom>
          <a:solidFill>
            <a:srgbClr val="E3E1DA"/>
          </a:solidFill>
          <a:ln/>
        </p:spPr>
        <p:txBody>
          <a:bodyPr/>
          <a:lstStyle/>
          <a:p>
            <a:endParaRPr lang="en-US"/>
          </a:p>
        </p:txBody>
      </p:sp>
      <p:sp>
        <p:nvSpPr>
          <p:cNvPr id="18" name="Shape 16"/>
          <p:cNvSpPr/>
          <p:nvPr/>
        </p:nvSpPr>
        <p:spPr>
          <a:xfrm>
            <a:off x="11995175" y="4707954"/>
            <a:ext cx="5245075" cy="47625"/>
          </a:xfrm>
          <a:prstGeom prst="rect">
            <a:avLst/>
          </a:prstGeom>
          <a:solidFill>
            <a:srgbClr val="C77D0A"/>
          </a:solidFill>
          <a:ln/>
        </p:spPr>
        <p:txBody>
          <a:bodyPr/>
          <a:lstStyle/>
          <a:p>
            <a:endParaRPr lang="en-US"/>
          </a:p>
        </p:txBody>
      </p:sp>
      <p:sp>
        <p:nvSpPr>
          <p:cNvPr id="19" name="Shape 17"/>
          <p:cNvSpPr/>
          <p:nvPr/>
        </p:nvSpPr>
        <p:spPr>
          <a:xfrm>
            <a:off x="11995175" y="4707954"/>
            <a:ext cx="9525" cy="1285875"/>
          </a:xfrm>
          <a:prstGeom prst="rect">
            <a:avLst/>
          </a:prstGeom>
          <a:solidFill>
            <a:srgbClr val="E3E1DA"/>
          </a:solidFill>
          <a:ln/>
        </p:spPr>
        <p:txBody>
          <a:bodyPr/>
          <a:lstStyle/>
          <a:p>
            <a:endParaRPr lang="en-US"/>
          </a:p>
        </p:txBody>
      </p:sp>
      <p:sp>
        <p:nvSpPr>
          <p:cNvPr id="20" name="Shape 18"/>
          <p:cNvSpPr/>
          <p:nvPr/>
        </p:nvSpPr>
        <p:spPr>
          <a:xfrm>
            <a:off x="17230725" y="4707954"/>
            <a:ext cx="9525" cy="1285875"/>
          </a:xfrm>
          <a:prstGeom prst="rect">
            <a:avLst/>
          </a:prstGeom>
          <a:solidFill>
            <a:srgbClr val="E3E1DA"/>
          </a:solidFill>
          <a:ln/>
        </p:spPr>
        <p:txBody>
          <a:bodyPr/>
          <a:lstStyle/>
          <a:p>
            <a:endParaRPr lang="en-US"/>
          </a:p>
        </p:txBody>
      </p:sp>
      <p:sp>
        <p:nvSpPr>
          <p:cNvPr id="21" name="Text 19"/>
          <p:cNvSpPr/>
          <p:nvPr/>
        </p:nvSpPr>
        <p:spPr>
          <a:xfrm>
            <a:off x="12290450" y="5003229"/>
            <a:ext cx="5119978"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C77D0A"/>
                </a:solidFill>
                <a:latin typeface="Courier New" pitchFamily="34" charset="0"/>
                <a:ea typeface="Courier New" pitchFamily="34" charset="-122"/>
                <a:cs typeface="Courier New" pitchFamily="34" charset="-120"/>
              </a:rPr>
              <a:t>parameters</a:t>
            </a:r>
            <a:endParaRPr lang="en-US" sz="2400" dirty="0"/>
          </a:p>
        </p:txBody>
      </p:sp>
      <p:sp>
        <p:nvSpPr>
          <p:cNvPr id="22" name="Text 20"/>
          <p:cNvSpPr/>
          <p:nvPr/>
        </p:nvSpPr>
        <p:spPr>
          <a:xfrm>
            <a:off x="12290450" y="5441379"/>
            <a:ext cx="5119978"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temperature, max tokens…</a:t>
            </a:r>
            <a:endParaRPr lang="en-US" sz="2025" dirty="0"/>
          </a:p>
        </p:txBody>
      </p:sp>
      <p:sp>
        <p:nvSpPr>
          <p:cNvPr id="23" name="Shape 21"/>
          <p:cNvSpPr/>
          <p:nvPr/>
        </p:nvSpPr>
        <p:spPr>
          <a:xfrm>
            <a:off x="6388968" y="6241479"/>
            <a:ext cx="1480393" cy="500063"/>
          </a:xfrm>
          <a:prstGeom prst="roundRect">
            <a:avLst>
              <a:gd name="adj" fmla="val 19048"/>
            </a:avLst>
          </a:prstGeom>
          <a:solidFill>
            <a:srgbClr val="F8F7F3"/>
          </a:solidFill>
          <a:ln w="9525">
            <a:solidFill>
              <a:srgbClr val="E3E1DA"/>
            </a:solidFill>
            <a:prstDash val="solid"/>
          </a:ln>
        </p:spPr>
        <p:txBody>
          <a:bodyPr/>
          <a:lstStyle/>
          <a:p>
            <a:endParaRPr lang="en-US"/>
          </a:p>
        </p:txBody>
      </p:sp>
      <p:sp>
        <p:nvSpPr>
          <p:cNvPr id="24" name="Text 22"/>
          <p:cNvSpPr/>
          <p:nvPr/>
        </p:nvSpPr>
        <p:spPr>
          <a:xfrm>
            <a:off x="6588993" y="6346254"/>
            <a:ext cx="1156543"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request</a:t>
            </a:r>
            <a:endParaRPr lang="en-US" sz="2025" dirty="0"/>
          </a:p>
        </p:txBody>
      </p:sp>
      <p:sp>
        <p:nvSpPr>
          <p:cNvPr id="25" name="Text 23"/>
          <p:cNvSpPr/>
          <p:nvPr/>
        </p:nvSpPr>
        <p:spPr>
          <a:xfrm>
            <a:off x="8059862" y="6265292"/>
            <a:ext cx="316334" cy="490538"/>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Courier New" pitchFamily="34" charset="0"/>
                <a:ea typeface="Courier New" pitchFamily="34" charset="-122"/>
                <a:cs typeface="Courier New" pitchFamily="34" charset="-120"/>
              </a:rPr>
              <a:t>→</a:t>
            </a:r>
            <a:endParaRPr lang="en-US" sz="3150" dirty="0"/>
          </a:p>
        </p:txBody>
      </p:sp>
      <p:sp>
        <p:nvSpPr>
          <p:cNvPr id="26" name="Shape 24"/>
          <p:cNvSpPr/>
          <p:nvPr/>
        </p:nvSpPr>
        <p:spPr>
          <a:xfrm>
            <a:off x="8490496" y="6251004"/>
            <a:ext cx="1152674" cy="481012"/>
          </a:xfrm>
          <a:prstGeom prst="roundRect">
            <a:avLst>
              <a:gd name="adj" fmla="val 19802"/>
            </a:avLst>
          </a:prstGeom>
          <a:solidFill>
            <a:srgbClr val="E8F0FE"/>
          </a:solidFill>
          <a:ln/>
        </p:spPr>
        <p:txBody>
          <a:bodyPr/>
          <a:lstStyle/>
          <a:p>
            <a:endParaRPr lang="en-US"/>
          </a:p>
        </p:txBody>
      </p:sp>
      <p:sp>
        <p:nvSpPr>
          <p:cNvPr id="27" name="Text 25"/>
          <p:cNvSpPr/>
          <p:nvPr/>
        </p:nvSpPr>
        <p:spPr>
          <a:xfrm>
            <a:off x="8680996" y="6346254"/>
            <a:ext cx="847874" cy="328612"/>
          </a:xfrm>
          <a:prstGeom prst="rect">
            <a:avLst/>
          </a:prstGeom>
          <a:noFill/>
          <a:ln/>
        </p:spPr>
        <p:txBody>
          <a:bodyPr wrap="square" lIns="25400" tIns="25400" rIns="25400" bIns="25400" rtlCol="0" anchor="t">
            <a:normAutofit/>
          </a:bodyPr>
          <a:lstStyle/>
          <a:p>
            <a:pPr marL="0" indent="0" algn="l">
              <a:buNone/>
            </a:pPr>
            <a:r>
              <a:rPr lang="en-US" sz="2025" dirty="0">
                <a:solidFill>
                  <a:srgbClr val="1F6FEB"/>
                </a:solidFill>
                <a:latin typeface="Courier New" pitchFamily="34" charset="0"/>
                <a:ea typeface="Courier New" pitchFamily="34" charset="-122"/>
                <a:cs typeface="Courier New" pitchFamily="34" charset="-120"/>
              </a:rPr>
              <a:t>model</a:t>
            </a:r>
            <a:endParaRPr lang="en-US" sz="2025" dirty="0"/>
          </a:p>
        </p:txBody>
      </p:sp>
      <p:sp>
        <p:nvSpPr>
          <p:cNvPr id="28" name="Text 26"/>
          <p:cNvSpPr/>
          <p:nvPr/>
        </p:nvSpPr>
        <p:spPr>
          <a:xfrm>
            <a:off x="9833670" y="6265292"/>
            <a:ext cx="316334" cy="490538"/>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Courier New" pitchFamily="34" charset="0"/>
                <a:ea typeface="Courier New" pitchFamily="34" charset="-122"/>
                <a:cs typeface="Courier New" pitchFamily="34" charset="-120"/>
              </a:rPr>
              <a:t>→</a:t>
            </a:r>
            <a:endParaRPr lang="en-US" sz="3150" dirty="0"/>
          </a:p>
        </p:txBody>
      </p:sp>
      <p:sp>
        <p:nvSpPr>
          <p:cNvPr id="29" name="Shape 27"/>
          <p:cNvSpPr/>
          <p:nvPr/>
        </p:nvSpPr>
        <p:spPr>
          <a:xfrm>
            <a:off x="10264304" y="6241479"/>
            <a:ext cx="1634728" cy="500063"/>
          </a:xfrm>
          <a:prstGeom prst="roundRect">
            <a:avLst>
              <a:gd name="adj" fmla="val 19048"/>
            </a:avLst>
          </a:prstGeom>
          <a:solidFill>
            <a:srgbClr val="F8F7F3"/>
          </a:solidFill>
          <a:ln w="9525">
            <a:solidFill>
              <a:srgbClr val="E3E1DA"/>
            </a:solidFill>
            <a:prstDash val="solid"/>
          </a:ln>
        </p:spPr>
        <p:txBody>
          <a:bodyPr/>
          <a:lstStyle/>
          <a:p>
            <a:endParaRPr lang="en-US"/>
          </a:p>
        </p:txBody>
      </p:sp>
      <p:sp>
        <p:nvSpPr>
          <p:cNvPr id="30" name="Text 28"/>
          <p:cNvSpPr/>
          <p:nvPr/>
        </p:nvSpPr>
        <p:spPr>
          <a:xfrm>
            <a:off x="10464329" y="6346254"/>
            <a:ext cx="1310878"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response</a:t>
            </a:r>
            <a:endParaRPr lang="en-US" sz="2025" dirty="0"/>
          </a:p>
        </p:txBody>
      </p:sp>
      <p:sp>
        <p:nvSpPr>
          <p:cNvPr id="31" name="Shape 29"/>
          <p:cNvSpPr/>
          <p:nvPr/>
        </p:nvSpPr>
        <p:spPr>
          <a:xfrm>
            <a:off x="1047750" y="9520238"/>
            <a:ext cx="16192500" cy="9525"/>
          </a:xfrm>
          <a:prstGeom prst="rect">
            <a:avLst/>
          </a:prstGeom>
          <a:solidFill>
            <a:srgbClr val="E3E1DA"/>
          </a:solidFill>
          <a:ln/>
        </p:spPr>
        <p:txBody>
          <a:bodyPr/>
          <a:lstStyle/>
          <a:p>
            <a:endParaRPr lang="en-US"/>
          </a:p>
        </p:txBody>
      </p:sp>
      <p:sp>
        <p:nvSpPr>
          <p:cNvPr id="32" name="Text 3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3" name="Text 31"/>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34116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FIRST API CALL</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Hello, Model</a:t>
            </a:r>
            <a:endParaRPr lang="en-US" sz="4800" dirty="0"/>
          </a:p>
        </p:txBody>
      </p:sp>
      <p:sp>
        <p:nvSpPr>
          <p:cNvPr id="5" name="Shape 3"/>
          <p:cNvSpPr/>
          <p:nvPr/>
        </p:nvSpPr>
        <p:spPr>
          <a:xfrm>
            <a:off x="1047750" y="2057921"/>
            <a:ext cx="7962900" cy="6847954"/>
          </a:xfrm>
          <a:prstGeom prst="roundRect">
            <a:avLst>
              <a:gd name="adj" fmla="val 1947"/>
            </a:avLst>
          </a:prstGeom>
          <a:ln w="9525">
            <a:solidFill>
              <a:srgbClr val="E3E1DA"/>
            </a:solidFill>
            <a:prstDash val="solid"/>
          </a:ln>
        </p:spPr>
        <p:txBody>
          <a:bodyPr/>
          <a:lstStyle/>
          <a:p>
            <a:endParaRPr lang="en-US"/>
          </a:p>
        </p:txBody>
      </p:sp>
      <p:sp>
        <p:nvSpPr>
          <p:cNvPr id="6" name="Shape 4"/>
          <p:cNvSpPr/>
          <p:nvPr/>
        </p:nvSpPr>
        <p:spPr>
          <a:xfrm>
            <a:off x="1057275" y="2067446"/>
            <a:ext cx="7943850" cy="495300"/>
          </a:xfrm>
          <a:prstGeom prst="rect">
            <a:avLst/>
          </a:prstGeom>
          <a:solidFill>
            <a:srgbClr val="F8F7F3"/>
          </a:solidFill>
          <a:ln/>
        </p:spPr>
        <p:txBody>
          <a:bodyPr/>
          <a:lstStyle/>
          <a:p>
            <a:endParaRPr lang="en-US"/>
          </a:p>
        </p:txBody>
      </p:sp>
      <p:sp>
        <p:nvSpPr>
          <p:cNvPr id="7" name="Shape 5"/>
          <p:cNvSpPr/>
          <p:nvPr/>
        </p:nvSpPr>
        <p:spPr>
          <a:xfrm>
            <a:off x="1057275" y="2553221"/>
            <a:ext cx="7943850" cy="9525"/>
          </a:xfrm>
          <a:prstGeom prst="rect">
            <a:avLst/>
          </a:prstGeom>
          <a:solidFill>
            <a:srgbClr val="E3E1DA"/>
          </a:solidFill>
          <a:ln/>
        </p:spPr>
        <p:txBody>
          <a:bodyPr/>
          <a:lstStyle/>
          <a:p>
            <a:endParaRPr lang="en-US"/>
          </a:p>
        </p:txBody>
      </p:sp>
      <p:sp>
        <p:nvSpPr>
          <p:cNvPr id="8" name="Text 6"/>
          <p:cNvSpPr/>
          <p:nvPr/>
        </p:nvSpPr>
        <p:spPr>
          <a:xfrm>
            <a:off x="1285875" y="2181746"/>
            <a:ext cx="772496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Courier New" pitchFamily="34" charset="0"/>
                <a:ea typeface="Courier New" pitchFamily="34" charset="-122"/>
                <a:cs typeface="Courier New" pitchFamily="34" charset="-120"/>
              </a:rPr>
              <a:t>OpenAI</a:t>
            </a:r>
            <a:endParaRPr lang="en-US" sz="1800" dirty="0"/>
          </a:p>
        </p:txBody>
      </p:sp>
      <p:sp>
        <p:nvSpPr>
          <p:cNvPr id="9" name="Text 7"/>
          <p:cNvSpPr/>
          <p:nvPr/>
        </p:nvSpPr>
        <p:spPr>
          <a:xfrm>
            <a:off x="1285875" y="2772296"/>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F6FEB"/>
                </a:solidFill>
                <a:latin typeface="Courier New" pitchFamily="34" charset="0"/>
                <a:ea typeface="Courier New" pitchFamily="34" charset="-122"/>
                <a:cs typeface="Courier New" pitchFamily="34" charset="-120"/>
              </a:rPr>
              <a:t>from </a:t>
            </a:r>
            <a:r>
              <a:rPr lang="en-US" sz="1800" dirty="0">
                <a:solidFill>
                  <a:srgbClr val="3D3D3D"/>
                </a:solidFill>
                <a:latin typeface="Courier New" pitchFamily="34" charset="0"/>
                <a:ea typeface="Courier New" pitchFamily="34" charset="-122"/>
                <a:cs typeface="Courier New" pitchFamily="34" charset="-120"/>
              </a:rPr>
              <a:t>openai </a:t>
            </a:r>
            <a:r>
              <a:rPr lang="en-US" sz="1800" dirty="0">
                <a:solidFill>
                  <a:srgbClr val="1F6FEB"/>
                </a:solidFill>
                <a:latin typeface="Courier New" pitchFamily="34" charset="0"/>
                <a:ea typeface="Courier New" pitchFamily="34" charset="-122"/>
                <a:cs typeface="Courier New" pitchFamily="34" charset="-120"/>
              </a:rPr>
              <a:t>import </a:t>
            </a:r>
            <a:r>
              <a:rPr lang="en-US" sz="1800" dirty="0">
                <a:solidFill>
                  <a:srgbClr val="3D3D3D"/>
                </a:solidFill>
                <a:latin typeface="Courier New" pitchFamily="34" charset="0"/>
                <a:ea typeface="Courier New" pitchFamily="34" charset="-122"/>
                <a:cs typeface="Courier New" pitchFamily="34" charset="-120"/>
              </a:rPr>
              <a:t>OpenAI</a:t>
            </a:r>
            <a:endParaRPr lang="en-US" sz="1800" dirty="0"/>
          </a:p>
        </p:txBody>
      </p:sp>
      <p:sp>
        <p:nvSpPr>
          <p:cNvPr id="10" name="Text 8"/>
          <p:cNvSpPr/>
          <p:nvPr/>
        </p:nvSpPr>
        <p:spPr>
          <a:xfrm>
            <a:off x="1285875" y="3160886"/>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client = OpenAI()</a:t>
            </a:r>
            <a:endParaRPr lang="en-US" sz="1800" dirty="0"/>
          </a:p>
        </p:txBody>
      </p:sp>
      <p:sp>
        <p:nvSpPr>
          <p:cNvPr id="11" name="Text 9"/>
          <p:cNvSpPr/>
          <p:nvPr/>
        </p:nvSpPr>
        <p:spPr>
          <a:xfrm>
            <a:off x="1285875" y="3549476"/>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r = client.chat.completions.create(</a:t>
            </a:r>
            <a:endParaRPr lang="en-US" sz="1800" dirty="0"/>
          </a:p>
        </p:txBody>
      </p:sp>
      <p:sp>
        <p:nvSpPr>
          <p:cNvPr id="12" name="Text 10"/>
          <p:cNvSpPr/>
          <p:nvPr/>
        </p:nvSpPr>
        <p:spPr>
          <a:xfrm>
            <a:off x="1285875" y="393806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model=MODEL,</a:t>
            </a:r>
            <a:endParaRPr lang="en-US" sz="1800" dirty="0"/>
          </a:p>
        </p:txBody>
      </p:sp>
      <p:sp>
        <p:nvSpPr>
          <p:cNvPr id="13" name="Text 11"/>
          <p:cNvSpPr/>
          <p:nvPr/>
        </p:nvSpPr>
        <p:spPr>
          <a:xfrm>
            <a:off x="1285875" y="432665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messages=[{</a:t>
            </a:r>
            <a:r>
              <a:rPr lang="en-US" sz="1800" dirty="0">
                <a:solidFill>
                  <a:srgbClr val="178A4C"/>
                </a:solidFill>
                <a:latin typeface="Courier New" pitchFamily="34" charset="0"/>
                <a:ea typeface="Courier New" pitchFamily="34" charset="-122"/>
                <a:cs typeface="Courier New" pitchFamily="34" charset="-120"/>
              </a:rPr>
              <a:t>"role"</a:t>
            </a:r>
            <a:r>
              <a:rPr lang="en-US" sz="1800" dirty="0">
                <a:solidFill>
                  <a:srgbClr val="3D3D3D"/>
                </a:solidFill>
                <a:latin typeface="Courier New" pitchFamily="34" charset="0"/>
                <a:ea typeface="Courier New" pitchFamily="34" charset="-122"/>
                <a:cs typeface="Courier New" pitchFamily="34" charset="-120"/>
              </a:rPr>
              <a:t>:</a:t>
            </a:r>
            <a:r>
              <a:rPr lang="en-US" sz="1800" dirty="0">
                <a:solidFill>
                  <a:srgbClr val="178A4C"/>
                </a:solidFill>
                <a:latin typeface="Courier New" pitchFamily="34" charset="0"/>
                <a:ea typeface="Courier New" pitchFamily="34" charset="-122"/>
                <a:cs typeface="Courier New" pitchFamily="34" charset="-120"/>
              </a:rPr>
              <a:t>"user"</a:t>
            </a:r>
            <a:r>
              <a:rPr lang="en-US" sz="1800" dirty="0">
                <a:solidFill>
                  <a:srgbClr val="3D3D3D"/>
                </a:solidFill>
                <a:latin typeface="Courier New" pitchFamily="34" charset="0"/>
                <a:ea typeface="Courier New" pitchFamily="34" charset="-122"/>
                <a:cs typeface="Courier New" pitchFamily="34" charset="-120"/>
              </a:rPr>
              <a:t>,</a:t>
            </a:r>
            <a:endParaRPr lang="en-US" sz="1800" dirty="0"/>
          </a:p>
        </p:txBody>
      </p:sp>
      <p:sp>
        <p:nvSpPr>
          <p:cNvPr id="14" name="Text 12"/>
          <p:cNvSpPr/>
          <p:nvPr/>
        </p:nvSpPr>
        <p:spPr>
          <a:xfrm>
            <a:off x="1285875" y="471524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78A4C"/>
                </a:solidFill>
                <a:latin typeface="Courier New" pitchFamily="34" charset="0"/>
                <a:ea typeface="Courier New" pitchFamily="34" charset="-122"/>
                <a:cs typeface="Courier New" pitchFamily="34" charset="-120"/>
              </a:rPr>
              <a:t>"content"</a:t>
            </a:r>
            <a:r>
              <a:rPr lang="en-US" sz="1800" dirty="0">
                <a:solidFill>
                  <a:srgbClr val="3D3D3D"/>
                </a:solidFill>
                <a:latin typeface="Courier New" pitchFamily="34" charset="0"/>
                <a:ea typeface="Courier New" pitchFamily="34" charset="-122"/>
                <a:cs typeface="Courier New" pitchFamily="34" charset="-120"/>
              </a:rPr>
              <a:t>:</a:t>
            </a:r>
            <a:r>
              <a:rPr lang="en-US" sz="1800" dirty="0">
                <a:solidFill>
                  <a:srgbClr val="178A4C"/>
                </a:solidFill>
                <a:latin typeface="Courier New" pitchFamily="34" charset="0"/>
                <a:ea typeface="Courier New" pitchFamily="34" charset="-122"/>
                <a:cs typeface="Courier New" pitchFamily="34" charset="-120"/>
              </a:rPr>
              <a:t>"Hi!"</a:t>
            </a:r>
            <a:r>
              <a:rPr lang="en-US" sz="1800" dirty="0">
                <a:solidFill>
                  <a:srgbClr val="3D3D3D"/>
                </a:solidFill>
                <a:latin typeface="Courier New" pitchFamily="34" charset="0"/>
                <a:ea typeface="Courier New" pitchFamily="34" charset="-122"/>
                <a:cs typeface="Courier New" pitchFamily="34" charset="-120"/>
              </a:rPr>
              <a:t>}])</a:t>
            </a:r>
            <a:endParaRPr lang="en-US" sz="1800" dirty="0"/>
          </a:p>
        </p:txBody>
      </p:sp>
      <p:sp>
        <p:nvSpPr>
          <p:cNvPr id="15" name="Text 13"/>
          <p:cNvSpPr/>
          <p:nvPr/>
        </p:nvSpPr>
        <p:spPr>
          <a:xfrm>
            <a:off x="1285875" y="510383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print(r.choices[</a:t>
            </a:r>
            <a:r>
              <a:rPr lang="en-US" sz="1800" dirty="0">
                <a:solidFill>
                  <a:srgbClr val="C77D0A"/>
                </a:solidFill>
                <a:latin typeface="Courier New" pitchFamily="34" charset="0"/>
                <a:ea typeface="Courier New" pitchFamily="34" charset="-122"/>
                <a:cs typeface="Courier New" pitchFamily="34" charset="-120"/>
              </a:rPr>
              <a:t>0</a:t>
            </a:r>
            <a:r>
              <a:rPr lang="en-US" sz="1800" dirty="0">
                <a:solidFill>
                  <a:srgbClr val="3D3D3D"/>
                </a:solidFill>
                <a:latin typeface="Courier New" pitchFamily="34" charset="0"/>
                <a:ea typeface="Courier New" pitchFamily="34" charset="-122"/>
                <a:cs typeface="Courier New" pitchFamily="34" charset="-120"/>
              </a:rPr>
              <a:t>].message.content)</a:t>
            </a:r>
            <a:endParaRPr lang="en-US" sz="1800" dirty="0"/>
          </a:p>
        </p:txBody>
      </p:sp>
      <p:sp>
        <p:nvSpPr>
          <p:cNvPr id="16" name="Shape 14"/>
          <p:cNvSpPr/>
          <p:nvPr/>
        </p:nvSpPr>
        <p:spPr>
          <a:xfrm>
            <a:off x="9277350" y="2057921"/>
            <a:ext cx="7962900" cy="6847954"/>
          </a:xfrm>
          <a:prstGeom prst="roundRect">
            <a:avLst>
              <a:gd name="adj" fmla="val 1947"/>
            </a:avLst>
          </a:prstGeom>
          <a:ln w="9525">
            <a:solidFill>
              <a:srgbClr val="E3E1DA"/>
            </a:solidFill>
            <a:prstDash val="solid"/>
          </a:ln>
        </p:spPr>
        <p:txBody>
          <a:bodyPr/>
          <a:lstStyle/>
          <a:p>
            <a:endParaRPr lang="en-US"/>
          </a:p>
        </p:txBody>
      </p:sp>
      <p:sp>
        <p:nvSpPr>
          <p:cNvPr id="17" name="Shape 15"/>
          <p:cNvSpPr/>
          <p:nvPr/>
        </p:nvSpPr>
        <p:spPr>
          <a:xfrm>
            <a:off x="9286875" y="2067446"/>
            <a:ext cx="7943850" cy="495300"/>
          </a:xfrm>
          <a:prstGeom prst="rect">
            <a:avLst/>
          </a:prstGeom>
          <a:solidFill>
            <a:srgbClr val="F8F7F3"/>
          </a:solidFill>
          <a:ln/>
        </p:spPr>
        <p:txBody>
          <a:bodyPr/>
          <a:lstStyle/>
          <a:p>
            <a:endParaRPr lang="en-US"/>
          </a:p>
        </p:txBody>
      </p:sp>
      <p:sp>
        <p:nvSpPr>
          <p:cNvPr id="18" name="Shape 16"/>
          <p:cNvSpPr/>
          <p:nvPr/>
        </p:nvSpPr>
        <p:spPr>
          <a:xfrm>
            <a:off x="9286875" y="2553221"/>
            <a:ext cx="7943850" cy="9525"/>
          </a:xfrm>
          <a:prstGeom prst="rect">
            <a:avLst/>
          </a:prstGeom>
          <a:solidFill>
            <a:srgbClr val="E3E1DA"/>
          </a:solidFill>
          <a:ln/>
        </p:spPr>
        <p:txBody>
          <a:bodyPr/>
          <a:lstStyle/>
          <a:p>
            <a:endParaRPr lang="en-US"/>
          </a:p>
        </p:txBody>
      </p:sp>
      <p:sp>
        <p:nvSpPr>
          <p:cNvPr id="19" name="Text 17"/>
          <p:cNvSpPr/>
          <p:nvPr/>
        </p:nvSpPr>
        <p:spPr>
          <a:xfrm>
            <a:off x="9515475" y="2181746"/>
            <a:ext cx="772496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7A4FD0"/>
                </a:solidFill>
                <a:latin typeface="Courier New" pitchFamily="34" charset="0"/>
                <a:ea typeface="Courier New" pitchFamily="34" charset="-122"/>
                <a:cs typeface="Courier New" pitchFamily="34" charset="-120"/>
              </a:rPr>
              <a:t>Anthropic (Claude)</a:t>
            </a:r>
            <a:endParaRPr lang="en-US" sz="1800" dirty="0"/>
          </a:p>
        </p:txBody>
      </p:sp>
      <p:sp>
        <p:nvSpPr>
          <p:cNvPr id="20" name="Text 18"/>
          <p:cNvSpPr/>
          <p:nvPr/>
        </p:nvSpPr>
        <p:spPr>
          <a:xfrm>
            <a:off x="9515475" y="2772296"/>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F6FEB"/>
                </a:solidFill>
                <a:latin typeface="Courier New" pitchFamily="34" charset="0"/>
                <a:ea typeface="Courier New" pitchFamily="34" charset="-122"/>
                <a:cs typeface="Courier New" pitchFamily="34" charset="-120"/>
              </a:rPr>
              <a:t>from </a:t>
            </a:r>
            <a:r>
              <a:rPr lang="en-US" sz="1800" dirty="0">
                <a:solidFill>
                  <a:srgbClr val="3D3D3D"/>
                </a:solidFill>
                <a:latin typeface="Courier New" pitchFamily="34" charset="0"/>
                <a:ea typeface="Courier New" pitchFamily="34" charset="-122"/>
                <a:cs typeface="Courier New" pitchFamily="34" charset="-120"/>
              </a:rPr>
              <a:t>anthropic </a:t>
            </a:r>
            <a:r>
              <a:rPr lang="en-US" sz="1800" dirty="0">
                <a:solidFill>
                  <a:srgbClr val="1F6FEB"/>
                </a:solidFill>
                <a:latin typeface="Courier New" pitchFamily="34" charset="0"/>
                <a:ea typeface="Courier New" pitchFamily="34" charset="-122"/>
                <a:cs typeface="Courier New" pitchFamily="34" charset="-120"/>
              </a:rPr>
              <a:t>import </a:t>
            </a:r>
            <a:r>
              <a:rPr lang="en-US" sz="1800" dirty="0">
                <a:solidFill>
                  <a:srgbClr val="3D3D3D"/>
                </a:solidFill>
                <a:latin typeface="Courier New" pitchFamily="34" charset="0"/>
                <a:ea typeface="Courier New" pitchFamily="34" charset="-122"/>
                <a:cs typeface="Courier New" pitchFamily="34" charset="-120"/>
              </a:rPr>
              <a:t>Anthropic</a:t>
            </a:r>
            <a:endParaRPr lang="en-US" sz="1800" dirty="0"/>
          </a:p>
        </p:txBody>
      </p:sp>
      <p:sp>
        <p:nvSpPr>
          <p:cNvPr id="21" name="Text 19"/>
          <p:cNvSpPr/>
          <p:nvPr/>
        </p:nvSpPr>
        <p:spPr>
          <a:xfrm>
            <a:off x="9515475" y="3160886"/>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client = Anthropic()</a:t>
            </a:r>
            <a:endParaRPr lang="en-US" sz="1800" dirty="0"/>
          </a:p>
        </p:txBody>
      </p:sp>
      <p:sp>
        <p:nvSpPr>
          <p:cNvPr id="22" name="Text 20"/>
          <p:cNvSpPr/>
          <p:nvPr/>
        </p:nvSpPr>
        <p:spPr>
          <a:xfrm>
            <a:off x="9515475" y="3549476"/>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m = client.messages.create(</a:t>
            </a:r>
            <a:endParaRPr lang="en-US" sz="1800" dirty="0"/>
          </a:p>
        </p:txBody>
      </p:sp>
      <p:sp>
        <p:nvSpPr>
          <p:cNvPr id="23" name="Text 21"/>
          <p:cNvSpPr/>
          <p:nvPr/>
        </p:nvSpPr>
        <p:spPr>
          <a:xfrm>
            <a:off x="9515475" y="393806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model=MODEL,</a:t>
            </a:r>
            <a:endParaRPr lang="en-US" sz="1800" dirty="0"/>
          </a:p>
        </p:txBody>
      </p:sp>
      <p:sp>
        <p:nvSpPr>
          <p:cNvPr id="24" name="Text 22"/>
          <p:cNvSpPr/>
          <p:nvPr/>
        </p:nvSpPr>
        <p:spPr>
          <a:xfrm>
            <a:off x="9515475" y="432665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max_tokens=</a:t>
            </a:r>
            <a:r>
              <a:rPr lang="en-US" sz="1800" dirty="0">
                <a:solidFill>
                  <a:srgbClr val="C77D0A"/>
                </a:solidFill>
                <a:latin typeface="Courier New" pitchFamily="34" charset="0"/>
                <a:ea typeface="Courier New" pitchFamily="34" charset="-122"/>
                <a:cs typeface="Courier New" pitchFamily="34" charset="-120"/>
              </a:rPr>
              <a:t>200</a:t>
            </a:r>
            <a:r>
              <a:rPr lang="en-US" sz="1800" dirty="0">
                <a:solidFill>
                  <a:srgbClr val="3D3D3D"/>
                </a:solidFill>
                <a:latin typeface="Courier New" pitchFamily="34" charset="0"/>
                <a:ea typeface="Courier New" pitchFamily="34" charset="-122"/>
                <a:cs typeface="Courier New" pitchFamily="34" charset="-120"/>
              </a:rPr>
              <a:t>,</a:t>
            </a:r>
            <a:endParaRPr lang="en-US" sz="1800" dirty="0"/>
          </a:p>
        </p:txBody>
      </p:sp>
      <p:sp>
        <p:nvSpPr>
          <p:cNvPr id="25" name="Text 23"/>
          <p:cNvSpPr/>
          <p:nvPr/>
        </p:nvSpPr>
        <p:spPr>
          <a:xfrm>
            <a:off x="9515475" y="471524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messages=[{</a:t>
            </a:r>
            <a:r>
              <a:rPr lang="en-US" sz="1800" dirty="0">
                <a:solidFill>
                  <a:srgbClr val="178A4C"/>
                </a:solidFill>
                <a:latin typeface="Courier New" pitchFamily="34" charset="0"/>
                <a:ea typeface="Courier New" pitchFamily="34" charset="-122"/>
                <a:cs typeface="Courier New" pitchFamily="34" charset="-120"/>
              </a:rPr>
              <a:t>"role"</a:t>
            </a:r>
            <a:r>
              <a:rPr lang="en-US" sz="1800" dirty="0">
                <a:solidFill>
                  <a:srgbClr val="3D3D3D"/>
                </a:solidFill>
                <a:latin typeface="Courier New" pitchFamily="34" charset="0"/>
                <a:ea typeface="Courier New" pitchFamily="34" charset="-122"/>
                <a:cs typeface="Courier New" pitchFamily="34" charset="-120"/>
              </a:rPr>
              <a:t>:</a:t>
            </a:r>
            <a:r>
              <a:rPr lang="en-US" sz="1800" dirty="0">
                <a:solidFill>
                  <a:srgbClr val="178A4C"/>
                </a:solidFill>
                <a:latin typeface="Courier New" pitchFamily="34" charset="0"/>
                <a:ea typeface="Courier New" pitchFamily="34" charset="-122"/>
                <a:cs typeface="Courier New" pitchFamily="34" charset="-120"/>
              </a:rPr>
              <a:t>"user"</a:t>
            </a:r>
            <a:r>
              <a:rPr lang="en-US" sz="1800" dirty="0">
                <a:solidFill>
                  <a:srgbClr val="3D3D3D"/>
                </a:solidFill>
                <a:latin typeface="Courier New" pitchFamily="34" charset="0"/>
                <a:ea typeface="Courier New" pitchFamily="34" charset="-122"/>
                <a:cs typeface="Courier New" pitchFamily="34" charset="-120"/>
              </a:rPr>
              <a:t>,</a:t>
            </a:r>
            <a:endParaRPr lang="en-US" sz="1800" dirty="0"/>
          </a:p>
        </p:txBody>
      </p:sp>
      <p:sp>
        <p:nvSpPr>
          <p:cNvPr id="26" name="Text 24"/>
          <p:cNvSpPr/>
          <p:nvPr/>
        </p:nvSpPr>
        <p:spPr>
          <a:xfrm>
            <a:off x="9515475" y="5103837"/>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78A4C"/>
                </a:solidFill>
                <a:latin typeface="Courier New" pitchFamily="34" charset="0"/>
                <a:ea typeface="Courier New" pitchFamily="34" charset="-122"/>
                <a:cs typeface="Courier New" pitchFamily="34" charset="-120"/>
              </a:rPr>
              <a:t>"content"</a:t>
            </a:r>
            <a:r>
              <a:rPr lang="en-US" sz="1800" dirty="0">
                <a:solidFill>
                  <a:srgbClr val="3D3D3D"/>
                </a:solidFill>
                <a:latin typeface="Courier New" pitchFamily="34" charset="0"/>
                <a:ea typeface="Courier New" pitchFamily="34" charset="-122"/>
                <a:cs typeface="Courier New" pitchFamily="34" charset="-120"/>
              </a:rPr>
              <a:t>:</a:t>
            </a:r>
            <a:r>
              <a:rPr lang="en-US" sz="1800" dirty="0">
                <a:solidFill>
                  <a:srgbClr val="178A4C"/>
                </a:solidFill>
                <a:latin typeface="Courier New" pitchFamily="34" charset="0"/>
                <a:ea typeface="Courier New" pitchFamily="34" charset="-122"/>
                <a:cs typeface="Courier New" pitchFamily="34" charset="-120"/>
              </a:rPr>
              <a:t>"Hi!"</a:t>
            </a:r>
            <a:r>
              <a:rPr lang="en-US" sz="1800" dirty="0">
                <a:solidFill>
                  <a:srgbClr val="3D3D3D"/>
                </a:solidFill>
                <a:latin typeface="Courier New" pitchFamily="34" charset="0"/>
                <a:ea typeface="Courier New" pitchFamily="34" charset="-122"/>
                <a:cs typeface="Courier New" pitchFamily="34" charset="-120"/>
              </a:rPr>
              <a:t>}])</a:t>
            </a:r>
            <a:endParaRPr lang="en-US" sz="1800" dirty="0"/>
          </a:p>
        </p:txBody>
      </p:sp>
      <p:sp>
        <p:nvSpPr>
          <p:cNvPr id="27" name="Text 25"/>
          <p:cNvSpPr/>
          <p:nvPr/>
        </p:nvSpPr>
        <p:spPr>
          <a:xfrm>
            <a:off x="9515475" y="5492428"/>
            <a:ext cx="771125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3D3D3D"/>
                </a:solidFill>
                <a:latin typeface="Courier New" pitchFamily="34" charset="0"/>
                <a:ea typeface="Courier New" pitchFamily="34" charset="-122"/>
                <a:cs typeface="Courier New" pitchFamily="34" charset="-120"/>
              </a:rPr>
              <a:t>print(m.content[</a:t>
            </a:r>
            <a:r>
              <a:rPr lang="en-US" sz="1800" dirty="0">
                <a:solidFill>
                  <a:srgbClr val="C77D0A"/>
                </a:solidFill>
                <a:latin typeface="Courier New" pitchFamily="34" charset="0"/>
                <a:ea typeface="Courier New" pitchFamily="34" charset="-122"/>
                <a:cs typeface="Courier New" pitchFamily="34" charset="-120"/>
              </a:rPr>
              <a:t>0</a:t>
            </a:r>
            <a:r>
              <a:rPr lang="en-US" sz="1800" dirty="0">
                <a:solidFill>
                  <a:srgbClr val="3D3D3D"/>
                </a:solidFill>
                <a:latin typeface="Courier New" pitchFamily="34" charset="0"/>
                <a:ea typeface="Courier New" pitchFamily="34" charset="-122"/>
                <a:cs typeface="Courier New" pitchFamily="34" charset="-120"/>
              </a:rPr>
              <a:t>].text)</a:t>
            </a:r>
            <a:endParaRPr lang="en-US" sz="1800" dirty="0"/>
          </a:p>
        </p:txBody>
      </p:sp>
      <p:sp>
        <p:nvSpPr>
          <p:cNvPr id="28" name="Text 26"/>
          <p:cNvSpPr/>
          <p:nvPr/>
        </p:nvSpPr>
        <p:spPr>
          <a:xfrm>
            <a:off x="1047750" y="9077325"/>
            <a:ext cx="4527099"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178A4C"/>
                </a:solidFill>
                <a:latin typeface="Courier New" pitchFamily="34" charset="0"/>
                <a:ea typeface="Courier New" pitchFamily="34" charset="-122"/>
                <a:cs typeface="Courier New" pitchFamily="34" charset="-120"/>
              </a:rPr>
              <a:t>OpenAI → </a:t>
            </a:r>
            <a:r>
              <a:rPr lang="en-US" sz="1800" dirty="0">
                <a:solidFill>
                  <a:srgbClr val="3D3D3D"/>
                </a:solidFill>
                <a:latin typeface="Courier New" pitchFamily="34" charset="0"/>
                <a:ea typeface="Courier New" pitchFamily="34" charset="-122"/>
                <a:cs typeface="Courier New" pitchFamily="34" charset="-120"/>
              </a:rPr>
              <a:t>MODEL = </a:t>
            </a:r>
            <a:r>
              <a:rPr lang="en-US" sz="1800" dirty="0">
                <a:solidFill>
                  <a:srgbClr val="C77D0A"/>
                </a:solidFill>
                <a:latin typeface="Courier New" pitchFamily="34" charset="0"/>
                <a:ea typeface="Courier New" pitchFamily="34" charset="-122"/>
                <a:cs typeface="Courier New" pitchFamily="34" charset="-120"/>
              </a:rPr>
              <a:t>"gpt-4o-mini"</a:t>
            </a:r>
            <a:endParaRPr lang="en-US" sz="1800" dirty="0"/>
          </a:p>
        </p:txBody>
      </p:sp>
      <p:sp>
        <p:nvSpPr>
          <p:cNvPr id="29" name="Text 27"/>
          <p:cNvSpPr/>
          <p:nvPr/>
        </p:nvSpPr>
        <p:spPr>
          <a:xfrm>
            <a:off x="5544294" y="9077325"/>
            <a:ext cx="6790648"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7A4FD0"/>
                </a:solidFill>
                <a:latin typeface="Courier New" pitchFamily="34" charset="0"/>
                <a:ea typeface="Courier New" pitchFamily="34" charset="-122"/>
                <a:cs typeface="Courier New" pitchFamily="34" charset="-120"/>
              </a:rPr>
              <a:t>Anthropic → </a:t>
            </a:r>
            <a:r>
              <a:rPr lang="en-US" sz="1800" dirty="0">
                <a:solidFill>
                  <a:srgbClr val="3D3D3D"/>
                </a:solidFill>
                <a:latin typeface="Courier New" pitchFamily="34" charset="0"/>
                <a:ea typeface="Courier New" pitchFamily="34" charset="-122"/>
                <a:cs typeface="Courier New" pitchFamily="34" charset="-120"/>
              </a:rPr>
              <a:t>MODEL = </a:t>
            </a:r>
            <a:r>
              <a:rPr lang="en-US" sz="1800" dirty="0">
                <a:solidFill>
                  <a:srgbClr val="C77D0A"/>
                </a:solidFill>
                <a:latin typeface="Courier New" pitchFamily="34" charset="0"/>
                <a:ea typeface="Courier New" pitchFamily="34" charset="-122"/>
                <a:cs typeface="Courier New" pitchFamily="34" charset="-120"/>
              </a:rPr>
              <a:t>"claude-3-5-haiku-latest"</a:t>
            </a:r>
            <a:endParaRPr lang="en-US" sz="1800" dirty="0"/>
          </a:p>
        </p:txBody>
      </p:sp>
      <p:sp>
        <p:nvSpPr>
          <p:cNvPr id="30" name="Text 28"/>
          <p:cNvSpPr/>
          <p:nvPr/>
        </p:nvSpPr>
        <p:spPr>
          <a:xfrm>
            <a:off x="12098610" y="9077325"/>
            <a:ext cx="3772555" cy="295275"/>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Courier New" pitchFamily="34" charset="0"/>
                <a:ea typeface="Courier New" pitchFamily="34" charset="-122"/>
                <a:cs typeface="Courier New" pitchFamily="34" charset="-120"/>
              </a:rPr>
              <a:t># cheap, current defaults</a:t>
            </a:r>
            <a:endParaRPr lang="en-US" sz="1800" dirty="0"/>
          </a:p>
        </p:txBody>
      </p:sp>
      <p:sp>
        <p:nvSpPr>
          <p:cNvPr id="31" name="Shape 29"/>
          <p:cNvSpPr/>
          <p:nvPr/>
        </p:nvSpPr>
        <p:spPr>
          <a:xfrm>
            <a:off x="1047750" y="9520238"/>
            <a:ext cx="16192500" cy="9525"/>
          </a:xfrm>
          <a:prstGeom prst="rect">
            <a:avLst/>
          </a:prstGeom>
          <a:solidFill>
            <a:srgbClr val="E3E1DA"/>
          </a:solidFill>
          <a:ln/>
        </p:spPr>
        <p:txBody>
          <a:bodyPr/>
          <a:lstStyle/>
          <a:p>
            <a:endParaRPr lang="en-US"/>
          </a:p>
        </p:txBody>
      </p:sp>
      <p:sp>
        <p:nvSpPr>
          <p:cNvPr id="32" name="Text 3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3" name="Text 31"/>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34116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FIRST API CALL</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Reading the Response</a:t>
            </a:r>
            <a:endParaRPr lang="en-US" sz="4800" dirty="0"/>
          </a:p>
        </p:txBody>
      </p:sp>
      <p:sp>
        <p:nvSpPr>
          <p:cNvPr id="5" name="Shape 3"/>
          <p:cNvSpPr/>
          <p:nvPr/>
        </p:nvSpPr>
        <p:spPr>
          <a:xfrm>
            <a:off x="1047750" y="4300910"/>
            <a:ext cx="6858000" cy="2828627"/>
          </a:xfrm>
          <a:prstGeom prst="roundRect">
            <a:avLst>
              <a:gd name="adj" fmla="val 4714"/>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343025" y="4558085"/>
            <a:ext cx="6455474" cy="500955"/>
          </a:xfrm>
          <a:prstGeom prst="rect">
            <a:avLst/>
          </a:prstGeom>
          <a:noFill/>
          <a:ln/>
        </p:spPr>
        <p:txBody>
          <a:bodyPr wrap="square" lIns="25400" tIns="25400" rIns="25400" bIns="25400" rtlCol="0" anchor="t">
            <a:normAutofit/>
          </a:bodyPr>
          <a:lstStyle/>
          <a:p>
            <a:pPr marL="0" indent="0" algn="l">
              <a:lnSpc>
                <a:spcPct val="180000"/>
              </a:lnSpc>
              <a:buNone/>
            </a:pPr>
            <a:r>
              <a:rPr lang="en-US" sz="2025" dirty="0">
                <a:solidFill>
                  <a:srgbClr val="7C7A73"/>
                </a:solidFill>
                <a:latin typeface="Courier New" pitchFamily="34" charset="0"/>
                <a:ea typeface="Courier New" pitchFamily="34" charset="-122"/>
                <a:cs typeface="Courier New" pitchFamily="34" charset="-120"/>
              </a:rPr>
              <a:t># the text</a:t>
            </a:r>
            <a:endParaRPr lang="en-US" sz="2025" dirty="0"/>
          </a:p>
        </p:txBody>
      </p:sp>
      <p:sp>
        <p:nvSpPr>
          <p:cNvPr id="7" name="Text 5"/>
          <p:cNvSpPr/>
          <p:nvPr/>
        </p:nvSpPr>
        <p:spPr>
          <a:xfrm>
            <a:off x="1343025" y="5020940"/>
            <a:ext cx="6455474" cy="500955"/>
          </a:xfrm>
          <a:prstGeom prst="rect">
            <a:avLst/>
          </a:prstGeom>
          <a:noFill/>
          <a:ln/>
        </p:spPr>
        <p:txBody>
          <a:bodyPr wrap="square" lIns="25400" tIns="25400" rIns="25400" bIns="25400" rtlCol="0" anchor="t">
            <a:normAutofit/>
          </a:bodyPr>
          <a:lstStyle/>
          <a:p>
            <a:pPr marL="0" indent="0" algn="l">
              <a:lnSpc>
                <a:spcPct val="180000"/>
              </a:lnSpc>
              <a:buNone/>
            </a:pPr>
            <a:r>
              <a:rPr lang="en-US" sz="2025" dirty="0">
                <a:solidFill>
                  <a:srgbClr val="1A1A1A"/>
                </a:solidFill>
                <a:latin typeface="Courier New" pitchFamily="34" charset="0"/>
                <a:ea typeface="Courier New" pitchFamily="34" charset="-122"/>
                <a:cs typeface="Courier New" pitchFamily="34" charset="-120"/>
              </a:rPr>
              <a:t>text = r.choices[</a:t>
            </a:r>
            <a:r>
              <a:rPr lang="en-US" sz="2025" dirty="0">
                <a:solidFill>
                  <a:srgbClr val="C77D0A"/>
                </a:solidFill>
                <a:latin typeface="Courier New" pitchFamily="34" charset="0"/>
                <a:ea typeface="Courier New" pitchFamily="34" charset="-122"/>
                <a:cs typeface="Courier New" pitchFamily="34" charset="-120"/>
              </a:rPr>
              <a:t>0</a:t>
            </a:r>
            <a:r>
              <a:rPr lang="en-US" sz="2025" dirty="0">
                <a:solidFill>
                  <a:srgbClr val="1A1A1A"/>
                </a:solidFill>
                <a:latin typeface="Courier New" pitchFamily="34" charset="0"/>
                <a:ea typeface="Courier New" pitchFamily="34" charset="-122"/>
                <a:cs typeface="Courier New" pitchFamily="34" charset="-120"/>
              </a:rPr>
              <a:t>].message.content</a:t>
            </a:r>
            <a:endParaRPr lang="en-US" sz="2025" dirty="0"/>
          </a:p>
        </p:txBody>
      </p:sp>
      <p:sp>
        <p:nvSpPr>
          <p:cNvPr id="8" name="Text 6"/>
          <p:cNvSpPr/>
          <p:nvPr/>
        </p:nvSpPr>
        <p:spPr>
          <a:xfrm>
            <a:off x="1343025" y="5483796"/>
            <a:ext cx="6455474" cy="500955"/>
          </a:xfrm>
          <a:prstGeom prst="rect">
            <a:avLst/>
          </a:prstGeom>
          <a:noFill/>
          <a:ln/>
        </p:spPr>
        <p:txBody>
          <a:bodyPr wrap="square" lIns="25400" tIns="25400" rIns="25400" bIns="25400" rtlCol="0" anchor="t">
            <a:normAutofit/>
          </a:bodyPr>
          <a:lstStyle/>
          <a:p>
            <a:pPr marL="0" indent="0" algn="l">
              <a:lnSpc>
                <a:spcPct val="180000"/>
              </a:lnSpc>
              <a:buNone/>
            </a:pPr>
            <a:r>
              <a:rPr lang="en-US" sz="2025" dirty="0">
                <a:solidFill>
                  <a:srgbClr val="7C7A73"/>
                </a:solidFill>
                <a:latin typeface="Courier New" pitchFamily="34" charset="0"/>
                <a:ea typeface="Courier New" pitchFamily="34" charset="-122"/>
                <a:cs typeface="Courier New" pitchFamily="34" charset="-120"/>
              </a:rPr>
              <a:t># the cost meter</a:t>
            </a:r>
            <a:endParaRPr lang="en-US" sz="2025" dirty="0"/>
          </a:p>
        </p:txBody>
      </p:sp>
      <p:sp>
        <p:nvSpPr>
          <p:cNvPr id="9" name="Text 7"/>
          <p:cNvSpPr/>
          <p:nvPr/>
        </p:nvSpPr>
        <p:spPr>
          <a:xfrm>
            <a:off x="1343025" y="5946651"/>
            <a:ext cx="6455474" cy="500955"/>
          </a:xfrm>
          <a:prstGeom prst="rect">
            <a:avLst/>
          </a:prstGeom>
          <a:noFill/>
          <a:ln/>
        </p:spPr>
        <p:txBody>
          <a:bodyPr wrap="square" lIns="25400" tIns="25400" rIns="25400" bIns="25400" rtlCol="0" anchor="t">
            <a:normAutofit/>
          </a:bodyPr>
          <a:lstStyle/>
          <a:p>
            <a:pPr marL="0" indent="0" algn="l">
              <a:lnSpc>
                <a:spcPct val="180000"/>
              </a:lnSpc>
              <a:buNone/>
            </a:pPr>
            <a:r>
              <a:rPr lang="en-US" sz="2025" dirty="0">
                <a:solidFill>
                  <a:srgbClr val="1A1A1A"/>
                </a:solidFill>
                <a:latin typeface="Courier New" pitchFamily="34" charset="0"/>
                <a:ea typeface="Courier New" pitchFamily="34" charset="-122"/>
                <a:cs typeface="Courier New" pitchFamily="34" charset="-120"/>
              </a:rPr>
              <a:t>r.usage.prompt_tokens </a:t>
            </a:r>
            <a:r>
              <a:rPr lang="en-US" sz="2025" dirty="0">
                <a:solidFill>
                  <a:srgbClr val="7C7A73"/>
                </a:solidFill>
                <a:latin typeface="Courier New" pitchFamily="34" charset="0"/>
                <a:ea typeface="Courier New" pitchFamily="34" charset="-122"/>
                <a:cs typeface="Courier New" pitchFamily="34" charset="-120"/>
              </a:rPr>
              <a:t># in</a:t>
            </a:r>
            <a:endParaRPr lang="en-US" sz="2025" dirty="0"/>
          </a:p>
        </p:txBody>
      </p:sp>
      <p:sp>
        <p:nvSpPr>
          <p:cNvPr id="10" name="Text 8"/>
          <p:cNvSpPr/>
          <p:nvPr/>
        </p:nvSpPr>
        <p:spPr>
          <a:xfrm>
            <a:off x="1343025" y="6409506"/>
            <a:ext cx="6455474" cy="500955"/>
          </a:xfrm>
          <a:prstGeom prst="rect">
            <a:avLst/>
          </a:prstGeom>
          <a:noFill/>
          <a:ln/>
        </p:spPr>
        <p:txBody>
          <a:bodyPr wrap="square" lIns="25400" tIns="25400" rIns="25400" bIns="25400" rtlCol="0" anchor="t">
            <a:normAutofit/>
          </a:bodyPr>
          <a:lstStyle/>
          <a:p>
            <a:pPr marL="0" indent="0" algn="l">
              <a:lnSpc>
                <a:spcPct val="180000"/>
              </a:lnSpc>
              <a:buNone/>
            </a:pPr>
            <a:r>
              <a:rPr lang="en-US" sz="2025" dirty="0">
                <a:solidFill>
                  <a:srgbClr val="1A1A1A"/>
                </a:solidFill>
                <a:latin typeface="Courier New" pitchFamily="34" charset="0"/>
                <a:ea typeface="Courier New" pitchFamily="34" charset="-122"/>
                <a:cs typeface="Courier New" pitchFamily="34" charset="-120"/>
              </a:rPr>
              <a:t>r.usage.completion_tokens </a:t>
            </a:r>
            <a:r>
              <a:rPr lang="en-US" sz="2025" dirty="0">
                <a:solidFill>
                  <a:srgbClr val="7C7A73"/>
                </a:solidFill>
                <a:latin typeface="Courier New" pitchFamily="34" charset="0"/>
                <a:ea typeface="Courier New" pitchFamily="34" charset="-122"/>
                <a:cs typeface="Courier New" pitchFamily="34" charset="-120"/>
              </a:rPr>
              <a:t># out</a:t>
            </a:r>
            <a:endParaRPr lang="en-US" sz="2025" dirty="0"/>
          </a:p>
        </p:txBody>
      </p:sp>
      <p:sp>
        <p:nvSpPr>
          <p:cNvPr id="11" name="Text 9"/>
          <p:cNvSpPr/>
          <p:nvPr/>
        </p:nvSpPr>
        <p:spPr>
          <a:xfrm>
            <a:off x="8439150" y="4782741"/>
            <a:ext cx="9681210"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1A1A1A"/>
                </a:solidFill>
                <a:latin typeface="Georgia" pitchFamily="34" charset="0"/>
                <a:ea typeface="Georgia" pitchFamily="34" charset="-122"/>
                <a:cs typeface="Georgia" pitchFamily="34" charset="-120"/>
              </a:rPr>
              <a:t>Always read </a:t>
            </a:r>
            <a:r>
              <a:rPr lang="en-US" sz="2700" dirty="0">
                <a:solidFill>
                  <a:srgbClr val="1A1A1A"/>
                </a:solidFill>
                <a:highlight>
                  <a:srgbClr val="FFF1A8"/>
                </a:highlight>
                <a:latin typeface="Georgia" pitchFamily="34" charset="0"/>
                <a:ea typeface="Georgia" pitchFamily="34" charset="-122"/>
                <a:cs typeface="Georgia" pitchFamily="34" charset="-120"/>
              </a:rPr>
              <a:t>usage</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12" name="Shape 10"/>
          <p:cNvSpPr/>
          <p:nvPr/>
        </p:nvSpPr>
        <p:spPr>
          <a:xfrm>
            <a:off x="8439150" y="5547568"/>
            <a:ext cx="114300" cy="114300"/>
          </a:xfrm>
          <a:prstGeom prst="roundRect">
            <a:avLst>
              <a:gd name="adj" fmla="val 25000"/>
            </a:avLst>
          </a:prstGeom>
          <a:solidFill>
            <a:srgbClr val="1F6FEB"/>
          </a:solidFill>
          <a:ln/>
        </p:spPr>
        <p:txBody>
          <a:bodyPr/>
          <a:lstStyle/>
          <a:p>
            <a:endParaRPr lang="en-US"/>
          </a:p>
        </p:txBody>
      </p:sp>
      <p:sp>
        <p:nvSpPr>
          <p:cNvPr id="13" name="Text 11"/>
          <p:cNvSpPr/>
          <p:nvPr/>
        </p:nvSpPr>
        <p:spPr>
          <a:xfrm>
            <a:off x="8705850" y="5461843"/>
            <a:ext cx="4100510" cy="323850"/>
          </a:xfrm>
          <a:prstGeom prst="rect">
            <a:avLst/>
          </a:prstGeom>
          <a:noFill/>
          <a:ln/>
        </p:spPr>
        <p:txBody>
          <a:bodyPr wrap="square" lIns="0" tIns="0" rIns="0" bIns="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Token usage = your live cost meter</a:t>
            </a:r>
            <a:endParaRPr lang="en-US" sz="2025" dirty="0"/>
          </a:p>
        </p:txBody>
      </p:sp>
      <p:sp>
        <p:nvSpPr>
          <p:cNvPr id="14" name="Shape 12"/>
          <p:cNvSpPr/>
          <p:nvPr/>
        </p:nvSpPr>
        <p:spPr>
          <a:xfrm>
            <a:off x="8439150" y="5995243"/>
            <a:ext cx="114300" cy="114300"/>
          </a:xfrm>
          <a:prstGeom prst="roundRect">
            <a:avLst>
              <a:gd name="adj" fmla="val 25000"/>
            </a:avLst>
          </a:prstGeom>
          <a:solidFill>
            <a:srgbClr val="C77D0A"/>
          </a:solidFill>
          <a:ln/>
        </p:spPr>
        <p:txBody>
          <a:bodyPr/>
          <a:lstStyle/>
          <a:p>
            <a:endParaRPr lang="en-US"/>
          </a:p>
        </p:txBody>
      </p:sp>
      <p:sp>
        <p:nvSpPr>
          <p:cNvPr id="15" name="Text 13"/>
          <p:cNvSpPr/>
          <p:nvPr/>
        </p:nvSpPr>
        <p:spPr>
          <a:xfrm>
            <a:off x="8705850" y="5909518"/>
            <a:ext cx="1463055" cy="323850"/>
          </a:xfrm>
          <a:prstGeom prst="rect">
            <a:avLst/>
          </a:prstGeom>
          <a:noFill/>
          <a:ln/>
        </p:spPr>
        <p:txBody>
          <a:bodyPr wrap="square" lIns="0" tIns="0" rIns="0" bIns="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Stop reason</a:t>
            </a:r>
            <a:endParaRPr lang="en-US" sz="2025" dirty="0"/>
          </a:p>
        </p:txBody>
      </p:sp>
      <p:sp>
        <p:nvSpPr>
          <p:cNvPr id="16" name="Text 14"/>
          <p:cNvSpPr/>
          <p:nvPr/>
        </p:nvSpPr>
        <p:spPr>
          <a:xfrm>
            <a:off x="10245105" y="5907137"/>
            <a:ext cx="1002209" cy="328613"/>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Courier New" pitchFamily="34" charset="0"/>
                <a:ea typeface="Courier New" pitchFamily="34" charset="-122"/>
                <a:cs typeface="Courier New" pitchFamily="34" charset="-120"/>
              </a:rPr>
              <a:t>length</a:t>
            </a:r>
            <a:endParaRPr lang="en-US" sz="2025" dirty="0"/>
          </a:p>
        </p:txBody>
      </p:sp>
      <p:sp>
        <p:nvSpPr>
          <p:cNvPr id="17" name="Text 15"/>
          <p:cNvSpPr/>
          <p:nvPr/>
        </p:nvSpPr>
        <p:spPr>
          <a:xfrm>
            <a:off x="11323513" y="5909518"/>
            <a:ext cx="2308920" cy="323850"/>
          </a:xfrm>
          <a:prstGeom prst="rect">
            <a:avLst/>
          </a:prstGeom>
          <a:noFill/>
          <a:ln/>
        </p:spPr>
        <p:txBody>
          <a:bodyPr wrap="square" lIns="0" tIns="0" rIns="0" bIns="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output was cut off</a:t>
            </a:r>
            <a:endParaRPr lang="en-US" sz="2025" dirty="0"/>
          </a:p>
        </p:txBody>
      </p:sp>
      <p:sp>
        <p:nvSpPr>
          <p:cNvPr id="18" name="Shape 16"/>
          <p:cNvSpPr/>
          <p:nvPr/>
        </p:nvSpPr>
        <p:spPr>
          <a:xfrm>
            <a:off x="8439150" y="6442918"/>
            <a:ext cx="114300" cy="114300"/>
          </a:xfrm>
          <a:prstGeom prst="roundRect">
            <a:avLst>
              <a:gd name="adj" fmla="val 25000"/>
            </a:avLst>
          </a:prstGeom>
          <a:solidFill>
            <a:srgbClr val="178A4C"/>
          </a:solidFill>
          <a:ln/>
        </p:spPr>
        <p:txBody>
          <a:bodyPr/>
          <a:lstStyle/>
          <a:p>
            <a:endParaRPr lang="en-US"/>
          </a:p>
        </p:txBody>
      </p:sp>
      <p:sp>
        <p:nvSpPr>
          <p:cNvPr id="19" name="Text 17"/>
          <p:cNvSpPr/>
          <p:nvPr/>
        </p:nvSpPr>
        <p:spPr>
          <a:xfrm>
            <a:off x="8705850" y="6357193"/>
            <a:ext cx="2650742" cy="323850"/>
          </a:xfrm>
          <a:prstGeom prst="rect">
            <a:avLst/>
          </a:prstGeom>
          <a:noFill/>
          <a:ln/>
        </p:spPr>
        <p:txBody>
          <a:bodyPr wrap="square" lIns="0" tIns="0" rIns="0" bIns="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Log both from day one</a:t>
            </a:r>
            <a:endParaRPr lang="en-US" sz="2025" dirty="0"/>
          </a:p>
        </p:txBody>
      </p:sp>
      <p:sp>
        <p:nvSpPr>
          <p:cNvPr id="20" name="Shape 18"/>
          <p:cNvSpPr/>
          <p:nvPr/>
        </p:nvSpPr>
        <p:spPr>
          <a:xfrm>
            <a:off x="1047750" y="9520238"/>
            <a:ext cx="16192500" cy="9525"/>
          </a:xfrm>
          <a:prstGeom prst="rect">
            <a:avLst/>
          </a:prstGeom>
          <a:solidFill>
            <a:srgbClr val="E3E1DA"/>
          </a:solidFill>
          <a:ln/>
        </p:spPr>
        <p:txBody>
          <a:bodyPr/>
          <a:lstStyle/>
          <a:p>
            <a:endParaRPr lang="en-US"/>
          </a:p>
        </p:txBody>
      </p:sp>
      <p:sp>
        <p:nvSpPr>
          <p:cNvPr id="21" name="Text 19"/>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2" name="Text 20"/>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4116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FIRST API CALL</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Getting Structured JSON</a:t>
            </a:r>
            <a:endParaRPr lang="en-US" sz="4800" dirty="0"/>
          </a:p>
        </p:txBody>
      </p:sp>
      <p:sp>
        <p:nvSpPr>
          <p:cNvPr id="5" name="Shape 3"/>
          <p:cNvSpPr/>
          <p:nvPr/>
        </p:nvSpPr>
        <p:spPr>
          <a:xfrm>
            <a:off x="1047750" y="3094955"/>
            <a:ext cx="7620000" cy="3714750"/>
          </a:xfrm>
          <a:prstGeom prst="roundRect">
            <a:avLst>
              <a:gd name="adj" fmla="val 3590"/>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323975" y="3333080"/>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7C7A73"/>
                </a:solidFill>
                <a:latin typeface="Courier New" pitchFamily="34" charset="0"/>
                <a:ea typeface="Courier New" pitchFamily="34" charset="-122"/>
                <a:cs typeface="Courier New" pitchFamily="34" charset="-120"/>
              </a:rPr>
              <a:t># 1. ask for exact fields</a:t>
            </a:r>
            <a:endParaRPr lang="en-US" sz="1875" dirty="0"/>
          </a:p>
        </p:txBody>
      </p:sp>
      <p:sp>
        <p:nvSpPr>
          <p:cNvPr id="7" name="Text 5"/>
          <p:cNvSpPr/>
          <p:nvPr/>
        </p:nvSpPr>
        <p:spPr>
          <a:xfrm>
            <a:off x="1323975" y="3737893"/>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3D3D3D"/>
                </a:solidFill>
                <a:latin typeface="Courier New" pitchFamily="34" charset="0"/>
                <a:ea typeface="Courier New" pitchFamily="34" charset="-122"/>
                <a:cs typeface="Courier New" pitchFamily="34" charset="-120"/>
              </a:rPr>
              <a:t>prompt = </a:t>
            </a:r>
            <a:r>
              <a:rPr lang="en-US" sz="1875" dirty="0">
                <a:solidFill>
                  <a:srgbClr val="178A4C"/>
                </a:solidFill>
                <a:latin typeface="Courier New" pitchFamily="34" charset="0"/>
                <a:ea typeface="Courier New" pitchFamily="34" charset="-122"/>
                <a:cs typeface="Courier New" pitchFamily="34" charset="-120"/>
              </a:rPr>
              <a:t>"""Extract as JSON with</a:t>
            </a:r>
            <a:endParaRPr lang="en-US" sz="1875" dirty="0"/>
          </a:p>
        </p:txBody>
      </p:sp>
      <p:sp>
        <p:nvSpPr>
          <p:cNvPr id="8" name="Text 6"/>
          <p:cNvSpPr/>
          <p:nvPr/>
        </p:nvSpPr>
        <p:spPr>
          <a:xfrm>
            <a:off x="1323975" y="4142705"/>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178A4C"/>
                </a:solidFill>
                <a:latin typeface="Courier New" pitchFamily="34" charset="0"/>
                <a:ea typeface="Courier New" pitchFamily="34" charset="-122"/>
                <a:cs typeface="Courier New" pitchFamily="34" charset="-120"/>
              </a:rPr>
              <a:t>keys name, role, company:</a:t>
            </a:r>
            <a:endParaRPr lang="en-US" sz="1875" dirty="0"/>
          </a:p>
        </p:txBody>
      </p:sp>
      <p:sp>
        <p:nvSpPr>
          <p:cNvPr id="9" name="Text 7"/>
          <p:cNvSpPr/>
          <p:nvPr/>
        </p:nvSpPr>
        <p:spPr>
          <a:xfrm>
            <a:off x="1323975" y="4547518"/>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178A4C"/>
                </a:solidFill>
                <a:latin typeface="Courier New" pitchFamily="34" charset="0"/>
                <a:ea typeface="Courier New" pitchFamily="34" charset="-122"/>
                <a:cs typeface="Courier New" pitchFamily="34" charset="-120"/>
              </a:rPr>
              <a:t>'Ada leads eng at Globex.'"""</a:t>
            </a:r>
            <a:endParaRPr lang="en-US" sz="1875" dirty="0"/>
          </a:p>
        </p:txBody>
      </p:sp>
      <p:sp>
        <p:nvSpPr>
          <p:cNvPr id="10" name="Text 8"/>
          <p:cNvSpPr/>
          <p:nvPr/>
        </p:nvSpPr>
        <p:spPr>
          <a:xfrm>
            <a:off x="1323975" y="4952330"/>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7C7A73"/>
                </a:solidFill>
                <a:latin typeface="Courier New" pitchFamily="34" charset="0"/>
                <a:ea typeface="Courier New" pitchFamily="34" charset="-122"/>
                <a:cs typeface="Courier New" pitchFamily="34" charset="-120"/>
              </a:rPr>
              <a:t># 2. parse the reply</a:t>
            </a:r>
            <a:endParaRPr lang="en-US" sz="1875" dirty="0"/>
          </a:p>
        </p:txBody>
      </p:sp>
      <p:sp>
        <p:nvSpPr>
          <p:cNvPr id="11" name="Text 9"/>
          <p:cNvSpPr/>
          <p:nvPr/>
        </p:nvSpPr>
        <p:spPr>
          <a:xfrm>
            <a:off x="1323975" y="5357143"/>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1F6FEB"/>
                </a:solidFill>
                <a:latin typeface="Courier New" pitchFamily="34" charset="0"/>
                <a:ea typeface="Courier New" pitchFamily="34" charset="-122"/>
                <a:cs typeface="Courier New" pitchFamily="34" charset="-120"/>
              </a:rPr>
              <a:t>import </a:t>
            </a:r>
            <a:r>
              <a:rPr lang="en-US" sz="1875" dirty="0">
                <a:solidFill>
                  <a:srgbClr val="3D3D3D"/>
                </a:solidFill>
                <a:latin typeface="Courier New" pitchFamily="34" charset="0"/>
                <a:ea typeface="Courier New" pitchFamily="34" charset="-122"/>
                <a:cs typeface="Courier New" pitchFamily="34" charset="-120"/>
              </a:rPr>
              <a:t>json</a:t>
            </a:r>
            <a:endParaRPr lang="en-US" sz="1875" dirty="0"/>
          </a:p>
        </p:txBody>
      </p:sp>
      <p:sp>
        <p:nvSpPr>
          <p:cNvPr id="12" name="Text 10"/>
          <p:cNvSpPr/>
          <p:nvPr/>
        </p:nvSpPr>
        <p:spPr>
          <a:xfrm>
            <a:off x="1323975" y="5761955"/>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3D3D3D"/>
                </a:solidFill>
                <a:latin typeface="Courier New" pitchFamily="34" charset="0"/>
                <a:ea typeface="Courier New" pitchFamily="34" charset="-122"/>
                <a:cs typeface="Courier New" pitchFamily="34" charset="-120"/>
              </a:rPr>
              <a:t>data = json.loads(text)</a:t>
            </a:r>
            <a:endParaRPr lang="en-US" sz="1875" dirty="0"/>
          </a:p>
        </p:txBody>
      </p:sp>
      <p:sp>
        <p:nvSpPr>
          <p:cNvPr id="13" name="Text 11"/>
          <p:cNvSpPr/>
          <p:nvPr/>
        </p:nvSpPr>
        <p:spPr>
          <a:xfrm>
            <a:off x="1323975" y="6166768"/>
            <a:ext cx="7279577" cy="442913"/>
          </a:xfrm>
          <a:prstGeom prst="rect">
            <a:avLst/>
          </a:prstGeom>
          <a:noFill/>
          <a:ln/>
        </p:spPr>
        <p:txBody>
          <a:bodyPr wrap="square" lIns="25400" tIns="25400" rIns="25400" bIns="25400" rtlCol="0" anchor="t">
            <a:normAutofit/>
          </a:bodyPr>
          <a:lstStyle/>
          <a:p>
            <a:pPr marL="0" indent="0" algn="l">
              <a:lnSpc>
                <a:spcPct val="170000"/>
              </a:lnSpc>
              <a:buNone/>
            </a:pPr>
            <a:r>
              <a:rPr lang="en-US" sz="1875" dirty="0">
                <a:solidFill>
                  <a:srgbClr val="3D3D3D"/>
                </a:solidFill>
                <a:latin typeface="Courier New" pitchFamily="34" charset="0"/>
                <a:ea typeface="Courier New" pitchFamily="34" charset="-122"/>
                <a:cs typeface="Courier New" pitchFamily="34" charset="-120"/>
              </a:rPr>
              <a:t>data[</a:t>
            </a:r>
            <a:r>
              <a:rPr lang="en-US" sz="1875" dirty="0">
                <a:solidFill>
                  <a:srgbClr val="178A4C"/>
                </a:solidFill>
                <a:latin typeface="Courier New" pitchFamily="34" charset="0"/>
                <a:ea typeface="Courier New" pitchFamily="34" charset="-122"/>
                <a:cs typeface="Courier New" pitchFamily="34" charset="-120"/>
              </a:rPr>
              <a:t>"company"</a:t>
            </a:r>
            <a:r>
              <a:rPr lang="en-US" sz="1875" dirty="0">
                <a:solidFill>
                  <a:srgbClr val="3D3D3D"/>
                </a:solidFill>
                <a:latin typeface="Courier New" pitchFamily="34" charset="0"/>
                <a:ea typeface="Courier New" pitchFamily="34" charset="-122"/>
                <a:cs typeface="Courier New" pitchFamily="34" charset="-120"/>
              </a:rPr>
              <a:t>] </a:t>
            </a:r>
            <a:r>
              <a:rPr lang="en-US" sz="1875" dirty="0">
                <a:solidFill>
                  <a:srgbClr val="7C7A73"/>
                </a:solidFill>
                <a:latin typeface="Courier New" pitchFamily="34" charset="0"/>
                <a:ea typeface="Courier New" pitchFamily="34" charset="-122"/>
                <a:cs typeface="Courier New" pitchFamily="34" charset="-120"/>
              </a:rPr>
              <a:t># "Globex"</a:t>
            </a:r>
            <a:endParaRPr lang="en-US" sz="1875" dirty="0"/>
          </a:p>
        </p:txBody>
      </p:sp>
      <p:sp>
        <p:nvSpPr>
          <p:cNvPr id="14" name="Text 12"/>
          <p:cNvSpPr/>
          <p:nvPr/>
        </p:nvSpPr>
        <p:spPr>
          <a:xfrm>
            <a:off x="8896350" y="4721349"/>
            <a:ext cx="476250" cy="500063"/>
          </a:xfrm>
          <a:prstGeom prst="rect">
            <a:avLst/>
          </a:prstGeom>
          <a:noFill/>
          <a:ln/>
        </p:spPr>
        <p:txBody>
          <a:bodyPr wrap="square" lIns="25400" tIns="25400" rIns="25400" bIns="25400" rtlCol="0" anchor="t">
            <a:normAutofit/>
          </a:bodyPr>
          <a:lstStyle/>
          <a:p>
            <a:pPr marL="0" indent="0" algn="ctr">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5" name="Shape 13"/>
          <p:cNvSpPr/>
          <p:nvPr/>
        </p:nvSpPr>
        <p:spPr>
          <a:xfrm>
            <a:off x="9601200" y="3633118"/>
            <a:ext cx="7639050" cy="2638425"/>
          </a:xfrm>
          <a:prstGeom prst="roundRect">
            <a:avLst>
              <a:gd name="adj" fmla="val 5054"/>
            </a:avLst>
          </a:prstGeom>
          <a:solidFill>
            <a:srgbClr val="FFFFFF"/>
          </a:solidFill>
          <a:ln w="19050">
            <a:solidFill>
              <a:srgbClr val="178A4C"/>
            </a:solidFill>
            <a:prstDash val="solid"/>
          </a:ln>
        </p:spPr>
        <p:txBody>
          <a:bodyPr/>
          <a:lstStyle/>
          <a:p>
            <a:endParaRPr lang="en-US"/>
          </a:p>
        </p:txBody>
      </p:sp>
      <p:sp>
        <p:nvSpPr>
          <p:cNvPr id="16" name="Text 14"/>
          <p:cNvSpPr/>
          <p:nvPr/>
        </p:nvSpPr>
        <p:spPr>
          <a:xfrm>
            <a:off x="9886950" y="3880768"/>
            <a:ext cx="7279577" cy="466725"/>
          </a:xfrm>
          <a:prstGeom prst="rect">
            <a:avLst/>
          </a:prstGeom>
          <a:noFill/>
          <a:ln/>
        </p:spPr>
        <p:txBody>
          <a:bodyPr wrap="square" lIns="25400" tIns="25400" rIns="25400" bIns="25400" rtlCol="0" anchor="t">
            <a:normAutofit/>
          </a:bodyPr>
          <a:lstStyle/>
          <a:p>
            <a:pPr marL="0" indent="0" algn="l">
              <a:lnSpc>
                <a:spcPct val="180000"/>
              </a:lnSpc>
              <a:buNone/>
            </a:pPr>
            <a:r>
              <a:rPr lang="en-US" sz="1875" dirty="0">
                <a:solidFill>
                  <a:srgbClr val="1A1A1A"/>
                </a:solidFill>
                <a:latin typeface="Courier New" pitchFamily="34" charset="0"/>
                <a:ea typeface="Courier New" pitchFamily="34" charset="-122"/>
                <a:cs typeface="Courier New" pitchFamily="34" charset="-120"/>
              </a:rPr>
              <a:t>{</a:t>
            </a:r>
            <a:endParaRPr lang="en-US" sz="1875" dirty="0"/>
          </a:p>
        </p:txBody>
      </p:sp>
      <p:sp>
        <p:nvSpPr>
          <p:cNvPr id="17" name="Text 15"/>
          <p:cNvSpPr/>
          <p:nvPr/>
        </p:nvSpPr>
        <p:spPr>
          <a:xfrm>
            <a:off x="9886950" y="4309393"/>
            <a:ext cx="7279577" cy="466725"/>
          </a:xfrm>
          <a:prstGeom prst="rect">
            <a:avLst/>
          </a:prstGeom>
          <a:noFill/>
          <a:ln/>
        </p:spPr>
        <p:txBody>
          <a:bodyPr wrap="square" lIns="25400" tIns="25400" rIns="25400" bIns="25400" rtlCol="0" anchor="t">
            <a:normAutofit/>
          </a:bodyPr>
          <a:lstStyle/>
          <a:p>
            <a:pPr marL="0" indent="0" algn="l">
              <a:lnSpc>
                <a:spcPct val="180000"/>
              </a:lnSpc>
              <a:buNone/>
            </a:pPr>
            <a:r>
              <a:rPr lang="en-US" sz="1875" dirty="0">
                <a:solidFill>
                  <a:srgbClr val="7A4FD0"/>
                </a:solidFill>
                <a:latin typeface="Courier New" pitchFamily="34" charset="0"/>
                <a:ea typeface="Courier New" pitchFamily="34" charset="-122"/>
                <a:cs typeface="Courier New" pitchFamily="34" charset="-120"/>
              </a:rPr>
              <a:t>"name"</a:t>
            </a:r>
            <a:r>
              <a:rPr lang="en-US" sz="1875" dirty="0">
                <a:solidFill>
                  <a:srgbClr val="1A1A1A"/>
                </a:solidFill>
                <a:latin typeface="Courier New" pitchFamily="34" charset="0"/>
                <a:ea typeface="Courier New" pitchFamily="34" charset="-122"/>
                <a:cs typeface="Courier New" pitchFamily="34" charset="-120"/>
              </a:rPr>
              <a:t>: </a:t>
            </a:r>
            <a:r>
              <a:rPr lang="en-US" sz="1875" dirty="0">
                <a:solidFill>
                  <a:srgbClr val="178A4C"/>
                </a:solidFill>
                <a:latin typeface="Courier New" pitchFamily="34" charset="0"/>
                <a:ea typeface="Courier New" pitchFamily="34" charset="-122"/>
                <a:cs typeface="Courier New" pitchFamily="34" charset="-120"/>
              </a:rPr>
              <a:t>"Ada"</a:t>
            </a:r>
            <a:r>
              <a:rPr lang="en-US" sz="1875" dirty="0">
                <a:solidFill>
                  <a:srgbClr val="1A1A1A"/>
                </a:solidFill>
                <a:latin typeface="Courier New" pitchFamily="34" charset="0"/>
                <a:ea typeface="Courier New" pitchFamily="34" charset="-122"/>
                <a:cs typeface="Courier New" pitchFamily="34" charset="-120"/>
              </a:rPr>
              <a:t>,</a:t>
            </a:r>
            <a:endParaRPr lang="en-US" sz="1875" dirty="0"/>
          </a:p>
        </p:txBody>
      </p:sp>
      <p:sp>
        <p:nvSpPr>
          <p:cNvPr id="18" name="Text 16"/>
          <p:cNvSpPr/>
          <p:nvPr/>
        </p:nvSpPr>
        <p:spPr>
          <a:xfrm>
            <a:off x="9886950" y="4738018"/>
            <a:ext cx="7279577" cy="466725"/>
          </a:xfrm>
          <a:prstGeom prst="rect">
            <a:avLst/>
          </a:prstGeom>
          <a:noFill/>
          <a:ln/>
        </p:spPr>
        <p:txBody>
          <a:bodyPr wrap="square" lIns="25400" tIns="25400" rIns="25400" bIns="25400" rtlCol="0" anchor="t">
            <a:normAutofit/>
          </a:bodyPr>
          <a:lstStyle/>
          <a:p>
            <a:pPr marL="0" indent="0" algn="l">
              <a:lnSpc>
                <a:spcPct val="180000"/>
              </a:lnSpc>
              <a:buNone/>
            </a:pPr>
            <a:r>
              <a:rPr lang="en-US" sz="1875" dirty="0">
                <a:solidFill>
                  <a:srgbClr val="7A4FD0"/>
                </a:solidFill>
                <a:latin typeface="Courier New" pitchFamily="34" charset="0"/>
                <a:ea typeface="Courier New" pitchFamily="34" charset="-122"/>
                <a:cs typeface="Courier New" pitchFamily="34" charset="-120"/>
              </a:rPr>
              <a:t>"role"</a:t>
            </a:r>
            <a:r>
              <a:rPr lang="en-US" sz="1875" dirty="0">
                <a:solidFill>
                  <a:srgbClr val="1A1A1A"/>
                </a:solidFill>
                <a:latin typeface="Courier New" pitchFamily="34" charset="0"/>
                <a:ea typeface="Courier New" pitchFamily="34" charset="-122"/>
                <a:cs typeface="Courier New" pitchFamily="34" charset="-120"/>
              </a:rPr>
              <a:t>: </a:t>
            </a:r>
            <a:r>
              <a:rPr lang="en-US" sz="1875" dirty="0">
                <a:solidFill>
                  <a:srgbClr val="178A4C"/>
                </a:solidFill>
                <a:latin typeface="Courier New" pitchFamily="34" charset="0"/>
                <a:ea typeface="Courier New" pitchFamily="34" charset="-122"/>
                <a:cs typeface="Courier New" pitchFamily="34" charset="-120"/>
              </a:rPr>
              <a:t>"eng lead"</a:t>
            </a:r>
            <a:r>
              <a:rPr lang="en-US" sz="1875" dirty="0">
                <a:solidFill>
                  <a:srgbClr val="1A1A1A"/>
                </a:solidFill>
                <a:latin typeface="Courier New" pitchFamily="34" charset="0"/>
                <a:ea typeface="Courier New" pitchFamily="34" charset="-122"/>
                <a:cs typeface="Courier New" pitchFamily="34" charset="-120"/>
              </a:rPr>
              <a:t>,</a:t>
            </a:r>
            <a:endParaRPr lang="en-US" sz="1875" dirty="0"/>
          </a:p>
        </p:txBody>
      </p:sp>
      <p:sp>
        <p:nvSpPr>
          <p:cNvPr id="19" name="Text 17"/>
          <p:cNvSpPr/>
          <p:nvPr/>
        </p:nvSpPr>
        <p:spPr>
          <a:xfrm>
            <a:off x="9886950" y="5166643"/>
            <a:ext cx="7279577" cy="466725"/>
          </a:xfrm>
          <a:prstGeom prst="rect">
            <a:avLst/>
          </a:prstGeom>
          <a:noFill/>
          <a:ln/>
        </p:spPr>
        <p:txBody>
          <a:bodyPr wrap="square" lIns="25400" tIns="25400" rIns="25400" bIns="25400" rtlCol="0" anchor="t">
            <a:normAutofit/>
          </a:bodyPr>
          <a:lstStyle/>
          <a:p>
            <a:pPr marL="0" indent="0" algn="l">
              <a:lnSpc>
                <a:spcPct val="180000"/>
              </a:lnSpc>
              <a:buNone/>
            </a:pPr>
            <a:r>
              <a:rPr lang="en-US" sz="1875" dirty="0">
                <a:solidFill>
                  <a:srgbClr val="7A4FD0"/>
                </a:solidFill>
                <a:latin typeface="Courier New" pitchFamily="34" charset="0"/>
                <a:ea typeface="Courier New" pitchFamily="34" charset="-122"/>
                <a:cs typeface="Courier New" pitchFamily="34" charset="-120"/>
              </a:rPr>
              <a:t>"company"</a:t>
            </a:r>
            <a:r>
              <a:rPr lang="en-US" sz="1875" dirty="0">
                <a:solidFill>
                  <a:srgbClr val="1A1A1A"/>
                </a:solidFill>
                <a:latin typeface="Courier New" pitchFamily="34" charset="0"/>
                <a:ea typeface="Courier New" pitchFamily="34" charset="-122"/>
                <a:cs typeface="Courier New" pitchFamily="34" charset="-120"/>
              </a:rPr>
              <a:t>: </a:t>
            </a:r>
            <a:r>
              <a:rPr lang="en-US" sz="1875" dirty="0">
                <a:solidFill>
                  <a:srgbClr val="178A4C"/>
                </a:solidFill>
                <a:latin typeface="Courier New" pitchFamily="34" charset="0"/>
                <a:ea typeface="Courier New" pitchFamily="34" charset="-122"/>
                <a:cs typeface="Courier New" pitchFamily="34" charset="-120"/>
              </a:rPr>
              <a:t>"Globex"</a:t>
            </a:r>
            <a:endParaRPr lang="en-US" sz="1875" dirty="0"/>
          </a:p>
        </p:txBody>
      </p:sp>
      <p:sp>
        <p:nvSpPr>
          <p:cNvPr id="20" name="Text 18"/>
          <p:cNvSpPr/>
          <p:nvPr/>
        </p:nvSpPr>
        <p:spPr>
          <a:xfrm>
            <a:off x="9886950" y="5595268"/>
            <a:ext cx="7279577" cy="466725"/>
          </a:xfrm>
          <a:prstGeom prst="rect">
            <a:avLst/>
          </a:prstGeom>
          <a:noFill/>
          <a:ln/>
        </p:spPr>
        <p:txBody>
          <a:bodyPr wrap="square" lIns="25400" tIns="25400" rIns="25400" bIns="25400" rtlCol="0" anchor="t">
            <a:normAutofit/>
          </a:bodyPr>
          <a:lstStyle/>
          <a:p>
            <a:pPr marL="0" indent="0" algn="l">
              <a:lnSpc>
                <a:spcPct val="180000"/>
              </a:lnSpc>
              <a:buNone/>
            </a:pPr>
            <a:r>
              <a:rPr lang="en-US" sz="1875" dirty="0">
                <a:solidFill>
                  <a:srgbClr val="1A1A1A"/>
                </a:solidFill>
                <a:latin typeface="Courier New" pitchFamily="34" charset="0"/>
                <a:ea typeface="Courier New" pitchFamily="34" charset="-122"/>
                <a:cs typeface="Courier New" pitchFamily="34" charset="-120"/>
              </a:rPr>
              <a:t>}</a:t>
            </a:r>
            <a:endParaRPr lang="en-US" sz="1875" dirty="0"/>
          </a:p>
        </p:txBody>
      </p:sp>
      <p:sp>
        <p:nvSpPr>
          <p:cNvPr id="21" name="Text 19"/>
          <p:cNvSpPr/>
          <p:nvPr/>
        </p:nvSpPr>
        <p:spPr>
          <a:xfrm>
            <a:off x="1047750" y="7980164"/>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The LLM becomes a </a:t>
            </a:r>
            <a:r>
              <a:rPr lang="en-US" sz="2025" dirty="0">
                <a:solidFill>
                  <a:srgbClr val="1A1A1A"/>
                </a:solidFill>
                <a:highlight>
                  <a:srgbClr val="FFF1A8"/>
                </a:highlight>
                <a:latin typeface="Georgia" pitchFamily="34" charset="0"/>
                <a:ea typeface="Georgia" pitchFamily="34" charset="-122"/>
                <a:cs typeface="Georgia" pitchFamily="34" charset="-120"/>
              </a:rPr>
              <a:t>function</a:t>
            </a:r>
            <a:r>
              <a:rPr lang="en-US" sz="2025" dirty="0">
                <a:solidFill>
                  <a:srgbClr val="1A1A1A"/>
                </a:solidFill>
                <a:latin typeface="Georgia" pitchFamily="34" charset="0"/>
                <a:ea typeface="Georgia" pitchFamily="34" charset="-122"/>
                <a:cs typeface="Georgia" pitchFamily="34" charset="-120"/>
              </a:rPr>
              <a:t>: messy text in, structured data out.</a:t>
            </a:r>
            <a:endParaRPr lang="en-US" sz="2025" dirty="0"/>
          </a:p>
        </p:txBody>
      </p:sp>
      <p:sp>
        <p:nvSpPr>
          <p:cNvPr id="22" name="Shape 20"/>
          <p:cNvSpPr/>
          <p:nvPr/>
        </p:nvSpPr>
        <p:spPr>
          <a:xfrm>
            <a:off x="1047750" y="8389739"/>
            <a:ext cx="16192500" cy="944761"/>
          </a:xfrm>
          <a:prstGeom prst="roundRect">
            <a:avLst>
              <a:gd name="adj" fmla="val 12098"/>
            </a:avLst>
          </a:prstGeom>
          <a:solidFill>
            <a:srgbClr val="FBF0D9"/>
          </a:solidFill>
          <a:ln w="9525">
            <a:solidFill>
              <a:srgbClr val="C77D0A"/>
            </a:solidFill>
            <a:prstDash val="solid"/>
          </a:ln>
        </p:spPr>
        <p:txBody>
          <a:bodyPr/>
          <a:lstStyle/>
          <a:p>
            <a:endParaRPr lang="en-US"/>
          </a:p>
        </p:txBody>
      </p:sp>
      <p:sp>
        <p:nvSpPr>
          <p:cNvPr id="23" name="Text 21"/>
          <p:cNvSpPr/>
          <p:nvPr/>
        </p:nvSpPr>
        <p:spPr>
          <a:xfrm>
            <a:off x="1266825" y="8702129"/>
            <a:ext cx="2264040" cy="358080"/>
          </a:xfrm>
          <a:prstGeom prst="rect">
            <a:avLst/>
          </a:prstGeom>
          <a:noFill/>
          <a:ln/>
        </p:spPr>
        <p:txBody>
          <a:bodyPr wrap="none" lIns="25400" tIns="25400" rIns="25400" bIns="25400" rtlCol="0" anchor="t">
            <a:normAutofit/>
          </a:bodyPr>
          <a:lstStyle/>
          <a:p>
            <a:pPr marL="0" indent="0" algn="l">
              <a:lnSpc>
                <a:spcPct val="140000"/>
              </a:lnSpc>
              <a:buNone/>
            </a:pPr>
            <a:r>
              <a:rPr lang="en-US" sz="1800" b="1" dirty="0">
                <a:solidFill>
                  <a:srgbClr val="C77D0A"/>
                </a:solidFill>
                <a:latin typeface="Courier New" pitchFamily="34" charset="0"/>
                <a:ea typeface="Courier New" pitchFamily="34" charset="-122"/>
                <a:cs typeface="Courier New" pitchFamily="34" charset="-120"/>
              </a:rPr>
              <a:t>⚠ Markdown wrap</a:t>
            </a:r>
            <a:endParaRPr lang="en-US" sz="1800" dirty="0"/>
          </a:p>
        </p:txBody>
      </p:sp>
      <p:sp>
        <p:nvSpPr>
          <p:cNvPr id="24" name="Text 22"/>
          <p:cNvSpPr/>
          <p:nvPr/>
        </p:nvSpPr>
        <p:spPr>
          <a:xfrm>
            <a:off x="3477444" y="8532614"/>
            <a:ext cx="13950043" cy="69711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D3D3D"/>
                </a:solidFill>
                <a:latin typeface="Arial" pitchFamily="34" charset="0"/>
                <a:ea typeface="Arial" pitchFamily="34" charset="-122"/>
                <a:cs typeface="Arial" pitchFamily="34" charset="-120"/>
              </a:rPr>
              <a:t>Models often fence JSON as </a:t>
            </a:r>
            <a:r>
              <a:rPr lang="en-US" sz="1800" dirty="0">
                <a:solidFill>
                  <a:srgbClr val="1A1A1A"/>
                </a:solidFill>
                <a:latin typeface="Courier New" pitchFamily="34" charset="0"/>
                <a:ea typeface="Courier New" pitchFamily="34" charset="-122"/>
                <a:cs typeface="Courier New" pitchFamily="34" charset="-120"/>
              </a:rPr>
              <a:t>```json … ``` </a:t>
            </a:r>
            <a:r>
              <a:rPr lang="en-US" sz="1800" dirty="0">
                <a:solidFill>
                  <a:srgbClr val="3D3D3D"/>
                </a:solidFill>
                <a:latin typeface="Arial" pitchFamily="34" charset="0"/>
                <a:ea typeface="Arial" pitchFamily="34" charset="-122"/>
                <a:cs typeface="Arial" pitchFamily="34" charset="-120"/>
              </a:rPr>
              <a:t>— passing that straight to </a:t>
            </a:r>
            <a:r>
              <a:rPr lang="en-US" sz="1800" dirty="0">
                <a:solidFill>
                  <a:srgbClr val="1A1A1A"/>
                </a:solidFill>
                <a:latin typeface="Courier New" pitchFamily="34" charset="0"/>
                <a:ea typeface="Courier New" pitchFamily="34" charset="-122"/>
                <a:cs typeface="Courier New" pitchFamily="34" charset="-120"/>
              </a:rPr>
              <a:t>json.loads() </a:t>
            </a:r>
            <a:r>
              <a:rPr lang="en-US" sz="1800" dirty="0">
                <a:solidFill>
                  <a:srgbClr val="3D3D3D"/>
                </a:solidFill>
                <a:latin typeface="Arial" pitchFamily="34" charset="0"/>
                <a:ea typeface="Arial" pitchFamily="34" charset="-122"/>
                <a:cs typeface="Arial" pitchFamily="34" charset="-120"/>
              </a:rPr>
              <a:t>crashes. Strip the fence, or switch on JSON mode / tools (next slide).</a:t>
            </a:r>
            <a:endParaRPr lang="en-US" sz="1800" dirty="0"/>
          </a:p>
        </p:txBody>
      </p:sp>
      <p:sp>
        <p:nvSpPr>
          <p:cNvPr id="25" name="Shape 23"/>
          <p:cNvSpPr/>
          <p:nvPr/>
        </p:nvSpPr>
        <p:spPr>
          <a:xfrm>
            <a:off x="1047750" y="9520238"/>
            <a:ext cx="16192500" cy="9525"/>
          </a:xfrm>
          <a:prstGeom prst="rect">
            <a:avLst/>
          </a:prstGeom>
          <a:solidFill>
            <a:srgbClr val="E3E1DA"/>
          </a:solidFill>
          <a:ln/>
        </p:spPr>
        <p:txBody>
          <a:bodyPr/>
          <a:lstStyle/>
          <a:p>
            <a:endParaRPr lang="en-US"/>
          </a:p>
        </p:txBody>
      </p:sp>
      <p:sp>
        <p:nvSpPr>
          <p:cNvPr id="26" name="Text 2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7" name="Text 25"/>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4116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FIRST API CALL</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Make the JSON Reliable</a:t>
            </a:r>
            <a:endParaRPr lang="en-US" sz="4800" dirty="0"/>
          </a:p>
        </p:txBody>
      </p:sp>
      <p:sp>
        <p:nvSpPr>
          <p:cNvPr id="5" name="Shape 3"/>
          <p:cNvSpPr/>
          <p:nvPr/>
        </p:nvSpPr>
        <p:spPr>
          <a:xfrm>
            <a:off x="1047750" y="4573191"/>
            <a:ext cx="5238750" cy="1760190"/>
          </a:xfrm>
          <a:prstGeom prst="roundRect">
            <a:avLst>
              <a:gd name="adj" fmla="val 7576"/>
            </a:avLst>
          </a:prstGeom>
          <a:ln w="9525">
            <a:solidFill>
              <a:srgbClr val="E3E1DA"/>
            </a:solidFill>
            <a:prstDash val="solid"/>
          </a:ln>
        </p:spPr>
        <p:txBody>
          <a:bodyPr/>
          <a:lstStyle/>
          <a:p>
            <a:endParaRPr lang="en-US"/>
          </a:p>
        </p:txBody>
      </p:sp>
      <p:sp>
        <p:nvSpPr>
          <p:cNvPr id="6" name="Text 4"/>
          <p:cNvSpPr/>
          <p:nvPr/>
        </p:nvSpPr>
        <p:spPr>
          <a:xfrm>
            <a:off x="1343025" y="4830366"/>
            <a:ext cx="511302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78A4C"/>
                </a:solidFill>
                <a:latin typeface="Courier New" pitchFamily="34" charset="0"/>
                <a:ea typeface="Courier New" pitchFamily="34" charset="-122"/>
                <a:cs typeface="Courier New" pitchFamily="34" charset="-120"/>
              </a:rPr>
              <a:t>OpenAI</a:t>
            </a:r>
            <a:endParaRPr lang="en-US" sz="2400" dirty="0"/>
          </a:p>
        </p:txBody>
      </p:sp>
      <p:sp>
        <p:nvSpPr>
          <p:cNvPr id="7" name="Text 5"/>
          <p:cNvSpPr/>
          <p:nvPr/>
        </p:nvSpPr>
        <p:spPr>
          <a:xfrm>
            <a:off x="1343025" y="5287566"/>
            <a:ext cx="4787646" cy="807690"/>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Turn on JSON / schema mode via </a:t>
            </a:r>
            <a:r>
              <a:rPr lang="en-US" sz="2025" dirty="0">
                <a:solidFill>
                  <a:srgbClr val="3D3D3D"/>
                </a:solidFill>
                <a:latin typeface="Courier New" pitchFamily="34" charset="0"/>
                <a:ea typeface="Courier New" pitchFamily="34" charset="-122"/>
                <a:cs typeface="Courier New" pitchFamily="34" charset="-120"/>
              </a:rPr>
              <a:t>response_format</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8" name="Shape 6"/>
          <p:cNvSpPr/>
          <p:nvPr/>
        </p:nvSpPr>
        <p:spPr>
          <a:xfrm>
            <a:off x="6515100" y="4573191"/>
            <a:ext cx="5238750" cy="1760190"/>
          </a:xfrm>
          <a:prstGeom prst="roundRect">
            <a:avLst>
              <a:gd name="adj" fmla="val 7576"/>
            </a:avLst>
          </a:prstGeom>
          <a:ln w="9525">
            <a:solidFill>
              <a:srgbClr val="E3E1DA"/>
            </a:solidFill>
            <a:prstDash val="solid"/>
          </a:ln>
        </p:spPr>
        <p:txBody>
          <a:bodyPr/>
          <a:lstStyle/>
          <a:p>
            <a:endParaRPr lang="en-US"/>
          </a:p>
        </p:txBody>
      </p:sp>
      <p:sp>
        <p:nvSpPr>
          <p:cNvPr id="9" name="Text 7"/>
          <p:cNvSpPr/>
          <p:nvPr/>
        </p:nvSpPr>
        <p:spPr>
          <a:xfrm>
            <a:off x="6810375" y="4830366"/>
            <a:ext cx="511302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7A4FD0"/>
                </a:solidFill>
                <a:latin typeface="Courier New" pitchFamily="34" charset="0"/>
                <a:ea typeface="Courier New" pitchFamily="34" charset="-122"/>
                <a:cs typeface="Courier New" pitchFamily="34" charset="-120"/>
              </a:rPr>
              <a:t>Anthropic</a:t>
            </a:r>
            <a:endParaRPr lang="en-US" sz="2400" dirty="0"/>
          </a:p>
        </p:txBody>
      </p:sp>
      <p:sp>
        <p:nvSpPr>
          <p:cNvPr id="10" name="Text 8"/>
          <p:cNvSpPr/>
          <p:nvPr/>
        </p:nvSpPr>
        <p:spPr>
          <a:xfrm>
            <a:off x="6810375" y="5287566"/>
            <a:ext cx="5113020" cy="434801"/>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Get strict shapes through </a:t>
            </a:r>
            <a:r>
              <a:rPr lang="en-US" sz="2025" dirty="0">
                <a:solidFill>
                  <a:srgbClr val="3D3D3D"/>
                </a:solidFill>
                <a:latin typeface="Courier New" pitchFamily="34" charset="0"/>
                <a:ea typeface="Courier New" pitchFamily="34" charset="-122"/>
                <a:cs typeface="Courier New" pitchFamily="34" charset="-120"/>
              </a:rPr>
              <a:t>tool use</a:t>
            </a: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11" name="Shape 9"/>
          <p:cNvSpPr/>
          <p:nvPr/>
        </p:nvSpPr>
        <p:spPr>
          <a:xfrm>
            <a:off x="11982450" y="4573191"/>
            <a:ext cx="5257800" cy="1760190"/>
          </a:xfrm>
          <a:prstGeom prst="roundRect">
            <a:avLst>
              <a:gd name="adj" fmla="val 7576"/>
            </a:avLst>
          </a:prstGeom>
          <a:solidFill>
            <a:srgbClr val="E8F0FE"/>
          </a:solidFill>
          <a:ln w="19050">
            <a:solidFill>
              <a:srgbClr val="1F6FEB"/>
            </a:solidFill>
            <a:prstDash val="solid"/>
          </a:ln>
        </p:spPr>
        <p:txBody>
          <a:bodyPr/>
          <a:lstStyle/>
          <a:p>
            <a:endParaRPr lang="en-US"/>
          </a:p>
        </p:txBody>
      </p:sp>
      <p:sp>
        <p:nvSpPr>
          <p:cNvPr id="12" name="Text 10"/>
          <p:cNvSpPr/>
          <p:nvPr/>
        </p:nvSpPr>
        <p:spPr>
          <a:xfrm>
            <a:off x="12287250" y="4839891"/>
            <a:ext cx="511302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Always</a:t>
            </a:r>
            <a:endParaRPr lang="en-US" sz="2400" dirty="0"/>
          </a:p>
        </p:txBody>
      </p:sp>
      <p:sp>
        <p:nvSpPr>
          <p:cNvPr id="13" name="Text 11"/>
          <p:cNvSpPr/>
          <p:nvPr/>
        </p:nvSpPr>
        <p:spPr>
          <a:xfrm>
            <a:off x="12287250" y="5297091"/>
            <a:ext cx="4787646" cy="807690"/>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Validate on your side — </a:t>
            </a:r>
            <a:r>
              <a:rPr lang="en-US" sz="2025" dirty="0">
                <a:solidFill>
                  <a:srgbClr val="3D3D3D"/>
                </a:solidFill>
                <a:latin typeface="Courier New" pitchFamily="34" charset="0"/>
                <a:ea typeface="Courier New" pitchFamily="34" charset="-122"/>
                <a:cs typeface="Courier New" pitchFamily="34" charset="-120"/>
              </a:rPr>
              <a:t>try/except </a:t>
            </a:r>
            <a:r>
              <a:rPr lang="en-US" sz="2025" dirty="0">
                <a:solidFill>
                  <a:srgbClr val="3D3D3D"/>
                </a:solidFill>
                <a:latin typeface="Arial" pitchFamily="34" charset="0"/>
                <a:ea typeface="Arial" pitchFamily="34" charset="-122"/>
                <a:cs typeface="Arial" pitchFamily="34" charset="-120"/>
              </a:rPr>
              <a:t>, pydantic, retry.</a:t>
            </a:r>
            <a:endParaRPr lang="en-US" sz="2025" dirty="0"/>
          </a:p>
        </p:txBody>
      </p:sp>
      <p:sp>
        <p:nvSpPr>
          <p:cNvPr id="14" name="Text 12"/>
          <p:cNvSpPr/>
          <p:nvPr/>
        </p:nvSpPr>
        <p:spPr>
          <a:xfrm>
            <a:off x="1047750" y="6561981"/>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Structured-output features evolve — check the current docs. But </a:t>
            </a:r>
            <a:r>
              <a:rPr lang="en-US" sz="2025" dirty="0">
                <a:solidFill>
                  <a:srgbClr val="1A1A1A"/>
                </a:solidFill>
                <a:highlight>
                  <a:srgbClr val="FFF1A8"/>
                </a:highlight>
                <a:latin typeface="Arial" pitchFamily="34" charset="0"/>
                <a:ea typeface="Arial" pitchFamily="34" charset="-122"/>
                <a:cs typeface="Arial" pitchFamily="34" charset="-120"/>
              </a:rPr>
              <a:t>validate </a:t>
            </a:r>
            <a:r>
              <a:rPr lang="en-US" sz="2025" dirty="0">
                <a:solidFill>
                  <a:srgbClr val="7C7A73"/>
                </a:solidFill>
                <a:latin typeface="Arial" pitchFamily="34" charset="0"/>
                <a:ea typeface="Arial" pitchFamily="34" charset="-122"/>
                <a:cs typeface="Arial" pitchFamily="34" charset="-120"/>
              </a:rPr>
              <a:t>no matter what.</a:t>
            </a:r>
            <a:endParaRPr lang="en-US" sz="2025" dirty="0"/>
          </a:p>
        </p:txBody>
      </p:sp>
      <p:sp>
        <p:nvSpPr>
          <p:cNvPr id="15" name="Shape 13"/>
          <p:cNvSpPr/>
          <p:nvPr/>
        </p:nvSpPr>
        <p:spPr>
          <a:xfrm>
            <a:off x="1047750" y="9520238"/>
            <a:ext cx="16192500" cy="9525"/>
          </a:xfrm>
          <a:prstGeom prst="rect">
            <a:avLst/>
          </a:prstGeom>
          <a:solidFill>
            <a:srgbClr val="E3E1DA"/>
          </a:solidFill>
          <a:ln/>
        </p:spPr>
        <p:txBody>
          <a:bodyPr/>
          <a:lstStyle/>
          <a:p>
            <a:endParaRPr lang="en-US"/>
          </a:p>
        </p:txBody>
      </p:sp>
      <p:sp>
        <p:nvSpPr>
          <p:cNvPr id="16" name="Text 1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7" name="Text 15"/>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3411654"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FIRST API CALL</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Handle the Real World</a:t>
            </a:r>
            <a:endParaRPr lang="en-US" sz="4800" dirty="0"/>
          </a:p>
        </p:txBody>
      </p:sp>
      <p:sp>
        <p:nvSpPr>
          <p:cNvPr id="5" name="Shape 3"/>
          <p:cNvSpPr/>
          <p:nvPr/>
        </p:nvSpPr>
        <p:spPr>
          <a:xfrm>
            <a:off x="1047750" y="5600923"/>
            <a:ext cx="7981950" cy="9525"/>
          </a:xfrm>
          <a:prstGeom prst="rect">
            <a:avLst/>
          </a:prstGeom>
          <a:solidFill>
            <a:srgbClr val="E3E1DA"/>
          </a:solidFill>
          <a:ln/>
        </p:spPr>
        <p:txBody>
          <a:bodyPr/>
          <a:lstStyle/>
          <a:p>
            <a:endParaRPr lang="en-US"/>
          </a:p>
        </p:txBody>
      </p:sp>
      <p:sp>
        <p:nvSpPr>
          <p:cNvPr id="6" name="Shape 4"/>
          <p:cNvSpPr/>
          <p:nvPr/>
        </p:nvSpPr>
        <p:spPr>
          <a:xfrm>
            <a:off x="1047750" y="4372198"/>
            <a:ext cx="7981950" cy="9525"/>
          </a:xfrm>
          <a:prstGeom prst="rect">
            <a:avLst/>
          </a:prstGeom>
          <a:solidFill>
            <a:srgbClr val="E3E1DA"/>
          </a:solidFill>
          <a:ln/>
        </p:spPr>
        <p:txBody>
          <a:bodyPr/>
          <a:lstStyle/>
          <a:p>
            <a:endParaRPr lang="en-US"/>
          </a:p>
        </p:txBody>
      </p:sp>
      <p:sp>
        <p:nvSpPr>
          <p:cNvPr id="7" name="Shape 5"/>
          <p:cNvSpPr/>
          <p:nvPr/>
        </p:nvSpPr>
        <p:spPr>
          <a:xfrm>
            <a:off x="1047750" y="4372198"/>
            <a:ext cx="47625" cy="1238250"/>
          </a:xfrm>
          <a:prstGeom prst="rect">
            <a:avLst/>
          </a:prstGeom>
          <a:solidFill>
            <a:srgbClr val="D64545"/>
          </a:solidFill>
          <a:ln/>
        </p:spPr>
        <p:txBody>
          <a:bodyPr/>
          <a:lstStyle/>
          <a:p>
            <a:endParaRPr lang="en-US"/>
          </a:p>
        </p:txBody>
      </p:sp>
      <p:sp>
        <p:nvSpPr>
          <p:cNvPr id="8" name="Shape 6"/>
          <p:cNvSpPr/>
          <p:nvPr/>
        </p:nvSpPr>
        <p:spPr>
          <a:xfrm>
            <a:off x="9020175" y="4372198"/>
            <a:ext cx="9525" cy="1238250"/>
          </a:xfrm>
          <a:prstGeom prst="rect">
            <a:avLst/>
          </a:prstGeom>
          <a:solidFill>
            <a:srgbClr val="E3E1DA"/>
          </a:solidFill>
          <a:ln/>
        </p:spPr>
        <p:txBody>
          <a:bodyPr/>
          <a:lstStyle/>
          <a:p>
            <a:endParaRPr lang="en-US"/>
          </a:p>
        </p:txBody>
      </p:sp>
      <p:sp>
        <p:nvSpPr>
          <p:cNvPr id="9" name="Text 7"/>
          <p:cNvSpPr/>
          <p:nvPr/>
        </p:nvSpPr>
        <p:spPr>
          <a:xfrm>
            <a:off x="1381125" y="4629373"/>
            <a:ext cx="808863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Errors &amp; retries</a:t>
            </a:r>
            <a:endParaRPr lang="en-US" sz="2400" dirty="0"/>
          </a:p>
        </p:txBody>
      </p:sp>
      <p:sp>
        <p:nvSpPr>
          <p:cNvPr id="10" name="Text 8"/>
          <p:cNvSpPr/>
          <p:nvPr/>
        </p:nvSpPr>
        <p:spPr>
          <a:xfrm>
            <a:off x="1381125" y="5057998"/>
            <a:ext cx="80886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Wrap calls; retry with backoff</a:t>
            </a:r>
            <a:endParaRPr lang="en-US" sz="2025" dirty="0"/>
          </a:p>
        </p:txBody>
      </p:sp>
      <p:sp>
        <p:nvSpPr>
          <p:cNvPr id="11" name="Shape 9"/>
          <p:cNvSpPr/>
          <p:nvPr/>
        </p:nvSpPr>
        <p:spPr>
          <a:xfrm>
            <a:off x="9258300" y="5600923"/>
            <a:ext cx="7981950" cy="9525"/>
          </a:xfrm>
          <a:prstGeom prst="rect">
            <a:avLst/>
          </a:prstGeom>
          <a:solidFill>
            <a:srgbClr val="E3E1DA"/>
          </a:solidFill>
          <a:ln/>
        </p:spPr>
        <p:txBody>
          <a:bodyPr/>
          <a:lstStyle/>
          <a:p>
            <a:endParaRPr lang="en-US"/>
          </a:p>
        </p:txBody>
      </p:sp>
      <p:sp>
        <p:nvSpPr>
          <p:cNvPr id="12" name="Shape 10"/>
          <p:cNvSpPr/>
          <p:nvPr/>
        </p:nvSpPr>
        <p:spPr>
          <a:xfrm>
            <a:off x="9258300" y="4372198"/>
            <a:ext cx="7981950" cy="9525"/>
          </a:xfrm>
          <a:prstGeom prst="rect">
            <a:avLst/>
          </a:prstGeom>
          <a:solidFill>
            <a:srgbClr val="E3E1DA"/>
          </a:solidFill>
          <a:ln/>
        </p:spPr>
        <p:txBody>
          <a:bodyPr/>
          <a:lstStyle/>
          <a:p>
            <a:endParaRPr lang="en-US"/>
          </a:p>
        </p:txBody>
      </p:sp>
      <p:sp>
        <p:nvSpPr>
          <p:cNvPr id="13" name="Shape 11"/>
          <p:cNvSpPr/>
          <p:nvPr/>
        </p:nvSpPr>
        <p:spPr>
          <a:xfrm>
            <a:off x="9258300" y="4372198"/>
            <a:ext cx="47625" cy="1238250"/>
          </a:xfrm>
          <a:prstGeom prst="rect">
            <a:avLst/>
          </a:prstGeom>
          <a:solidFill>
            <a:srgbClr val="C77D0A"/>
          </a:solidFill>
          <a:ln/>
        </p:spPr>
        <p:txBody>
          <a:bodyPr/>
          <a:lstStyle/>
          <a:p>
            <a:endParaRPr lang="en-US"/>
          </a:p>
        </p:txBody>
      </p:sp>
      <p:sp>
        <p:nvSpPr>
          <p:cNvPr id="14" name="Shape 12"/>
          <p:cNvSpPr/>
          <p:nvPr/>
        </p:nvSpPr>
        <p:spPr>
          <a:xfrm>
            <a:off x="17230725" y="4372198"/>
            <a:ext cx="9525" cy="1238250"/>
          </a:xfrm>
          <a:prstGeom prst="rect">
            <a:avLst/>
          </a:prstGeom>
          <a:solidFill>
            <a:srgbClr val="E3E1DA"/>
          </a:solidFill>
          <a:ln/>
        </p:spPr>
        <p:txBody>
          <a:bodyPr/>
          <a:lstStyle/>
          <a:p>
            <a:endParaRPr lang="en-US"/>
          </a:p>
        </p:txBody>
      </p:sp>
      <p:sp>
        <p:nvSpPr>
          <p:cNvPr id="15" name="Text 13"/>
          <p:cNvSpPr/>
          <p:nvPr/>
        </p:nvSpPr>
        <p:spPr>
          <a:xfrm>
            <a:off x="9591675" y="4629373"/>
            <a:ext cx="808863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Rate limits</a:t>
            </a:r>
            <a:endParaRPr lang="en-US" sz="2400" dirty="0"/>
          </a:p>
        </p:txBody>
      </p:sp>
      <p:sp>
        <p:nvSpPr>
          <p:cNvPr id="16" name="Text 14"/>
          <p:cNvSpPr/>
          <p:nvPr/>
        </p:nvSpPr>
        <p:spPr>
          <a:xfrm>
            <a:off x="9591675" y="5057998"/>
            <a:ext cx="80886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Slow down and queue requests</a:t>
            </a:r>
            <a:endParaRPr lang="en-US" sz="2025" dirty="0"/>
          </a:p>
        </p:txBody>
      </p:sp>
      <p:sp>
        <p:nvSpPr>
          <p:cNvPr id="17" name="Shape 15"/>
          <p:cNvSpPr/>
          <p:nvPr/>
        </p:nvSpPr>
        <p:spPr>
          <a:xfrm>
            <a:off x="1047750" y="7067773"/>
            <a:ext cx="7981950" cy="9525"/>
          </a:xfrm>
          <a:prstGeom prst="rect">
            <a:avLst/>
          </a:prstGeom>
          <a:solidFill>
            <a:srgbClr val="E3E1DA"/>
          </a:solidFill>
          <a:ln/>
        </p:spPr>
        <p:txBody>
          <a:bodyPr/>
          <a:lstStyle/>
          <a:p>
            <a:endParaRPr lang="en-US"/>
          </a:p>
        </p:txBody>
      </p:sp>
      <p:sp>
        <p:nvSpPr>
          <p:cNvPr id="18" name="Shape 16"/>
          <p:cNvSpPr/>
          <p:nvPr/>
        </p:nvSpPr>
        <p:spPr>
          <a:xfrm>
            <a:off x="1047750" y="5839048"/>
            <a:ext cx="7981950" cy="9525"/>
          </a:xfrm>
          <a:prstGeom prst="rect">
            <a:avLst/>
          </a:prstGeom>
          <a:solidFill>
            <a:srgbClr val="E3E1DA"/>
          </a:solidFill>
          <a:ln/>
        </p:spPr>
        <p:txBody>
          <a:bodyPr/>
          <a:lstStyle/>
          <a:p>
            <a:endParaRPr lang="en-US"/>
          </a:p>
        </p:txBody>
      </p:sp>
      <p:sp>
        <p:nvSpPr>
          <p:cNvPr id="19" name="Shape 17"/>
          <p:cNvSpPr/>
          <p:nvPr/>
        </p:nvSpPr>
        <p:spPr>
          <a:xfrm>
            <a:off x="1047750" y="5839048"/>
            <a:ext cx="47625" cy="1238250"/>
          </a:xfrm>
          <a:prstGeom prst="rect">
            <a:avLst/>
          </a:prstGeom>
          <a:solidFill>
            <a:srgbClr val="178A4C"/>
          </a:solidFill>
          <a:ln/>
        </p:spPr>
        <p:txBody>
          <a:bodyPr/>
          <a:lstStyle/>
          <a:p>
            <a:endParaRPr lang="en-US"/>
          </a:p>
        </p:txBody>
      </p:sp>
      <p:sp>
        <p:nvSpPr>
          <p:cNvPr id="20" name="Shape 18"/>
          <p:cNvSpPr/>
          <p:nvPr/>
        </p:nvSpPr>
        <p:spPr>
          <a:xfrm>
            <a:off x="9020175" y="5839048"/>
            <a:ext cx="9525" cy="1238250"/>
          </a:xfrm>
          <a:prstGeom prst="rect">
            <a:avLst/>
          </a:prstGeom>
          <a:solidFill>
            <a:srgbClr val="E3E1DA"/>
          </a:solidFill>
          <a:ln/>
        </p:spPr>
        <p:txBody>
          <a:bodyPr/>
          <a:lstStyle/>
          <a:p>
            <a:endParaRPr lang="en-US"/>
          </a:p>
        </p:txBody>
      </p:sp>
      <p:sp>
        <p:nvSpPr>
          <p:cNvPr id="21" name="Text 19"/>
          <p:cNvSpPr/>
          <p:nvPr/>
        </p:nvSpPr>
        <p:spPr>
          <a:xfrm>
            <a:off x="1381125" y="6096223"/>
            <a:ext cx="808863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Cost tracking</a:t>
            </a:r>
            <a:endParaRPr lang="en-US" sz="2400" dirty="0"/>
          </a:p>
        </p:txBody>
      </p:sp>
      <p:sp>
        <p:nvSpPr>
          <p:cNvPr id="22" name="Text 20"/>
          <p:cNvSpPr/>
          <p:nvPr/>
        </p:nvSpPr>
        <p:spPr>
          <a:xfrm>
            <a:off x="1381125" y="6524848"/>
            <a:ext cx="80886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Sum usage tokens per call</a:t>
            </a:r>
            <a:endParaRPr lang="en-US" sz="2025" dirty="0"/>
          </a:p>
        </p:txBody>
      </p:sp>
      <p:sp>
        <p:nvSpPr>
          <p:cNvPr id="23" name="Shape 21"/>
          <p:cNvSpPr/>
          <p:nvPr/>
        </p:nvSpPr>
        <p:spPr>
          <a:xfrm>
            <a:off x="9258300" y="7067773"/>
            <a:ext cx="7981950" cy="9525"/>
          </a:xfrm>
          <a:prstGeom prst="rect">
            <a:avLst/>
          </a:prstGeom>
          <a:solidFill>
            <a:srgbClr val="E3E1DA"/>
          </a:solidFill>
          <a:ln/>
        </p:spPr>
        <p:txBody>
          <a:bodyPr/>
          <a:lstStyle/>
          <a:p>
            <a:endParaRPr lang="en-US"/>
          </a:p>
        </p:txBody>
      </p:sp>
      <p:sp>
        <p:nvSpPr>
          <p:cNvPr id="24" name="Shape 22"/>
          <p:cNvSpPr/>
          <p:nvPr/>
        </p:nvSpPr>
        <p:spPr>
          <a:xfrm>
            <a:off x="9258300" y="5839048"/>
            <a:ext cx="7981950" cy="9525"/>
          </a:xfrm>
          <a:prstGeom prst="rect">
            <a:avLst/>
          </a:prstGeom>
          <a:solidFill>
            <a:srgbClr val="E3E1DA"/>
          </a:solidFill>
          <a:ln/>
        </p:spPr>
        <p:txBody>
          <a:bodyPr/>
          <a:lstStyle/>
          <a:p>
            <a:endParaRPr lang="en-US"/>
          </a:p>
        </p:txBody>
      </p:sp>
      <p:sp>
        <p:nvSpPr>
          <p:cNvPr id="25" name="Shape 23"/>
          <p:cNvSpPr/>
          <p:nvPr/>
        </p:nvSpPr>
        <p:spPr>
          <a:xfrm>
            <a:off x="9258300" y="5839048"/>
            <a:ext cx="47625" cy="1238250"/>
          </a:xfrm>
          <a:prstGeom prst="rect">
            <a:avLst/>
          </a:prstGeom>
          <a:solidFill>
            <a:srgbClr val="1F6FEB"/>
          </a:solidFill>
          <a:ln/>
        </p:spPr>
        <p:txBody>
          <a:bodyPr/>
          <a:lstStyle/>
          <a:p>
            <a:endParaRPr lang="en-US"/>
          </a:p>
        </p:txBody>
      </p:sp>
      <p:sp>
        <p:nvSpPr>
          <p:cNvPr id="26" name="Shape 24"/>
          <p:cNvSpPr/>
          <p:nvPr/>
        </p:nvSpPr>
        <p:spPr>
          <a:xfrm>
            <a:off x="17230725" y="5839048"/>
            <a:ext cx="9525" cy="1238250"/>
          </a:xfrm>
          <a:prstGeom prst="rect">
            <a:avLst/>
          </a:prstGeom>
          <a:solidFill>
            <a:srgbClr val="E3E1DA"/>
          </a:solidFill>
          <a:ln/>
        </p:spPr>
        <p:txBody>
          <a:bodyPr/>
          <a:lstStyle/>
          <a:p>
            <a:endParaRPr lang="en-US"/>
          </a:p>
        </p:txBody>
      </p:sp>
      <p:sp>
        <p:nvSpPr>
          <p:cNvPr id="27" name="Text 25"/>
          <p:cNvSpPr/>
          <p:nvPr/>
        </p:nvSpPr>
        <p:spPr>
          <a:xfrm>
            <a:off x="9591675" y="6096223"/>
            <a:ext cx="808863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Keys stay server-side</a:t>
            </a:r>
            <a:endParaRPr lang="en-US" sz="2400" dirty="0"/>
          </a:p>
        </p:txBody>
      </p:sp>
      <p:sp>
        <p:nvSpPr>
          <p:cNvPr id="28" name="Text 26"/>
          <p:cNvSpPr/>
          <p:nvPr/>
        </p:nvSpPr>
        <p:spPr>
          <a:xfrm>
            <a:off x="9591675" y="6524848"/>
            <a:ext cx="80886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Never call from the browser</a:t>
            </a:r>
            <a:endParaRPr lang="en-US" sz="2025" dirty="0"/>
          </a:p>
        </p:txBody>
      </p:sp>
      <p:sp>
        <p:nvSpPr>
          <p:cNvPr id="29" name="Shape 27"/>
          <p:cNvSpPr/>
          <p:nvPr/>
        </p:nvSpPr>
        <p:spPr>
          <a:xfrm>
            <a:off x="1047750" y="9520238"/>
            <a:ext cx="16192500" cy="9525"/>
          </a:xfrm>
          <a:prstGeom prst="rect">
            <a:avLst/>
          </a:prstGeom>
          <a:solidFill>
            <a:srgbClr val="E3E1DA"/>
          </a:solidFill>
          <a:ln/>
        </p:spPr>
        <p:txBody>
          <a:bodyPr/>
          <a:lstStyle/>
          <a:p>
            <a:endParaRPr lang="en-US"/>
          </a:p>
        </p:txBody>
      </p:sp>
      <p:sp>
        <p:nvSpPr>
          <p:cNvPr id="30" name="Text 2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1" name="Text 29"/>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78A4C"/>
          </a:solidFill>
          <a:ln/>
        </p:spPr>
        <p:txBody>
          <a:bodyPr/>
          <a:lstStyle/>
          <a:p>
            <a:endParaRPr lang="en-US"/>
          </a:p>
        </p:txBody>
      </p:sp>
      <p:sp>
        <p:nvSpPr>
          <p:cNvPr id="3" name="Text 1"/>
          <p:cNvSpPr/>
          <p:nvPr/>
        </p:nvSpPr>
        <p:spPr>
          <a:xfrm>
            <a:off x="1200150" y="3107531"/>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02</a:t>
            </a:r>
            <a:endParaRPr lang="en-US" sz="1800" dirty="0"/>
          </a:p>
        </p:txBody>
      </p:sp>
      <p:sp>
        <p:nvSpPr>
          <p:cNvPr id="4" name="Text 2"/>
          <p:cNvSpPr/>
          <p:nvPr/>
        </p:nvSpPr>
        <p:spPr>
          <a:xfrm>
            <a:off x="1200150" y="3464719"/>
            <a:ext cx="1764411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178A4C"/>
                </a:solidFill>
                <a:latin typeface="Georgia" pitchFamily="34" charset="0"/>
                <a:ea typeface="Georgia" pitchFamily="34" charset="-122"/>
                <a:cs typeface="Georgia" pitchFamily="34" charset="-120"/>
              </a:rPr>
              <a:t>02</a:t>
            </a:r>
            <a:endParaRPr lang="en-US" sz="15000" dirty="0"/>
          </a:p>
        </p:txBody>
      </p:sp>
      <p:sp>
        <p:nvSpPr>
          <p:cNvPr id="5" name="Text 3"/>
          <p:cNvSpPr/>
          <p:nvPr/>
        </p:nvSpPr>
        <p:spPr>
          <a:xfrm>
            <a:off x="1200150" y="5255419"/>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Prompting &amp; Techniques</a:t>
            </a:r>
            <a:endParaRPr lang="en-US" sz="5700" dirty="0"/>
          </a:p>
        </p:txBody>
      </p:sp>
      <p:sp>
        <p:nvSpPr>
          <p:cNvPr id="6" name="Text 4"/>
          <p:cNvSpPr/>
          <p:nvPr/>
        </p:nvSpPr>
        <p:spPr>
          <a:xfrm>
            <a:off x="1200150" y="6246019"/>
            <a:ext cx="10791825" cy="819150"/>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Clear instructions, worked examples — then the techniques worth knowing.</a:t>
            </a:r>
            <a:endParaRPr lang="en-US" sz="2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10600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BASICS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Anatomy of a Prompt</a:t>
            </a:r>
            <a:endParaRPr lang="en-US" sz="4800" dirty="0"/>
          </a:p>
        </p:txBody>
      </p:sp>
      <p:sp>
        <p:nvSpPr>
          <p:cNvPr id="5" name="Shape 3"/>
          <p:cNvSpPr/>
          <p:nvPr/>
        </p:nvSpPr>
        <p:spPr>
          <a:xfrm>
            <a:off x="1047750" y="4490591"/>
            <a:ext cx="7905750" cy="1982614"/>
          </a:xfrm>
          <a:prstGeom prst="roundRect">
            <a:avLst>
              <a:gd name="adj" fmla="val 7687"/>
            </a:avLst>
          </a:prstGeom>
          <a:solidFill>
            <a:srgbClr val="EFE9FB"/>
          </a:solidFill>
          <a:ln w="19050">
            <a:solidFill>
              <a:srgbClr val="7A4FD0"/>
            </a:solidFill>
            <a:prstDash val="solid"/>
          </a:ln>
        </p:spPr>
        <p:txBody>
          <a:bodyPr/>
          <a:lstStyle/>
          <a:p>
            <a:endParaRPr lang="en-US"/>
          </a:p>
        </p:txBody>
      </p:sp>
      <p:sp>
        <p:nvSpPr>
          <p:cNvPr id="6" name="Text 4"/>
          <p:cNvSpPr/>
          <p:nvPr/>
        </p:nvSpPr>
        <p:spPr>
          <a:xfrm>
            <a:off x="1428750" y="4833491"/>
            <a:ext cx="785812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7A4FD0"/>
                </a:solidFill>
                <a:latin typeface="Courier New" pitchFamily="34" charset="0"/>
                <a:ea typeface="Courier New" pitchFamily="34" charset="-122"/>
                <a:cs typeface="Courier New" pitchFamily="34" charset="-120"/>
              </a:rPr>
              <a:t>system</a:t>
            </a:r>
            <a:endParaRPr lang="en-US" sz="2400" dirty="0"/>
          </a:p>
        </p:txBody>
      </p:sp>
      <p:sp>
        <p:nvSpPr>
          <p:cNvPr id="7" name="Text 5"/>
          <p:cNvSpPr/>
          <p:nvPr/>
        </p:nvSpPr>
        <p:spPr>
          <a:xfrm>
            <a:off x="1428750" y="5309741"/>
            <a:ext cx="7858125"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Who it is &amp; the rules</a:t>
            </a:r>
            <a:endParaRPr lang="en-US" sz="2400" dirty="0"/>
          </a:p>
        </p:txBody>
      </p:sp>
      <p:sp>
        <p:nvSpPr>
          <p:cNvPr id="8" name="Text 6"/>
          <p:cNvSpPr/>
          <p:nvPr/>
        </p:nvSpPr>
        <p:spPr>
          <a:xfrm>
            <a:off x="1428750" y="5757416"/>
            <a:ext cx="7858125" cy="410989"/>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Role, tone, output format, constraints — the durable stuff.</a:t>
            </a:r>
            <a:endParaRPr lang="en-US" sz="2025" dirty="0"/>
          </a:p>
        </p:txBody>
      </p:sp>
      <p:sp>
        <p:nvSpPr>
          <p:cNvPr id="9" name="Shape 7"/>
          <p:cNvSpPr/>
          <p:nvPr/>
        </p:nvSpPr>
        <p:spPr>
          <a:xfrm>
            <a:off x="9334500" y="4304109"/>
            <a:ext cx="7905750" cy="2355503"/>
          </a:xfrm>
          <a:prstGeom prst="roundRect">
            <a:avLst>
              <a:gd name="adj" fmla="val 6470"/>
            </a:avLst>
          </a:prstGeom>
          <a:solidFill>
            <a:srgbClr val="E8F0FE"/>
          </a:solidFill>
          <a:ln w="19050">
            <a:solidFill>
              <a:srgbClr val="1F6FEB"/>
            </a:solidFill>
            <a:prstDash val="solid"/>
          </a:ln>
        </p:spPr>
        <p:txBody>
          <a:bodyPr/>
          <a:lstStyle/>
          <a:p>
            <a:endParaRPr lang="en-US"/>
          </a:p>
        </p:txBody>
      </p:sp>
      <p:sp>
        <p:nvSpPr>
          <p:cNvPr id="10" name="Text 8"/>
          <p:cNvSpPr/>
          <p:nvPr/>
        </p:nvSpPr>
        <p:spPr>
          <a:xfrm>
            <a:off x="9715500" y="4647009"/>
            <a:ext cx="7858125"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user</a:t>
            </a:r>
            <a:endParaRPr lang="en-US" sz="2400" dirty="0"/>
          </a:p>
        </p:txBody>
      </p:sp>
      <p:sp>
        <p:nvSpPr>
          <p:cNvPr id="11" name="Text 9"/>
          <p:cNvSpPr/>
          <p:nvPr/>
        </p:nvSpPr>
        <p:spPr>
          <a:xfrm>
            <a:off x="9715500" y="5123259"/>
            <a:ext cx="7858125"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The task &amp; input</a:t>
            </a:r>
            <a:endParaRPr lang="en-US" sz="2400" dirty="0"/>
          </a:p>
        </p:txBody>
      </p:sp>
      <p:sp>
        <p:nvSpPr>
          <p:cNvPr id="12" name="Text 10"/>
          <p:cNvSpPr/>
          <p:nvPr/>
        </p:nvSpPr>
        <p:spPr>
          <a:xfrm>
            <a:off x="9715500" y="5570934"/>
            <a:ext cx="7358063" cy="78387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What you want done, and the data to do it on — the changing stuff.</a:t>
            </a:r>
            <a:endParaRPr lang="en-US" sz="2025" dirty="0"/>
          </a:p>
        </p:txBody>
      </p:sp>
      <p:sp>
        <p:nvSpPr>
          <p:cNvPr id="13" name="Text 11"/>
          <p:cNvSpPr/>
          <p:nvPr/>
        </p:nvSpPr>
        <p:spPr>
          <a:xfrm>
            <a:off x="1047750" y="9039225"/>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Durable rules in </a:t>
            </a:r>
            <a:r>
              <a:rPr lang="en-US" sz="2025" dirty="0">
                <a:solidFill>
                  <a:srgbClr val="1A1A1A"/>
                </a:solidFill>
                <a:highlight>
                  <a:srgbClr val="FFF1A8"/>
                </a:highlight>
                <a:latin typeface="Georgia" pitchFamily="34" charset="0"/>
                <a:ea typeface="Georgia" pitchFamily="34" charset="-122"/>
                <a:cs typeface="Georgia" pitchFamily="34" charset="-120"/>
              </a:rPr>
              <a:t>system</a:t>
            </a:r>
            <a:r>
              <a:rPr lang="en-US" sz="2025" dirty="0">
                <a:solidFill>
                  <a:srgbClr val="1A1A1A"/>
                </a:solidFill>
                <a:latin typeface="Georgia" pitchFamily="34" charset="0"/>
                <a:ea typeface="Georgia" pitchFamily="34" charset="-122"/>
                <a:cs typeface="Georgia" pitchFamily="34" charset="-120"/>
              </a:rPr>
              <a:t>, the changing task in </a:t>
            </a:r>
            <a:r>
              <a:rPr lang="en-US" sz="2025" dirty="0">
                <a:solidFill>
                  <a:srgbClr val="1A1A1A"/>
                </a:solidFill>
                <a:highlight>
                  <a:srgbClr val="FFF1A8"/>
                </a:highlight>
                <a:latin typeface="Georgia" pitchFamily="34" charset="0"/>
                <a:ea typeface="Georgia" pitchFamily="34" charset="-122"/>
                <a:cs typeface="Georgia" pitchFamily="34" charset="-120"/>
              </a:rPr>
              <a:t>user </a:t>
            </a:r>
            <a:r>
              <a:rPr lang="en-US" sz="2025" dirty="0">
                <a:solidFill>
                  <a:srgbClr val="1A1A1A"/>
                </a:solidFill>
                <a:latin typeface="Georgia" pitchFamily="34" charset="0"/>
                <a:ea typeface="Georgia" pitchFamily="34" charset="-122"/>
                <a:cs typeface="Georgia" pitchFamily="34" charset="-120"/>
              </a:rPr>
              <a:t>— reusable and easy to debug.</a:t>
            </a:r>
            <a:endParaRPr lang="en-US" sz="2025" dirty="0"/>
          </a:p>
        </p:txBody>
      </p:sp>
      <p:sp>
        <p:nvSpPr>
          <p:cNvPr id="14" name="Shape 12"/>
          <p:cNvSpPr/>
          <p:nvPr/>
        </p:nvSpPr>
        <p:spPr>
          <a:xfrm>
            <a:off x="1047750" y="9520238"/>
            <a:ext cx="16192500" cy="9525"/>
          </a:xfrm>
          <a:prstGeom prst="rect">
            <a:avLst/>
          </a:prstGeom>
          <a:solidFill>
            <a:srgbClr val="E3E1DA"/>
          </a:solidFill>
          <a:ln/>
        </p:spPr>
        <p:txBody>
          <a:bodyPr/>
          <a:lstStyle/>
          <a:p>
            <a:endParaRPr lang="en-US"/>
          </a:p>
        </p:txBody>
      </p:sp>
      <p:sp>
        <p:nvSpPr>
          <p:cNvPr id="15" name="Text 1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6" name="Text 14"/>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106006"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BASICS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Be Clear and Specific</a:t>
            </a:r>
            <a:endParaRPr lang="en-US" sz="4800" dirty="0"/>
          </a:p>
        </p:txBody>
      </p:sp>
      <p:sp>
        <p:nvSpPr>
          <p:cNvPr id="5" name="Shape 3"/>
          <p:cNvSpPr/>
          <p:nvPr/>
        </p:nvSpPr>
        <p:spPr>
          <a:xfrm>
            <a:off x="1047750" y="4860354"/>
            <a:ext cx="6397600" cy="1709738"/>
          </a:xfrm>
          <a:prstGeom prst="roundRect">
            <a:avLst>
              <a:gd name="adj" fmla="val 8914"/>
            </a:avLst>
          </a:prstGeom>
          <a:solidFill>
            <a:srgbClr val="FBEBEA"/>
          </a:solidFill>
          <a:ln w="9525">
            <a:solidFill>
              <a:srgbClr val="D64545"/>
            </a:solidFill>
            <a:prstDash val="solid"/>
          </a:ln>
        </p:spPr>
        <p:txBody>
          <a:bodyPr/>
          <a:lstStyle/>
          <a:p>
            <a:endParaRPr lang="en-US"/>
          </a:p>
        </p:txBody>
      </p:sp>
      <p:sp>
        <p:nvSpPr>
          <p:cNvPr id="6" name="Text 4"/>
          <p:cNvSpPr/>
          <p:nvPr/>
        </p:nvSpPr>
        <p:spPr>
          <a:xfrm>
            <a:off x="1381125" y="5155629"/>
            <a:ext cx="6303935"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D64545"/>
                </a:solidFill>
                <a:latin typeface="Arial" pitchFamily="34" charset="0"/>
                <a:ea typeface="Arial" pitchFamily="34" charset="-122"/>
                <a:cs typeface="Arial" pitchFamily="34" charset="-120"/>
              </a:rPr>
              <a:t>VAGUE</a:t>
            </a:r>
            <a:endParaRPr lang="en-US" sz="1800" dirty="0"/>
          </a:p>
        </p:txBody>
      </p:sp>
      <p:sp>
        <p:nvSpPr>
          <p:cNvPr id="7" name="Text 5"/>
          <p:cNvSpPr/>
          <p:nvPr/>
        </p:nvSpPr>
        <p:spPr>
          <a:xfrm>
            <a:off x="1381125" y="5569967"/>
            <a:ext cx="630393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“Summarize this.”</a:t>
            </a:r>
            <a:endParaRPr lang="en-US" sz="2025" dirty="0"/>
          </a:p>
        </p:txBody>
      </p:sp>
      <p:sp>
        <p:nvSpPr>
          <p:cNvPr id="8" name="Text 6"/>
          <p:cNvSpPr/>
          <p:nvPr/>
        </p:nvSpPr>
        <p:spPr>
          <a:xfrm>
            <a:off x="1381125" y="6012879"/>
            <a:ext cx="6303935"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Could return anything.</a:t>
            </a:r>
            <a:endParaRPr lang="en-US" sz="1800" dirty="0"/>
          </a:p>
        </p:txBody>
      </p:sp>
      <p:sp>
        <p:nvSpPr>
          <p:cNvPr id="9" name="Text 7"/>
          <p:cNvSpPr/>
          <p:nvPr/>
        </p:nvSpPr>
        <p:spPr>
          <a:xfrm>
            <a:off x="7750150" y="5484242"/>
            <a:ext cx="476250" cy="500063"/>
          </a:xfrm>
          <a:prstGeom prst="rect">
            <a:avLst/>
          </a:prstGeom>
          <a:noFill/>
          <a:ln/>
        </p:spPr>
        <p:txBody>
          <a:bodyPr wrap="square" lIns="25400" tIns="25400" rIns="25400" bIns="25400" rtlCol="0" anchor="t">
            <a:normAutofit/>
          </a:bodyPr>
          <a:lstStyle/>
          <a:p>
            <a:pPr marL="0" indent="0" algn="ctr">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0" name="Shape 8"/>
          <p:cNvSpPr/>
          <p:nvPr/>
        </p:nvSpPr>
        <p:spPr>
          <a:xfrm>
            <a:off x="8531200" y="4610323"/>
            <a:ext cx="8709050" cy="2209800"/>
          </a:xfrm>
          <a:prstGeom prst="roundRect">
            <a:avLst>
              <a:gd name="adj" fmla="val 6897"/>
            </a:avLst>
          </a:prstGeom>
          <a:solidFill>
            <a:srgbClr val="E4F4EB"/>
          </a:solidFill>
          <a:ln w="19050">
            <a:solidFill>
              <a:srgbClr val="178A4C"/>
            </a:solidFill>
            <a:prstDash val="solid"/>
          </a:ln>
        </p:spPr>
        <p:txBody>
          <a:bodyPr/>
          <a:lstStyle/>
          <a:p>
            <a:endParaRPr lang="en-US"/>
          </a:p>
        </p:txBody>
      </p:sp>
      <p:sp>
        <p:nvSpPr>
          <p:cNvPr id="11" name="Text 9"/>
          <p:cNvSpPr/>
          <p:nvPr/>
        </p:nvSpPr>
        <p:spPr>
          <a:xfrm>
            <a:off x="8874100" y="4915123"/>
            <a:ext cx="8825575"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78A4C"/>
                </a:solidFill>
                <a:latin typeface="Arial" pitchFamily="34" charset="0"/>
                <a:ea typeface="Arial" pitchFamily="34" charset="-122"/>
                <a:cs typeface="Arial" pitchFamily="34" charset="-120"/>
              </a:rPr>
              <a:t>SPECIFIC</a:t>
            </a:r>
            <a:endParaRPr lang="en-US" sz="1800" dirty="0"/>
          </a:p>
        </p:txBody>
      </p:sp>
      <p:sp>
        <p:nvSpPr>
          <p:cNvPr id="12" name="Text 10"/>
          <p:cNvSpPr/>
          <p:nvPr/>
        </p:nvSpPr>
        <p:spPr>
          <a:xfrm>
            <a:off x="8874100" y="5329461"/>
            <a:ext cx="8263947"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1A1A1A"/>
                </a:solidFill>
                <a:latin typeface="Courier New" pitchFamily="34" charset="0"/>
                <a:ea typeface="Courier New" pitchFamily="34" charset="-122"/>
                <a:cs typeface="Courier New" pitchFamily="34" charset="-120"/>
              </a:rPr>
              <a:t>“Summarize in 3 bullets, ≤15 words each, for a non-technical exec.”</a:t>
            </a:r>
            <a:endParaRPr lang="en-US" sz="2025" dirty="0"/>
          </a:p>
        </p:txBody>
      </p:sp>
      <p:sp>
        <p:nvSpPr>
          <p:cNvPr id="13" name="Text 11"/>
          <p:cNvSpPr/>
          <p:nvPr/>
        </p:nvSpPr>
        <p:spPr>
          <a:xfrm>
            <a:off x="8874100" y="6253386"/>
            <a:ext cx="8825575"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Format, length, audience — near-deterministic.</a:t>
            </a:r>
            <a:endParaRPr lang="en-US" sz="1800" dirty="0"/>
          </a:p>
        </p:txBody>
      </p:sp>
      <p:sp>
        <p:nvSpPr>
          <p:cNvPr id="14" name="Shape 12"/>
          <p:cNvSpPr/>
          <p:nvPr/>
        </p:nvSpPr>
        <p:spPr>
          <a:xfrm>
            <a:off x="1047750" y="9520238"/>
            <a:ext cx="16192500" cy="9525"/>
          </a:xfrm>
          <a:prstGeom prst="rect">
            <a:avLst/>
          </a:prstGeom>
          <a:solidFill>
            <a:srgbClr val="E3E1DA"/>
          </a:solidFill>
          <a:ln/>
        </p:spPr>
        <p:txBody>
          <a:bodyPr/>
          <a:lstStyle/>
          <a:p>
            <a:endParaRPr lang="en-US"/>
          </a:p>
        </p:txBody>
      </p:sp>
      <p:sp>
        <p:nvSpPr>
          <p:cNvPr id="15" name="Text 1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6" name="Text 14"/>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A Field Guide to Prompting</a:t>
            </a:r>
            <a:endParaRPr lang="en-US" sz="4800" dirty="0"/>
          </a:p>
        </p:txBody>
      </p:sp>
      <p:sp>
        <p:nvSpPr>
          <p:cNvPr id="5" name="Shape 3"/>
          <p:cNvSpPr/>
          <p:nvPr/>
        </p:nvSpPr>
        <p:spPr>
          <a:xfrm>
            <a:off x="1047750" y="3274442"/>
            <a:ext cx="15621000" cy="9525"/>
          </a:xfrm>
          <a:prstGeom prst="rect">
            <a:avLst/>
          </a:prstGeom>
          <a:solidFill>
            <a:srgbClr val="E3E1DA"/>
          </a:solidFill>
          <a:ln/>
        </p:spPr>
        <p:txBody>
          <a:bodyPr/>
          <a:lstStyle/>
          <a:p>
            <a:endParaRPr lang="en-US"/>
          </a:p>
        </p:txBody>
      </p:sp>
      <p:sp>
        <p:nvSpPr>
          <p:cNvPr id="6" name="Text 4"/>
          <p:cNvSpPr/>
          <p:nvPr/>
        </p:nvSpPr>
        <p:spPr>
          <a:xfrm>
            <a:off x="1047750" y="2431479"/>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178A4C"/>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1733550" y="2498154"/>
            <a:ext cx="8360963"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Zero-shot, few-shot &amp; role</a:t>
            </a:r>
            <a:endParaRPr lang="en-US" sz="2400" dirty="0"/>
          </a:p>
        </p:txBody>
      </p:sp>
      <p:sp>
        <p:nvSpPr>
          <p:cNvPr id="8" name="Text 6"/>
          <p:cNvSpPr/>
          <p:nvPr/>
        </p:nvSpPr>
        <p:spPr>
          <a:xfrm>
            <a:off x="1733550" y="2864867"/>
            <a:ext cx="8360963"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Set the baseline — output format, labels, and the model’s persona.</a:t>
            </a:r>
            <a:endParaRPr lang="en-US" sz="2025" dirty="0"/>
          </a:p>
        </p:txBody>
      </p:sp>
      <p:sp>
        <p:nvSpPr>
          <p:cNvPr id="9" name="Shape 7"/>
          <p:cNvSpPr/>
          <p:nvPr/>
        </p:nvSpPr>
        <p:spPr>
          <a:xfrm>
            <a:off x="1047750" y="4241229"/>
            <a:ext cx="15621000" cy="9525"/>
          </a:xfrm>
          <a:prstGeom prst="rect">
            <a:avLst/>
          </a:prstGeom>
          <a:solidFill>
            <a:srgbClr val="E3E1DA"/>
          </a:solidFill>
          <a:ln/>
        </p:spPr>
        <p:txBody>
          <a:bodyPr/>
          <a:lstStyle/>
          <a:p>
            <a:endParaRPr lang="en-US"/>
          </a:p>
        </p:txBody>
      </p:sp>
      <p:sp>
        <p:nvSpPr>
          <p:cNvPr id="10" name="Text 8"/>
          <p:cNvSpPr/>
          <p:nvPr/>
        </p:nvSpPr>
        <p:spPr>
          <a:xfrm>
            <a:off x="1047750" y="3398267"/>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1F6FEB"/>
                </a:solidFill>
                <a:latin typeface="Georgia" pitchFamily="34" charset="0"/>
                <a:ea typeface="Georgia" pitchFamily="34" charset="-122"/>
                <a:cs typeface="Georgia" pitchFamily="34" charset="-120"/>
              </a:rPr>
              <a:t>2</a:t>
            </a:r>
            <a:endParaRPr lang="en-US" sz="3000" dirty="0"/>
          </a:p>
        </p:txBody>
      </p:sp>
      <p:sp>
        <p:nvSpPr>
          <p:cNvPr id="11" name="Text 9"/>
          <p:cNvSpPr/>
          <p:nvPr/>
        </p:nvSpPr>
        <p:spPr>
          <a:xfrm>
            <a:off x="1733550" y="3464942"/>
            <a:ext cx="7515887"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Chain-of-thought (CoT)</a:t>
            </a:r>
            <a:endParaRPr lang="en-US" sz="2400" dirty="0"/>
          </a:p>
        </p:txBody>
      </p:sp>
      <p:sp>
        <p:nvSpPr>
          <p:cNvPr id="12" name="Text 10"/>
          <p:cNvSpPr/>
          <p:nvPr/>
        </p:nvSpPr>
        <p:spPr>
          <a:xfrm>
            <a:off x="1733550" y="3831654"/>
            <a:ext cx="7515887"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Ask for the working on math, logic, and multi-step decisions.</a:t>
            </a:r>
            <a:endParaRPr lang="en-US" sz="2025" dirty="0"/>
          </a:p>
        </p:txBody>
      </p:sp>
      <p:sp>
        <p:nvSpPr>
          <p:cNvPr id="13" name="Shape 11"/>
          <p:cNvSpPr/>
          <p:nvPr/>
        </p:nvSpPr>
        <p:spPr>
          <a:xfrm>
            <a:off x="1047750" y="5208017"/>
            <a:ext cx="15621000" cy="9525"/>
          </a:xfrm>
          <a:prstGeom prst="rect">
            <a:avLst/>
          </a:prstGeom>
          <a:solidFill>
            <a:srgbClr val="E3E1DA"/>
          </a:solidFill>
          <a:ln/>
        </p:spPr>
        <p:txBody>
          <a:bodyPr/>
          <a:lstStyle/>
          <a:p>
            <a:endParaRPr lang="en-US"/>
          </a:p>
        </p:txBody>
      </p:sp>
      <p:sp>
        <p:nvSpPr>
          <p:cNvPr id="14" name="Text 12"/>
          <p:cNvSpPr/>
          <p:nvPr/>
        </p:nvSpPr>
        <p:spPr>
          <a:xfrm>
            <a:off x="1047750" y="4365054"/>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7A4FD0"/>
                </a:solidFill>
                <a:latin typeface="Georgia" pitchFamily="34" charset="0"/>
                <a:ea typeface="Georgia" pitchFamily="34" charset="-122"/>
                <a:cs typeface="Georgia" pitchFamily="34" charset="-120"/>
              </a:rPr>
              <a:t>3</a:t>
            </a:r>
            <a:endParaRPr lang="en-US" sz="3000" dirty="0"/>
          </a:p>
        </p:txBody>
      </p:sp>
      <p:sp>
        <p:nvSpPr>
          <p:cNvPr id="15" name="Text 13"/>
          <p:cNvSpPr/>
          <p:nvPr/>
        </p:nvSpPr>
        <p:spPr>
          <a:xfrm>
            <a:off x="1733550" y="4431729"/>
            <a:ext cx="8914879"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Self-consistency</a:t>
            </a:r>
            <a:endParaRPr lang="en-US" sz="2400" dirty="0"/>
          </a:p>
        </p:txBody>
      </p:sp>
      <p:sp>
        <p:nvSpPr>
          <p:cNvPr id="16" name="Text 14"/>
          <p:cNvSpPr/>
          <p:nvPr/>
        </p:nvSpPr>
        <p:spPr>
          <a:xfrm>
            <a:off x="1733550" y="4798442"/>
            <a:ext cx="8914879"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Sample several times and take the majority — for high-stakes answers.</a:t>
            </a:r>
            <a:endParaRPr lang="en-US" sz="2025" dirty="0"/>
          </a:p>
        </p:txBody>
      </p:sp>
      <p:sp>
        <p:nvSpPr>
          <p:cNvPr id="17" name="Shape 15"/>
          <p:cNvSpPr/>
          <p:nvPr/>
        </p:nvSpPr>
        <p:spPr>
          <a:xfrm>
            <a:off x="1047750" y="6174804"/>
            <a:ext cx="15621000" cy="9525"/>
          </a:xfrm>
          <a:prstGeom prst="rect">
            <a:avLst/>
          </a:prstGeom>
          <a:solidFill>
            <a:srgbClr val="E3E1DA"/>
          </a:solidFill>
          <a:ln/>
        </p:spPr>
        <p:txBody>
          <a:bodyPr/>
          <a:lstStyle/>
          <a:p>
            <a:endParaRPr lang="en-US"/>
          </a:p>
        </p:txBody>
      </p:sp>
      <p:sp>
        <p:nvSpPr>
          <p:cNvPr id="18" name="Text 16"/>
          <p:cNvSpPr/>
          <p:nvPr/>
        </p:nvSpPr>
        <p:spPr>
          <a:xfrm>
            <a:off x="1047750" y="5331842"/>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C77D0A"/>
                </a:solidFill>
                <a:latin typeface="Georgia" pitchFamily="34" charset="0"/>
                <a:ea typeface="Georgia" pitchFamily="34" charset="-122"/>
                <a:cs typeface="Georgia" pitchFamily="34" charset="-120"/>
              </a:rPr>
              <a:t>4</a:t>
            </a:r>
            <a:endParaRPr lang="en-US" sz="3000" dirty="0"/>
          </a:p>
        </p:txBody>
      </p:sp>
      <p:sp>
        <p:nvSpPr>
          <p:cNvPr id="19" name="Text 17"/>
          <p:cNvSpPr/>
          <p:nvPr/>
        </p:nvSpPr>
        <p:spPr>
          <a:xfrm>
            <a:off x="1733550" y="5398517"/>
            <a:ext cx="9105766"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ReAct</a:t>
            </a:r>
            <a:endParaRPr lang="en-US" sz="2400" dirty="0"/>
          </a:p>
        </p:txBody>
      </p:sp>
      <p:sp>
        <p:nvSpPr>
          <p:cNvPr id="20" name="Text 18"/>
          <p:cNvSpPr/>
          <p:nvPr/>
        </p:nvSpPr>
        <p:spPr>
          <a:xfrm>
            <a:off x="1733550" y="5765229"/>
            <a:ext cx="9105766"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Reason and act in a loop, so the model can use tools and look things up.</a:t>
            </a:r>
            <a:endParaRPr lang="en-US" sz="2025" dirty="0"/>
          </a:p>
        </p:txBody>
      </p:sp>
      <p:sp>
        <p:nvSpPr>
          <p:cNvPr id="21" name="Shape 19"/>
          <p:cNvSpPr/>
          <p:nvPr/>
        </p:nvSpPr>
        <p:spPr>
          <a:xfrm>
            <a:off x="1047750" y="7141592"/>
            <a:ext cx="15621000" cy="9525"/>
          </a:xfrm>
          <a:prstGeom prst="rect">
            <a:avLst/>
          </a:prstGeom>
          <a:solidFill>
            <a:srgbClr val="E3E1DA"/>
          </a:solidFill>
          <a:ln/>
        </p:spPr>
        <p:txBody>
          <a:bodyPr/>
          <a:lstStyle/>
          <a:p>
            <a:endParaRPr lang="en-US"/>
          </a:p>
        </p:txBody>
      </p:sp>
      <p:sp>
        <p:nvSpPr>
          <p:cNvPr id="22" name="Text 20"/>
          <p:cNvSpPr/>
          <p:nvPr/>
        </p:nvSpPr>
        <p:spPr>
          <a:xfrm>
            <a:off x="1047750" y="6298629"/>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D64545"/>
                </a:solidFill>
                <a:latin typeface="Georgia" pitchFamily="34" charset="0"/>
                <a:ea typeface="Georgia" pitchFamily="34" charset="-122"/>
                <a:cs typeface="Georgia" pitchFamily="34" charset="-120"/>
              </a:rPr>
              <a:t>5</a:t>
            </a:r>
            <a:endParaRPr lang="en-US" sz="3000" dirty="0"/>
          </a:p>
        </p:txBody>
      </p:sp>
      <p:sp>
        <p:nvSpPr>
          <p:cNvPr id="23" name="Text 21"/>
          <p:cNvSpPr/>
          <p:nvPr/>
        </p:nvSpPr>
        <p:spPr>
          <a:xfrm>
            <a:off x="1733550" y="6365304"/>
            <a:ext cx="8129230"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Directional stimulus</a:t>
            </a:r>
            <a:endParaRPr lang="en-US" sz="2400" dirty="0"/>
          </a:p>
        </p:txBody>
      </p:sp>
      <p:sp>
        <p:nvSpPr>
          <p:cNvPr id="24" name="Text 22"/>
          <p:cNvSpPr/>
          <p:nvPr/>
        </p:nvSpPr>
        <p:spPr>
          <a:xfrm>
            <a:off x="1733550" y="6732017"/>
            <a:ext cx="81292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Drop in hint keywords to steer the output without over-scripting it.</a:t>
            </a:r>
            <a:endParaRPr lang="en-US" sz="2025" dirty="0"/>
          </a:p>
        </p:txBody>
      </p:sp>
      <p:sp>
        <p:nvSpPr>
          <p:cNvPr id="25" name="Shape 23"/>
          <p:cNvSpPr/>
          <p:nvPr/>
        </p:nvSpPr>
        <p:spPr>
          <a:xfrm>
            <a:off x="1047750" y="8108379"/>
            <a:ext cx="15621000" cy="9525"/>
          </a:xfrm>
          <a:prstGeom prst="rect">
            <a:avLst/>
          </a:prstGeom>
          <a:solidFill>
            <a:srgbClr val="E3E1DA"/>
          </a:solidFill>
          <a:ln/>
        </p:spPr>
        <p:txBody>
          <a:bodyPr/>
          <a:lstStyle/>
          <a:p>
            <a:endParaRPr lang="en-US"/>
          </a:p>
        </p:txBody>
      </p:sp>
      <p:sp>
        <p:nvSpPr>
          <p:cNvPr id="26" name="Text 24"/>
          <p:cNvSpPr/>
          <p:nvPr/>
        </p:nvSpPr>
        <p:spPr>
          <a:xfrm>
            <a:off x="1047750" y="7265417"/>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178A4C"/>
                </a:solidFill>
                <a:latin typeface="Georgia" pitchFamily="34" charset="0"/>
                <a:ea typeface="Georgia" pitchFamily="34" charset="-122"/>
                <a:cs typeface="Georgia" pitchFamily="34" charset="-120"/>
              </a:rPr>
              <a:t>6</a:t>
            </a:r>
            <a:endParaRPr lang="en-US" sz="3000" dirty="0"/>
          </a:p>
        </p:txBody>
      </p:sp>
      <p:sp>
        <p:nvSpPr>
          <p:cNvPr id="27" name="Text 25"/>
          <p:cNvSpPr/>
          <p:nvPr/>
        </p:nvSpPr>
        <p:spPr>
          <a:xfrm>
            <a:off x="1733550" y="7332092"/>
            <a:ext cx="8240390"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Iterate, test &amp; optimise</a:t>
            </a:r>
            <a:endParaRPr lang="en-US" sz="2400" dirty="0"/>
          </a:p>
        </p:txBody>
      </p:sp>
      <p:sp>
        <p:nvSpPr>
          <p:cNvPr id="28" name="Text 26"/>
          <p:cNvSpPr/>
          <p:nvPr/>
        </p:nvSpPr>
        <p:spPr>
          <a:xfrm>
            <a:off x="1733550" y="7698804"/>
            <a:ext cx="824039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Keep a test set, change one thing, measure — the part that ships.</a:t>
            </a:r>
            <a:endParaRPr lang="en-US" sz="2025" dirty="0"/>
          </a:p>
        </p:txBody>
      </p:sp>
      <p:sp>
        <p:nvSpPr>
          <p:cNvPr id="29" name="Text 27"/>
          <p:cNvSpPr/>
          <p:nvPr/>
        </p:nvSpPr>
        <p:spPr>
          <a:xfrm>
            <a:off x="1047750" y="8232204"/>
            <a:ext cx="514350" cy="471488"/>
          </a:xfrm>
          <a:prstGeom prst="rect">
            <a:avLst/>
          </a:prstGeom>
          <a:noFill/>
          <a:ln/>
        </p:spPr>
        <p:txBody>
          <a:bodyPr wrap="square" lIns="25400" tIns="25400" rIns="25400" bIns="25400" rtlCol="0" anchor="t">
            <a:normAutofit/>
          </a:bodyPr>
          <a:lstStyle/>
          <a:p>
            <a:pPr marL="0" indent="0" algn="l">
              <a:buNone/>
            </a:pPr>
            <a:r>
              <a:rPr lang="en-US" sz="3000" b="1" dirty="0">
                <a:solidFill>
                  <a:srgbClr val="1F6FEB"/>
                </a:solidFill>
                <a:latin typeface="Georgia" pitchFamily="34" charset="0"/>
                <a:ea typeface="Georgia" pitchFamily="34" charset="-122"/>
                <a:cs typeface="Georgia" pitchFamily="34" charset="-120"/>
              </a:rPr>
              <a:t>7</a:t>
            </a:r>
            <a:endParaRPr lang="en-US" sz="3000" dirty="0"/>
          </a:p>
        </p:txBody>
      </p:sp>
      <p:sp>
        <p:nvSpPr>
          <p:cNvPr id="30" name="Text 28"/>
          <p:cNvSpPr/>
          <p:nvPr/>
        </p:nvSpPr>
        <p:spPr>
          <a:xfrm>
            <a:off x="1733550" y="8298879"/>
            <a:ext cx="7170048" cy="385763"/>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Georgia" pitchFamily="34" charset="0"/>
                <a:ea typeface="Georgia" pitchFamily="34" charset="-122"/>
                <a:cs typeface="Georgia" pitchFamily="34" charset="-120"/>
              </a:rPr>
              <a:t>Guardrails &amp; safety</a:t>
            </a:r>
            <a:endParaRPr lang="en-US" sz="2400" dirty="0"/>
          </a:p>
        </p:txBody>
      </p:sp>
      <p:sp>
        <p:nvSpPr>
          <p:cNvPr id="31" name="Text 29"/>
          <p:cNvSpPr/>
          <p:nvPr/>
        </p:nvSpPr>
        <p:spPr>
          <a:xfrm>
            <a:off x="1733550" y="8665592"/>
            <a:ext cx="7170048"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Don’t trust inputs or outputs — wrap the model in checks.</a:t>
            </a:r>
            <a:endParaRPr lang="en-US" sz="2025" dirty="0"/>
          </a:p>
        </p:txBody>
      </p:sp>
      <p:sp>
        <p:nvSpPr>
          <p:cNvPr id="32" name="Shape 30"/>
          <p:cNvSpPr/>
          <p:nvPr/>
        </p:nvSpPr>
        <p:spPr>
          <a:xfrm>
            <a:off x="1047750" y="9520238"/>
            <a:ext cx="16192500" cy="9525"/>
          </a:xfrm>
          <a:prstGeom prst="rect">
            <a:avLst/>
          </a:prstGeom>
          <a:solidFill>
            <a:srgbClr val="E3E1DA"/>
          </a:solidFill>
          <a:ln/>
        </p:spPr>
        <p:txBody>
          <a:bodyPr/>
          <a:lstStyle/>
          <a:p>
            <a:endParaRPr lang="en-US"/>
          </a:p>
        </p:txBody>
      </p:sp>
      <p:sp>
        <p:nvSpPr>
          <p:cNvPr id="33" name="Text 31"/>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4" name="Text 32"/>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Zero-shot, Few-shot &amp; Role</a:t>
            </a:r>
            <a:endParaRPr lang="en-US" sz="4800" dirty="0"/>
          </a:p>
        </p:txBody>
      </p:sp>
      <p:sp>
        <p:nvSpPr>
          <p:cNvPr id="5" name="Shape 3"/>
          <p:cNvSpPr/>
          <p:nvPr/>
        </p:nvSpPr>
        <p:spPr>
          <a:xfrm>
            <a:off x="1047750" y="3534073"/>
            <a:ext cx="5238750" cy="3705076"/>
          </a:xfrm>
          <a:prstGeom prst="roundRect">
            <a:avLst>
              <a:gd name="adj" fmla="val 4113"/>
            </a:avLst>
          </a:prstGeom>
          <a:ln w="9525">
            <a:solidFill>
              <a:srgbClr val="1F6FEB"/>
            </a:solidFill>
            <a:prstDash val="solid"/>
          </a:ln>
        </p:spPr>
        <p:txBody>
          <a:bodyPr/>
          <a:lstStyle/>
          <a:p>
            <a:endParaRPr lang="en-US"/>
          </a:p>
        </p:txBody>
      </p:sp>
      <p:sp>
        <p:nvSpPr>
          <p:cNvPr id="6" name="Text 4"/>
          <p:cNvSpPr/>
          <p:nvPr/>
        </p:nvSpPr>
        <p:spPr>
          <a:xfrm>
            <a:off x="1323975" y="3791248"/>
            <a:ext cx="5154930"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F6FEB"/>
                </a:solidFill>
                <a:latin typeface="Arial" pitchFamily="34" charset="0"/>
                <a:ea typeface="Arial" pitchFamily="34" charset="-122"/>
                <a:cs typeface="Arial" pitchFamily="34" charset="-120"/>
              </a:rPr>
              <a:t>ZERO-SHOT</a:t>
            </a:r>
            <a:endParaRPr lang="en-US" sz="1800" dirty="0"/>
          </a:p>
        </p:txBody>
      </p:sp>
      <p:sp>
        <p:nvSpPr>
          <p:cNvPr id="7" name="Shape 5"/>
          <p:cNvSpPr/>
          <p:nvPr/>
        </p:nvSpPr>
        <p:spPr>
          <a:xfrm>
            <a:off x="1323975" y="4205585"/>
            <a:ext cx="4686300" cy="1013371"/>
          </a:xfrm>
          <a:prstGeom prst="roundRect">
            <a:avLst>
              <a:gd name="adj" fmla="val 9399"/>
            </a:avLst>
          </a:prstGeom>
          <a:solidFill>
            <a:srgbClr val="F8F7F3"/>
          </a:solidFill>
          <a:ln/>
        </p:spPr>
        <p:txBody>
          <a:bodyPr/>
          <a:lstStyle/>
          <a:p>
            <a:endParaRPr lang="en-US"/>
          </a:p>
        </p:txBody>
      </p:sp>
      <p:sp>
        <p:nvSpPr>
          <p:cNvPr id="8" name="Text 6"/>
          <p:cNvSpPr/>
          <p:nvPr/>
        </p:nvSpPr>
        <p:spPr>
          <a:xfrm>
            <a:off x="1495425" y="4357985"/>
            <a:ext cx="4483989" cy="746671"/>
          </a:xfrm>
          <a:prstGeom prst="rect">
            <a:avLst/>
          </a:prstGeom>
          <a:noFill/>
          <a:ln/>
        </p:spPr>
        <p:txBody>
          <a:bodyPr wrap="square" lIns="25400" tIns="25400" rIns="25400" bIns="25400" rtlCol="0" anchor="t">
            <a:normAutofit/>
          </a:bodyPr>
          <a:lstStyle/>
          <a:p>
            <a:pPr marL="0" indent="0" algn="l">
              <a:lnSpc>
                <a:spcPct val="155000"/>
              </a:lnSpc>
              <a:buNone/>
            </a:pPr>
            <a:r>
              <a:rPr lang="en-US" sz="1800" dirty="0">
                <a:solidFill>
                  <a:srgbClr val="1A1A1A"/>
                </a:solidFill>
                <a:highlight>
                  <a:srgbClr val="F8F7F3"/>
                </a:highlight>
                <a:latin typeface="Courier New" pitchFamily="34" charset="0"/>
                <a:ea typeface="Courier New" pitchFamily="34" charset="-122"/>
                <a:cs typeface="Courier New" pitchFamily="34" charset="-120"/>
              </a:rPr>
              <a:t>Classify the sentiment: positive / negative / neutral.</a:t>
            </a:r>
            <a:endParaRPr lang="en-US" sz="1800" dirty="0"/>
          </a:p>
        </p:txBody>
      </p:sp>
      <p:sp>
        <p:nvSpPr>
          <p:cNvPr id="9" name="Text 7"/>
          <p:cNvSpPr/>
          <p:nvPr/>
        </p:nvSpPr>
        <p:spPr>
          <a:xfrm>
            <a:off x="1323975" y="6236196"/>
            <a:ext cx="4826889" cy="78387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Just ask. Ideal for easy, unambiguous tasks.</a:t>
            </a:r>
            <a:endParaRPr lang="en-US" sz="2025" dirty="0"/>
          </a:p>
        </p:txBody>
      </p:sp>
      <p:sp>
        <p:nvSpPr>
          <p:cNvPr id="10" name="Shape 8"/>
          <p:cNvSpPr/>
          <p:nvPr/>
        </p:nvSpPr>
        <p:spPr>
          <a:xfrm>
            <a:off x="6515100" y="3534073"/>
            <a:ext cx="5257800" cy="3705076"/>
          </a:xfrm>
          <a:prstGeom prst="roundRect">
            <a:avLst>
              <a:gd name="adj" fmla="val 4113"/>
            </a:avLst>
          </a:prstGeom>
          <a:solidFill>
            <a:srgbClr val="E4F4EB"/>
          </a:solidFill>
          <a:ln w="19050">
            <a:solidFill>
              <a:srgbClr val="178A4C"/>
            </a:solidFill>
            <a:prstDash val="solid"/>
          </a:ln>
        </p:spPr>
        <p:txBody>
          <a:bodyPr/>
          <a:lstStyle/>
          <a:p>
            <a:endParaRPr lang="en-US"/>
          </a:p>
        </p:txBody>
      </p:sp>
      <p:sp>
        <p:nvSpPr>
          <p:cNvPr id="11" name="Text 9"/>
          <p:cNvSpPr/>
          <p:nvPr/>
        </p:nvSpPr>
        <p:spPr>
          <a:xfrm>
            <a:off x="6800850" y="3800773"/>
            <a:ext cx="5154930"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78A4C"/>
                </a:solidFill>
                <a:latin typeface="Arial" pitchFamily="34" charset="0"/>
                <a:ea typeface="Arial" pitchFamily="34" charset="-122"/>
                <a:cs typeface="Arial" pitchFamily="34" charset="-120"/>
              </a:rPr>
              <a:t>FEW-SHOT</a:t>
            </a:r>
            <a:endParaRPr lang="en-US" sz="1800" dirty="0"/>
          </a:p>
        </p:txBody>
      </p:sp>
      <p:sp>
        <p:nvSpPr>
          <p:cNvPr id="12" name="Shape 10"/>
          <p:cNvSpPr/>
          <p:nvPr/>
        </p:nvSpPr>
        <p:spPr>
          <a:xfrm>
            <a:off x="6800850" y="4215110"/>
            <a:ext cx="4686300" cy="1859161"/>
          </a:xfrm>
          <a:prstGeom prst="roundRect">
            <a:avLst>
              <a:gd name="adj" fmla="val 5123"/>
            </a:avLst>
          </a:prstGeom>
          <a:solidFill>
            <a:srgbClr val="FFFFFF"/>
          </a:solidFill>
          <a:ln/>
        </p:spPr>
        <p:txBody>
          <a:bodyPr/>
          <a:lstStyle/>
          <a:p>
            <a:endParaRPr lang="en-US"/>
          </a:p>
        </p:txBody>
      </p:sp>
      <p:sp>
        <p:nvSpPr>
          <p:cNvPr id="13" name="Text 11"/>
          <p:cNvSpPr/>
          <p:nvPr/>
        </p:nvSpPr>
        <p:spPr>
          <a:xfrm>
            <a:off x="6972300" y="4367510"/>
            <a:ext cx="4483989" cy="1592461"/>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A1A1A"/>
                </a:solidFill>
                <a:highlight>
                  <a:srgbClr val="FFFFFF"/>
                </a:highlight>
                <a:latin typeface="Courier New" pitchFamily="34" charset="0"/>
                <a:ea typeface="Courier New" pitchFamily="34" charset="-122"/>
                <a:cs typeface="Courier New" pitchFamily="34" charset="-120"/>
              </a:rPr>
              <a:t>“great value” → </a:t>
            </a:r>
            <a:r>
              <a:rPr lang="en-US" sz="1800" dirty="0">
                <a:solidFill>
                  <a:srgbClr val="178A4C"/>
                </a:solidFill>
                <a:latin typeface="Courier New" pitchFamily="34" charset="0"/>
                <a:ea typeface="Courier New" pitchFamily="34" charset="-122"/>
                <a:cs typeface="Courier New" pitchFamily="34" charset="-120"/>
              </a:rPr>
              <a:t>pos </a:t>
            </a:r>
            <a:r>
              <a:rPr lang="en-US" sz="1800" dirty="0">
                <a:solidFill>
                  <a:srgbClr val="1A1A1A"/>
                </a:solidFill>
                <a:highlight>
                  <a:srgbClr val="FFFFFF"/>
                </a:highlight>
                <a:latin typeface="Courier New" pitchFamily="34" charset="0"/>
                <a:ea typeface="Courier New" pitchFamily="34" charset="-122"/>
                <a:cs typeface="Courier New" pitchFamily="34" charset="-120"/>
              </a:rPr>
              <a:t>“waste of money” → </a:t>
            </a:r>
            <a:r>
              <a:rPr lang="en-US" sz="1800" dirty="0">
                <a:solidFill>
                  <a:srgbClr val="D64545"/>
                </a:solidFill>
                <a:latin typeface="Courier New" pitchFamily="34" charset="0"/>
                <a:ea typeface="Courier New" pitchFamily="34" charset="-122"/>
                <a:cs typeface="Courier New" pitchFamily="34" charset="-120"/>
              </a:rPr>
              <a:t>neg </a:t>
            </a:r>
            <a:r>
              <a:rPr lang="en-US" sz="1800" dirty="0">
                <a:solidFill>
                  <a:srgbClr val="1A1A1A"/>
                </a:solidFill>
                <a:highlight>
                  <a:srgbClr val="FFFFFF"/>
                </a:highlight>
                <a:latin typeface="Courier New" pitchFamily="34" charset="0"/>
                <a:ea typeface="Courier New" pitchFamily="34" charset="-122"/>
                <a:cs typeface="Courier New" pitchFamily="34" charset="-120"/>
              </a:rPr>
              <a:t>“it’s fine” → </a:t>
            </a:r>
            <a:r>
              <a:rPr lang="en-US" sz="1800" dirty="0">
                <a:solidFill>
                  <a:srgbClr val="C77D0A"/>
                </a:solidFill>
                <a:latin typeface="Courier New" pitchFamily="34" charset="0"/>
                <a:ea typeface="Courier New" pitchFamily="34" charset="-122"/>
                <a:cs typeface="Courier New" pitchFamily="34" charset="-120"/>
              </a:rPr>
              <a:t>neutral </a:t>
            </a:r>
            <a:r>
              <a:rPr lang="en-US" sz="1800" dirty="0">
                <a:solidFill>
                  <a:srgbClr val="1A1A1A"/>
                </a:solidFill>
                <a:highlight>
                  <a:srgbClr val="FFFFFF"/>
                </a:highlight>
                <a:latin typeface="Courier New" pitchFamily="34" charset="0"/>
                <a:ea typeface="Courier New" pitchFamily="34" charset="-122"/>
                <a:cs typeface="Courier New" pitchFamily="34" charset="-120"/>
              </a:rPr>
              <a:t>“exceeded hopes” → </a:t>
            </a:r>
            <a:r>
              <a:rPr lang="en-US" sz="1800" dirty="0">
                <a:solidFill>
                  <a:srgbClr val="1A1A1A"/>
                </a:solidFill>
                <a:highlight>
                  <a:srgbClr val="FFF1A8"/>
                </a:highlight>
                <a:latin typeface="Courier New" pitchFamily="34" charset="0"/>
                <a:ea typeface="Courier New" pitchFamily="34" charset="-122"/>
                <a:cs typeface="Courier New" pitchFamily="34" charset="-120"/>
              </a:rPr>
              <a:t>?</a:t>
            </a:r>
            <a:endParaRPr lang="en-US" sz="1800" dirty="0"/>
          </a:p>
        </p:txBody>
      </p:sp>
      <p:sp>
        <p:nvSpPr>
          <p:cNvPr id="14" name="Text 12"/>
          <p:cNvSpPr/>
          <p:nvPr/>
        </p:nvSpPr>
        <p:spPr>
          <a:xfrm>
            <a:off x="6800850" y="6226671"/>
            <a:ext cx="4826889" cy="78387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Show 2–3 pairs — locks the format &amp; edge cases.</a:t>
            </a:r>
            <a:endParaRPr lang="en-US" sz="2025" dirty="0"/>
          </a:p>
        </p:txBody>
      </p:sp>
      <p:sp>
        <p:nvSpPr>
          <p:cNvPr id="15" name="Shape 13"/>
          <p:cNvSpPr/>
          <p:nvPr/>
        </p:nvSpPr>
        <p:spPr>
          <a:xfrm>
            <a:off x="12001500" y="3534073"/>
            <a:ext cx="5238750" cy="3705076"/>
          </a:xfrm>
          <a:prstGeom prst="roundRect">
            <a:avLst>
              <a:gd name="adj" fmla="val 4113"/>
            </a:avLst>
          </a:prstGeom>
          <a:ln w="9525">
            <a:solidFill>
              <a:srgbClr val="7A4FD0"/>
            </a:solidFill>
            <a:prstDash val="solid"/>
          </a:ln>
        </p:spPr>
        <p:txBody>
          <a:bodyPr/>
          <a:lstStyle/>
          <a:p>
            <a:endParaRPr lang="en-US"/>
          </a:p>
        </p:txBody>
      </p:sp>
      <p:sp>
        <p:nvSpPr>
          <p:cNvPr id="16" name="Text 14"/>
          <p:cNvSpPr/>
          <p:nvPr/>
        </p:nvSpPr>
        <p:spPr>
          <a:xfrm>
            <a:off x="12277725" y="3791248"/>
            <a:ext cx="5154930"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7A4FD0"/>
                </a:solidFill>
                <a:latin typeface="Arial" pitchFamily="34" charset="0"/>
                <a:ea typeface="Arial" pitchFamily="34" charset="-122"/>
                <a:cs typeface="Arial" pitchFamily="34" charset="-120"/>
              </a:rPr>
              <a:t>ROLE</a:t>
            </a:r>
            <a:endParaRPr lang="en-US" sz="1800" dirty="0"/>
          </a:p>
        </p:txBody>
      </p:sp>
      <p:sp>
        <p:nvSpPr>
          <p:cNvPr id="17" name="Shape 15"/>
          <p:cNvSpPr/>
          <p:nvPr/>
        </p:nvSpPr>
        <p:spPr>
          <a:xfrm>
            <a:off x="12277725" y="4205585"/>
            <a:ext cx="4686300" cy="1367656"/>
          </a:xfrm>
          <a:prstGeom prst="roundRect">
            <a:avLst>
              <a:gd name="adj" fmla="val 6964"/>
            </a:avLst>
          </a:prstGeom>
          <a:solidFill>
            <a:srgbClr val="F8F7F3"/>
          </a:solidFill>
          <a:ln/>
        </p:spPr>
        <p:txBody>
          <a:bodyPr/>
          <a:lstStyle/>
          <a:p>
            <a:endParaRPr lang="en-US"/>
          </a:p>
        </p:txBody>
      </p:sp>
      <p:sp>
        <p:nvSpPr>
          <p:cNvPr id="18" name="Text 16"/>
          <p:cNvSpPr/>
          <p:nvPr/>
        </p:nvSpPr>
        <p:spPr>
          <a:xfrm>
            <a:off x="12449175" y="4357985"/>
            <a:ext cx="4483989" cy="1100956"/>
          </a:xfrm>
          <a:prstGeom prst="rect">
            <a:avLst/>
          </a:prstGeom>
          <a:noFill/>
          <a:ln/>
        </p:spPr>
        <p:txBody>
          <a:bodyPr wrap="square" lIns="25400" tIns="25400" rIns="25400" bIns="25400" rtlCol="0" anchor="t">
            <a:normAutofit/>
          </a:bodyPr>
          <a:lstStyle/>
          <a:p>
            <a:pPr marL="0" indent="0" algn="l">
              <a:lnSpc>
                <a:spcPct val="155000"/>
              </a:lnSpc>
              <a:buNone/>
            </a:pPr>
            <a:r>
              <a:rPr lang="en-US" sz="1800" dirty="0">
                <a:solidFill>
                  <a:srgbClr val="7A4FD0"/>
                </a:solidFill>
                <a:latin typeface="Courier New" pitchFamily="34" charset="0"/>
                <a:ea typeface="Courier New" pitchFamily="34" charset="-122"/>
                <a:cs typeface="Courier New" pitchFamily="34" charset="-120"/>
              </a:rPr>
              <a:t>system: </a:t>
            </a:r>
            <a:r>
              <a:rPr lang="en-US" sz="1800" dirty="0">
                <a:solidFill>
                  <a:srgbClr val="1A1A1A"/>
                </a:solidFill>
                <a:highlight>
                  <a:srgbClr val="F8F7F3"/>
                </a:highlight>
                <a:latin typeface="Courier New" pitchFamily="34" charset="0"/>
                <a:ea typeface="Courier New" pitchFamily="34" charset="-122"/>
                <a:cs typeface="Courier New" pitchFamily="34" charset="-120"/>
              </a:rPr>
              <a:t>“You are a senior support agent for a kitchenware brand.”</a:t>
            </a:r>
            <a:endParaRPr lang="en-US" sz="1800" dirty="0"/>
          </a:p>
        </p:txBody>
      </p:sp>
      <p:sp>
        <p:nvSpPr>
          <p:cNvPr id="19" name="Text 17"/>
          <p:cNvSpPr/>
          <p:nvPr/>
        </p:nvSpPr>
        <p:spPr>
          <a:xfrm>
            <a:off x="12277725" y="6236196"/>
            <a:ext cx="4826889" cy="78387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Set persona, voice &amp; standards — in the system message.</a:t>
            </a:r>
            <a:endParaRPr lang="en-US" sz="2025" dirty="0"/>
          </a:p>
        </p:txBody>
      </p:sp>
      <p:sp>
        <p:nvSpPr>
          <p:cNvPr id="20" name="Text 18"/>
          <p:cNvSpPr/>
          <p:nvPr/>
        </p:nvSpPr>
        <p:spPr>
          <a:xfrm>
            <a:off x="238125" y="7486799"/>
            <a:ext cx="17811750" cy="428625"/>
          </a:xfrm>
          <a:prstGeom prst="rect">
            <a:avLst/>
          </a:prstGeom>
          <a:noFill/>
          <a:ln/>
        </p:spPr>
        <p:txBody>
          <a:bodyPr wrap="square" lIns="25400" tIns="25400" rIns="25400" bIns="25400" rtlCol="0" anchor="t">
            <a:normAutofit/>
          </a:bodyPr>
          <a:lstStyle/>
          <a:p>
            <a:pPr marL="0" indent="0" algn="ctr">
              <a:buNone/>
            </a:pPr>
            <a:r>
              <a:rPr lang="en-US" sz="2700" dirty="0">
                <a:solidFill>
                  <a:srgbClr val="1A1A1A"/>
                </a:solidFill>
                <a:latin typeface="Georgia" pitchFamily="34" charset="0"/>
                <a:ea typeface="Georgia" pitchFamily="34" charset="-122"/>
                <a:cs typeface="Georgia" pitchFamily="34" charset="-120"/>
              </a:rPr>
              <a:t>Start </a:t>
            </a:r>
            <a:r>
              <a:rPr lang="en-US" sz="2700" dirty="0">
                <a:solidFill>
                  <a:srgbClr val="1A1A1A"/>
                </a:solidFill>
                <a:highlight>
                  <a:srgbClr val="FFF1A8"/>
                </a:highlight>
                <a:latin typeface="Georgia" pitchFamily="34" charset="0"/>
                <a:ea typeface="Georgia" pitchFamily="34" charset="-122"/>
                <a:cs typeface="Georgia" pitchFamily="34" charset="-120"/>
              </a:rPr>
              <a:t>zero-shot </a:t>
            </a:r>
            <a:r>
              <a:rPr lang="en-US" sz="2700" dirty="0">
                <a:solidFill>
                  <a:srgbClr val="1A1A1A"/>
                </a:solidFill>
                <a:latin typeface="Georgia" pitchFamily="34" charset="0"/>
                <a:ea typeface="Georgia" pitchFamily="34" charset="-122"/>
                <a:cs typeface="Georgia" pitchFamily="34" charset="-120"/>
              </a:rPr>
              <a:t>· add </a:t>
            </a:r>
            <a:r>
              <a:rPr lang="en-US" sz="2700" dirty="0">
                <a:solidFill>
                  <a:srgbClr val="1A1A1A"/>
                </a:solidFill>
                <a:highlight>
                  <a:srgbClr val="FFF1A8"/>
                </a:highlight>
                <a:latin typeface="Georgia" pitchFamily="34" charset="0"/>
                <a:ea typeface="Georgia" pitchFamily="34" charset="-122"/>
                <a:cs typeface="Georgia" pitchFamily="34" charset="-120"/>
              </a:rPr>
              <a:t>examples </a:t>
            </a:r>
            <a:r>
              <a:rPr lang="en-US" sz="2700" dirty="0">
                <a:solidFill>
                  <a:srgbClr val="1A1A1A"/>
                </a:solidFill>
                <a:latin typeface="Georgia" pitchFamily="34" charset="0"/>
                <a:ea typeface="Georgia" pitchFamily="34" charset="-122"/>
                <a:cs typeface="Georgia" pitchFamily="34" charset="-120"/>
              </a:rPr>
              <a:t>when format drifts · add a </a:t>
            </a:r>
            <a:r>
              <a:rPr lang="en-US" sz="2700" dirty="0">
                <a:solidFill>
                  <a:srgbClr val="1A1A1A"/>
                </a:solidFill>
                <a:highlight>
                  <a:srgbClr val="FFF1A8"/>
                </a:highlight>
                <a:latin typeface="Georgia" pitchFamily="34" charset="0"/>
                <a:ea typeface="Georgia" pitchFamily="34" charset="-122"/>
                <a:cs typeface="Georgia" pitchFamily="34" charset="-120"/>
              </a:rPr>
              <a:t>role </a:t>
            </a:r>
            <a:r>
              <a:rPr lang="en-US" sz="2700" dirty="0">
                <a:solidFill>
                  <a:srgbClr val="1A1A1A"/>
                </a:solidFill>
                <a:latin typeface="Georgia" pitchFamily="34" charset="0"/>
                <a:ea typeface="Georgia" pitchFamily="34" charset="-122"/>
                <a:cs typeface="Georgia" pitchFamily="34" charset="-120"/>
              </a:rPr>
              <a:t>for tone</a:t>
            </a:r>
            <a:endParaRPr lang="en-US" sz="2700" dirty="0"/>
          </a:p>
        </p:txBody>
      </p:sp>
      <p:sp>
        <p:nvSpPr>
          <p:cNvPr id="21" name="Shape 19"/>
          <p:cNvSpPr/>
          <p:nvPr/>
        </p:nvSpPr>
        <p:spPr>
          <a:xfrm>
            <a:off x="1047750" y="9520238"/>
            <a:ext cx="16192500" cy="9525"/>
          </a:xfrm>
          <a:prstGeom prst="rect">
            <a:avLst/>
          </a:prstGeom>
          <a:solidFill>
            <a:srgbClr val="E3E1DA"/>
          </a:solidFill>
          <a:ln/>
        </p:spPr>
        <p:txBody>
          <a:bodyPr/>
          <a:lstStyle/>
          <a:p>
            <a:endParaRPr lang="en-US"/>
          </a:p>
        </p:txBody>
      </p:sp>
      <p:sp>
        <p:nvSpPr>
          <p:cNvPr id="22" name="Text 2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3" name="Text 21"/>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Chain-of-Thought (CoT)</a:t>
            </a:r>
            <a:endParaRPr lang="en-US" sz="4800" dirty="0"/>
          </a:p>
        </p:txBody>
      </p:sp>
      <p:sp>
        <p:nvSpPr>
          <p:cNvPr id="5" name="Text 3"/>
          <p:cNvSpPr/>
          <p:nvPr/>
        </p:nvSpPr>
        <p:spPr>
          <a:xfrm>
            <a:off x="1047750" y="3388816"/>
            <a:ext cx="1718310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For steps, math, or logic — ask it to </a:t>
            </a:r>
            <a:r>
              <a:rPr lang="en-US" sz="2700" b="1" dirty="0">
                <a:solidFill>
                  <a:srgbClr val="1A1A1A"/>
                </a:solidFill>
                <a:latin typeface="Arial" pitchFamily="34" charset="0"/>
                <a:ea typeface="Arial" pitchFamily="34" charset="-122"/>
                <a:cs typeface="Arial" pitchFamily="34" charset="-120"/>
              </a:rPr>
              <a:t>reason first, answer last</a:t>
            </a:r>
            <a:r>
              <a:rPr lang="en-US" sz="2700" dirty="0">
                <a:solidFill>
                  <a:srgbClr val="3D3D3D"/>
                </a:solidFill>
                <a:latin typeface="Arial" pitchFamily="34" charset="0"/>
                <a:ea typeface="Arial" pitchFamily="34" charset="-122"/>
                <a:cs typeface="Arial" pitchFamily="34" charset="-120"/>
              </a:rPr>
              <a:t>.</a:t>
            </a:r>
            <a:endParaRPr lang="en-US" sz="2700" dirty="0"/>
          </a:p>
        </p:txBody>
      </p:sp>
      <p:sp>
        <p:nvSpPr>
          <p:cNvPr id="6" name="Shape 4"/>
          <p:cNvSpPr/>
          <p:nvPr/>
        </p:nvSpPr>
        <p:spPr>
          <a:xfrm>
            <a:off x="1047750" y="3988891"/>
            <a:ext cx="15621000" cy="1711598"/>
          </a:xfrm>
          <a:prstGeom prst="roundRect">
            <a:avLst>
              <a:gd name="adj" fmla="val 6678"/>
            </a:avLst>
          </a:prstGeom>
          <a:solidFill>
            <a:srgbClr val="F8F7F3"/>
          </a:solidFill>
          <a:ln w="9525">
            <a:solidFill>
              <a:srgbClr val="E3E1DA"/>
            </a:solidFill>
            <a:prstDash val="solid"/>
          </a:ln>
        </p:spPr>
        <p:txBody>
          <a:bodyPr/>
          <a:lstStyle/>
          <a:p>
            <a:endParaRPr lang="en-US"/>
          </a:p>
        </p:txBody>
      </p:sp>
      <p:sp>
        <p:nvSpPr>
          <p:cNvPr id="7" name="Text 5"/>
          <p:cNvSpPr/>
          <p:nvPr/>
        </p:nvSpPr>
        <p:spPr>
          <a:xfrm>
            <a:off x="1285875" y="4188916"/>
            <a:ext cx="15613380" cy="1349648"/>
          </a:xfrm>
          <a:prstGeom prst="rect">
            <a:avLst/>
          </a:prstGeom>
          <a:noFill/>
          <a:ln/>
        </p:spPr>
        <p:txBody>
          <a:bodyPr wrap="square" lIns="25400" tIns="25400" rIns="25400" bIns="25400" rtlCol="0" anchor="t">
            <a:normAutofit/>
          </a:bodyPr>
          <a:lstStyle/>
          <a:p>
            <a:pPr marL="0" indent="0" algn="l">
              <a:lnSpc>
                <a:spcPct val="170000"/>
              </a:lnSpc>
              <a:buNone/>
            </a:pPr>
            <a:r>
              <a:rPr lang="en-US" sz="2025" dirty="0">
                <a:solidFill>
                  <a:srgbClr val="7C7A73"/>
                </a:solidFill>
                <a:latin typeface="Courier New" pitchFamily="34" charset="0"/>
                <a:ea typeface="Courier New" pitchFamily="34" charset="-122"/>
                <a:cs typeface="Courier New" pitchFamily="34" charset="-120"/>
              </a:rPr>
              <a:t># scaffold the working </a:t>
            </a:r>
            <a:r>
              <a:rPr lang="en-US" sz="2025" dirty="0">
                <a:solidFill>
                  <a:srgbClr val="1A1A1A"/>
                </a:solidFill>
                <a:highlight>
                  <a:srgbClr val="F8F7F3"/>
                </a:highlight>
                <a:latin typeface="Courier New" pitchFamily="34" charset="0"/>
                <a:ea typeface="Courier New" pitchFamily="34" charset="-122"/>
                <a:cs typeface="Courier New" pitchFamily="34" charset="-120"/>
              </a:rPr>
              <a:t>First, work through: 1· which rules apply 2· the amounts &amp; dates 3· does any rule trigger? Then answer on the last line → </a:t>
            </a:r>
            <a:r>
              <a:rPr lang="en-US" sz="2025" dirty="0">
                <a:solidFill>
                  <a:srgbClr val="1A1A1A"/>
                </a:solidFill>
                <a:highlight>
                  <a:srgbClr val="FFF1A8"/>
                </a:highlight>
                <a:latin typeface="Courier New" pitchFamily="34" charset="0"/>
                <a:ea typeface="Courier New" pitchFamily="34" charset="-122"/>
                <a:cs typeface="Courier New" pitchFamily="34" charset="-120"/>
              </a:rPr>
              <a:t>VERDICT: compliant | violation | review</a:t>
            </a:r>
            <a:endParaRPr lang="en-US" sz="2025" dirty="0"/>
          </a:p>
        </p:txBody>
      </p:sp>
      <p:sp>
        <p:nvSpPr>
          <p:cNvPr id="8" name="Shape 6"/>
          <p:cNvSpPr/>
          <p:nvPr/>
        </p:nvSpPr>
        <p:spPr>
          <a:xfrm>
            <a:off x="1047750" y="5910039"/>
            <a:ext cx="7667625" cy="1607790"/>
          </a:xfrm>
          <a:prstGeom prst="roundRect">
            <a:avLst>
              <a:gd name="adj" fmla="val 8294"/>
            </a:avLst>
          </a:prstGeom>
          <a:ln w="9525">
            <a:solidFill>
              <a:srgbClr val="E3E1DA"/>
            </a:solidFill>
            <a:prstDash val="solid"/>
          </a:ln>
        </p:spPr>
        <p:txBody>
          <a:bodyPr/>
          <a:lstStyle/>
          <a:p>
            <a:endParaRPr lang="en-US"/>
          </a:p>
        </p:txBody>
      </p:sp>
      <p:sp>
        <p:nvSpPr>
          <p:cNvPr id="9" name="Text 7"/>
          <p:cNvSpPr/>
          <p:nvPr/>
        </p:nvSpPr>
        <p:spPr>
          <a:xfrm>
            <a:off x="1304925" y="6110064"/>
            <a:ext cx="786860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78A4C"/>
                </a:solidFill>
                <a:latin typeface="Courier New" pitchFamily="34" charset="0"/>
                <a:ea typeface="Courier New" pitchFamily="34" charset="-122"/>
                <a:cs typeface="Courier New" pitchFamily="34" charset="-120"/>
              </a:rPr>
              <a:t>Prompted</a:t>
            </a:r>
            <a:endParaRPr lang="en-US" sz="2400" dirty="0"/>
          </a:p>
        </p:txBody>
      </p:sp>
      <p:sp>
        <p:nvSpPr>
          <p:cNvPr id="10" name="Text 8"/>
          <p:cNvSpPr/>
          <p:nvPr/>
        </p:nvSpPr>
        <p:spPr>
          <a:xfrm>
            <a:off x="1304925" y="6548214"/>
            <a:ext cx="7367873" cy="807690"/>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You add </a:t>
            </a:r>
            <a:r>
              <a:rPr lang="en-US" sz="2025" dirty="0">
                <a:solidFill>
                  <a:srgbClr val="3D3D3D"/>
                </a:solidFill>
                <a:latin typeface="Courier New" pitchFamily="34" charset="0"/>
                <a:ea typeface="Courier New" pitchFamily="34" charset="-122"/>
                <a:cs typeface="Courier New" pitchFamily="34" charset="-120"/>
              </a:rPr>
              <a:t>“think step by step”</a:t>
            </a:r>
            <a:r>
              <a:rPr lang="en-US" sz="2025" dirty="0">
                <a:solidFill>
                  <a:srgbClr val="3D3D3D"/>
                </a:solidFill>
                <a:latin typeface="Arial" pitchFamily="34" charset="0"/>
                <a:ea typeface="Arial" pitchFamily="34" charset="-122"/>
                <a:cs typeface="Arial" pitchFamily="34" charset="-120"/>
              </a:rPr>
              <a:t>. Reasoning appears in </a:t>
            </a:r>
            <a:r>
              <a:rPr lang="en-US" sz="2025" b="1" dirty="0">
                <a:solidFill>
                  <a:srgbClr val="1A1A1A"/>
                </a:solidFill>
                <a:latin typeface="Arial" pitchFamily="34" charset="0"/>
                <a:ea typeface="Arial" pitchFamily="34" charset="-122"/>
                <a:cs typeface="Arial" pitchFamily="34" charset="-120"/>
              </a:rPr>
              <a:t>visible output tokens </a:t>
            </a:r>
            <a:r>
              <a:rPr lang="en-US" sz="2025" dirty="0">
                <a:solidFill>
                  <a:srgbClr val="3D3D3D"/>
                </a:solidFill>
                <a:latin typeface="Arial" pitchFamily="34" charset="0"/>
                <a:ea typeface="Arial" pitchFamily="34" charset="-122"/>
                <a:cs typeface="Arial" pitchFamily="34" charset="-120"/>
              </a:rPr>
              <a:t>you pay for.</a:t>
            </a:r>
            <a:endParaRPr lang="en-US" sz="2025" dirty="0"/>
          </a:p>
        </p:txBody>
      </p:sp>
      <p:sp>
        <p:nvSpPr>
          <p:cNvPr id="11" name="Shape 9"/>
          <p:cNvSpPr/>
          <p:nvPr/>
        </p:nvSpPr>
        <p:spPr>
          <a:xfrm>
            <a:off x="8982075" y="5910039"/>
            <a:ext cx="7686675" cy="1607790"/>
          </a:xfrm>
          <a:prstGeom prst="roundRect">
            <a:avLst>
              <a:gd name="adj" fmla="val 8294"/>
            </a:avLst>
          </a:prstGeom>
          <a:solidFill>
            <a:srgbClr val="EFE9FB"/>
          </a:solidFill>
          <a:ln w="19050">
            <a:solidFill>
              <a:srgbClr val="7A4FD0"/>
            </a:solidFill>
            <a:prstDash val="solid"/>
          </a:ln>
        </p:spPr>
        <p:txBody>
          <a:bodyPr/>
          <a:lstStyle/>
          <a:p>
            <a:endParaRPr lang="en-US"/>
          </a:p>
        </p:txBody>
      </p:sp>
      <p:sp>
        <p:nvSpPr>
          <p:cNvPr id="12" name="Text 10"/>
          <p:cNvSpPr/>
          <p:nvPr/>
        </p:nvSpPr>
        <p:spPr>
          <a:xfrm>
            <a:off x="9248775" y="6119589"/>
            <a:ext cx="786860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7A4FD0"/>
                </a:solidFill>
                <a:latin typeface="Courier New" pitchFamily="34" charset="0"/>
                <a:ea typeface="Courier New" pitchFamily="34" charset="-122"/>
                <a:cs typeface="Courier New" pitchFamily="34" charset="-120"/>
              </a:rPr>
              <a:t>Native reasoning</a:t>
            </a:r>
            <a:endParaRPr lang="en-US" sz="2400" dirty="0"/>
          </a:p>
        </p:txBody>
      </p:sp>
      <p:sp>
        <p:nvSpPr>
          <p:cNvPr id="13" name="Text 11"/>
          <p:cNvSpPr/>
          <p:nvPr/>
        </p:nvSpPr>
        <p:spPr>
          <a:xfrm>
            <a:off x="9248775" y="6557739"/>
            <a:ext cx="7367873" cy="783878"/>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D3D3D"/>
                </a:solidFill>
                <a:latin typeface="Arial" pitchFamily="34" charset="0"/>
                <a:ea typeface="Arial" pitchFamily="34" charset="-122"/>
                <a:cs typeface="Arial" pitchFamily="34" charset="-120"/>
              </a:rPr>
              <a:t>o-series, DeepSeek-R1 &amp; friends reason in </a:t>
            </a:r>
            <a:r>
              <a:rPr lang="en-US" sz="2025" b="1" dirty="0">
                <a:solidFill>
                  <a:srgbClr val="1A1A1A"/>
                </a:solidFill>
                <a:latin typeface="Arial" pitchFamily="34" charset="0"/>
                <a:ea typeface="Arial" pitchFamily="34" charset="-122"/>
                <a:cs typeface="Arial" pitchFamily="34" charset="-120"/>
              </a:rPr>
              <a:t>hidden internal tokens </a:t>
            </a:r>
            <a:r>
              <a:rPr lang="en-US" sz="2025" dirty="0">
                <a:solidFill>
                  <a:srgbClr val="3D3D3D"/>
                </a:solidFill>
                <a:latin typeface="Arial" pitchFamily="34" charset="0"/>
                <a:ea typeface="Arial" pitchFamily="34" charset="-122"/>
                <a:cs typeface="Arial" pitchFamily="34" charset="-120"/>
              </a:rPr>
              <a:t>— no prompt trick.</a:t>
            </a:r>
            <a:endParaRPr lang="en-US" sz="2025" dirty="0"/>
          </a:p>
        </p:txBody>
      </p:sp>
      <p:sp>
        <p:nvSpPr>
          <p:cNvPr id="14" name="Text 12"/>
          <p:cNvSpPr/>
          <p:nvPr/>
        </p:nvSpPr>
        <p:spPr>
          <a:xfrm>
            <a:off x="1047750" y="7727379"/>
            <a:ext cx="1718310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Arial" pitchFamily="34" charset="0"/>
                <a:ea typeface="Arial" pitchFamily="34" charset="-122"/>
                <a:cs typeface="Arial" pitchFamily="34" charset="-120"/>
              </a:rPr>
              <a:t>Skip it </a:t>
            </a:r>
            <a:r>
              <a:rPr lang="en-US" sz="2025" dirty="0">
                <a:solidFill>
                  <a:srgbClr val="7C7A73"/>
                </a:solidFill>
                <a:latin typeface="Arial" pitchFamily="34" charset="0"/>
                <a:ea typeface="Arial" pitchFamily="34" charset="-122"/>
                <a:cs typeface="Arial" pitchFamily="34" charset="-120"/>
              </a:rPr>
              <a:t>for extraction &amp; classification — you’d pay for tokens you don’t need.</a:t>
            </a:r>
            <a:endParaRPr lang="en-US" sz="2025" dirty="0"/>
          </a:p>
        </p:txBody>
      </p:sp>
      <p:sp>
        <p:nvSpPr>
          <p:cNvPr id="15" name="Shape 13"/>
          <p:cNvSpPr/>
          <p:nvPr/>
        </p:nvSpPr>
        <p:spPr>
          <a:xfrm>
            <a:off x="1047750" y="9520238"/>
            <a:ext cx="16192500" cy="9525"/>
          </a:xfrm>
          <a:prstGeom prst="rect">
            <a:avLst/>
          </a:prstGeom>
          <a:solidFill>
            <a:srgbClr val="E3E1DA"/>
          </a:solidFill>
          <a:ln/>
        </p:spPr>
        <p:txBody>
          <a:bodyPr/>
          <a:lstStyle/>
          <a:p>
            <a:endParaRPr lang="en-US"/>
          </a:p>
        </p:txBody>
      </p:sp>
      <p:sp>
        <p:nvSpPr>
          <p:cNvPr id="16" name="Text 1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7" name="Text 15"/>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Self-consistency</a:t>
            </a:r>
            <a:endParaRPr lang="en-US" sz="4800" dirty="0"/>
          </a:p>
        </p:txBody>
      </p:sp>
      <p:sp>
        <p:nvSpPr>
          <p:cNvPr id="5" name="Text 3"/>
          <p:cNvSpPr/>
          <p:nvPr/>
        </p:nvSpPr>
        <p:spPr>
          <a:xfrm>
            <a:off x="1047750" y="3522092"/>
            <a:ext cx="1718310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Run the same chain-of-thought a few times — then take the </a:t>
            </a:r>
            <a:r>
              <a:rPr lang="en-US" sz="2700" b="1" dirty="0">
                <a:solidFill>
                  <a:srgbClr val="1A1A1A"/>
                </a:solidFill>
                <a:latin typeface="Arial" pitchFamily="34" charset="0"/>
                <a:ea typeface="Arial" pitchFamily="34" charset="-122"/>
                <a:cs typeface="Arial" pitchFamily="34" charset="-120"/>
              </a:rPr>
              <a:t>majority answer</a:t>
            </a:r>
            <a:r>
              <a:rPr lang="en-US" sz="2700" dirty="0">
                <a:solidFill>
                  <a:srgbClr val="3D3D3D"/>
                </a:solidFill>
                <a:latin typeface="Arial" pitchFamily="34" charset="0"/>
                <a:ea typeface="Arial" pitchFamily="34" charset="-122"/>
                <a:cs typeface="Arial" pitchFamily="34" charset="-120"/>
              </a:rPr>
              <a:t>.</a:t>
            </a:r>
            <a:endParaRPr lang="en-US" sz="2700" dirty="0"/>
          </a:p>
        </p:txBody>
      </p:sp>
      <p:sp>
        <p:nvSpPr>
          <p:cNvPr id="6" name="Shape 4"/>
          <p:cNvSpPr/>
          <p:nvPr/>
        </p:nvSpPr>
        <p:spPr>
          <a:xfrm>
            <a:off x="1047750" y="4179317"/>
            <a:ext cx="12083653" cy="538163"/>
          </a:xfrm>
          <a:prstGeom prst="roundRect">
            <a:avLst>
              <a:gd name="adj" fmla="val 17699"/>
            </a:avLst>
          </a:prstGeom>
          <a:ln w="9525">
            <a:solidFill>
              <a:srgbClr val="E3E1DA"/>
            </a:solidFill>
            <a:prstDash val="solid"/>
          </a:ln>
        </p:spPr>
        <p:txBody>
          <a:bodyPr/>
          <a:lstStyle/>
          <a:p>
            <a:endParaRPr lang="en-US"/>
          </a:p>
        </p:txBody>
      </p:sp>
      <p:sp>
        <p:nvSpPr>
          <p:cNvPr id="7" name="Text 5"/>
          <p:cNvSpPr/>
          <p:nvPr/>
        </p:nvSpPr>
        <p:spPr>
          <a:xfrm>
            <a:off x="1266825" y="4303142"/>
            <a:ext cx="305574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Sample 1 — reason…</a:t>
            </a:r>
            <a:endParaRPr lang="en-US" sz="2025" dirty="0"/>
          </a:p>
        </p:txBody>
      </p:sp>
      <p:sp>
        <p:nvSpPr>
          <p:cNvPr id="8" name="Text 6"/>
          <p:cNvSpPr/>
          <p:nvPr/>
        </p:nvSpPr>
        <p:spPr>
          <a:xfrm>
            <a:off x="12603659" y="4303142"/>
            <a:ext cx="38487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Courier New" pitchFamily="34" charset="0"/>
                <a:ea typeface="Courier New" pitchFamily="34" charset="-122"/>
                <a:cs typeface="Courier New" pitchFamily="34" charset="-120"/>
              </a:rPr>
              <a:t>42</a:t>
            </a:r>
            <a:endParaRPr lang="en-US" sz="2025" dirty="0"/>
          </a:p>
        </p:txBody>
      </p:sp>
      <p:sp>
        <p:nvSpPr>
          <p:cNvPr id="9" name="Shape 7"/>
          <p:cNvSpPr/>
          <p:nvPr/>
        </p:nvSpPr>
        <p:spPr>
          <a:xfrm>
            <a:off x="1047750" y="4831779"/>
            <a:ext cx="12083653" cy="538163"/>
          </a:xfrm>
          <a:prstGeom prst="roundRect">
            <a:avLst>
              <a:gd name="adj" fmla="val 17699"/>
            </a:avLst>
          </a:prstGeom>
          <a:ln w="9525">
            <a:solidFill>
              <a:srgbClr val="E3E1DA"/>
            </a:solidFill>
            <a:prstDash val="solid"/>
          </a:ln>
        </p:spPr>
        <p:txBody>
          <a:bodyPr/>
          <a:lstStyle/>
          <a:p>
            <a:endParaRPr lang="en-US"/>
          </a:p>
        </p:txBody>
      </p:sp>
      <p:sp>
        <p:nvSpPr>
          <p:cNvPr id="10" name="Text 8"/>
          <p:cNvSpPr/>
          <p:nvPr/>
        </p:nvSpPr>
        <p:spPr>
          <a:xfrm>
            <a:off x="1266825" y="4955604"/>
            <a:ext cx="305574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Sample 2 — reason…</a:t>
            </a:r>
            <a:endParaRPr lang="en-US" sz="2025" dirty="0"/>
          </a:p>
        </p:txBody>
      </p:sp>
      <p:sp>
        <p:nvSpPr>
          <p:cNvPr id="11" name="Text 9"/>
          <p:cNvSpPr/>
          <p:nvPr/>
        </p:nvSpPr>
        <p:spPr>
          <a:xfrm>
            <a:off x="12603659" y="4955604"/>
            <a:ext cx="38487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Courier New" pitchFamily="34" charset="0"/>
                <a:ea typeface="Courier New" pitchFamily="34" charset="-122"/>
                <a:cs typeface="Courier New" pitchFamily="34" charset="-120"/>
              </a:rPr>
              <a:t>42</a:t>
            </a:r>
            <a:endParaRPr lang="en-US" sz="2025" dirty="0"/>
          </a:p>
        </p:txBody>
      </p:sp>
      <p:sp>
        <p:nvSpPr>
          <p:cNvPr id="12" name="Shape 10"/>
          <p:cNvSpPr/>
          <p:nvPr/>
        </p:nvSpPr>
        <p:spPr>
          <a:xfrm>
            <a:off x="1047750" y="5484242"/>
            <a:ext cx="12083653" cy="538163"/>
          </a:xfrm>
          <a:prstGeom prst="roundRect">
            <a:avLst>
              <a:gd name="adj" fmla="val 17699"/>
            </a:avLst>
          </a:prstGeom>
          <a:solidFill>
            <a:srgbClr val="FBEBEA"/>
          </a:solidFill>
          <a:ln w="9525">
            <a:solidFill>
              <a:srgbClr val="D64545"/>
            </a:solidFill>
            <a:prstDash val="solid"/>
          </a:ln>
        </p:spPr>
        <p:txBody>
          <a:bodyPr/>
          <a:lstStyle/>
          <a:p>
            <a:endParaRPr lang="en-US"/>
          </a:p>
        </p:txBody>
      </p:sp>
      <p:sp>
        <p:nvSpPr>
          <p:cNvPr id="13" name="Text 11"/>
          <p:cNvSpPr/>
          <p:nvPr/>
        </p:nvSpPr>
        <p:spPr>
          <a:xfrm>
            <a:off x="1266825" y="5608067"/>
            <a:ext cx="305574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Sample 3 — reason…</a:t>
            </a:r>
            <a:endParaRPr lang="en-US" sz="2025" dirty="0"/>
          </a:p>
        </p:txBody>
      </p:sp>
      <p:sp>
        <p:nvSpPr>
          <p:cNvPr id="14" name="Text 12"/>
          <p:cNvSpPr/>
          <p:nvPr/>
        </p:nvSpPr>
        <p:spPr>
          <a:xfrm>
            <a:off x="12603659" y="5608067"/>
            <a:ext cx="38487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D64545"/>
                </a:solidFill>
                <a:latin typeface="Courier New" pitchFamily="34" charset="0"/>
                <a:ea typeface="Courier New" pitchFamily="34" charset="-122"/>
                <a:cs typeface="Courier New" pitchFamily="34" charset="-120"/>
              </a:rPr>
              <a:t>39</a:t>
            </a:r>
            <a:endParaRPr lang="en-US" sz="2025" dirty="0"/>
          </a:p>
        </p:txBody>
      </p:sp>
      <p:sp>
        <p:nvSpPr>
          <p:cNvPr id="15" name="Shape 13"/>
          <p:cNvSpPr/>
          <p:nvPr/>
        </p:nvSpPr>
        <p:spPr>
          <a:xfrm>
            <a:off x="1047750" y="6136704"/>
            <a:ext cx="12083653" cy="538163"/>
          </a:xfrm>
          <a:prstGeom prst="roundRect">
            <a:avLst>
              <a:gd name="adj" fmla="val 17699"/>
            </a:avLst>
          </a:prstGeom>
          <a:ln w="9525">
            <a:solidFill>
              <a:srgbClr val="E3E1DA"/>
            </a:solidFill>
            <a:prstDash val="solid"/>
          </a:ln>
        </p:spPr>
        <p:txBody>
          <a:bodyPr/>
          <a:lstStyle/>
          <a:p>
            <a:endParaRPr lang="en-US"/>
          </a:p>
        </p:txBody>
      </p:sp>
      <p:sp>
        <p:nvSpPr>
          <p:cNvPr id="16" name="Text 14"/>
          <p:cNvSpPr/>
          <p:nvPr/>
        </p:nvSpPr>
        <p:spPr>
          <a:xfrm>
            <a:off x="1266825" y="6260529"/>
            <a:ext cx="305574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Sample 4 — reason…</a:t>
            </a:r>
            <a:endParaRPr lang="en-US" sz="2025" dirty="0"/>
          </a:p>
        </p:txBody>
      </p:sp>
      <p:sp>
        <p:nvSpPr>
          <p:cNvPr id="17" name="Text 15"/>
          <p:cNvSpPr/>
          <p:nvPr/>
        </p:nvSpPr>
        <p:spPr>
          <a:xfrm>
            <a:off x="12603659" y="6260529"/>
            <a:ext cx="38487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Courier New" pitchFamily="34" charset="0"/>
                <a:ea typeface="Courier New" pitchFamily="34" charset="-122"/>
                <a:cs typeface="Courier New" pitchFamily="34" charset="-120"/>
              </a:rPr>
              <a:t>42</a:t>
            </a:r>
            <a:endParaRPr lang="en-US" sz="2025" dirty="0"/>
          </a:p>
        </p:txBody>
      </p:sp>
      <p:sp>
        <p:nvSpPr>
          <p:cNvPr id="18" name="Shape 16"/>
          <p:cNvSpPr/>
          <p:nvPr/>
        </p:nvSpPr>
        <p:spPr>
          <a:xfrm>
            <a:off x="1047750" y="6789167"/>
            <a:ext cx="12083653" cy="538163"/>
          </a:xfrm>
          <a:prstGeom prst="roundRect">
            <a:avLst>
              <a:gd name="adj" fmla="val 17699"/>
            </a:avLst>
          </a:prstGeom>
          <a:ln w="9525">
            <a:solidFill>
              <a:srgbClr val="E3E1DA"/>
            </a:solidFill>
            <a:prstDash val="solid"/>
          </a:ln>
        </p:spPr>
        <p:txBody>
          <a:bodyPr/>
          <a:lstStyle/>
          <a:p>
            <a:endParaRPr lang="en-US"/>
          </a:p>
        </p:txBody>
      </p:sp>
      <p:sp>
        <p:nvSpPr>
          <p:cNvPr id="19" name="Text 17"/>
          <p:cNvSpPr/>
          <p:nvPr/>
        </p:nvSpPr>
        <p:spPr>
          <a:xfrm>
            <a:off x="1266825" y="6912992"/>
            <a:ext cx="3055747"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Sample 5 — reason…</a:t>
            </a:r>
            <a:endParaRPr lang="en-US" sz="2025" dirty="0"/>
          </a:p>
        </p:txBody>
      </p:sp>
      <p:sp>
        <p:nvSpPr>
          <p:cNvPr id="20" name="Text 18"/>
          <p:cNvSpPr/>
          <p:nvPr/>
        </p:nvSpPr>
        <p:spPr>
          <a:xfrm>
            <a:off x="12603659" y="6912992"/>
            <a:ext cx="38487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Courier New" pitchFamily="34" charset="0"/>
                <a:ea typeface="Courier New" pitchFamily="34" charset="-122"/>
                <a:cs typeface="Courier New" pitchFamily="34" charset="-120"/>
              </a:rPr>
              <a:t>42</a:t>
            </a:r>
            <a:endParaRPr lang="en-US" sz="2025" dirty="0"/>
          </a:p>
        </p:txBody>
      </p:sp>
      <p:sp>
        <p:nvSpPr>
          <p:cNvPr id="21" name="Text 19"/>
          <p:cNvSpPr/>
          <p:nvPr/>
        </p:nvSpPr>
        <p:spPr>
          <a:xfrm>
            <a:off x="13512403" y="5446142"/>
            <a:ext cx="609600" cy="652463"/>
          </a:xfrm>
          <a:prstGeom prst="rect">
            <a:avLst/>
          </a:prstGeom>
          <a:noFill/>
          <a:ln/>
        </p:spPr>
        <p:txBody>
          <a:bodyPr wrap="square" lIns="25400" tIns="25400" rIns="25400" bIns="25400" rtlCol="0" anchor="t">
            <a:normAutofit/>
          </a:bodyPr>
          <a:lstStyle/>
          <a:p>
            <a:pPr marL="0" indent="0" algn="l">
              <a:buNone/>
            </a:pPr>
            <a:r>
              <a:rPr lang="en-US" sz="4200" dirty="0">
                <a:solidFill>
                  <a:srgbClr val="7C7A73"/>
                </a:solidFill>
                <a:latin typeface="Arial" pitchFamily="34" charset="0"/>
                <a:ea typeface="Arial" pitchFamily="34" charset="-122"/>
                <a:cs typeface="Arial" pitchFamily="34" charset="-120"/>
              </a:rPr>
              <a:t>→</a:t>
            </a:r>
            <a:endParaRPr lang="en-US" sz="4200" dirty="0"/>
          </a:p>
        </p:txBody>
      </p:sp>
      <p:sp>
        <p:nvSpPr>
          <p:cNvPr id="22" name="Shape 20"/>
          <p:cNvSpPr/>
          <p:nvPr/>
        </p:nvSpPr>
        <p:spPr>
          <a:xfrm>
            <a:off x="14426803" y="4927029"/>
            <a:ext cx="2241947" cy="1652588"/>
          </a:xfrm>
          <a:prstGeom prst="roundRect">
            <a:avLst>
              <a:gd name="adj" fmla="val 10375"/>
            </a:avLst>
          </a:prstGeom>
          <a:solidFill>
            <a:srgbClr val="E4F4EB"/>
          </a:solidFill>
          <a:ln w="19050">
            <a:solidFill>
              <a:srgbClr val="178A4C"/>
            </a:solidFill>
            <a:prstDash val="solid"/>
          </a:ln>
        </p:spPr>
        <p:txBody>
          <a:bodyPr/>
          <a:lstStyle/>
          <a:p>
            <a:endParaRPr lang="en-US"/>
          </a:p>
        </p:txBody>
      </p:sp>
      <p:sp>
        <p:nvSpPr>
          <p:cNvPr id="23" name="Text 21"/>
          <p:cNvSpPr/>
          <p:nvPr/>
        </p:nvSpPr>
        <p:spPr>
          <a:xfrm>
            <a:off x="14817626" y="5231829"/>
            <a:ext cx="1460302" cy="300038"/>
          </a:xfrm>
          <a:prstGeom prst="rect">
            <a:avLst/>
          </a:prstGeom>
          <a:noFill/>
          <a:ln/>
        </p:spPr>
        <p:txBody>
          <a:bodyPr wrap="square" lIns="25400" tIns="25400" rIns="25400" bIns="25400" rtlCol="0" anchor="t">
            <a:normAutofit/>
          </a:bodyPr>
          <a:lstStyle/>
          <a:p>
            <a:pPr marL="0" indent="0" algn="ctr">
              <a:buNone/>
            </a:pPr>
            <a:r>
              <a:rPr lang="en-US" sz="1800" b="1" kern="0" spc="144" dirty="0">
                <a:solidFill>
                  <a:srgbClr val="178A4C"/>
                </a:solidFill>
                <a:latin typeface="Arial" pitchFamily="34" charset="0"/>
                <a:ea typeface="Arial" pitchFamily="34" charset="-122"/>
                <a:cs typeface="Arial" pitchFamily="34" charset="-120"/>
              </a:rPr>
              <a:t>MAJORITY</a:t>
            </a:r>
            <a:endParaRPr lang="en-US" sz="1800" dirty="0"/>
          </a:p>
        </p:txBody>
      </p:sp>
      <p:sp>
        <p:nvSpPr>
          <p:cNvPr id="24" name="Text 22"/>
          <p:cNvSpPr/>
          <p:nvPr/>
        </p:nvSpPr>
        <p:spPr>
          <a:xfrm>
            <a:off x="14817626" y="5550917"/>
            <a:ext cx="1460302" cy="762000"/>
          </a:xfrm>
          <a:prstGeom prst="rect">
            <a:avLst/>
          </a:prstGeom>
          <a:noFill/>
          <a:ln/>
        </p:spPr>
        <p:txBody>
          <a:bodyPr wrap="square" lIns="25400" tIns="25400" rIns="25400" bIns="25400" rtlCol="0" anchor="t">
            <a:normAutofit/>
          </a:bodyPr>
          <a:lstStyle/>
          <a:p>
            <a:pPr marL="0" indent="0" algn="ctr">
              <a:lnSpc>
                <a:spcPct val="100000"/>
              </a:lnSpc>
              <a:buNone/>
            </a:pPr>
            <a:r>
              <a:rPr lang="en-US" sz="5700" b="1" dirty="0">
                <a:solidFill>
                  <a:srgbClr val="178A4C"/>
                </a:solidFill>
                <a:latin typeface="Courier New" pitchFamily="34" charset="0"/>
                <a:ea typeface="Courier New" pitchFamily="34" charset="-122"/>
                <a:cs typeface="Courier New" pitchFamily="34" charset="-120"/>
              </a:rPr>
              <a:t>42</a:t>
            </a:r>
            <a:endParaRPr lang="en-US" sz="5700" dirty="0"/>
          </a:p>
        </p:txBody>
      </p:sp>
      <p:sp>
        <p:nvSpPr>
          <p:cNvPr id="25" name="Text 23"/>
          <p:cNvSpPr/>
          <p:nvPr/>
        </p:nvSpPr>
        <p:spPr>
          <a:xfrm>
            <a:off x="1047750" y="7594029"/>
            <a:ext cx="17183100" cy="333375"/>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Arial" pitchFamily="34" charset="0"/>
                <a:ea typeface="Arial" pitchFamily="34" charset="-122"/>
                <a:cs typeface="Arial" pitchFamily="34" charset="-120"/>
              </a:rPr>
              <a:t>High-stakes answers only. </a:t>
            </a:r>
            <a:r>
              <a:rPr lang="en-US" sz="2025" dirty="0">
                <a:solidFill>
                  <a:srgbClr val="7C7A73"/>
                </a:solidFill>
                <a:latin typeface="Arial" pitchFamily="34" charset="0"/>
                <a:ea typeface="Arial" pitchFamily="34" charset="-122"/>
                <a:cs typeface="Arial" pitchFamily="34" charset="-120"/>
              </a:rPr>
              <a:t>Costs N× the tokens — skip it for cheap or easy tasks.</a:t>
            </a:r>
            <a:endParaRPr lang="en-US" sz="2025" dirty="0"/>
          </a:p>
        </p:txBody>
      </p:sp>
      <p:sp>
        <p:nvSpPr>
          <p:cNvPr id="26" name="Shape 24"/>
          <p:cNvSpPr/>
          <p:nvPr/>
        </p:nvSpPr>
        <p:spPr>
          <a:xfrm>
            <a:off x="1047750" y="9520238"/>
            <a:ext cx="16192500" cy="9525"/>
          </a:xfrm>
          <a:prstGeom prst="rect">
            <a:avLst/>
          </a:prstGeom>
          <a:solidFill>
            <a:srgbClr val="E3E1DA"/>
          </a:solidFill>
          <a:ln/>
        </p:spPr>
        <p:txBody>
          <a:bodyPr/>
          <a:lstStyle/>
          <a:p>
            <a:endParaRPr lang="en-US"/>
          </a:p>
        </p:txBody>
      </p:sp>
      <p:sp>
        <p:nvSpPr>
          <p:cNvPr id="27" name="Text 2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8" name="Text 26"/>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ReAct — Reason + Act</a:t>
            </a:r>
            <a:endParaRPr lang="en-US" sz="4800" dirty="0"/>
          </a:p>
        </p:txBody>
      </p:sp>
      <p:sp>
        <p:nvSpPr>
          <p:cNvPr id="5" name="Shape 3"/>
          <p:cNvSpPr/>
          <p:nvPr/>
        </p:nvSpPr>
        <p:spPr>
          <a:xfrm>
            <a:off x="1047750" y="4365054"/>
            <a:ext cx="9700245" cy="2681288"/>
          </a:xfrm>
          <a:prstGeom prst="roundRect">
            <a:avLst>
              <a:gd name="adj" fmla="val 4973"/>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343025" y="4646042"/>
            <a:ext cx="1571625"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1F6FEB"/>
                </a:solidFill>
                <a:latin typeface="Courier New" pitchFamily="34" charset="0"/>
                <a:ea typeface="Courier New" pitchFamily="34" charset="-122"/>
                <a:cs typeface="Courier New" pitchFamily="34" charset="-120"/>
              </a:rPr>
              <a:t>THOUGHT</a:t>
            </a:r>
            <a:endParaRPr lang="en-US" sz="1800" dirty="0"/>
          </a:p>
        </p:txBody>
      </p:sp>
      <p:sp>
        <p:nvSpPr>
          <p:cNvPr id="7" name="Text 5"/>
          <p:cNvSpPr/>
          <p:nvPr/>
        </p:nvSpPr>
        <p:spPr>
          <a:xfrm>
            <a:off x="2924175" y="4622229"/>
            <a:ext cx="4753429"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I need today’s USD→EUR rate.</a:t>
            </a:r>
            <a:endParaRPr lang="en-US" sz="2025" dirty="0"/>
          </a:p>
        </p:txBody>
      </p:sp>
      <p:sp>
        <p:nvSpPr>
          <p:cNvPr id="8" name="Text 6"/>
          <p:cNvSpPr/>
          <p:nvPr/>
        </p:nvSpPr>
        <p:spPr>
          <a:xfrm>
            <a:off x="1343025" y="5069904"/>
            <a:ext cx="1571625"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C77D0A"/>
                </a:solidFill>
                <a:latin typeface="Courier New" pitchFamily="34" charset="0"/>
                <a:ea typeface="Courier New" pitchFamily="34" charset="-122"/>
                <a:cs typeface="Courier New" pitchFamily="34" charset="-120"/>
              </a:rPr>
              <a:t>ACTION</a:t>
            </a:r>
            <a:endParaRPr lang="en-US" sz="1800" dirty="0"/>
          </a:p>
        </p:txBody>
      </p:sp>
      <p:sp>
        <p:nvSpPr>
          <p:cNvPr id="9" name="Text 7"/>
          <p:cNvSpPr/>
          <p:nvPr/>
        </p:nvSpPr>
        <p:spPr>
          <a:xfrm>
            <a:off x="2924175" y="5046092"/>
            <a:ext cx="3565051"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get_rate("USD","EUR")</a:t>
            </a:r>
            <a:endParaRPr lang="en-US" sz="2025" dirty="0"/>
          </a:p>
        </p:txBody>
      </p:sp>
      <p:sp>
        <p:nvSpPr>
          <p:cNvPr id="10" name="Text 8"/>
          <p:cNvSpPr/>
          <p:nvPr/>
        </p:nvSpPr>
        <p:spPr>
          <a:xfrm>
            <a:off x="1343025" y="5493767"/>
            <a:ext cx="1825950"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178A4C"/>
                </a:solidFill>
                <a:latin typeface="Courier New" pitchFamily="34" charset="0"/>
                <a:ea typeface="Courier New" pitchFamily="34" charset="-122"/>
                <a:cs typeface="Courier New" pitchFamily="34" charset="-120"/>
              </a:rPr>
              <a:t>OBSERVATION</a:t>
            </a:r>
            <a:endParaRPr lang="en-US" sz="1800" dirty="0"/>
          </a:p>
        </p:txBody>
      </p:sp>
      <p:sp>
        <p:nvSpPr>
          <p:cNvPr id="11" name="Text 9"/>
          <p:cNvSpPr/>
          <p:nvPr/>
        </p:nvSpPr>
        <p:spPr>
          <a:xfrm>
            <a:off x="3155379" y="5469954"/>
            <a:ext cx="693539"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0.92</a:t>
            </a:r>
            <a:endParaRPr lang="en-US" sz="2025" dirty="0"/>
          </a:p>
        </p:txBody>
      </p:sp>
      <p:sp>
        <p:nvSpPr>
          <p:cNvPr id="12" name="Text 10"/>
          <p:cNvSpPr/>
          <p:nvPr/>
        </p:nvSpPr>
        <p:spPr>
          <a:xfrm>
            <a:off x="1343025" y="5917629"/>
            <a:ext cx="1571625"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1F6FEB"/>
                </a:solidFill>
                <a:latin typeface="Courier New" pitchFamily="34" charset="0"/>
                <a:ea typeface="Courier New" pitchFamily="34" charset="-122"/>
                <a:cs typeface="Courier New" pitchFamily="34" charset="-120"/>
              </a:rPr>
              <a:t>THOUGHT</a:t>
            </a:r>
            <a:endParaRPr lang="en-US" sz="1800" dirty="0"/>
          </a:p>
        </p:txBody>
      </p:sp>
      <p:sp>
        <p:nvSpPr>
          <p:cNvPr id="13" name="Text 11"/>
          <p:cNvSpPr/>
          <p:nvPr/>
        </p:nvSpPr>
        <p:spPr>
          <a:xfrm>
            <a:off x="2924175" y="5893817"/>
            <a:ext cx="322551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Courier New" pitchFamily="34" charset="0"/>
                <a:ea typeface="Courier New" pitchFamily="34" charset="-122"/>
                <a:cs typeface="Courier New" pitchFamily="34" charset="-120"/>
              </a:rPr>
              <a:t>1,000 × 0.92 = 920.</a:t>
            </a:r>
            <a:endParaRPr lang="en-US" sz="2025" dirty="0"/>
          </a:p>
        </p:txBody>
      </p:sp>
      <p:sp>
        <p:nvSpPr>
          <p:cNvPr id="14" name="Shape 12"/>
          <p:cNvSpPr/>
          <p:nvPr/>
        </p:nvSpPr>
        <p:spPr>
          <a:xfrm>
            <a:off x="1343025" y="6317679"/>
            <a:ext cx="9109695" cy="9525"/>
          </a:xfrm>
          <a:prstGeom prst="rect">
            <a:avLst/>
          </a:prstGeom>
          <a:solidFill>
            <a:srgbClr val="E3E1DA"/>
          </a:solidFill>
          <a:ln/>
        </p:spPr>
        <p:txBody>
          <a:bodyPr/>
          <a:lstStyle/>
          <a:p>
            <a:endParaRPr lang="en-US"/>
          </a:p>
        </p:txBody>
      </p:sp>
      <p:sp>
        <p:nvSpPr>
          <p:cNvPr id="15" name="Text 13"/>
          <p:cNvSpPr/>
          <p:nvPr/>
        </p:nvSpPr>
        <p:spPr>
          <a:xfrm>
            <a:off x="1343025" y="6503417"/>
            <a:ext cx="1571625" cy="295275"/>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1A1A1A"/>
                </a:solidFill>
                <a:latin typeface="Courier New" pitchFamily="34" charset="0"/>
                <a:ea typeface="Courier New" pitchFamily="34" charset="-122"/>
                <a:cs typeface="Courier New" pitchFamily="34" charset="-120"/>
              </a:rPr>
              <a:t>ANSWER</a:t>
            </a:r>
            <a:endParaRPr lang="en-US" sz="1800" dirty="0"/>
          </a:p>
        </p:txBody>
      </p:sp>
      <p:sp>
        <p:nvSpPr>
          <p:cNvPr id="16" name="Shape 14"/>
          <p:cNvSpPr/>
          <p:nvPr/>
        </p:nvSpPr>
        <p:spPr>
          <a:xfrm>
            <a:off x="2924175" y="6460554"/>
            <a:ext cx="807839" cy="328613"/>
          </a:xfrm>
          <a:prstGeom prst="rect">
            <a:avLst/>
          </a:prstGeom>
          <a:solidFill>
            <a:srgbClr val="FFF1A8"/>
          </a:solidFill>
          <a:ln/>
        </p:spPr>
        <p:txBody>
          <a:bodyPr/>
          <a:lstStyle/>
          <a:p>
            <a:endParaRPr lang="en-US"/>
          </a:p>
        </p:txBody>
      </p:sp>
      <p:sp>
        <p:nvSpPr>
          <p:cNvPr id="17" name="Text 15"/>
          <p:cNvSpPr/>
          <p:nvPr/>
        </p:nvSpPr>
        <p:spPr>
          <a:xfrm>
            <a:off x="3019425" y="6479604"/>
            <a:ext cx="698123"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Courier New" pitchFamily="34" charset="0"/>
                <a:ea typeface="Courier New" pitchFamily="34" charset="-122"/>
                <a:cs typeface="Courier New" pitchFamily="34" charset="-120"/>
              </a:rPr>
              <a:t>€920</a:t>
            </a:r>
            <a:endParaRPr lang="en-US" sz="2025" dirty="0"/>
          </a:p>
        </p:txBody>
      </p:sp>
      <p:sp>
        <p:nvSpPr>
          <p:cNvPr id="18" name="Text 16"/>
          <p:cNvSpPr/>
          <p:nvPr/>
        </p:nvSpPr>
        <p:spPr>
          <a:xfrm>
            <a:off x="11167095" y="4236021"/>
            <a:ext cx="6255350" cy="92958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1A1A1A"/>
                </a:solidFill>
                <a:latin typeface="Georgia" pitchFamily="34" charset="0"/>
                <a:ea typeface="Georgia" pitchFamily="34" charset="-122"/>
                <a:cs typeface="Georgia" pitchFamily="34" charset="-120"/>
              </a:rPr>
              <a:t>Thought → Action → Observation, on a loop.</a:t>
            </a:r>
            <a:endParaRPr lang="en-US" sz="2700" dirty="0"/>
          </a:p>
        </p:txBody>
      </p:sp>
      <p:sp>
        <p:nvSpPr>
          <p:cNvPr id="19" name="Text 17"/>
          <p:cNvSpPr/>
          <p:nvPr/>
        </p:nvSpPr>
        <p:spPr>
          <a:xfrm>
            <a:off x="11167095" y="5298951"/>
            <a:ext cx="6255350"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Lets the model </a:t>
            </a:r>
            <a:r>
              <a:rPr lang="en-US" sz="2025" b="1" dirty="0">
                <a:solidFill>
                  <a:srgbClr val="1A1A1A"/>
                </a:solidFill>
                <a:latin typeface="Arial" pitchFamily="34" charset="0"/>
                <a:ea typeface="Arial" pitchFamily="34" charset="-122"/>
                <a:cs typeface="Arial" pitchFamily="34" charset="-120"/>
              </a:rPr>
              <a:t>use tools and look things up </a:t>
            </a:r>
            <a:r>
              <a:rPr lang="en-US" sz="2025" dirty="0">
                <a:solidFill>
                  <a:srgbClr val="3D3D3D"/>
                </a:solidFill>
                <a:latin typeface="Arial" pitchFamily="34" charset="0"/>
                <a:ea typeface="Arial" pitchFamily="34" charset="-122"/>
                <a:cs typeface="Arial" pitchFamily="34" charset="-120"/>
              </a:rPr>
              <a:t>instead of guessing — live data, real calculations.</a:t>
            </a:r>
            <a:endParaRPr lang="en-US" sz="2025" dirty="0"/>
          </a:p>
        </p:txBody>
      </p:sp>
      <p:sp>
        <p:nvSpPr>
          <p:cNvPr id="20" name="Shape 18"/>
          <p:cNvSpPr/>
          <p:nvPr/>
        </p:nvSpPr>
        <p:spPr>
          <a:xfrm>
            <a:off x="11167095" y="6241926"/>
            <a:ext cx="6073155" cy="9525"/>
          </a:xfrm>
          <a:prstGeom prst="rect">
            <a:avLst/>
          </a:prstGeom>
          <a:solidFill>
            <a:srgbClr val="E3E1DA"/>
          </a:solidFill>
          <a:ln/>
        </p:spPr>
        <p:txBody>
          <a:bodyPr/>
          <a:lstStyle/>
          <a:p>
            <a:endParaRPr lang="en-US"/>
          </a:p>
        </p:txBody>
      </p:sp>
      <p:sp>
        <p:nvSpPr>
          <p:cNvPr id="21" name="Text 19"/>
          <p:cNvSpPr/>
          <p:nvPr/>
        </p:nvSpPr>
        <p:spPr>
          <a:xfrm>
            <a:off x="11167095" y="6403851"/>
            <a:ext cx="6255350"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The direct foundation of </a:t>
            </a:r>
            <a:r>
              <a:rPr lang="en-US" sz="2025" b="1" dirty="0">
                <a:solidFill>
                  <a:srgbClr val="1A1A1A"/>
                </a:solidFill>
                <a:latin typeface="Arial" pitchFamily="34" charset="0"/>
                <a:ea typeface="Arial" pitchFamily="34" charset="-122"/>
                <a:cs typeface="Arial" pitchFamily="34" charset="-120"/>
              </a:rPr>
              <a:t>agents </a:t>
            </a:r>
            <a:r>
              <a:rPr lang="en-US" sz="2025" dirty="0">
                <a:solidFill>
                  <a:srgbClr val="3D3D3D"/>
                </a:solidFill>
                <a:latin typeface="Arial" pitchFamily="34" charset="0"/>
                <a:ea typeface="Arial" pitchFamily="34" charset="-122"/>
                <a:cs typeface="Arial" pitchFamily="34" charset="-120"/>
              </a:rPr>
              <a:t>— next in the program.</a:t>
            </a:r>
            <a:endParaRPr lang="en-US" sz="2025" dirty="0"/>
          </a:p>
        </p:txBody>
      </p:sp>
      <p:sp>
        <p:nvSpPr>
          <p:cNvPr id="22" name="Shape 20"/>
          <p:cNvSpPr/>
          <p:nvPr/>
        </p:nvSpPr>
        <p:spPr>
          <a:xfrm>
            <a:off x="1047750" y="9520238"/>
            <a:ext cx="16192500" cy="9525"/>
          </a:xfrm>
          <a:prstGeom prst="rect">
            <a:avLst/>
          </a:prstGeom>
          <a:solidFill>
            <a:srgbClr val="E3E1DA"/>
          </a:solidFill>
          <a:ln/>
        </p:spPr>
        <p:txBody>
          <a:bodyPr/>
          <a:lstStyle/>
          <a:p>
            <a:endParaRPr lang="en-US"/>
          </a:p>
        </p:txBody>
      </p:sp>
      <p:sp>
        <p:nvSpPr>
          <p:cNvPr id="23" name="Text 21"/>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4" name="Text 22"/>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Directional Stimulus Prompting</a:t>
            </a:r>
            <a:endParaRPr lang="en-US" sz="4800" dirty="0"/>
          </a:p>
        </p:txBody>
      </p:sp>
      <p:sp>
        <p:nvSpPr>
          <p:cNvPr id="5" name="Text 3"/>
          <p:cNvSpPr/>
          <p:nvPr/>
        </p:nvSpPr>
        <p:spPr>
          <a:xfrm>
            <a:off x="1047750" y="3759175"/>
            <a:ext cx="1718310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Add </a:t>
            </a:r>
            <a:r>
              <a:rPr lang="en-US" sz="2700" b="1" dirty="0">
                <a:solidFill>
                  <a:srgbClr val="1A1A1A"/>
                </a:solidFill>
                <a:latin typeface="Arial" pitchFamily="34" charset="0"/>
                <a:ea typeface="Arial" pitchFamily="34" charset="-122"/>
                <a:cs typeface="Arial" pitchFamily="34" charset="-120"/>
              </a:rPr>
              <a:t>hint keywords </a:t>
            </a:r>
            <a:r>
              <a:rPr lang="en-US" sz="2700" dirty="0">
                <a:solidFill>
                  <a:srgbClr val="3D3D3D"/>
                </a:solidFill>
                <a:latin typeface="Arial" pitchFamily="34" charset="0"/>
                <a:ea typeface="Arial" pitchFamily="34" charset="-122"/>
                <a:cs typeface="Arial" pitchFamily="34" charset="-120"/>
              </a:rPr>
              <a:t>that steer the answer — lighter than examples, stronger than a bare ask.</a:t>
            </a:r>
            <a:endParaRPr lang="en-US" sz="2700" dirty="0"/>
          </a:p>
        </p:txBody>
      </p:sp>
      <p:sp>
        <p:nvSpPr>
          <p:cNvPr id="6" name="Shape 4"/>
          <p:cNvSpPr/>
          <p:nvPr/>
        </p:nvSpPr>
        <p:spPr>
          <a:xfrm>
            <a:off x="1047750" y="4359250"/>
            <a:ext cx="6751141" cy="1722909"/>
          </a:xfrm>
          <a:prstGeom prst="roundRect">
            <a:avLst>
              <a:gd name="adj" fmla="val 7740"/>
            </a:avLst>
          </a:prstGeom>
          <a:ln w="9525">
            <a:solidFill>
              <a:srgbClr val="D64545"/>
            </a:solidFill>
            <a:prstDash val="solid"/>
          </a:ln>
        </p:spPr>
        <p:txBody>
          <a:bodyPr/>
          <a:lstStyle/>
          <a:p>
            <a:endParaRPr lang="en-US"/>
          </a:p>
        </p:txBody>
      </p:sp>
      <p:sp>
        <p:nvSpPr>
          <p:cNvPr id="7" name="Text 5"/>
          <p:cNvSpPr/>
          <p:nvPr/>
        </p:nvSpPr>
        <p:spPr>
          <a:xfrm>
            <a:off x="1304925" y="4578325"/>
            <a:ext cx="6860471" cy="392385"/>
          </a:xfrm>
          <a:prstGeom prst="rect">
            <a:avLst/>
          </a:prstGeom>
          <a:noFill/>
          <a:ln/>
        </p:spPr>
        <p:txBody>
          <a:bodyPr wrap="square" lIns="25400" tIns="25400" rIns="25400" bIns="25400" rtlCol="0" anchor="t">
            <a:normAutofit/>
          </a:bodyPr>
          <a:lstStyle/>
          <a:p>
            <a:pPr marL="0" indent="0" algn="l">
              <a:lnSpc>
                <a:spcPct val="155000"/>
              </a:lnSpc>
              <a:buNone/>
            </a:pPr>
            <a:r>
              <a:rPr lang="en-US" sz="1800" b="1" kern="0" spc="144" dirty="0">
                <a:solidFill>
                  <a:srgbClr val="D64545"/>
                </a:solidFill>
                <a:latin typeface="Arial" pitchFamily="34" charset="0"/>
                <a:ea typeface="Arial" pitchFamily="34" charset="-122"/>
                <a:cs typeface="Arial" pitchFamily="34" charset="-120"/>
              </a:rPr>
              <a:t>PLAIN</a:t>
            </a:r>
            <a:endParaRPr lang="en-US" sz="1800" dirty="0"/>
          </a:p>
        </p:txBody>
      </p:sp>
      <p:sp>
        <p:nvSpPr>
          <p:cNvPr id="8" name="Text 6"/>
          <p:cNvSpPr/>
          <p:nvPr/>
        </p:nvSpPr>
        <p:spPr>
          <a:xfrm>
            <a:off x="1304925" y="5099298"/>
            <a:ext cx="4927832" cy="328613"/>
          </a:xfrm>
          <a:prstGeom prst="rect">
            <a:avLst/>
          </a:prstGeom>
          <a:noFill/>
          <a:ln/>
        </p:spPr>
        <p:txBody>
          <a:bodyPr wrap="square" lIns="0" tIns="0" rIns="0" bIns="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“Summarise this earnings call.”</a:t>
            </a:r>
            <a:endParaRPr lang="en-US" sz="2025" dirty="0"/>
          </a:p>
        </p:txBody>
      </p:sp>
      <p:sp>
        <p:nvSpPr>
          <p:cNvPr id="9" name="Shape 7"/>
          <p:cNvSpPr/>
          <p:nvPr/>
        </p:nvSpPr>
        <p:spPr>
          <a:xfrm>
            <a:off x="8027491" y="4359250"/>
            <a:ext cx="8641259" cy="1722909"/>
          </a:xfrm>
          <a:prstGeom prst="roundRect">
            <a:avLst>
              <a:gd name="adj" fmla="val 7740"/>
            </a:avLst>
          </a:prstGeom>
          <a:ln w="19050">
            <a:solidFill>
              <a:srgbClr val="178A4C"/>
            </a:solidFill>
            <a:prstDash val="solid"/>
          </a:ln>
        </p:spPr>
        <p:txBody>
          <a:bodyPr/>
          <a:lstStyle/>
          <a:p>
            <a:endParaRPr lang="en-US"/>
          </a:p>
        </p:txBody>
      </p:sp>
      <p:sp>
        <p:nvSpPr>
          <p:cNvPr id="10" name="Text 8"/>
          <p:cNvSpPr/>
          <p:nvPr/>
        </p:nvSpPr>
        <p:spPr>
          <a:xfrm>
            <a:off x="8294191" y="4587850"/>
            <a:ext cx="8918644" cy="392385"/>
          </a:xfrm>
          <a:prstGeom prst="rect">
            <a:avLst/>
          </a:prstGeom>
          <a:noFill/>
          <a:ln/>
        </p:spPr>
        <p:txBody>
          <a:bodyPr wrap="square" lIns="25400" tIns="25400" rIns="25400" bIns="25400" rtlCol="0" anchor="t">
            <a:normAutofit/>
          </a:bodyPr>
          <a:lstStyle/>
          <a:p>
            <a:pPr marL="0" indent="0" algn="l">
              <a:lnSpc>
                <a:spcPct val="155000"/>
              </a:lnSpc>
              <a:buNone/>
            </a:pPr>
            <a:r>
              <a:rPr lang="en-US" sz="1800" b="1" kern="0" spc="144" dirty="0">
                <a:solidFill>
                  <a:srgbClr val="178A4C"/>
                </a:solidFill>
                <a:latin typeface="Arial" pitchFamily="34" charset="0"/>
                <a:ea typeface="Arial" pitchFamily="34" charset="-122"/>
                <a:cs typeface="Arial" pitchFamily="34" charset="-120"/>
              </a:rPr>
              <a:t>+ STIMULUS</a:t>
            </a:r>
            <a:endParaRPr lang="en-US" sz="1800" dirty="0"/>
          </a:p>
        </p:txBody>
      </p:sp>
      <p:sp>
        <p:nvSpPr>
          <p:cNvPr id="11" name="Text 9"/>
          <p:cNvSpPr/>
          <p:nvPr/>
        </p:nvSpPr>
        <p:spPr>
          <a:xfrm>
            <a:off x="8294191" y="5108823"/>
            <a:ext cx="5881545" cy="328613"/>
          </a:xfrm>
          <a:prstGeom prst="rect">
            <a:avLst/>
          </a:prstGeom>
          <a:noFill/>
          <a:ln/>
        </p:spPr>
        <p:txBody>
          <a:bodyPr wrap="square" lIns="0" tIns="0" rIns="0" bIns="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“Summarise this earnings call. Hints:</a:t>
            </a:r>
            <a:endParaRPr lang="en-US" sz="2025" dirty="0"/>
          </a:p>
        </p:txBody>
      </p:sp>
      <p:sp>
        <p:nvSpPr>
          <p:cNvPr id="12" name="Shape 10"/>
          <p:cNvSpPr/>
          <p:nvPr/>
        </p:nvSpPr>
        <p:spPr>
          <a:xfrm>
            <a:off x="14158764" y="5108823"/>
            <a:ext cx="1638598" cy="290513"/>
          </a:xfrm>
          <a:prstGeom prst="rect">
            <a:avLst/>
          </a:prstGeom>
          <a:solidFill>
            <a:srgbClr val="FFF1A8"/>
          </a:solidFill>
          <a:ln/>
        </p:spPr>
        <p:txBody>
          <a:bodyPr/>
          <a:lstStyle/>
          <a:p>
            <a:endParaRPr lang="en-US"/>
          </a:p>
        </p:txBody>
      </p:sp>
      <p:sp>
        <p:nvSpPr>
          <p:cNvPr id="13" name="Text 11"/>
          <p:cNvSpPr/>
          <p:nvPr/>
        </p:nvSpPr>
        <p:spPr>
          <a:xfrm>
            <a:off x="14206389" y="5108823"/>
            <a:ext cx="1707207" cy="328613"/>
          </a:xfrm>
          <a:prstGeom prst="rect">
            <a:avLst/>
          </a:prstGeom>
          <a:noFill/>
          <a:ln/>
        </p:spPr>
        <p:txBody>
          <a:bodyPr wrap="square" lIns="25400" tIns="25400" rIns="25400" bIns="2540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Q3 revenue</a:t>
            </a:r>
            <a:endParaRPr lang="en-US" sz="2025" dirty="0"/>
          </a:p>
        </p:txBody>
      </p:sp>
      <p:sp>
        <p:nvSpPr>
          <p:cNvPr id="14" name="Text 12"/>
          <p:cNvSpPr/>
          <p:nvPr/>
        </p:nvSpPr>
        <p:spPr>
          <a:xfrm>
            <a:off x="15797361" y="5108823"/>
            <a:ext cx="230535" cy="328613"/>
          </a:xfrm>
          <a:prstGeom prst="rect">
            <a:avLst/>
          </a:prstGeom>
          <a:noFill/>
          <a:ln/>
        </p:spPr>
        <p:txBody>
          <a:bodyPr wrap="square" lIns="0" tIns="0" rIns="0" bIns="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a:t>
            </a:r>
            <a:endParaRPr lang="en-US" sz="2025" dirty="0"/>
          </a:p>
        </p:txBody>
      </p:sp>
      <p:sp>
        <p:nvSpPr>
          <p:cNvPr id="15" name="Shape 13"/>
          <p:cNvSpPr/>
          <p:nvPr/>
        </p:nvSpPr>
        <p:spPr>
          <a:xfrm>
            <a:off x="8294191" y="5507385"/>
            <a:ext cx="1484263" cy="290513"/>
          </a:xfrm>
          <a:prstGeom prst="rect">
            <a:avLst/>
          </a:prstGeom>
          <a:solidFill>
            <a:srgbClr val="FFF1A8"/>
          </a:solidFill>
          <a:ln/>
        </p:spPr>
        <p:txBody>
          <a:bodyPr/>
          <a:lstStyle/>
          <a:p>
            <a:endParaRPr lang="en-US"/>
          </a:p>
        </p:txBody>
      </p:sp>
      <p:sp>
        <p:nvSpPr>
          <p:cNvPr id="16" name="Text 14"/>
          <p:cNvSpPr/>
          <p:nvPr/>
        </p:nvSpPr>
        <p:spPr>
          <a:xfrm>
            <a:off x="8341816" y="5507385"/>
            <a:ext cx="1537439" cy="328613"/>
          </a:xfrm>
          <a:prstGeom prst="rect">
            <a:avLst/>
          </a:prstGeom>
          <a:noFill/>
          <a:ln/>
        </p:spPr>
        <p:txBody>
          <a:bodyPr wrap="square" lIns="25400" tIns="25400" rIns="25400" bIns="2540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EU launch</a:t>
            </a:r>
            <a:endParaRPr lang="en-US" sz="2025" dirty="0"/>
          </a:p>
        </p:txBody>
      </p:sp>
      <p:sp>
        <p:nvSpPr>
          <p:cNvPr id="17" name="Text 15"/>
          <p:cNvSpPr/>
          <p:nvPr/>
        </p:nvSpPr>
        <p:spPr>
          <a:xfrm>
            <a:off x="9778454" y="5507385"/>
            <a:ext cx="230535" cy="328613"/>
          </a:xfrm>
          <a:prstGeom prst="rect">
            <a:avLst/>
          </a:prstGeom>
          <a:noFill/>
          <a:ln/>
        </p:spPr>
        <p:txBody>
          <a:bodyPr wrap="square" lIns="0" tIns="0" rIns="0" bIns="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a:t>
            </a:r>
            <a:endParaRPr lang="en-US" sz="2025" dirty="0"/>
          </a:p>
        </p:txBody>
      </p:sp>
      <p:sp>
        <p:nvSpPr>
          <p:cNvPr id="18" name="Shape 16"/>
          <p:cNvSpPr/>
          <p:nvPr/>
        </p:nvSpPr>
        <p:spPr>
          <a:xfrm>
            <a:off x="10087124" y="5507385"/>
            <a:ext cx="2101602" cy="290513"/>
          </a:xfrm>
          <a:prstGeom prst="rect">
            <a:avLst/>
          </a:prstGeom>
          <a:solidFill>
            <a:srgbClr val="FFF1A8"/>
          </a:solidFill>
          <a:ln/>
        </p:spPr>
        <p:txBody>
          <a:bodyPr/>
          <a:lstStyle/>
          <a:p>
            <a:endParaRPr lang="en-US"/>
          </a:p>
        </p:txBody>
      </p:sp>
      <p:sp>
        <p:nvSpPr>
          <p:cNvPr id="19" name="Text 17"/>
          <p:cNvSpPr/>
          <p:nvPr/>
        </p:nvSpPr>
        <p:spPr>
          <a:xfrm>
            <a:off x="10134749" y="5507385"/>
            <a:ext cx="2216512" cy="328613"/>
          </a:xfrm>
          <a:prstGeom prst="rect">
            <a:avLst/>
          </a:prstGeom>
          <a:noFill/>
          <a:ln/>
        </p:spPr>
        <p:txBody>
          <a:bodyPr wrap="square" lIns="25400" tIns="25400" rIns="25400" bIns="2540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hiring freeze</a:t>
            </a:r>
            <a:endParaRPr lang="en-US" sz="2025" dirty="0"/>
          </a:p>
        </p:txBody>
      </p:sp>
      <p:sp>
        <p:nvSpPr>
          <p:cNvPr id="20" name="Text 18"/>
          <p:cNvSpPr/>
          <p:nvPr/>
        </p:nvSpPr>
        <p:spPr>
          <a:xfrm>
            <a:off x="12188726" y="5507385"/>
            <a:ext cx="384870" cy="328613"/>
          </a:xfrm>
          <a:prstGeom prst="rect">
            <a:avLst/>
          </a:prstGeom>
          <a:noFill/>
          <a:ln/>
        </p:spPr>
        <p:txBody>
          <a:bodyPr wrap="square" lIns="0" tIns="0" rIns="0" bIns="0" rtlCol="0" anchor="t">
            <a:normAutofit/>
          </a:bodyPr>
          <a:lstStyle/>
          <a:p>
            <a:pPr marL="0" indent="0" algn="l">
              <a:lnSpc>
                <a:spcPct val="155000"/>
              </a:lnSpc>
              <a:buNone/>
            </a:pPr>
            <a:r>
              <a:rPr lang="en-US" sz="2025" dirty="0">
                <a:solidFill>
                  <a:srgbClr val="1A1A1A"/>
                </a:solidFill>
                <a:latin typeface="Courier New" pitchFamily="34" charset="0"/>
                <a:ea typeface="Courier New" pitchFamily="34" charset="-122"/>
                <a:cs typeface="Courier New" pitchFamily="34" charset="-120"/>
              </a:rPr>
              <a:t>.”</a:t>
            </a:r>
            <a:endParaRPr lang="en-US" sz="2025" dirty="0"/>
          </a:p>
        </p:txBody>
      </p:sp>
      <p:sp>
        <p:nvSpPr>
          <p:cNvPr id="21" name="Shape 19"/>
          <p:cNvSpPr/>
          <p:nvPr/>
        </p:nvSpPr>
        <p:spPr>
          <a:xfrm>
            <a:off x="1047750" y="6291709"/>
            <a:ext cx="15621000" cy="855762"/>
          </a:xfrm>
          <a:prstGeom prst="roundRect">
            <a:avLst>
              <a:gd name="adj" fmla="val 15583"/>
            </a:avLst>
          </a:prstGeom>
          <a:solidFill>
            <a:srgbClr val="F8F7F3"/>
          </a:solidFill>
          <a:ln w="9525">
            <a:solidFill>
              <a:srgbClr val="E3E1DA"/>
            </a:solidFill>
            <a:prstDash val="solid"/>
          </a:ln>
        </p:spPr>
        <p:txBody>
          <a:bodyPr/>
          <a:lstStyle/>
          <a:p>
            <a:endParaRPr lang="en-US"/>
          </a:p>
        </p:txBody>
      </p:sp>
      <p:sp>
        <p:nvSpPr>
          <p:cNvPr id="22" name="Text 20"/>
          <p:cNvSpPr/>
          <p:nvPr/>
        </p:nvSpPr>
        <p:spPr>
          <a:xfrm>
            <a:off x="1304925" y="6510784"/>
            <a:ext cx="15575280" cy="455712"/>
          </a:xfrm>
          <a:prstGeom prst="rect">
            <a:avLst/>
          </a:prstGeom>
          <a:noFill/>
          <a:ln/>
        </p:spPr>
        <p:txBody>
          <a:bodyPr wrap="square" lIns="25400" tIns="25400" rIns="25400" bIns="25400" rtlCol="0" anchor="t">
            <a:normAutofit/>
          </a:bodyPr>
          <a:lstStyle/>
          <a:p>
            <a:pPr marL="0" indent="0" algn="l">
              <a:lnSpc>
                <a:spcPct val="155000"/>
              </a:lnSpc>
              <a:buNone/>
            </a:pPr>
            <a:r>
              <a:rPr lang="en-US" sz="2025" dirty="0">
                <a:solidFill>
                  <a:srgbClr val="7C7A73"/>
                </a:solidFill>
                <a:latin typeface="Courier New" pitchFamily="34" charset="0"/>
                <a:ea typeface="Courier New" pitchFamily="34" charset="-122"/>
                <a:cs typeface="Courier New" pitchFamily="34" charset="-120"/>
              </a:rPr>
              <a:t>output → </a:t>
            </a:r>
            <a:r>
              <a:rPr lang="en-US" sz="2025" dirty="0">
                <a:solidFill>
                  <a:srgbClr val="3D3D3D"/>
                </a:solidFill>
                <a:highlight>
                  <a:srgbClr val="F8F7F3"/>
                </a:highlight>
                <a:latin typeface="Arial" pitchFamily="34" charset="0"/>
                <a:ea typeface="Arial" pitchFamily="34" charset="-122"/>
                <a:cs typeface="Arial" pitchFamily="34" charset="-120"/>
              </a:rPr>
              <a:t>“</a:t>
            </a:r>
            <a:r>
              <a:rPr lang="en-US" sz="2025" dirty="0">
                <a:solidFill>
                  <a:srgbClr val="3D3D3D"/>
                </a:solidFill>
                <a:highlight>
                  <a:srgbClr val="FFF1A8"/>
                </a:highlight>
                <a:latin typeface="Arial" pitchFamily="34" charset="0"/>
                <a:ea typeface="Arial" pitchFamily="34" charset="-122"/>
                <a:cs typeface="Arial" pitchFamily="34" charset="-120"/>
              </a:rPr>
              <a:t>Q3 revenue </a:t>
            </a:r>
            <a:r>
              <a:rPr lang="en-US" sz="2025" dirty="0">
                <a:solidFill>
                  <a:srgbClr val="3D3D3D"/>
                </a:solidFill>
                <a:highlight>
                  <a:srgbClr val="F8F7F3"/>
                </a:highlight>
                <a:latin typeface="Arial" pitchFamily="34" charset="0"/>
                <a:ea typeface="Arial" pitchFamily="34" charset="-122"/>
                <a:cs typeface="Arial" pitchFamily="34" charset="-120"/>
              </a:rPr>
              <a:t>rose 12%; the </a:t>
            </a:r>
            <a:r>
              <a:rPr lang="en-US" sz="2025" dirty="0">
                <a:solidFill>
                  <a:srgbClr val="3D3D3D"/>
                </a:solidFill>
                <a:highlight>
                  <a:srgbClr val="FFF1A8"/>
                </a:highlight>
                <a:latin typeface="Arial" pitchFamily="34" charset="0"/>
                <a:ea typeface="Arial" pitchFamily="34" charset="-122"/>
                <a:cs typeface="Arial" pitchFamily="34" charset="-120"/>
              </a:rPr>
              <a:t>EU launch </a:t>
            </a:r>
            <a:r>
              <a:rPr lang="en-US" sz="2025" dirty="0">
                <a:solidFill>
                  <a:srgbClr val="3D3D3D"/>
                </a:solidFill>
                <a:highlight>
                  <a:srgbClr val="F8F7F3"/>
                </a:highlight>
                <a:latin typeface="Arial" pitchFamily="34" charset="0"/>
                <a:ea typeface="Arial" pitchFamily="34" charset="-122"/>
                <a:cs typeface="Arial" pitchFamily="34" charset="-120"/>
              </a:rPr>
              <a:t>shipped on time; a </a:t>
            </a:r>
            <a:r>
              <a:rPr lang="en-US" sz="2025" dirty="0">
                <a:solidFill>
                  <a:srgbClr val="3D3D3D"/>
                </a:solidFill>
                <a:highlight>
                  <a:srgbClr val="FFF1A8"/>
                </a:highlight>
                <a:latin typeface="Arial" pitchFamily="34" charset="0"/>
                <a:ea typeface="Arial" pitchFamily="34" charset="-122"/>
                <a:cs typeface="Arial" pitchFamily="34" charset="-120"/>
              </a:rPr>
              <a:t>hiring freeze </a:t>
            </a:r>
            <a:r>
              <a:rPr lang="en-US" sz="2025" dirty="0">
                <a:solidFill>
                  <a:srgbClr val="3D3D3D"/>
                </a:solidFill>
                <a:highlight>
                  <a:srgbClr val="F8F7F3"/>
                </a:highlight>
                <a:latin typeface="Arial" pitchFamily="34" charset="0"/>
                <a:ea typeface="Arial" pitchFamily="34" charset="-122"/>
                <a:cs typeface="Arial" pitchFamily="34" charset="-120"/>
              </a:rPr>
              <a:t>holds headcount flat.”</a:t>
            </a:r>
            <a:endParaRPr lang="en-US" sz="2025" dirty="0"/>
          </a:p>
        </p:txBody>
      </p:sp>
      <p:sp>
        <p:nvSpPr>
          <p:cNvPr id="23" name="Text 21"/>
          <p:cNvSpPr/>
          <p:nvPr/>
        </p:nvSpPr>
        <p:spPr>
          <a:xfrm>
            <a:off x="1047750" y="7357021"/>
            <a:ext cx="1718310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Reach for it when you know the salient points and want them surfaced — without over-scripting the output.</a:t>
            </a:r>
            <a:endParaRPr lang="en-US" sz="2025" dirty="0"/>
          </a:p>
        </p:txBody>
      </p:sp>
      <p:sp>
        <p:nvSpPr>
          <p:cNvPr id="24" name="Shape 22"/>
          <p:cNvSpPr/>
          <p:nvPr/>
        </p:nvSpPr>
        <p:spPr>
          <a:xfrm>
            <a:off x="1047750" y="9520238"/>
            <a:ext cx="16192500" cy="9525"/>
          </a:xfrm>
          <a:prstGeom prst="rect">
            <a:avLst/>
          </a:prstGeom>
          <a:solidFill>
            <a:srgbClr val="E3E1DA"/>
          </a:solidFill>
          <a:ln/>
        </p:spPr>
        <p:txBody>
          <a:bodyPr/>
          <a:lstStyle/>
          <a:p>
            <a:endParaRPr lang="en-US"/>
          </a:p>
        </p:txBody>
      </p:sp>
      <p:sp>
        <p:nvSpPr>
          <p:cNvPr id="25" name="Text 2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6" name="Text 24"/>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Iterate, Test &amp; Optimise</a:t>
            </a:r>
            <a:endParaRPr lang="en-US" sz="4800" dirty="0"/>
          </a:p>
        </p:txBody>
      </p:sp>
      <p:sp>
        <p:nvSpPr>
          <p:cNvPr id="5" name="Shape 3"/>
          <p:cNvSpPr/>
          <p:nvPr/>
        </p:nvSpPr>
        <p:spPr>
          <a:xfrm>
            <a:off x="3957414" y="4026024"/>
            <a:ext cx="1085999" cy="504825"/>
          </a:xfrm>
          <a:prstGeom prst="roundRect">
            <a:avLst>
              <a:gd name="adj" fmla="val 18868"/>
            </a:avLst>
          </a:prstGeom>
          <a:solidFill>
            <a:srgbClr val="F8F7F3"/>
          </a:solidFill>
          <a:ln w="9525">
            <a:solidFill>
              <a:srgbClr val="E3E1DA"/>
            </a:solidFill>
            <a:prstDash val="solid"/>
          </a:ln>
        </p:spPr>
        <p:txBody>
          <a:bodyPr/>
          <a:lstStyle/>
          <a:p>
            <a:endParaRPr lang="en-US"/>
          </a:p>
        </p:txBody>
      </p:sp>
      <p:sp>
        <p:nvSpPr>
          <p:cNvPr id="6" name="Text 4"/>
          <p:cNvSpPr/>
          <p:nvPr/>
        </p:nvSpPr>
        <p:spPr>
          <a:xfrm>
            <a:off x="4157439" y="4149849"/>
            <a:ext cx="76214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write</a:t>
            </a:r>
            <a:endParaRPr lang="en-US" sz="1800" dirty="0"/>
          </a:p>
        </p:txBody>
      </p:sp>
      <p:sp>
        <p:nvSpPr>
          <p:cNvPr id="7" name="Text 5"/>
          <p:cNvSpPr/>
          <p:nvPr/>
        </p:nvSpPr>
        <p:spPr>
          <a:xfrm>
            <a:off x="5176763" y="4052218"/>
            <a:ext cx="316334" cy="490538"/>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Courier New" pitchFamily="34" charset="0"/>
                <a:ea typeface="Courier New" pitchFamily="34" charset="-122"/>
                <a:cs typeface="Courier New" pitchFamily="34" charset="-120"/>
              </a:rPr>
              <a:t>→</a:t>
            </a:r>
            <a:endParaRPr lang="en-US" sz="3150" dirty="0"/>
          </a:p>
        </p:txBody>
      </p:sp>
      <p:sp>
        <p:nvSpPr>
          <p:cNvPr id="8" name="Shape 6"/>
          <p:cNvSpPr/>
          <p:nvPr/>
        </p:nvSpPr>
        <p:spPr>
          <a:xfrm>
            <a:off x="5550247" y="4026024"/>
            <a:ext cx="2732187" cy="504825"/>
          </a:xfrm>
          <a:prstGeom prst="roundRect">
            <a:avLst>
              <a:gd name="adj" fmla="val 18868"/>
            </a:avLst>
          </a:prstGeom>
          <a:solidFill>
            <a:srgbClr val="F8F7F3"/>
          </a:solidFill>
          <a:ln w="9525">
            <a:solidFill>
              <a:srgbClr val="E3E1DA"/>
            </a:solidFill>
            <a:prstDash val="solid"/>
          </a:ln>
        </p:spPr>
        <p:txBody>
          <a:bodyPr/>
          <a:lstStyle/>
          <a:p>
            <a:endParaRPr lang="en-US"/>
          </a:p>
        </p:txBody>
      </p:sp>
      <p:sp>
        <p:nvSpPr>
          <p:cNvPr id="9" name="Text 7"/>
          <p:cNvSpPr/>
          <p:nvPr/>
        </p:nvSpPr>
        <p:spPr>
          <a:xfrm>
            <a:off x="5750272" y="4149849"/>
            <a:ext cx="2414102"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run on real cases</a:t>
            </a:r>
            <a:endParaRPr lang="en-US" sz="1800" dirty="0"/>
          </a:p>
        </p:txBody>
      </p:sp>
      <p:sp>
        <p:nvSpPr>
          <p:cNvPr id="10" name="Text 8"/>
          <p:cNvSpPr/>
          <p:nvPr/>
        </p:nvSpPr>
        <p:spPr>
          <a:xfrm>
            <a:off x="8415784" y="4052218"/>
            <a:ext cx="316334" cy="490538"/>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Courier New" pitchFamily="34" charset="0"/>
                <a:ea typeface="Courier New" pitchFamily="34" charset="-122"/>
                <a:cs typeface="Courier New" pitchFamily="34" charset="-120"/>
              </a:rPr>
              <a:t>→</a:t>
            </a:r>
            <a:endParaRPr lang="en-US" sz="3150" dirty="0"/>
          </a:p>
        </p:txBody>
      </p:sp>
      <p:sp>
        <p:nvSpPr>
          <p:cNvPr id="11" name="Shape 9"/>
          <p:cNvSpPr/>
          <p:nvPr/>
        </p:nvSpPr>
        <p:spPr>
          <a:xfrm>
            <a:off x="8789268" y="4026024"/>
            <a:ext cx="2046238" cy="504825"/>
          </a:xfrm>
          <a:prstGeom prst="roundRect">
            <a:avLst>
              <a:gd name="adj" fmla="val 18868"/>
            </a:avLst>
          </a:prstGeom>
          <a:solidFill>
            <a:srgbClr val="F8F7F3"/>
          </a:solidFill>
          <a:ln w="9525">
            <a:solidFill>
              <a:srgbClr val="E3E1DA"/>
            </a:solidFill>
            <a:prstDash val="solid"/>
          </a:ln>
        </p:spPr>
        <p:txBody>
          <a:bodyPr/>
          <a:lstStyle/>
          <a:p>
            <a:endParaRPr lang="en-US"/>
          </a:p>
        </p:txBody>
      </p:sp>
      <p:sp>
        <p:nvSpPr>
          <p:cNvPr id="12" name="Text 10"/>
          <p:cNvSpPr/>
          <p:nvPr/>
        </p:nvSpPr>
        <p:spPr>
          <a:xfrm>
            <a:off x="8989293" y="4149849"/>
            <a:ext cx="1722388"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A1A1A"/>
                </a:solidFill>
                <a:latin typeface="Courier New" pitchFamily="34" charset="0"/>
                <a:ea typeface="Courier New" pitchFamily="34" charset="-122"/>
                <a:cs typeface="Courier New" pitchFamily="34" charset="-120"/>
              </a:rPr>
              <a:t>see failures</a:t>
            </a:r>
            <a:endParaRPr lang="en-US" sz="1800" dirty="0"/>
          </a:p>
        </p:txBody>
      </p:sp>
      <p:sp>
        <p:nvSpPr>
          <p:cNvPr id="13" name="Text 11"/>
          <p:cNvSpPr/>
          <p:nvPr/>
        </p:nvSpPr>
        <p:spPr>
          <a:xfrm>
            <a:off x="10968856" y="4052218"/>
            <a:ext cx="316334" cy="490538"/>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Courier New" pitchFamily="34" charset="0"/>
                <a:ea typeface="Courier New" pitchFamily="34" charset="-122"/>
                <a:cs typeface="Courier New" pitchFamily="34" charset="-120"/>
              </a:rPr>
              <a:t>→</a:t>
            </a:r>
            <a:endParaRPr lang="en-US" sz="3150" dirty="0"/>
          </a:p>
        </p:txBody>
      </p:sp>
      <p:sp>
        <p:nvSpPr>
          <p:cNvPr id="14" name="Shape 12"/>
          <p:cNvSpPr/>
          <p:nvPr/>
        </p:nvSpPr>
        <p:spPr>
          <a:xfrm>
            <a:off x="11342340" y="4016499"/>
            <a:ext cx="2614017" cy="523875"/>
          </a:xfrm>
          <a:prstGeom prst="roundRect">
            <a:avLst>
              <a:gd name="adj" fmla="val 18182"/>
            </a:avLst>
          </a:prstGeom>
          <a:solidFill>
            <a:srgbClr val="E4F4EB"/>
          </a:solidFill>
          <a:ln w="19050">
            <a:solidFill>
              <a:srgbClr val="178A4C"/>
            </a:solidFill>
            <a:prstDash val="solid"/>
          </a:ln>
        </p:spPr>
        <p:txBody>
          <a:bodyPr/>
          <a:lstStyle/>
          <a:p>
            <a:endParaRPr lang="en-US"/>
          </a:p>
        </p:txBody>
      </p:sp>
      <p:sp>
        <p:nvSpPr>
          <p:cNvPr id="15" name="Text 13"/>
          <p:cNvSpPr/>
          <p:nvPr/>
        </p:nvSpPr>
        <p:spPr>
          <a:xfrm>
            <a:off x="11551890" y="4149849"/>
            <a:ext cx="2273338" cy="295275"/>
          </a:xfrm>
          <a:prstGeom prst="rect">
            <a:avLst/>
          </a:prstGeom>
          <a:noFill/>
          <a:ln/>
        </p:spPr>
        <p:txBody>
          <a:bodyPr wrap="square" lIns="25400" tIns="25400" rIns="25400" bIns="25400" rtlCol="0" anchor="t">
            <a:normAutofit/>
          </a:bodyPr>
          <a:lstStyle/>
          <a:p>
            <a:pPr marL="0" indent="0" algn="l">
              <a:buNone/>
            </a:pPr>
            <a:r>
              <a:rPr lang="en-US" sz="1800" dirty="0">
                <a:solidFill>
                  <a:srgbClr val="178A4C"/>
                </a:solidFill>
                <a:latin typeface="Courier New" pitchFamily="34" charset="0"/>
                <a:ea typeface="Courier New" pitchFamily="34" charset="-122"/>
                <a:cs typeface="Courier New" pitchFamily="34" charset="-120"/>
              </a:rPr>
              <a:t>change one thing</a:t>
            </a:r>
            <a:endParaRPr lang="en-US" sz="1800" dirty="0"/>
          </a:p>
        </p:txBody>
      </p:sp>
      <p:sp>
        <p:nvSpPr>
          <p:cNvPr id="16" name="Text 14"/>
          <p:cNvSpPr/>
          <p:nvPr/>
        </p:nvSpPr>
        <p:spPr>
          <a:xfrm>
            <a:off x="14089707" y="4033168"/>
            <a:ext cx="317078" cy="528638"/>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Courier New" pitchFamily="34" charset="0"/>
                <a:ea typeface="Courier New" pitchFamily="34" charset="-122"/>
                <a:cs typeface="Courier New" pitchFamily="34" charset="-120"/>
              </a:rPr>
              <a:t>↷</a:t>
            </a:r>
            <a:endParaRPr lang="en-US" sz="3150" dirty="0"/>
          </a:p>
        </p:txBody>
      </p:sp>
      <p:sp>
        <p:nvSpPr>
          <p:cNvPr id="17" name="Shape 15"/>
          <p:cNvSpPr/>
          <p:nvPr/>
        </p:nvSpPr>
        <p:spPr>
          <a:xfrm>
            <a:off x="1047750" y="4788024"/>
            <a:ext cx="7463582" cy="2587823"/>
          </a:xfrm>
          <a:prstGeom prst="roundRect">
            <a:avLst>
              <a:gd name="adj" fmla="val 5153"/>
            </a:avLst>
          </a:prstGeom>
          <a:ln w="9525">
            <a:solidFill>
              <a:srgbClr val="E3E1DA"/>
            </a:solidFill>
            <a:prstDash val="solid"/>
          </a:ln>
        </p:spPr>
        <p:txBody>
          <a:bodyPr/>
          <a:lstStyle/>
          <a:p>
            <a:endParaRPr lang="en-US"/>
          </a:p>
        </p:txBody>
      </p:sp>
      <p:sp>
        <p:nvSpPr>
          <p:cNvPr id="18" name="Text 16"/>
          <p:cNvSpPr/>
          <p:nvPr/>
        </p:nvSpPr>
        <p:spPr>
          <a:xfrm>
            <a:off x="1323975" y="5007099"/>
            <a:ext cx="7602245"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78A4C"/>
                </a:solidFill>
                <a:latin typeface="Arial" pitchFamily="34" charset="0"/>
                <a:ea typeface="Arial" pitchFamily="34" charset="-122"/>
                <a:cs typeface="Arial" pitchFamily="34" charset="-120"/>
              </a:rPr>
              <a:t>THE DISCIPLINE</a:t>
            </a:r>
            <a:endParaRPr lang="en-US" sz="1800" dirty="0"/>
          </a:p>
        </p:txBody>
      </p:sp>
      <p:sp>
        <p:nvSpPr>
          <p:cNvPr id="19" name="Text 17"/>
          <p:cNvSpPr/>
          <p:nvPr/>
        </p:nvSpPr>
        <p:spPr>
          <a:xfrm>
            <a:off x="1323975" y="5402387"/>
            <a:ext cx="272728"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0" name="Text 18"/>
          <p:cNvSpPr/>
          <p:nvPr/>
        </p:nvSpPr>
        <p:spPr>
          <a:xfrm>
            <a:off x="1634803" y="5402387"/>
            <a:ext cx="5968246"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Keep a test set — 10–20 real inputs + expected</a:t>
            </a:r>
            <a:endParaRPr lang="en-US" sz="2025" dirty="0"/>
          </a:p>
        </p:txBody>
      </p:sp>
      <p:sp>
        <p:nvSpPr>
          <p:cNvPr id="21" name="Text 19"/>
          <p:cNvSpPr/>
          <p:nvPr/>
        </p:nvSpPr>
        <p:spPr>
          <a:xfrm>
            <a:off x="1323975" y="5867177"/>
            <a:ext cx="272728"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2" name="Text 20"/>
          <p:cNvSpPr/>
          <p:nvPr/>
        </p:nvSpPr>
        <p:spPr>
          <a:xfrm>
            <a:off x="1634803" y="5867177"/>
            <a:ext cx="4654957"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Change one thing at a time; measure</a:t>
            </a:r>
            <a:endParaRPr lang="en-US" sz="2025" dirty="0"/>
          </a:p>
        </p:txBody>
      </p:sp>
      <p:sp>
        <p:nvSpPr>
          <p:cNvPr id="23" name="Text 21"/>
          <p:cNvSpPr/>
          <p:nvPr/>
        </p:nvSpPr>
        <p:spPr>
          <a:xfrm>
            <a:off x="1323975" y="6331967"/>
            <a:ext cx="272728"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4" name="Text 22"/>
          <p:cNvSpPr/>
          <p:nvPr/>
        </p:nvSpPr>
        <p:spPr>
          <a:xfrm>
            <a:off x="1634803" y="6331967"/>
            <a:ext cx="4953320"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Version prompts in Git, next to the code</a:t>
            </a:r>
            <a:endParaRPr lang="en-US" sz="2025" dirty="0"/>
          </a:p>
        </p:txBody>
      </p:sp>
      <p:sp>
        <p:nvSpPr>
          <p:cNvPr id="25" name="Text 23"/>
          <p:cNvSpPr/>
          <p:nvPr/>
        </p:nvSpPr>
        <p:spPr>
          <a:xfrm>
            <a:off x="1323975" y="6796757"/>
            <a:ext cx="272728"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6" name="Text 24"/>
          <p:cNvSpPr/>
          <p:nvPr/>
        </p:nvSpPr>
        <p:spPr>
          <a:xfrm>
            <a:off x="1634803" y="6796757"/>
            <a:ext cx="4324343"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Feed real failures back into the set</a:t>
            </a:r>
            <a:endParaRPr lang="en-US" sz="2025" dirty="0"/>
          </a:p>
        </p:txBody>
      </p:sp>
      <p:sp>
        <p:nvSpPr>
          <p:cNvPr id="27" name="Shape 25"/>
          <p:cNvSpPr/>
          <p:nvPr/>
        </p:nvSpPr>
        <p:spPr>
          <a:xfrm>
            <a:off x="8739932" y="4788024"/>
            <a:ext cx="8500318" cy="2587823"/>
          </a:xfrm>
          <a:prstGeom prst="roundRect">
            <a:avLst>
              <a:gd name="adj" fmla="val 5153"/>
            </a:avLst>
          </a:prstGeom>
          <a:ln w="9525">
            <a:solidFill>
              <a:srgbClr val="E3E1DA"/>
            </a:solidFill>
            <a:prstDash val="solid"/>
          </a:ln>
        </p:spPr>
        <p:txBody>
          <a:bodyPr/>
          <a:lstStyle/>
          <a:p>
            <a:endParaRPr lang="en-US"/>
          </a:p>
        </p:txBody>
      </p:sp>
      <p:sp>
        <p:nvSpPr>
          <p:cNvPr id="28" name="Text 26"/>
          <p:cNvSpPr/>
          <p:nvPr/>
        </p:nvSpPr>
        <p:spPr>
          <a:xfrm>
            <a:off x="9016157" y="5007099"/>
            <a:ext cx="8742655"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F6FEB"/>
                </a:solidFill>
                <a:latin typeface="Arial" pitchFamily="34" charset="0"/>
                <a:ea typeface="Arial" pitchFamily="34" charset="-122"/>
                <a:cs typeface="Arial" pitchFamily="34" charset="-120"/>
              </a:rPr>
              <a:t>COMMON FIXES</a:t>
            </a:r>
            <a:endParaRPr lang="en-US" sz="1800" dirty="0"/>
          </a:p>
        </p:txBody>
      </p:sp>
      <p:sp>
        <p:nvSpPr>
          <p:cNvPr id="29" name="Text 27"/>
          <p:cNvSpPr/>
          <p:nvPr/>
        </p:nvSpPr>
        <p:spPr>
          <a:xfrm>
            <a:off x="9016157" y="5402387"/>
            <a:ext cx="2200275"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A1A1A"/>
                </a:solidFill>
                <a:latin typeface="Arial" pitchFamily="34" charset="0"/>
                <a:ea typeface="Arial" pitchFamily="34" charset="-122"/>
                <a:cs typeface="Arial" pitchFamily="34" charset="-120"/>
              </a:rPr>
              <a:t>Wrong format</a:t>
            </a:r>
            <a:endParaRPr lang="en-US" sz="2025" dirty="0"/>
          </a:p>
        </p:txBody>
      </p:sp>
      <p:sp>
        <p:nvSpPr>
          <p:cNvPr id="30" name="Text 28"/>
          <p:cNvSpPr/>
          <p:nvPr/>
        </p:nvSpPr>
        <p:spPr>
          <a:xfrm>
            <a:off x="11149757" y="5402387"/>
            <a:ext cx="4701614"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 show an example, don’t describe it</a:t>
            </a:r>
            <a:endParaRPr lang="en-US" sz="2025" dirty="0"/>
          </a:p>
        </p:txBody>
      </p:sp>
      <p:sp>
        <p:nvSpPr>
          <p:cNvPr id="31" name="Text 29"/>
          <p:cNvSpPr/>
          <p:nvPr/>
        </p:nvSpPr>
        <p:spPr>
          <a:xfrm>
            <a:off x="9016157" y="5876702"/>
            <a:ext cx="2200275"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A1A1A"/>
                </a:solidFill>
                <a:latin typeface="Arial" pitchFamily="34" charset="0"/>
                <a:ea typeface="Arial" pitchFamily="34" charset="-122"/>
                <a:cs typeface="Arial" pitchFamily="34" charset="-120"/>
              </a:rPr>
              <a:t>Rule ignored</a:t>
            </a:r>
            <a:endParaRPr lang="en-US" sz="2025" dirty="0"/>
          </a:p>
        </p:txBody>
      </p:sp>
      <p:sp>
        <p:nvSpPr>
          <p:cNvPr id="32" name="Text 30"/>
          <p:cNvSpPr/>
          <p:nvPr/>
        </p:nvSpPr>
        <p:spPr>
          <a:xfrm>
            <a:off x="11149757" y="5876702"/>
            <a:ext cx="5172120"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 numbered list — critical rule first &amp; last</a:t>
            </a:r>
            <a:endParaRPr lang="en-US" sz="2025" dirty="0"/>
          </a:p>
        </p:txBody>
      </p:sp>
      <p:sp>
        <p:nvSpPr>
          <p:cNvPr id="33" name="Text 31"/>
          <p:cNvSpPr/>
          <p:nvPr/>
        </p:nvSpPr>
        <p:spPr>
          <a:xfrm>
            <a:off x="9016157" y="6351017"/>
            <a:ext cx="2076450" cy="758130"/>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A1A1A"/>
                </a:solidFill>
                <a:latin typeface="Arial" pitchFamily="34" charset="0"/>
                <a:ea typeface="Arial" pitchFamily="34" charset="-122"/>
                <a:cs typeface="Arial" pitchFamily="34" charset="-120"/>
              </a:rPr>
              <a:t>Inconsistent runs</a:t>
            </a:r>
            <a:endParaRPr lang="en-US" sz="2025" dirty="0"/>
          </a:p>
        </p:txBody>
      </p:sp>
      <p:sp>
        <p:nvSpPr>
          <p:cNvPr id="34" name="Text 32"/>
          <p:cNvSpPr/>
          <p:nvPr/>
        </p:nvSpPr>
        <p:spPr>
          <a:xfrm>
            <a:off x="11149757" y="6351017"/>
            <a:ext cx="5511165"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 temperature 0 + pin cases with examples</a:t>
            </a:r>
            <a:endParaRPr lang="en-US" sz="2025" dirty="0"/>
          </a:p>
        </p:txBody>
      </p:sp>
      <p:sp>
        <p:nvSpPr>
          <p:cNvPr id="35" name="Shape 33"/>
          <p:cNvSpPr/>
          <p:nvPr/>
        </p:nvSpPr>
        <p:spPr>
          <a:xfrm>
            <a:off x="1047750" y="9520238"/>
            <a:ext cx="16192500" cy="9525"/>
          </a:xfrm>
          <a:prstGeom prst="rect">
            <a:avLst/>
          </a:prstGeom>
          <a:solidFill>
            <a:srgbClr val="E3E1DA"/>
          </a:solidFill>
          <a:ln/>
        </p:spPr>
        <p:txBody>
          <a:bodyPr/>
          <a:lstStyle/>
          <a:p>
            <a:endParaRPr lang="en-US"/>
          </a:p>
        </p:txBody>
      </p:sp>
      <p:sp>
        <p:nvSpPr>
          <p:cNvPr id="36" name="Text 3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7" name="Text 35"/>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txBody>
          <a:bodyPr/>
          <a:lstStyle/>
          <a:p>
            <a:endParaRPr lang="en-US"/>
          </a:p>
        </p:txBody>
      </p:sp>
      <p:sp>
        <p:nvSpPr>
          <p:cNvPr id="3" name="Text 1"/>
          <p:cNvSpPr/>
          <p:nvPr/>
        </p:nvSpPr>
        <p:spPr>
          <a:xfrm>
            <a:off x="1304925" y="800100"/>
            <a:ext cx="3945352"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PROMPTING TECHNIQUES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Guardrails &amp; Safety</a:t>
            </a:r>
            <a:endParaRPr lang="en-US" sz="4800" dirty="0"/>
          </a:p>
        </p:txBody>
      </p:sp>
      <p:sp>
        <p:nvSpPr>
          <p:cNvPr id="5" name="Text 3"/>
          <p:cNvSpPr/>
          <p:nvPr/>
        </p:nvSpPr>
        <p:spPr>
          <a:xfrm>
            <a:off x="1047750" y="3797424"/>
            <a:ext cx="178117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The model is smart, occasionally wrong, and </a:t>
            </a:r>
            <a:r>
              <a:rPr lang="en-US" sz="2700" b="1" dirty="0">
                <a:solidFill>
                  <a:srgbClr val="1A1A1A"/>
                </a:solidFill>
                <a:latin typeface="Arial" pitchFamily="34" charset="0"/>
                <a:ea typeface="Arial" pitchFamily="34" charset="-122"/>
                <a:cs typeface="Arial" pitchFamily="34" charset="-120"/>
              </a:rPr>
              <a:t>manipulable </a:t>
            </a:r>
            <a:r>
              <a:rPr lang="en-US" sz="2700" dirty="0">
                <a:solidFill>
                  <a:srgbClr val="3D3D3D"/>
                </a:solidFill>
                <a:latin typeface="Arial" pitchFamily="34" charset="0"/>
                <a:ea typeface="Arial" pitchFamily="34" charset="-122"/>
                <a:cs typeface="Arial" pitchFamily="34" charset="-120"/>
              </a:rPr>
              <a:t>— don’t trust inputs or outputs.</a:t>
            </a:r>
            <a:endParaRPr lang="en-US" sz="2700" dirty="0"/>
          </a:p>
        </p:txBody>
      </p:sp>
      <p:sp>
        <p:nvSpPr>
          <p:cNvPr id="6" name="Shape 4"/>
          <p:cNvSpPr/>
          <p:nvPr/>
        </p:nvSpPr>
        <p:spPr>
          <a:xfrm>
            <a:off x="1047750" y="4663232"/>
            <a:ext cx="6662812" cy="2161133"/>
          </a:xfrm>
          <a:prstGeom prst="roundRect">
            <a:avLst>
              <a:gd name="adj" fmla="val 7052"/>
            </a:avLst>
          </a:prstGeom>
          <a:solidFill>
            <a:srgbClr val="FBEBEA"/>
          </a:solidFill>
          <a:ln w="19050">
            <a:solidFill>
              <a:srgbClr val="D64545"/>
            </a:solidFill>
            <a:prstDash val="solid"/>
          </a:ln>
        </p:spPr>
        <p:txBody>
          <a:bodyPr/>
          <a:lstStyle/>
          <a:p>
            <a:endParaRPr lang="en-US"/>
          </a:p>
        </p:txBody>
      </p:sp>
      <p:sp>
        <p:nvSpPr>
          <p:cNvPr id="7" name="Text 5"/>
          <p:cNvSpPr/>
          <p:nvPr/>
        </p:nvSpPr>
        <p:spPr>
          <a:xfrm>
            <a:off x="1333500" y="4910882"/>
            <a:ext cx="6700443"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D64545"/>
                </a:solidFill>
                <a:latin typeface="Arial" pitchFamily="34" charset="0"/>
                <a:ea typeface="Arial" pitchFamily="34" charset="-122"/>
                <a:cs typeface="Arial" pitchFamily="34" charset="-120"/>
              </a:rPr>
              <a:t>INPUT GUARDRAILS</a:t>
            </a:r>
            <a:endParaRPr lang="en-US" sz="1800" dirty="0"/>
          </a:p>
        </p:txBody>
      </p:sp>
      <p:sp>
        <p:nvSpPr>
          <p:cNvPr id="8" name="Text 6"/>
          <p:cNvSpPr/>
          <p:nvPr/>
        </p:nvSpPr>
        <p:spPr>
          <a:xfrm>
            <a:off x="1333500" y="5306169"/>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D64545"/>
                </a:solidFill>
                <a:latin typeface="Arial" pitchFamily="34" charset="0"/>
                <a:ea typeface="Arial" pitchFamily="34" charset="-122"/>
                <a:cs typeface="Arial" pitchFamily="34" charset="-120"/>
              </a:rPr>
              <a:t>•</a:t>
            </a:r>
            <a:endParaRPr lang="en-US" sz="2025" dirty="0"/>
          </a:p>
        </p:txBody>
      </p:sp>
      <p:sp>
        <p:nvSpPr>
          <p:cNvPr id="9" name="Text 7"/>
          <p:cNvSpPr/>
          <p:nvPr/>
        </p:nvSpPr>
        <p:spPr>
          <a:xfrm>
            <a:off x="1537841" y="5306169"/>
            <a:ext cx="4685407"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Resist injection — ‘ignore previous…’</a:t>
            </a:r>
            <a:endParaRPr lang="en-US" sz="2025" dirty="0"/>
          </a:p>
        </p:txBody>
      </p:sp>
      <p:sp>
        <p:nvSpPr>
          <p:cNvPr id="10" name="Text 8"/>
          <p:cNvSpPr/>
          <p:nvPr/>
        </p:nvSpPr>
        <p:spPr>
          <a:xfrm>
            <a:off x="1333500" y="5761434"/>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D64545"/>
                </a:solidFill>
                <a:latin typeface="Arial" pitchFamily="34" charset="0"/>
                <a:ea typeface="Arial" pitchFamily="34" charset="-122"/>
                <a:cs typeface="Arial" pitchFamily="34" charset="-120"/>
              </a:rPr>
              <a:t>•</a:t>
            </a:r>
            <a:endParaRPr lang="en-US" sz="2025" dirty="0"/>
          </a:p>
        </p:txBody>
      </p:sp>
      <p:sp>
        <p:nvSpPr>
          <p:cNvPr id="11" name="Text 9"/>
          <p:cNvSpPr/>
          <p:nvPr/>
        </p:nvSpPr>
        <p:spPr>
          <a:xfrm>
            <a:off x="1537841" y="5761434"/>
            <a:ext cx="1792717"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Cap input size</a:t>
            </a:r>
            <a:endParaRPr lang="en-US" sz="2025" dirty="0"/>
          </a:p>
        </p:txBody>
      </p:sp>
      <p:sp>
        <p:nvSpPr>
          <p:cNvPr id="12" name="Text 10"/>
          <p:cNvSpPr/>
          <p:nvPr/>
        </p:nvSpPr>
        <p:spPr>
          <a:xfrm>
            <a:off x="1333500" y="6216700"/>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D64545"/>
                </a:solidFill>
                <a:latin typeface="Arial" pitchFamily="34" charset="0"/>
                <a:ea typeface="Arial" pitchFamily="34" charset="-122"/>
                <a:cs typeface="Arial" pitchFamily="34" charset="-120"/>
              </a:rPr>
              <a:t>•</a:t>
            </a:r>
            <a:endParaRPr lang="en-US" sz="2025" dirty="0"/>
          </a:p>
        </p:txBody>
      </p:sp>
      <p:sp>
        <p:nvSpPr>
          <p:cNvPr id="13" name="Text 11"/>
          <p:cNvSpPr/>
          <p:nvPr/>
        </p:nvSpPr>
        <p:spPr>
          <a:xfrm>
            <a:off x="1537841" y="6216700"/>
            <a:ext cx="3820604"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System rules outrank user text</a:t>
            </a:r>
            <a:endParaRPr lang="en-US" sz="2025" dirty="0"/>
          </a:p>
        </p:txBody>
      </p:sp>
      <p:sp>
        <p:nvSpPr>
          <p:cNvPr id="14" name="Text 12"/>
          <p:cNvSpPr/>
          <p:nvPr/>
        </p:nvSpPr>
        <p:spPr>
          <a:xfrm>
            <a:off x="7882012" y="551281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5" name="Shape 13"/>
          <p:cNvSpPr/>
          <p:nvPr/>
        </p:nvSpPr>
        <p:spPr>
          <a:xfrm>
            <a:off x="8396362" y="5427092"/>
            <a:ext cx="1190774" cy="633413"/>
          </a:xfrm>
          <a:prstGeom prst="roundRect">
            <a:avLst>
              <a:gd name="adj" fmla="val 18045"/>
            </a:avLst>
          </a:prstGeom>
          <a:ln w="19050">
            <a:solidFill>
              <a:srgbClr val="1A1A1A"/>
            </a:solidFill>
            <a:prstDash val="solid"/>
          </a:ln>
        </p:spPr>
        <p:txBody>
          <a:bodyPr/>
          <a:lstStyle/>
          <a:p>
            <a:endParaRPr lang="en-US"/>
          </a:p>
        </p:txBody>
      </p:sp>
      <p:sp>
        <p:nvSpPr>
          <p:cNvPr id="16" name="Text 14"/>
          <p:cNvSpPr/>
          <p:nvPr/>
        </p:nvSpPr>
        <p:spPr>
          <a:xfrm>
            <a:off x="8605912" y="5598542"/>
            <a:ext cx="847874"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Courier New" pitchFamily="34" charset="0"/>
                <a:ea typeface="Courier New" pitchFamily="34" charset="-122"/>
                <a:cs typeface="Courier New" pitchFamily="34" charset="-120"/>
              </a:rPr>
              <a:t>MODEL</a:t>
            </a:r>
            <a:endParaRPr lang="en-US" sz="2025" dirty="0"/>
          </a:p>
        </p:txBody>
      </p:sp>
      <p:sp>
        <p:nvSpPr>
          <p:cNvPr id="17" name="Text 15"/>
          <p:cNvSpPr/>
          <p:nvPr/>
        </p:nvSpPr>
        <p:spPr>
          <a:xfrm>
            <a:off x="9701436" y="5512817"/>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8" name="Shape 16"/>
          <p:cNvSpPr/>
          <p:nvPr/>
        </p:nvSpPr>
        <p:spPr>
          <a:xfrm>
            <a:off x="10272936" y="4435599"/>
            <a:ext cx="6967314" cy="2616398"/>
          </a:xfrm>
          <a:prstGeom prst="roundRect">
            <a:avLst>
              <a:gd name="adj" fmla="val 5825"/>
            </a:avLst>
          </a:prstGeom>
          <a:solidFill>
            <a:srgbClr val="E4F4EB"/>
          </a:solidFill>
          <a:ln w="19050">
            <a:solidFill>
              <a:srgbClr val="178A4C"/>
            </a:solidFill>
            <a:prstDash val="solid"/>
          </a:ln>
        </p:spPr>
        <p:txBody>
          <a:bodyPr/>
          <a:lstStyle/>
          <a:p>
            <a:endParaRPr lang="en-US"/>
          </a:p>
        </p:txBody>
      </p:sp>
      <p:sp>
        <p:nvSpPr>
          <p:cNvPr id="19" name="Text 17"/>
          <p:cNvSpPr/>
          <p:nvPr/>
        </p:nvSpPr>
        <p:spPr>
          <a:xfrm>
            <a:off x="10558686" y="4683249"/>
            <a:ext cx="7035396"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78A4C"/>
                </a:solidFill>
                <a:latin typeface="Arial" pitchFamily="34" charset="0"/>
                <a:ea typeface="Arial" pitchFamily="34" charset="-122"/>
                <a:cs typeface="Arial" pitchFamily="34" charset="-120"/>
              </a:rPr>
              <a:t>OUTPUT GUARDRAILS</a:t>
            </a:r>
            <a:endParaRPr lang="en-US" sz="1800" dirty="0"/>
          </a:p>
        </p:txBody>
      </p:sp>
      <p:sp>
        <p:nvSpPr>
          <p:cNvPr id="20" name="Text 18"/>
          <p:cNvSpPr/>
          <p:nvPr/>
        </p:nvSpPr>
        <p:spPr>
          <a:xfrm>
            <a:off x="10558686" y="5078537"/>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1" name="Text 19"/>
          <p:cNvSpPr/>
          <p:nvPr/>
        </p:nvSpPr>
        <p:spPr>
          <a:xfrm>
            <a:off x="10763027" y="5078537"/>
            <a:ext cx="4145734"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Validate schema (Pydantic / Zod)</a:t>
            </a:r>
            <a:endParaRPr lang="en-US" sz="2025" dirty="0"/>
          </a:p>
        </p:txBody>
      </p:sp>
      <p:sp>
        <p:nvSpPr>
          <p:cNvPr id="22" name="Text 20"/>
          <p:cNvSpPr/>
          <p:nvPr/>
        </p:nvSpPr>
        <p:spPr>
          <a:xfrm>
            <a:off x="10558686" y="5533802"/>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3" name="Text 21"/>
          <p:cNvSpPr/>
          <p:nvPr/>
        </p:nvSpPr>
        <p:spPr>
          <a:xfrm>
            <a:off x="10763027" y="5533802"/>
            <a:ext cx="2688788"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Check business rules</a:t>
            </a:r>
            <a:endParaRPr lang="en-US" sz="2025" dirty="0"/>
          </a:p>
        </p:txBody>
      </p:sp>
      <p:sp>
        <p:nvSpPr>
          <p:cNvPr id="24" name="Text 22"/>
          <p:cNvSpPr/>
          <p:nvPr/>
        </p:nvSpPr>
        <p:spPr>
          <a:xfrm>
            <a:off x="10558686" y="5989067"/>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5" name="Text 23"/>
          <p:cNvSpPr/>
          <p:nvPr/>
        </p:nvSpPr>
        <p:spPr>
          <a:xfrm>
            <a:off x="10763027" y="5989067"/>
            <a:ext cx="2201748"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Moderate content</a:t>
            </a:r>
            <a:endParaRPr lang="en-US" sz="2025" dirty="0"/>
          </a:p>
        </p:txBody>
      </p:sp>
      <p:sp>
        <p:nvSpPr>
          <p:cNvPr id="26" name="Text 24"/>
          <p:cNvSpPr/>
          <p:nvPr/>
        </p:nvSpPr>
        <p:spPr>
          <a:xfrm>
            <a:off x="10558686" y="6444332"/>
            <a:ext cx="16624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78A4C"/>
                </a:solidFill>
                <a:latin typeface="Arial" pitchFamily="34" charset="0"/>
                <a:ea typeface="Arial" pitchFamily="34" charset="-122"/>
                <a:cs typeface="Arial" pitchFamily="34" charset="-120"/>
              </a:rPr>
              <a:t>•</a:t>
            </a:r>
            <a:endParaRPr lang="en-US" sz="2025" dirty="0"/>
          </a:p>
        </p:txBody>
      </p:sp>
      <p:sp>
        <p:nvSpPr>
          <p:cNvPr id="27" name="Text 25"/>
          <p:cNvSpPr/>
          <p:nvPr/>
        </p:nvSpPr>
        <p:spPr>
          <a:xfrm>
            <a:off x="10763027" y="6444332"/>
            <a:ext cx="3968271" cy="398115"/>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3D3D3D"/>
                </a:solidFill>
                <a:latin typeface="Arial" pitchFamily="34" charset="0"/>
                <a:ea typeface="Arial" pitchFamily="34" charset="-122"/>
                <a:cs typeface="Arial" pitchFamily="34" charset="-120"/>
              </a:rPr>
              <a:t>Keep an ‘unclear / refuse’ hatch</a:t>
            </a:r>
            <a:endParaRPr lang="en-US" sz="2025" dirty="0"/>
          </a:p>
        </p:txBody>
      </p:sp>
      <p:sp>
        <p:nvSpPr>
          <p:cNvPr id="28" name="Text 26"/>
          <p:cNvSpPr/>
          <p:nvPr/>
        </p:nvSpPr>
        <p:spPr>
          <a:xfrm>
            <a:off x="238125" y="7299647"/>
            <a:ext cx="17811750"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7C7A73"/>
                </a:solidFill>
                <a:latin typeface="Arial" pitchFamily="34" charset="0"/>
                <a:ea typeface="Arial" pitchFamily="34" charset="-122"/>
                <a:cs typeface="Arial" pitchFamily="34" charset="-120"/>
              </a:rPr>
              <a:t>Least privilege for tools · human-in-the-loop for risky actions · log every call.</a:t>
            </a:r>
            <a:endParaRPr lang="en-US" sz="2025" dirty="0"/>
          </a:p>
        </p:txBody>
      </p:sp>
      <p:sp>
        <p:nvSpPr>
          <p:cNvPr id="29" name="Shape 27"/>
          <p:cNvSpPr/>
          <p:nvPr/>
        </p:nvSpPr>
        <p:spPr>
          <a:xfrm>
            <a:off x="1047750" y="9520238"/>
            <a:ext cx="16192500" cy="9525"/>
          </a:xfrm>
          <a:prstGeom prst="rect">
            <a:avLst/>
          </a:prstGeom>
          <a:solidFill>
            <a:srgbClr val="E3E1DA"/>
          </a:solidFill>
          <a:ln/>
        </p:spPr>
        <p:txBody>
          <a:bodyPr/>
          <a:lstStyle/>
          <a:p>
            <a:endParaRPr lang="en-US"/>
          </a:p>
        </p:txBody>
      </p:sp>
      <p:sp>
        <p:nvSpPr>
          <p:cNvPr id="30" name="Text 2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1" name="Text 29"/>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7A4FD0"/>
          </a:solidFill>
          <a:ln/>
        </p:spPr>
        <p:txBody>
          <a:bodyPr/>
          <a:lstStyle/>
          <a:p>
            <a:endParaRPr lang="en-US"/>
          </a:p>
        </p:txBody>
      </p:sp>
      <p:sp>
        <p:nvSpPr>
          <p:cNvPr id="3" name="Text 1"/>
          <p:cNvSpPr/>
          <p:nvPr/>
        </p:nvSpPr>
        <p:spPr>
          <a:xfrm>
            <a:off x="1200150" y="3107531"/>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03</a:t>
            </a:r>
            <a:endParaRPr lang="en-US" sz="1800" dirty="0"/>
          </a:p>
        </p:txBody>
      </p:sp>
      <p:sp>
        <p:nvSpPr>
          <p:cNvPr id="4" name="Text 2"/>
          <p:cNvSpPr/>
          <p:nvPr/>
        </p:nvSpPr>
        <p:spPr>
          <a:xfrm>
            <a:off x="1200150" y="3464719"/>
            <a:ext cx="1764411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7A4FD0"/>
                </a:solidFill>
                <a:latin typeface="Georgia" pitchFamily="34" charset="0"/>
                <a:ea typeface="Georgia" pitchFamily="34" charset="-122"/>
                <a:cs typeface="Georgia" pitchFamily="34" charset="-120"/>
              </a:rPr>
              <a:t>03</a:t>
            </a:r>
            <a:endParaRPr lang="en-US" sz="15000" dirty="0"/>
          </a:p>
        </p:txBody>
      </p:sp>
      <p:sp>
        <p:nvSpPr>
          <p:cNvPr id="5" name="Text 3"/>
          <p:cNvSpPr/>
          <p:nvPr/>
        </p:nvSpPr>
        <p:spPr>
          <a:xfrm>
            <a:off x="1200150" y="5255419"/>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Your Workspace</a:t>
            </a:r>
            <a:endParaRPr lang="en-US" sz="5700" dirty="0"/>
          </a:p>
        </p:txBody>
      </p:sp>
      <p:sp>
        <p:nvSpPr>
          <p:cNvPr id="6" name="Text 4"/>
          <p:cNvSpPr/>
          <p:nvPr/>
        </p:nvSpPr>
        <p:spPr>
          <a:xfrm>
            <a:off x="1200150" y="6246019"/>
            <a:ext cx="12263438" cy="819150"/>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Terminal and VS Code — the environment agentic AI tools run in, and where you supervise what they do.</a:t>
            </a:r>
            <a:endParaRPr lang="en-US" sz="2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293312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WORKSPACE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Two Tools You’ll Live In</a:t>
            </a:r>
            <a:endParaRPr lang="en-US" sz="4800" dirty="0"/>
          </a:p>
        </p:txBody>
      </p:sp>
      <p:sp>
        <p:nvSpPr>
          <p:cNvPr id="5" name="Shape 3"/>
          <p:cNvSpPr/>
          <p:nvPr/>
        </p:nvSpPr>
        <p:spPr>
          <a:xfrm>
            <a:off x="1047750" y="6371555"/>
            <a:ext cx="7905750" cy="9525"/>
          </a:xfrm>
          <a:prstGeom prst="rect">
            <a:avLst/>
          </a:prstGeom>
          <a:solidFill>
            <a:srgbClr val="E3E1DA"/>
          </a:solidFill>
          <a:ln/>
        </p:spPr>
        <p:txBody>
          <a:bodyPr/>
          <a:lstStyle/>
          <a:p>
            <a:endParaRPr lang="en-US"/>
          </a:p>
        </p:txBody>
      </p:sp>
      <p:sp>
        <p:nvSpPr>
          <p:cNvPr id="6" name="Shape 4"/>
          <p:cNvSpPr/>
          <p:nvPr/>
        </p:nvSpPr>
        <p:spPr>
          <a:xfrm>
            <a:off x="1047750" y="3914105"/>
            <a:ext cx="7905750" cy="57150"/>
          </a:xfrm>
          <a:prstGeom prst="rect">
            <a:avLst/>
          </a:prstGeom>
          <a:solidFill>
            <a:srgbClr val="1A1A1A"/>
          </a:solidFill>
          <a:ln/>
        </p:spPr>
        <p:txBody>
          <a:bodyPr/>
          <a:lstStyle/>
          <a:p>
            <a:endParaRPr lang="en-US"/>
          </a:p>
        </p:txBody>
      </p:sp>
      <p:sp>
        <p:nvSpPr>
          <p:cNvPr id="7" name="Shape 5"/>
          <p:cNvSpPr/>
          <p:nvPr/>
        </p:nvSpPr>
        <p:spPr>
          <a:xfrm>
            <a:off x="1047750" y="3914105"/>
            <a:ext cx="9525" cy="2466975"/>
          </a:xfrm>
          <a:prstGeom prst="rect">
            <a:avLst/>
          </a:prstGeom>
          <a:solidFill>
            <a:srgbClr val="E3E1DA"/>
          </a:solidFill>
          <a:ln/>
        </p:spPr>
        <p:txBody>
          <a:bodyPr/>
          <a:lstStyle/>
          <a:p>
            <a:endParaRPr lang="en-US"/>
          </a:p>
        </p:txBody>
      </p:sp>
      <p:sp>
        <p:nvSpPr>
          <p:cNvPr id="8" name="Shape 6"/>
          <p:cNvSpPr/>
          <p:nvPr/>
        </p:nvSpPr>
        <p:spPr>
          <a:xfrm>
            <a:off x="8943975" y="3914105"/>
            <a:ext cx="9525" cy="2466975"/>
          </a:xfrm>
          <a:prstGeom prst="rect">
            <a:avLst/>
          </a:prstGeom>
          <a:solidFill>
            <a:srgbClr val="E3E1DA"/>
          </a:solidFill>
          <a:ln/>
        </p:spPr>
        <p:txBody>
          <a:bodyPr/>
          <a:lstStyle/>
          <a:p>
            <a:endParaRPr lang="en-US"/>
          </a:p>
        </p:txBody>
      </p:sp>
      <p:sp>
        <p:nvSpPr>
          <p:cNvPr id="9" name="Text 7"/>
          <p:cNvSpPr/>
          <p:nvPr/>
        </p:nvSpPr>
        <p:spPr>
          <a:xfrm>
            <a:off x="1438275" y="4314155"/>
            <a:ext cx="783717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Courier New" pitchFamily="34" charset="0"/>
                <a:ea typeface="Courier New" pitchFamily="34" charset="-122"/>
                <a:cs typeface="Courier New" pitchFamily="34" charset="-120"/>
              </a:rPr>
              <a:t>The terminal</a:t>
            </a:r>
            <a:endParaRPr lang="en-US" sz="2400" dirty="0"/>
          </a:p>
        </p:txBody>
      </p:sp>
      <p:sp>
        <p:nvSpPr>
          <p:cNvPr id="10" name="Text 8"/>
          <p:cNvSpPr/>
          <p:nvPr/>
        </p:nvSpPr>
        <p:spPr>
          <a:xfrm>
            <a:off x="1438275" y="4790405"/>
            <a:ext cx="783717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Run &amp; drive things</a:t>
            </a:r>
            <a:endParaRPr lang="en-US" sz="2400" dirty="0"/>
          </a:p>
        </p:txBody>
      </p:sp>
      <p:sp>
        <p:nvSpPr>
          <p:cNvPr id="11" name="Text 9"/>
          <p:cNvSpPr/>
          <p:nvPr/>
        </p:nvSpPr>
        <p:spPr>
          <a:xfrm>
            <a:off x="1438275" y="5257130"/>
            <a:ext cx="7338441"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Run code, install packages, use git, and drive AI tools like Claude Code.</a:t>
            </a:r>
            <a:endParaRPr lang="en-US" sz="2025" dirty="0"/>
          </a:p>
        </p:txBody>
      </p:sp>
      <p:sp>
        <p:nvSpPr>
          <p:cNvPr id="12" name="Shape 10"/>
          <p:cNvSpPr/>
          <p:nvPr/>
        </p:nvSpPr>
        <p:spPr>
          <a:xfrm>
            <a:off x="9334500" y="6371555"/>
            <a:ext cx="7905750" cy="9525"/>
          </a:xfrm>
          <a:prstGeom prst="rect">
            <a:avLst/>
          </a:prstGeom>
          <a:solidFill>
            <a:srgbClr val="E3E1DA"/>
          </a:solidFill>
          <a:ln/>
        </p:spPr>
        <p:txBody>
          <a:bodyPr/>
          <a:lstStyle/>
          <a:p>
            <a:endParaRPr lang="en-US"/>
          </a:p>
        </p:txBody>
      </p:sp>
      <p:sp>
        <p:nvSpPr>
          <p:cNvPr id="13" name="Shape 11"/>
          <p:cNvSpPr/>
          <p:nvPr/>
        </p:nvSpPr>
        <p:spPr>
          <a:xfrm>
            <a:off x="9334500" y="3914105"/>
            <a:ext cx="7905750" cy="57150"/>
          </a:xfrm>
          <a:prstGeom prst="rect">
            <a:avLst/>
          </a:prstGeom>
          <a:solidFill>
            <a:srgbClr val="1F6FEB"/>
          </a:solidFill>
          <a:ln/>
        </p:spPr>
        <p:txBody>
          <a:bodyPr/>
          <a:lstStyle/>
          <a:p>
            <a:endParaRPr lang="en-US"/>
          </a:p>
        </p:txBody>
      </p:sp>
      <p:sp>
        <p:nvSpPr>
          <p:cNvPr id="14" name="Shape 12"/>
          <p:cNvSpPr/>
          <p:nvPr/>
        </p:nvSpPr>
        <p:spPr>
          <a:xfrm>
            <a:off x="9334500" y="3914105"/>
            <a:ext cx="9525" cy="2466975"/>
          </a:xfrm>
          <a:prstGeom prst="rect">
            <a:avLst/>
          </a:prstGeom>
          <a:solidFill>
            <a:srgbClr val="E3E1DA"/>
          </a:solidFill>
          <a:ln/>
        </p:spPr>
        <p:txBody>
          <a:bodyPr/>
          <a:lstStyle/>
          <a:p>
            <a:endParaRPr lang="en-US"/>
          </a:p>
        </p:txBody>
      </p:sp>
      <p:sp>
        <p:nvSpPr>
          <p:cNvPr id="15" name="Shape 13"/>
          <p:cNvSpPr/>
          <p:nvPr/>
        </p:nvSpPr>
        <p:spPr>
          <a:xfrm>
            <a:off x="17230725" y="3914105"/>
            <a:ext cx="9525" cy="2466975"/>
          </a:xfrm>
          <a:prstGeom prst="rect">
            <a:avLst/>
          </a:prstGeom>
          <a:solidFill>
            <a:srgbClr val="E3E1DA"/>
          </a:solidFill>
          <a:ln/>
        </p:spPr>
        <p:txBody>
          <a:bodyPr/>
          <a:lstStyle/>
          <a:p>
            <a:endParaRPr lang="en-US"/>
          </a:p>
        </p:txBody>
      </p:sp>
      <p:sp>
        <p:nvSpPr>
          <p:cNvPr id="16" name="Text 14"/>
          <p:cNvSpPr/>
          <p:nvPr/>
        </p:nvSpPr>
        <p:spPr>
          <a:xfrm>
            <a:off x="9725025" y="4314155"/>
            <a:ext cx="783717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VS Code</a:t>
            </a:r>
            <a:endParaRPr lang="en-US" sz="2400" dirty="0"/>
          </a:p>
        </p:txBody>
      </p:sp>
      <p:sp>
        <p:nvSpPr>
          <p:cNvPr id="17" name="Text 15"/>
          <p:cNvSpPr/>
          <p:nvPr/>
        </p:nvSpPr>
        <p:spPr>
          <a:xfrm>
            <a:off x="9725025" y="4790405"/>
            <a:ext cx="783717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Read, write &amp; review</a:t>
            </a:r>
            <a:endParaRPr lang="en-US" sz="2400" dirty="0"/>
          </a:p>
        </p:txBody>
      </p:sp>
      <p:sp>
        <p:nvSpPr>
          <p:cNvPr id="18" name="Text 16"/>
          <p:cNvSpPr/>
          <p:nvPr/>
        </p:nvSpPr>
        <p:spPr>
          <a:xfrm>
            <a:off x="9725025" y="5257130"/>
            <a:ext cx="7338441"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Where you write code, review the AI’s diffs, and run everything from one window.</a:t>
            </a:r>
            <a:endParaRPr lang="en-US" sz="2025" dirty="0"/>
          </a:p>
        </p:txBody>
      </p:sp>
      <p:sp>
        <p:nvSpPr>
          <p:cNvPr id="19" name="Shape 17"/>
          <p:cNvSpPr/>
          <p:nvPr/>
        </p:nvSpPr>
        <p:spPr>
          <a:xfrm>
            <a:off x="1047750" y="8370689"/>
            <a:ext cx="16192500" cy="963811"/>
          </a:xfrm>
          <a:prstGeom prst="roundRect">
            <a:avLst>
              <a:gd name="adj" fmla="val 11859"/>
            </a:avLst>
          </a:prstGeom>
          <a:solidFill>
            <a:srgbClr val="EFE9FB"/>
          </a:solidFill>
          <a:ln w="9525">
            <a:solidFill>
              <a:srgbClr val="7A4FD0"/>
            </a:solidFill>
            <a:prstDash val="solid"/>
          </a:ln>
        </p:spPr>
        <p:txBody>
          <a:bodyPr/>
          <a:lstStyle/>
          <a:p>
            <a:endParaRPr lang="en-US"/>
          </a:p>
        </p:txBody>
      </p:sp>
      <p:sp>
        <p:nvSpPr>
          <p:cNvPr id="20" name="Text 18"/>
          <p:cNvSpPr/>
          <p:nvPr/>
        </p:nvSpPr>
        <p:spPr>
          <a:xfrm>
            <a:off x="1285875" y="8692604"/>
            <a:ext cx="2112608" cy="358080"/>
          </a:xfrm>
          <a:prstGeom prst="rect">
            <a:avLst/>
          </a:prstGeom>
          <a:noFill/>
          <a:ln/>
        </p:spPr>
        <p:txBody>
          <a:bodyPr wrap="none" lIns="25400" tIns="25400" rIns="25400" bIns="25400" rtlCol="0" anchor="t">
            <a:normAutofit/>
          </a:bodyPr>
          <a:lstStyle/>
          <a:p>
            <a:pPr marL="0" indent="0" algn="l">
              <a:lnSpc>
                <a:spcPct val="140000"/>
              </a:lnSpc>
              <a:buNone/>
            </a:pPr>
            <a:r>
              <a:rPr lang="en-US" sz="1800" b="1" dirty="0">
                <a:solidFill>
                  <a:srgbClr val="7A4FD0"/>
                </a:solidFill>
                <a:latin typeface="Courier New" pitchFamily="34" charset="0"/>
                <a:ea typeface="Courier New" pitchFamily="34" charset="-122"/>
                <a:cs typeface="Courier New" pitchFamily="34" charset="-120"/>
              </a:rPr>
              <a:t>Why it matters</a:t>
            </a:r>
            <a:endParaRPr lang="en-US" sz="1800" dirty="0"/>
          </a:p>
        </p:txBody>
      </p:sp>
      <p:sp>
        <p:nvSpPr>
          <p:cNvPr id="21" name="Text 19"/>
          <p:cNvSpPr/>
          <p:nvPr/>
        </p:nvSpPr>
        <p:spPr>
          <a:xfrm>
            <a:off x="3358828" y="8532614"/>
            <a:ext cx="14052596"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D3D3D"/>
                </a:solidFill>
                <a:latin typeface="Arial" pitchFamily="34" charset="0"/>
                <a:ea typeface="Arial" pitchFamily="34" charset="-122"/>
                <a:cs typeface="Arial" pitchFamily="34" charset="-120"/>
              </a:rPr>
              <a:t>Agentic tools like </a:t>
            </a:r>
            <a:r>
              <a:rPr lang="en-US" sz="1800" b="1" dirty="0">
                <a:solidFill>
                  <a:srgbClr val="1A1A1A"/>
                </a:solidFill>
                <a:latin typeface="Arial" pitchFamily="34" charset="0"/>
                <a:ea typeface="Arial" pitchFamily="34" charset="-122"/>
                <a:cs typeface="Arial" pitchFamily="34" charset="-120"/>
              </a:rPr>
              <a:t>Claude Code </a:t>
            </a:r>
            <a:r>
              <a:rPr lang="en-US" sz="1800" dirty="0">
                <a:solidFill>
                  <a:srgbClr val="3D3D3D"/>
                </a:solidFill>
                <a:latin typeface="Arial" pitchFamily="34" charset="0"/>
                <a:ea typeface="Arial" pitchFamily="34" charset="-122"/>
                <a:cs typeface="Arial" pitchFamily="34" charset="-120"/>
              </a:rPr>
              <a:t>drive the terminal </a:t>
            </a:r>
            <a:r>
              <a:rPr lang="en-US" sz="1800" b="1" dirty="0">
                <a:solidFill>
                  <a:srgbClr val="1A1A1A"/>
                </a:solidFill>
                <a:latin typeface="Arial" pitchFamily="34" charset="0"/>
                <a:ea typeface="Arial" pitchFamily="34" charset="-122"/>
                <a:cs typeface="Arial" pitchFamily="34" charset="-120"/>
              </a:rPr>
              <a:t>autonomously </a:t>
            </a:r>
            <a:r>
              <a:rPr lang="en-US" sz="1800" dirty="0">
                <a:solidFill>
                  <a:srgbClr val="3D3D3D"/>
                </a:solidFill>
                <a:latin typeface="Arial" pitchFamily="34" charset="0"/>
                <a:ea typeface="Arial" pitchFamily="34" charset="-122"/>
                <a:cs typeface="Arial" pitchFamily="34" charset="-120"/>
              </a:rPr>
              <a:t>— you must know where commands run to supervise the files they change in real time.</a:t>
            </a:r>
            <a:endParaRPr lang="en-US" sz="1800" dirty="0"/>
          </a:p>
        </p:txBody>
      </p:sp>
      <p:sp>
        <p:nvSpPr>
          <p:cNvPr id="22" name="Shape 20"/>
          <p:cNvSpPr/>
          <p:nvPr/>
        </p:nvSpPr>
        <p:spPr>
          <a:xfrm>
            <a:off x="1047750" y="9520238"/>
            <a:ext cx="16192500" cy="9525"/>
          </a:xfrm>
          <a:prstGeom prst="rect">
            <a:avLst/>
          </a:prstGeom>
          <a:solidFill>
            <a:srgbClr val="E3E1DA"/>
          </a:solidFill>
          <a:ln/>
        </p:spPr>
        <p:txBody>
          <a:bodyPr/>
          <a:lstStyle/>
          <a:p>
            <a:endParaRPr lang="en-US"/>
          </a:p>
        </p:txBody>
      </p:sp>
      <p:sp>
        <p:nvSpPr>
          <p:cNvPr id="23" name="Text 21"/>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4" name="Text 22"/>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293312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WORKSPACE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The Terminal Is Just Four Moves</a:t>
            </a:r>
            <a:endParaRPr lang="en-US" sz="4800" dirty="0"/>
          </a:p>
        </p:txBody>
      </p:sp>
      <p:sp>
        <p:nvSpPr>
          <p:cNvPr id="5" name="Shape 3"/>
          <p:cNvSpPr/>
          <p:nvPr/>
        </p:nvSpPr>
        <p:spPr>
          <a:xfrm>
            <a:off x="1047750" y="3766170"/>
            <a:ext cx="7429500" cy="3898106"/>
          </a:xfrm>
          <a:prstGeom prst="roundRect">
            <a:avLst>
              <a:gd name="adj" fmla="val 2932"/>
            </a:avLst>
          </a:prstGeom>
          <a:solidFill>
            <a:srgbClr val="1E1E26"/>
          </a:solidFill>
          <a:ln w="9525">
            <a:solidFill>
              <a:srgbClr val="33333C"/>
            </a:solidFill>
            <a:prstDash val="solid"/>
          </a:ln>
        </p:spPr>
        <p:txBody>
          <a:bodyPr/>
          <a:lstStyle/>
          <a:p>
            <a:endParaRPr lang="en-US"/>
          </a:p>
        </p:txBody>
      </p:sp>
      <p:sp>
        <p:nvSpPr>
          <p:cNvPr id="6" name="Shape 4"/>
          <p:cNvSpPr/>
          <p:nvPr/>
        </p:nvSpPr>
        <p:spPr>
          <a:xfrm>
            <a:off x="1057275" y="3775695"/>
            <a:ext cx="7410450" cy="504825"/>
          </a:xfrm>
          <a:prstGeom prst="rect">
            <a:avLst/>
          </a:prstGeom>
          <a:solidFill>
            <a:srgbClr val="2A2A34"/>
          </a:solidFill>
          <a:ln/>
        </p:spPr>
        <p:txBody>
          <a:bodyPr/>
          <a:lstStyle/>
          <a:p>
            <a:endParaRPr lang="en-US"/>
          </a:p>
        </p:txBody>
      </p:sp>
      <p:sp>
        <p:nvSpPr>
          <p:cNvPr id="7" name="Shape 5"/>
          <p:cNvSpPr/>
          <p:nvPr/>
        </p:nvSpPr>
        <p:spPr>
          <a:xfrm>
            <a:off x="1228725" y="3966195"/>
            <a:ext cx="123825" cy="123825"/>
          </a:xfrm>
          <a:prstGeom prst="ellipse">
            <a:avLst/>
          </a:prstGeom>
          <a:solidFill>
            <a:srgbClr val="E5695F"/>
          </a:solidFill>
          <a:ln/>
        </p:spPr>
        <p:txBody>
          <a:bodyPr/>
          <a:lstStyle/>
          <a:p>
            <a:endParaRPr lang="en-US"/>
          </a:p>
        </p:txBody>
      </p:sp>
      <p:sp>
        <p:nvSpPr>
          <p:cNvPr id="8" name="Shape 6"/>
          <p:cNvSpPr/>
          <p:nvPr/>
        </p:nvSpPr>
        <p:spPr>
          <a:xfrm>
            <a:off x="1438275" y="3966195"/>
            <a:ext cx="123825" cy="123825"/>
          </a:xfrm>
          <a:prstGeom prst="ellipse">
            <a:avLst/>
          </a:prstGeom>
          <a:solidFill>
            <a:srgbClr val="E6B344"/>
          </a:solidFill>
          <a:ln/>
        </p:spPr>
        <p:txBody>
          <a:bodyPr/>
          <a:lstStyle/>
          <a:p>
            <a:endParaRPr lang="en-US"/>
          </a:p>
        </p:txBody>
      </p:sp>
      <p:sp>
        <p:nvSpPr>
          <p:cNvPr id="9" name="Shape 7"/>
          <p:cNvSpPr/>
          <p:nvPr/>
        </p:nvSpPr>
        <p:spPr>
          <a:xfrm>
            <a:off x="1647825" y="3966195"/>
            <a:ext cx="123825" cy="123825"/>
          </a:xfrm>
          <a:prstGeom prst="ellipse">
            <a:avLst/>
          </a:prstGeom>
          <a:solidFill>
            <a:srgbClr val="69B06A"/>
          </a:solidFill>
          <a:ln/>
        </p:spPr>
        <p:txBody>
          <a:bodyPr/>
          <a:lstStyle/>
          <a:p>
            <a:endParaRPr lang="en-US"/>
          </a:p>
        </p:txBody>
      </p:sp>
      <p:sp>
        <p:nvSpPr>
          <p:cNvPr id="10" name="Text 8"/>
          <p:cNvSpPr/>
          <p:nvPr/>
        </p:nvSpPr>
        <p:spPr>
          <a:xfrm>
            <a:off x="1933575" y="3899520"/>
            <a:ext cx="62492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9A9AA5"/>
                </a:solidFill>
                <a:latin typeface="Courier New" pitchFamily="34" charset="0"/>
                <a:ea typeface="Courier New" pitchFamily="34" charset="-122"/>
                <a:cs typeface="Courier New" pitchFamily="34" charset="-120"/>
              </a:rPr>
              <a:t>bash</a:t>
            </a:r>
            <a:endParaRPr lang="en-US" sz="1800" dirty="0"/>
          </a:p>
        </p:txBody>
      </p:sp>
      <p:sp>
        <p:nvSpPr>
          <p:cNvPr id="11" name="Text 9"/>
          <p:cNvSpPr/>
          <p:nvPr/>
        </p:nvSpPr>
        <p:spPr>
          <a:xfrm>
            <a:off x="1304925" y="4509120"/>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you@dev</a:t>
            </a:r>
            <a:r>
              <a:rPr lang="en-US" sz="1875" dirty="0">
                <a:solidFill>
                  <a:srgbClr val="E6E6EA"/>
                </a:solidFill>
                <a:latin typeface="Courier New" pitchFamily="34" charset="0"/>
                <a:ea typeface="Courier New" pitchFamily="34" charset="-122"/>
                <a:cs typeface="Courier New" pitchFamily="34" charset="-120"/>
              </a:rPr>
              <a:t>:</a:t>
            </a:r>
            <a:r>
              <a:rPr lang="en-US" sz="1875" dirty="0">
                <a:solidFill>
                  <a:srgbClr val="79C0FF"/>
                </a:solidFill>
                <a:latin typeface="Courier New" pitchFamily="34" charset="0"/>
                <a:ea typeface="Courier New" pitchFamily="34" charset="-122"/>
                <a:cs typeface="Courier New" pitchFamily="34" charset="-120"/>
              </a:rPr>
              <a:t>~</a:t>
            </a:r>
            <a:r>
              <a:rPr lang="en-US" sz="1875" dirty="0">
                <a:solidFill>
                  <a:srgbClr val="E6E6EA"/>
                </a:solidFill>
                <a:latin typeface="Courier New" pitchFamily="34" charset="0"/>
                <a:ea typeface="Courier New" pitchFamily="34" charset="-122"/>
                <a:cs typeface="Courier New" pitchFamily="34" charset="-120"/>
              </a:rPr>
              <a:t>$ pwd</a:t>
            </a:r>
            <a:endParaRPr lang="en-US" sz="1875" dirty="0"/>
          </a:p>
        </p:txBody>
      </p:sp>
      <p:sp>
        <p:nvSpPr>
          <p:cNvPr id="12" name="Text 10"/>
          <p:cNvSpPr/>
          <p:nvPr/>
        </p:nvSpPr>
        <p:spPr>
          <a:xfrm>
            <a:off x="1304925" y="4925839"/>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A8A8B3"/>
                </a:solidFill>
                <a:latin typeface="Courier New" pitchFamily="34" charset="0"/>
                <a:ea typeface="Courier New" pitchFamily="34" charset="-122"/>
                <a:cs typeface="Courier New" pitchFamily="34" charset="-120"/>
              </a:rPr>
              <a:t>/Users/you</a:t>
            </a:r>
            <a:endParaRPr lang="en-US" sz="1875" dirty="0"/>
          </a:p>
        </p:txBody>
      </p:sp>
      <p:sp>
        <p:nvSpPr>
          <p:cNvPr id="13" name="Text 11"/>
          <p:cNvSpPr/>
          <p:nvPr/>
        </p:nvSpPr>
        <p:spPr>
          <a:xfrm>
            <a:off x="1304925" y="5342558"/>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you@dev</a:t>
            </a:r>
            <a:r>
              <a:rPr lang="en-US" sz="1875" dirty="0">
                <a:solidFill>
                  <a:srgbClr val="E6E6EA"/>
                </a:solidFill>
                <a:latin typeface="Courier New" pitchFamily="34" charset="0"/>
                <a:ea typeface="Courier New" pitchFamily="34" charset="-122"/>
                <a:cs typeface="Courier New" pitchFamily="34" charset="-120"/>
              </a:rPr>
              <a:t>:</a:t>
            </a:r>
            <a:r>
              <a:rPr lang="en-US" sz="1875" dirty="0">
                <a:solidFill>
                  <a:srgbClr val="79C0FF"/>
                </a:solidFill>
                <a:latin typeface="Courier New" pitchFamily="34" charset="0"/>
                <a:ea typeface="Courier New" pitchFamily="34" charset="-122"/>
                <a:cs typeface="Courier New" pitchFamily="34" charset="-120"/>
              </a:rPr>
              <a:t>~</a:t>
            </a:r>
            <a:r>
              <a:rPr lang="en-US" sz="1875" dirty="0">
                <a:solidFill>
                  <a:srgbClr val="E6E6EA"/>
                </a:solidFill>
                <a:latin typeface="Courier New" pitchFamily="34" charset="0"/>
                <a:ea typeface="Courier New" pitchFamily="34" charset="-122"/>
                <a:cs typeface="Courier New" pitchFamily="34" charset="-120"/>
              </a:rPr>
              <a:t>$ ls</a:t>
            </a:r>
            <a:endParaRPr lang="en-US" sz="1875" dirty="0"/>
          </a:p>
        </p:txBody>
      </p:sp>
      <p:sp>
        <p:nvSpPr>
          <p:cNvPr id="14" name="Text 12"/>
          <p:cNvSpPr/>
          <p:nvPr/>
        </p:nvSpPr>
        <p:spPr>
          <a:xfrm>
            <a:off x="1304925" y="5759276"/>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A8A8B3"/>
                </a:solidFill>
                <a:latin typeface="Courier New" pitchFamily="34" charset="0"/>
                <a:ea typeface="Courier New" pitchFamily="34" charset="-122"/>
                <a:cs typeface="Courier New" pitchFamily="34" charset="-120"/>
              </a:rPr>
              <a:t>project notes.txt</a:t>
            </a:r>
            <a:endParaRPr lang="en-US" sz="1875" dirty="0"/>
          </a:p>
        </p:txBody>
      </p:sp>
      <p:sp>
        <p:nvSpPr>
          <p:cNvPr id="15" name="Text 13"/>
          <p:cNvSpPr/>
          <p:nvPr/>
        </p:nvSpPr>
        <p:spPr>
          <a:xfrm>
            <a:off x="1304925" y="6175995"/>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you@dev</a:t>
            </a:r>
            <a:r>
              <a:rPr lang="en-US" sz="1875" dirty="0">
                <a:solidFill>
                  <a:srgbClr val="E6E6EA"/>
                </a:solidFill>
                <a:latin typeface="Courier New" pitchFamily="34" charset="0"/>
                <a:ea typeface="Courier New" pitchFamily="34" charset="-122"/>
                <a:cs typeface="Courier New" pitchFamily="34" charset="-120"/>
              </a:rPr>
              <a:t>:</a:t>
            </a:r>
            <a:r>
              <a:rPr lang="en-US" sz="1875" dirty="0">
                <a:solidFill>
                  <a:srgbClr val="79C0FF"/>
                </a:solidFill>
                <a:latin typeface="Courier New" pitchFamily="34" charset="0"/>
                <a:ea typeface="Courier New" pitchFamily="34" charset="-122"/>
                <a:cs typeface="Courier New" pitchFamily="34" charset="-120"/>
              </a:rPr>
              <a:t>~</a:t>
            </a:r>
            <a:r>
              <a:rPr lang="en-US" sz="1875" dirty="0">
                <a:solidFill>
                  <a:srgbClr val="E6E6EA"/>
                </a:solidFill>
                <a:latin typeface="Courier New" pitchFamily="34" charset="0"/>
                <a:ea typeface="Courier New" pitchFamily="34" charset="-122"/>
                <a:cs typeface="Courier New" pitchFamily="34" charset="-120"/>
              </a:rPr>
              <a:t>$ cd project</a:t>
            </a:r>
            <a:endParaRPr lang="en-US" sz="1875" dirty="0"/>
          </a:p>
        </p:txBody>
      </p:sp>
      <p:sp>
        <p:nvSpPr>
          <p:cNvPr id="16" name="Text 14"/>
          <p:cNvSpPr/>
          <p:nvPr/>
        </p:nvSpPr>
        <p:spPr>
          <a:xfrm>
            <a:off x="1304925" y="6592714"/>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you@dev</a:t>
            </a:r>
            <a:r>
              <a:rPr lang="en-US" sz="1875" dirty="0">
                <a:solidFill>
                  <a:srgbClr val="E6E6EA"/>
                </a:solidFill>
                <a:latin typeface="Courier New" pitchFamily="34" charset="0"/>
                <a:ea typeface="Courier New" pitchFamily="34" charset="-122"/>
                <a:cs typeface="Courier New" pitchFamily="34" charset="-120"/>
              </a:rPr>
              <a:t>:</a:t>
            </a:r>
            <a:r>
              <a:rPr lang="en-US" sz="1875" dirty="0">
                <a:solidFill>
                  <a:srgbClr val="79C0FF"/>
                </a:solidFill>
                <a:latin typeface="Courier New" pitchFamily="34" charset="0"/>
                <a:ea typeface="Courier New" pitchFamily="34" charset="-122"/>
                <a:cs typeface="Courier New" pitchFamily="34" charset="-120"/>
              </a:rPr>
              <a:t>~/project</a:t>
            </a:r>
            <a:r>
              <a:rPr lang="en-US" sz="1875" dirty="0">
                <a:solidFill>
                  <a:srgbClr val="E6E6EA"/>
                </a:solidFill>
                <a:latin typeface="Courier New" pitchFamily="34" charset="0"/>
                <a:ea typeface="Courier New" pitchFamily="34" charset="-122"/>
                <a:cs typeface="Courier New" pitchFamily="34" charset="-120"/>
              </a:rPr>
              <a:t>$ python app.py</a:t>
            </a:r>
            <a:endParaRPr lang="en-US" sz="1875" dirty="0"/>
          </a:p>
        </p:txBody>
      </p:sp>
      <p:sp>
        <p:nvSpPr>
          <p:cNvPr id="17" name="Text 15"/>
          <p:cNvSpPr/>
          <p:nvPr/>
        </p:nvSpPr>
        <p:spPr>
          <a:xfrm>
            <a:off x="1304925" y="7009433"/>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Hello from your first script!</a:t>
            </a:r>
            <a:endParaRPr lang="en-US" sz="1875" dirty="0"/>
          </a:p>
        </p:txBody>
      </p:sp>
      <p:sp>
        <p:nvSpPr>
          <p:cNvPr id="18" name="Text 16"/>
          <p:cNvSpPr/>
          <p:nvPr/>
        </p:nvSpPr>
        <p:spPr>
          <a:xfrm>
            <a:off x="9010650" y="4824636"/>
            <a:ext cx="68580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Courier New" pitchFamily="34" charset="0"/>
                <a:ea typeface="Courier New" pitchFamily="34" charset="-122"/>
                <a:cs typeface="Courier New" pitchFamily="34" charset="-120"/>
              </a:rPr>
              <a:t>pwd</a:t>
            </a:r>
            <a:endParaRPr lang="en-US" sz="2025" dirty="0"/>
          </a:p>
        </p:txBody>
      </p:sp>
      <p:sp>
        <p:nvSpPr>
          <p:cNvPr id="19" name="Text 17"/>
          <p:cNvSpPr/>
          <p:nvPr/>
        </p:nvSpPr>
        <p:spPr>
          <a:xfrm>
            <a:off x="9791700" y="4800823"/>
            <a:ext cx="1619347"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Where am I?</a:t>
            </a:r>
            <a:endParaRPr lang="en-US" sz="2025" dirty="0"/>
          </a:p>
        </p:txBody>
      </p:sp>
      <p:sp>
        <p:nvSpPr>
          <p:cNvPr id="20" name="Text 18"/>
          <p:cNvSpPr/>
          <p:nvPr/>
        </p:nvSpPr>
        <p:spPr>
          <a:xfrm>
            <a:off x="9010650" y="5329461"/>
            <a:ext cx="68580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Courier New" pitchFamily="34" charset="0"/>
                <a:ea typeface="Courier New" pitchFamily="34" charset="-122"/>
                <a:cs typeface="Courier New" pitchFamily="34" charset="-120"/>
              </a:rPr>
              <a:t>ls</a:t>
            </a:r>
            <a:endParaRPr lang="en-US" sz="2025" dirty="0"/>
          </a:p>
        </p:txBody>
      </p:sp>
      <p:sp>
        <p:nvSpPr>
          <p:cNvPr id="21" name="Text 19"/>
          <p:cNvSpPr/>
          <p:nvPr/>
        </p:nvSpPr>
        <p:spPr>
          <a:xfrm>
            <a:off x="9791700" y="5305648"/>
            <a:ext cx="1661584"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What’s here?</a:t>
            </a:r>
            <a:endParaRPr lang="en-US" sz="2025" dirty="0"/>
          </a:p>
        </p:txBody>
      </p:sp>
      <p:sp>
        <p:nvSpPr>
          <p:cNvPr id="22" name="Text 20"/>
          <p:cNvSpPr/>
          <p:nvPr/>
        </p:nvSpPr>
        <p:spPr>
          <a:xfrm>
            <a:off x="9010650" y="5834286"/>
            <a:ext cx="68580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Courier New" pitchFamily="34" charset="0"/>
                <a:ea typeface="Courier New" pitchFamily="34" charset="-122"/>
                <a:cs typeface="Courier New" pitchFamily="34" charset="-120"/>
              </a:rPr>
              <a:t>cd</a:t>
            </a:r>
            <a:endParaRPr lang="en-US" sz="2025" dirty="0"/>
          </a:p>
        </p:txBody>
      </p:sp>
      <p:sp>
        <p:nvSpPr>
          <p:cNvPr id="23" name="Text 21"/>
          <p:cNvSpPr/>
          <p:nvPr/>
        </p:nvSpPr>
        <p:spPr>
          <a:xfrm>
            <a:off x="9791700" y="5810473"/>
            <a:ext cx="3404205" cy="35242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Move around (</a:t>
            </a:r>
            <a:r>
              <a:rPr lang="en-US" sz="2025" dirty="0">
                <a:solidFill>
                  <a:srgbClr val="3D3D3D"/>
                </a:solidFill>
                <a:latin typeface="Courier New" pitchFamily="34" charset="0"/>
                <a:ea typeface="Courier New" pitchFamily="34" charset="-122"/>
                <a:cs typeface="Courier New" pitchFamily="34" charset="-120"/>
              </a:rPr>
              <a:t>cd .. </a:t>
            </a:r>
            <a:r>
              <a:rPr lang="en-US" sz="2025" dirty="0">
                <a:solidFill>
                  <a:srgbClr val="3D3D3D"/>
                </a:solidFill>
                <a:latin typeface="Arial" pitchFamily="34" charset="0"/>
                <a:ea typeface="Arial" pitchFamily="34" charset="-122"/>
                <a:cs typeface="Arial" pitchFamily="34" charset="-120"/>
              </a:rPr>
              <a:t>= up)</a:t>
            </a:r>
            <a:endParaRPr lang="en-US" sz="2025" dirty="0"/>
          </a:p>
        </p:txBody>
      </p:sp>
      <p:sp>
        <p:nvSpPr>
          <p:cNvPr id="24" name="Text 22"/>
          <p:cNvSpPr/>
          <p:nvPr/>
        </p:nvSpPr>
        <p:spPr>
          <a:xfrm>
            <a:off x="9010650" y="6339111"/>
            <a:ext cx="685800" cy="328613"/>
          </a:xfrm>
          <a:prstGeom prst="rect">
            <a:avLst/>
          </a:prstGeom>
          <a:noFill/>
          <a:ln/>
        </p:spPr>
        <p:txBody>
          <a:bodyPr wrap="square" lIns="25400" tIns="25400" rIns="25400" bIns="25400" rtlCol="0" anchor="t">
            <a:normAutofit/>
          </a:bodyPr>
          <a:lstStyle/>
          <a:p>
            <a:pPr marL="0" indent="0" algn="l">
              <a:buNone/>
            </a:pPr>
            <a:r>
              <a:rPr lang="en-US" sz="2025" b="1" dirty="0">
                <a:solidFill>
                  <a:srgbClr val="7A4FD0"/>
                </a:solidFill>
                <a:latin typeface="Courier New" pitchFamily="34" charset="0"/>
                <a:ea typeface="Courier New" pitchFamily="34" charset="-122"/>
                <a:cs typeface="Courier New" pitchFamily="34" charset="-120"/>
              </a:rPr>
              <a:t>run</a:t>
            </a:r>
            <a:endParaRPr lang="en-US" sz="2025" dirty="0"/>
          </a:p>
        </p:txBody>
      </p:sp>
      <p:sp>
        <p:nvSpPr>
          <p:cNvPr id="25" name="Text 23"/>
          <p:cNvSpPr/>
          <p:nvPr/>
        </p:nvSpPr>
        <p:spPr>
          <a:xfrm>
            <a:off x="9791700" y="6315298"/>
            <a:ext cx="358494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Type a program, press Enter</a:t>
            </a:r>
            <a:endParaRPr lang="en-US" sz="2025" dirty="0"/>
          </a:p>
        </p:txBody>
      </p:sp>
      <p:sp>
        <p:nvSpPr>
          <p:cNvPr id="26" name="Shape 24"/>
          <p:cNvSpPr/>
          <p:nvPr/>
        </p:nvSpPr>
        <p:spPr>
          <a:xfrm>
            <a:off x="1047750" y="9520238"/>
            <a:ext cx="16192500" cy="9525"/>
          </a:xfrm>
          <a:prstGeom prst="rect">
            <a:avLst/>
          </a:prstGeom>
          <a:solidFill>
            <a:srgbClr val="E3E1DA"/>
          </a:solidFill>
          <a:ln/>
        </p:spPr>
        <p:txBody>
          <a:bodyPr/>
          <a:lstStyle/>
          <a:p>
            <a:endParaRPr lang="en-US"/>
          </a:p>
        </p:txBody>
      </p:sp>
      <p:sp>
        <p:nvSpPr>
          <p:cNvPr id="27" name="Text 2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8" name="Text 26"/>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293312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WORKSPACE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Terminal Cheat Sheet</a:t>
            </a:r>
            <a:endParaRPr lang="en-US" sz="4800" dirty="0"/>
          </a:p>
        </p:txBody>
      </p:sp>
      <p:sp>
        <p:nvSpPr>
          <p:cNvPr id="5" name="Shape 3"/>
          <p:cNvSpPr/>
          <p:nvPr/>
        </p:nvSpPr>
        <p:spPr>
          <a:xfrm>
            <a:off x="1047750" y="4355529"/>
            <a:ext cx="7829550" cy="9525"/>
          </a:xfrm>
          <a:prstGeom prst="rect">
            <a:avLst/>
          </a:prstGeom>
          <a:solidFill>
            <a:srgbClr val="E3E1DA"/>
          </a:solidFill>
          <a:ln/>
        </p:spPr>
        <p:txBody>
          <a:bodyPr/>
          <a:lstStyle/>
          <a:p>
            <a:endParaRPr lang="en-US"/>
          </a:p>
        </p:txBody>
      </p:sp>
      <p:sp>
        <p:nvSpPr>
          <p:cNvPr id="6" name="Text 4"/>
          <p:cNvSpPr/>
          <p:nvPr/>
        </p:nvSpPr>
        <p:spPr>
          <a:xfrm>
            <a:off x="1047750" y="3950717"/>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pwd</a:t>
            </a:r>
            <a:endParaRPr lang="en-US" sz="2025" dirty="0"/>
          </a:p>
        </p:txBody>
      </p:sp>
      <p:sp>
        <p:nvSpPr>
          <p:cNvPr id="7" name="Text 5"/>
          <p:cNvSpPr/>
          <p:nvPr/>
        </p:nvSpPr>
        <p:spPr>
          <a:xfrm>
            <a:off x="3429000" y="3926904"/>
            <a:ext cx="2295637"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print current folder</a:t>
            </a:r>
            <a:endParaRPr lang="en-US" sz="2025" dirty="0"/>
          </a:p>
        </p:txBody>
      </p:sp>
      <p:sp>
        <p:nvSpPr>
          <p:cNvPr id="8" name="Shape 6"/>
          <p:cNvSpPr/>
          <p:nvPr/>
        </p:nvSpPr>
        <p:spPr>
          <a:xfrm>
            <a:off x="1047750" y="4946079"/>
            <a:ext cx="7829550" cy="9525"/>
          </a:xfrm>
          <a:prstGeom prst="rect">
            <a:avLst/>
          </a:prstGeom>
          <a:solidFill>
            <a:srgbClr val="E3E1DA"/>
          </a:solidFill>
          <a:ln/>
        </p:spPr>
        <p:txBody>
          <a:bodyPr/>
          <a:lstStyle/>
          <a:p>
            <a:endParaRPr lang="en-US"/>
          </a:p>
        </p:txBody>
      </p:sp>
      <p:sp>
        <p:nvSpPr>
          <p:cNvPr id="9" name="Text 7"/>
          <p:cNvSpPr/>
          <p:nvPr/>
        </p:nvSpPr>
        <p:spPr>
          <a:xfrm>
            <a:off x="1047750" y="4541267"/>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ls / ls -la</a:t>
            </a:r>
            <a:endParaRPr lang="en-US" sz="2025" dirty="0"/>
          </a:p>
        </p:txBody>
      </p:sp>
      <p:sp>
        <p:nvSpPr>
          <p:cNvPr id="10" name="Text 8"/>
          <p:cNvSpPr/>
          <p:nvPr/>
        </p:nvSpPr>
        <p:spPr>
          <a:xfrm>
            <a:off x="3429000" y="4517454"/>
            <a:ext cx="2617656"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list files (all + details)</a:t>
            </a:r>
            <a:endParaRPr lang="en-US" sz="2025" dirty="0"/>
          </a:p>
        </p:txBody>
      </p:sp>
      <p:sp>
        <p:nvSpPr>
          <p:cNvPr id="11" name="Shape 9"/>
          <p:cNvSpPr/>
          <p:nvPr/>
        </p:nvSpPr>
        <p:spPr>
          <a:xfrm>
            <a:off x="1047750" y="5827142"/>
            <a:ext cx="7829550" cy="9525"/>
          </a:xfrm>
          <a:prstGeom prst="rect">
            <a:avLst/>
          </a:prstGeom>
          <a:solidFill>
            <a:srgbClr val="E3E1DA"/>
          </a:solidFill>
          <a:ln/>
        </p:spPr>
        <p:txBody>
          <a:bodyPr/>
          <a:lstStyle/>
          <a:p>
            <a:endParaRPr lang="en-US"/>
          </a:p>
        </p:txBody>
      </p:sp>
      <p:sp>
        <p:nvSpPr>
          <p:cNvPr id="12" name="Text 10"/>
          <p:cNvSpPr/>
          <p:nvPr/>
        </p:nvSpPr>
        <p:spPr>
          <a:xfrm>
            <a:off x="1047750" y="5131817"/>
            <a:ext cx="2266950" cy="619125"/>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cd </a:t>
            </a:r>
            <a:r>
              <a:rPr lang="en-US" sz="2025" dirty="0">
                <a:solidFill>
                  <a:srgbClr val="7C7A73"/>
                </a:solidFill>
                <a:latin typeface="Courier New" pitchFamily="34" charset="0"/>
                <a:ea typeface="Courier New" pitchFamily="34" charset="-122"/>
                <a:cs typeface="Courier New" pitchFamily="34" charset="-120"/>
              </a:rPr>
              <a:t>dir </a:t>
            </a:r>
            <a:r>
              <a:rPr lang="en-US" sz="2025" dirty="0">
                <a:solidFill>
                  <a:srgbClr val="7A4FD0"/>
                </a:solidFill>
                <a:latin typeface="Courier New" pitchFamily="34" charset="0"/>
                <a:ea typeface="Courier New" pitchFamily="34" charset="-122"/>
                <a:cs typeface="Courier New" pitchFamily="34" charset="-120"/>
              </a:rPr>
              <a:t>/ cd ..</a:t>
            </a:r>
            <a:endParaRPr lang="en-US" sz="2025" dirty="0"/>
          </a:p>
        </p:txBody>
      </p:sp>
      <p:sp>
        <p:nvSpPr>
          <p:cNvPr id="13" name="Text 11"/>
          <p:cNvSpPr/>
          <p:nvPr/>
        </p:nvSpPr>
        <p:spPr>
          <a:xfrm>
            <a:off x="3429000" y="5108004"/>
            <a:ext cx="256322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move in / up a folder</a:t>
            </a:r>
            <a:endParaRPr lang="en-US" sz="2025" dirty="0"/>
          </a:p>
        </p:txBody>
      </p:sp>
      <p:sp>
        <p:nvSpPr>
          <p:cNvPr id="14" name="Shape 12"/>
          <p:cNvSpPr/>
          <p:nvPr/>
        </p:nvSpPr>
        <p:spPr>
          <a:xfrm>
            <a:off x="1047750" y="6417692"/>
            <a:ext cx="7829550" cy="9525"/>
          </a:xfrm>
          <a:prstGeom prst="rect">
            <a:avLst/>
          </a:prstGeom>
          <a:solidFill>
            <a:srgbClr val="E3E1DA"/>
          </a:solidFill>
          <a:ln/>
        </p:spPr>
        <p:txBody>
          <a:bodyPr/>
          <a:lstStyle/>
          <a:p>
            <a:endParaRPr lang="en-US"/>
          </a:p>
        </p:txBody>
      </p:sp>
      <p:sp>
        <p:nvSpPr>
          <p:cNvPr id="15" name="Text 13"/>
          <p:cNvSpPr/>
          <p:nvPr/>
        </p:nvSpPr>
        <p:spPr>
          <a:xfrm>
            <a:off x="1047750" y="6012879"/>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mkdir </a:t>
            </a:r>
            <a:r>
              <a:rPr lang="en-US" sz="2025" dirty="0">
                <a:solidFill>
                  <a:srgbClr val="7C7A73"/>
                </a:solidFill>
                <a:latin typeface="Courier New" pitchFamily="34" charset="0"/>
                <a:ea typeface="Courier New" pitchFamily="34" charset="-122"/>
                <a:cs typeface="Courier New" pitchFamily="34" charset="-120"/>
              </a:rPr>
              <a:t>name</a:t>
            </a:r>
            <a:endParaRPr lang="en-US" sz="2025" dirty="0"/>
          </a:p>
        </p:txBody>
      </p:sp>
      <p:sp>
        <p:nvSpPr>
          <p:cNvPr id="16" name="Text 14"/>
          <p:cNvSpPr/>
          <p:nvPr/>
        </p:nvSpPr>
        <p:spPr>
          <a:xfrm>
            <a:off x="3429000" y="5989067"/>
            <a:ext cx="171397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make a folder</a:t>
            </a:r>
            <a:endParaRPr lang="en-US" sz="2025" dirty="0"/>
          </a:p>
        </p:txBody>
      </p:sp>
      <p:sp>
        <p:nvSpPr>
          <p:cNvPr id="17" name="Shape 15"/>
          <p:cNvSpPr/>
          <p:nvPr/>
        </p:nvSpPr>
        <p:spPr>
          <a:xfrm>
            <a:off x="1047750" y="7008242"/>
            <a:ext cx="7829550" cy="9525"/>
          </a:xfrm>
          <a:prstGeom prst="rect">
            <a:avLst/>
          </a:prstGeom>
          <a:solidFill>
            <a:srgbClr val="E3E1DA"/>
          </a:solidFill>
          <a:ln/>
        </p:spPr>
        <p:txBody>
          <a:bodyPr/>
          <a:lstStyle/>
          <a:p>
            <a:endParaRPr lang="en-US"/>
          </a:p>
        </p:txBody>
      </p:sp>
      <p:sp>
        <p:nvSpPr>
          <p:cNvPr id="18" name="Text 16"/>
          <p:cNvSpPr/>
          <p:nvPr/>
        </p:nvSpPr>
        <p:spPr>
          <a:xfrm>
            <a:off x="1047750" y="6603429"/>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cat </a:t>
            </a:r>
            <a:r>
              <a:rPr lang="en-US" sz="2025" dirty="0">
                <a:solidFill>
                  <a:srgbClr val="7C7A73"/>
                </a:solidFill>
                <a:latin typeface="Courier New" pitchFamily="34" charset="0"/>
                <a:ea typeface="Courier New" pitchFamily="34" charset="-122"/>
                <a:cs typeface="Courier New" pitchFamily="34" charset="-120"/>
              </a:rPr>
              <a:t>file</a:t>
            </a:r>
            <a:endParaRPr lang="en-US" sz="2025" dirty="0"/>
          </a:p>
        </p:txBody>
      </p:sp>
      <p:sp>
        <p:nvSpPr>
          <p:cNvPr id="19" name="Text 17"/>
          <p:cNvSpPr/>
          <p:nvPr/>
        </p:nvSpPr>
        <p:spPr>
          <a:xfrm>
            <a:off x="3429000" y="6579617"/>
            <a:ext cx="119122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print a file</a:t>
            </a:r>
            <a:endParaRPr lang="en-US" sz="2025" dirty="0"/>
          </a:p>
        </p:txBody>
      </p:sp>
      <p:sp>
        <p:nvSpPr>
          <p:cNvPr id="20" name="Text 18"/>
          <p:cNvSpPr/>
          <p:nvPr/>
        </p:nvSpPr>
        <p:spPr>
          <a:xfrm>
            <a:off x="1047750" y="7193979"/>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A4FD0"/>
                </a:solidFill>
                <a:latin typeface="Courier New" pitchFamily="34" charset="0"/>
                <a:ea typeface="Courier New" pitchFamily="34" charset="-122"/>
                <a:cs typeface="Courier New" pitchFamily="34" charset="-120"/>
              </a:rPr>
              <a:t>code .</a:t>
            </a:r>
            <a:endParaRPr lang="en-US" sz="2025" dirty="0"/>
          </a:p>
        </p:txBody>
      </p:sp>
      <p:sp>
        <p:nvSpPr>
          <p:cNvPr id="21" name="Text 19"/>
          <p:cNvSpPr/>
          <p:nvPr/>
        </p:nvSpPr>
        <p:spPr>
          <a:xfrm>
            <a:off x="3429000" y="7170167"/>
            <a:ext cx="2925269"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open folder in VS Code</a:t>
            </a:r>
            <a:endParaRPr lang="en-US" sz="2025" dirty="0"/>
          </a:p>
        </p:txBody>
      </p:sp>
      <p:sp>
        <p:nvSpPr>
          <p:cNvPr id="22" name="Shape 20"/>
          <p:cNvSpPr/>
          <p:nvPr/>
        </p:nvSpPr>
        <p:spPr>
          <a:xfrm>
            <a:off x="9410700" y="4500786"/>
            <a:ext cx="7829550" cy="9525"/>
          </a:xfrm>
          <a:prstGeom prst="rect">
            <a:avLst/>
          </a:prstGeom>
          <a:solidFill>
            <a:srgbClr val="E3E1DA"/>
          </a:solidFill>
          <a:ln/>
        </p:spPr>
        <p:txBody>
          <a:bodyPr/>
          <a:lstStyle/>
          <a:p>
            <a:endParaRPr lang="en-US"/>
          </a:p>
        </p:txBody>
      </p:sp>
      <p:sp>
        <p:nvSpPr>
          <p:cNvPr id="23" name="Text 21"/>
          <p:cNvSpPr/>
          <p:nvPr/>
        </p:nvSpPr>
        <p:spPr>
          <a:xfrm>
            <a:off x="9410700" y="4095973"/>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F6FEB"/>
                </a:solidFill>
                <a:latin typeface="Courier New" pitchFamily="34" charset="0"/>
                <a:ea typeface="Courier New" pitchFamily="34" charset="-122"/>
                <a:cs typeface="Courier New" pitchFamily="34" charset="-120"/>
              </a:rPr>
              <a:t>python </a:t>
            </a:r>
            <a:r>
              <a:rPr lang="en-US" sz="2025" dirty="0">
                <a:solidFill>
                  <a:srgbClr val="7C7A73"/>
                </a:solidFill>
                <a:latin typeface="Courier New" pitchFamily="34" charset="0"/>
                <a:ea typeface="Courier New" pitchFamily="34" charset="-122"/>
                <a:cs typeface="Courier New" pitchFamily="34" charset="-120"/>
              </a:rPr>
              <a:t>f</a:t>
            </a:r>
            <a:r>
              <a:rPr lang="en-US" sz="2025" dirty="0">
                <a:solidFill>
                  <a:srgbClr val="1F6FEB"/>
                </a:solidFill>
                <a:latin typeface="Courier New" pitchFamily="34" charset="0"/>
                <a:ea typeface="Courier New" pitchFamily="34" charset="-122"/>
                <a:cs typeface="Courier New" pitchFamily="34" charset="-120"/>
              </a:rPr>
              <a:t>.py</a:t>
            </a:r>
            <a:endParaRPr lang="en-US" sz="2025" dirty="0"/>
          </a:p>
        </p:txBody>
      </p:sp>
      <p:sp>
        <p:nvSpPr>
          <p:cNvPr id="24" name="Text 22"/>
          <p:cNvSpPr/>
          <p:nvPr/>
        </p:nvSpPr>
        <p:spPr>
          <a:xfrm>
            <a:off x="11791950" y="4072161"/>
            <a:ext cx="204434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run a Python file</a:t>
            </a:r>
            <a:endParaRPr lang="en-US" sz="2025" dirty="0"/>
          </a:p>
        </p:txBody>
      </p:sp>
      <p:sp>
        <p:nvSpPr>
          <p:cNvPr id="25" name="Shape 23"/>
          <p:cNvSpPr/>
          <p:nvPr/>
        </p:nvSpPr>
        <p:spPr>
          <a:xfrm>
            <a:off x="9410700" y="5091336"/>
            <a:ext cx="7829550" cy="9525"/>
          </a:xfrm>
          <a:prstGeom prst="rect">
            <a:avLst/>
          </a:prstGeom>
          <a:solidFill>
            <a:srgbClr val="E3E1DA"/>
          </a:solidFill>
          <a:ln/>
        </p:spPr>
        <p:txBody>
          <a:bodyPr/>
          <a:lstStyle/>
          <a:p>
            <a:endParaRPr lang="en-US"/>
          </a:p>
        </p:txBody>
      </p:sp>
      <p:sp>
        <p:nvSpPr>
          <p:cNvPr id="26" name="Text 24"/>
          <p:cNvSpPr/>
          <p:nvPr/>
        </p:nvSpPr>
        <p:spPr>
          <a:xfrm>
            <a:off x="9410700" y="4686523"/>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1F6FEB"/>
                </a:solidFill>
                <a:latin typeface="Courier New" pitchFamily="34" charset="0"/>
                <a:ea typeface="Courier New" pitchFamily="34" charset="-122"/>
                <a:cs typeface="Courier New" pitchFamily="34" charset="-120"/>
              </a:rPr>
              <a:t>pip install </a:t>
            </a:r>
            <a:r>
              <a:rPr lang="en-US" sz="2025" dirty="0">
                <a:solidFill>
                  <a:srgbClr val="7C7A73"/>
                </a:solidFill>
                <a:latin typeface="Courier New" pitchFamily="34" charset="0"/>
                <a:ea typeface="Courier New" pitchFamily="34" charset="-122"/>
                <a:cs typeface="Courier New" pitchFamily="34" charset="-120"/>
              </a:rPr>
              <a:t>x</a:t>
            </a:r>
            <a:endParaRPr lang="en-US" sz="2025" dirty="0"/>
          </a:p>
        </p:txBody>
      </p:sp>
      <p:sp>
        <p:nvSpPr>
          <p:cNvPr id="27" name="Text 25"/>
          <p:cNvSpPr/>
          <p:nvPr/>
        </p:nvSpPr>
        <p:spPr>
          <a:xfrm>
            <a:off x="11791950" y="4662711"/>
            <a:ext cx="2107369"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install a package</a:t>
            </a:r>
            <a:endParaRPr lang="en-US" sz="2025" dirty="0"/>
          </a:p>
        </p:txBody>
      </p:sp>
      <p:sp>
        <p:nvSpPr>
          <p:cNvPr id="28" name="Shape 26"/>
          <p:cNvSpPr/>
          <p:nvPr/>
        </p:nvSpPr>
        <p:spPr>
          <a:xfrm>
            <a:off x="9410700" y="5681886"/>
            <a:ext cx="7829550" cy="9525"/>
          </a:xfrm>
          <a:prstGeom prst="rect">
            <a:avLst/>
          </a:prstGeom>
          <a:solidFill>
            <a:srgbClr val="E3E1DA"/>
          </a:solidFill>
          <a:ln/>
        </p:spPr>
        <p:txBody>
          <a:bodyPr/>
          <a:lstStyle/>
          <a:p>
            <a:endParaRPr lang="en-US"/>
          </a:p>
        </p:txBody>
      </p:sp>
      <p:sp>
        <p:nvSpPr>
          <p:cNvPr id="29" name="Text 27"/>
          <p:cNvSpPr/>
          <p:nvPr/>
        </p:nvSpPr>
        <p:spPr>
          <a:xfrm>
            <a:off x="9410700" y="5277073"/>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Tab</a:t>
            </a:r>
            <a:endParaRPr lang="en-US" sz="2025" dirty="0"/>
          </a:p>
        </p:txBody>
      </p:sp>
      <p:sp>
        <p:nvSpPr>
          <p:cNvPr id="30" name="Text 28"/>
          <p:cNvSpPr/>
          <p:nvPr/>
        </p:nvSpPr>
        <p:spPr>
          <a:xfrm>
            <a:off x="11791950" y="5253261"/>
            <a:ext cx="2814846"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auto-complete a name</a:t>
            </a:r>
            <a:endParaRPr lang="en-US" sz="2025" dirty="0"/>
          </a:p>
        </p:txBody>
      </p:sp>
      <p:sp>
        <p:nvSpPr>
          <p:cNvPr id="31" name="Shape 29"/>
          <p:cNvSpPr/>
          <p:nvPr/>
        </p:nvSpPr>
        <p:spPr>
          <a:xfrm>
            <a:off x="9410700" y="6272436"/>
            <a:ext cx="7829550" cy="9525"/>
          </a:xfrm>
          <a:prstGeom prst="rect">
            <a:avLst/>
          </a:prstGeom>
          <a:solidFill>
            <a:srgbClr val="E3E1DA"/>
          </a:solidFill>
          <a:ln/>
        </p:spPr>
        <p:txBody>
          <a:bodyPr/>
          <a:lstStyle/>
          <a:p>
            <a:endParaRPr lang="en-US"/>
          </a:p>
        </p:txBody>
      </p:sp>
      <p:sp>
        <p:nvSpPr>
          <p:cNvPr id="32" name="Text 30"/>
          <p:cNvSpPr/>
          <p:nvPr/>
        </p:nvSpPr>
        <p:spPr>
          <a:xfrm>
            <a:off x="9410700" y="5867623"/>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a:t>
            </a:r>
            <a:endParaRPr lang="en-US" sz="2025" dirty="0"/>
          </a:p>
        </p:txBody>
      </p:sp>
      <p:sp>
        <p:nvSpPr>
          <p:cNvPr id="33" name="Text 31"/>
          <p:cNvSpPr/>
          <p:nvPr/>
        </p:nvSpPr>
        <p:spPr>
          <a:xfrm>
            <a:off x="11791950" y="5843811"/>
            <a:ext cx="251558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recall last command</a:t>
            </a:r>
            <a:endParaRPr lang="en-US" sz="2025" dirty="0"/>
          </a:p>
        </p:txBody>
      </p:sp>
      <p:sp>
        <p:nvSpPr>
          <p:cNvPr id="34" name="Shape 32"/>
          <p:cNvSpPr/>
          <p:nvPr/>
        </p:nvSpPr>
        <p:spPr>
          <a:xfrm>
            <a:off x="9410700" y="6862986"/>
            <a:ext cx="7829550" cy="9525"/>
          </a:xfrm>
          <a:prstGeom prst="rect">
            <a:avLst/>
          </a:prstGeom>
          <a:solidFill>
            <a:srgbClr val="E3E1DA"/>
          </a:solidFill>
          <a:ln/>
        </p:spPr>
        <p:txBody>
          <a:bodyPr/>
          <a:lstStyle/>
          <a:p>
            <a:endParaRPr lang="en-US"/>
          </a:p>
        </p:txBody>
      </p:sp>
      <p:sp>
        <p:nvSpPr>
          <p:cNvPr id="35" name="Text 33"/>
          <p:cNvSpPr/>
          <p:nvPr/>
        </p:nvSpPr>
        <p:spPr>
          <a:xfrm>
            <a:off x="9410700" y="6458173"/>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D64545"/>
                </a:solidFill>
                <a:latin typeface="Courier New" pitchFamily="34" charset="0"/>
                <a:ea typeface="Courier New" pitchFamily="34" charset="-122"/>
                <a:cs typeface="Courier New" pitchFamily="34" charset="-120"/>
              </a:rPr>
              <a:t>Ctrl + C</a:t>
            </a:r>
            <a:endParaRPr lang="en-US" sz="2025" dirty="0"/>
          </a:p>
        </p:txBody>
      </p:sp>
      <p:sp>
        <p:nvSpPr>
          <p:cNvPr id="36" name="Text 34"/>
          <p:cNvSpPr/>
          <p:nvPr/>
        </p:nvSpPr>
        <p:spPr>
          <a:xfrm>
            <a:off x="11791950" y="6434361"/>
            <a:ext cx="2432417"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stop what’s running</a:t>
            </a:r>
            <a:endParaRPr lang="en-US" sz="2025" dirty="0"/>
          </a:p>
        </p:txBody>
      </p:sp>
      <p:sp>
        <p:nvSpPr>
          <p:cNvPr id="37" name="Text 35"/>
          <p:cNvSpPr/>
          <p:nvPr/>
        </p:nvSpPr>
        <p:spPr>
          <a:xfrm>
            <a:off x="9410700" y="7048723"/>
            <a:ext cx="240982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Courier New" pitchFamily="34" charset="0"/>
                <a:ea typeface="Courier New" pitchFamily="34" charset="-122"/>
                <a:cs typeface="Courier New" pitchFamily="34" charset="-120"/>
              </a:rPr>
              <a:t>clear</a:t>
            </a:r>
            <a:endParaRPr lang="en-US" sz="2025" dirty="0"/>
          </a:p>
        </p:txBody>
      </p:sp>
      <p:sp>
        <p:nvSpPr>
          <p:cNvPr id="38" name="Text 36"/>
          <p:cNvSpPr/>
          <p:nvPr/>
        </p:nvSpPr>
        <p:spPr>
          <a:xfrm>
            <a:off x="11791950" y="7024911"/>
            <a:ext cx="207585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clean the screen</a:t>
            </a:r>
            <a:endParaRPr lang="en-US" sz="2025" dirty="0"/>
          </a:p>
        </p:txBody>
      </p:sp>
      <p:sp>
        <p:nvSpPr>
          <p:cNvPr id="39" name="Shape 37"/>
          <p:cNvSpPr/>
          <p:nvPr/>
        </p:nvSpPr>
        <p:spPr>
          <a:xfrm>
            <a:off x="1047750" y="9520238"/>
            <a:ext cx="16192500" cy="9525"/>
          </a:xfrm>
          <a:prstGeom prst="rect">
            <a:avLst/>
          </a:prstGeom>
          <a:solidFill>
            <a:srgbClr val="E3E1DA"/>
          </a:solidFill>
          <a:ln/>
        </p:spPr>
        <p:txBody>
          <a:bodyPr/>
          <a:lstStyle/>
          <a:p>
            <a:endParaRPr lang="en-US"/>
          </a:p>
        </p:txBody>
      </p:sp>
      <p:sp>
        <p:nvSpPr>
          <p:cNvPr id="40" name="Text 3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41" name="Text 39"/>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293312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WORKSPACE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Git in 30 Seconds</a:t>
            </a:r>
            <a:endParaRPr lang="en-US" sz="4800" dirty="0"/>
          </a:p>
        </p:txBody>
      </p:sp>
      <p:sp>
        <p:nvSpPr>
          <p:cNvPr id="5" name="Shape 3"/>
          <p:cNvSpPr/>
          <p:nvPr/>
        </p:nvSpPr>
        <p:spPr>
          <a:xfrm>
            <a:off x="1047750" y="4182889"/>
            <a:ext cx="7429500" cy="3064669"/>
          </a:xfrm>
          <a:prstGeom prst="roundRect">
            <a:avLst>
              <a:gd name="adj" fmla="val 3730"/>
            </a:avLst>
          </a:prstGeom>
          <a:solidFill>
            <a:srgbClr val="1E1E26"/>
          </a:solidFill>
          <a:ln w="9525">
            <a:solidFill>
              <a:srgbClr val="33333C"/>
            </a:solidFill>
            <a:prstDash val="solid"/>
          </a:ln>
        </p:spPr>
        <p:txBody>
          <a:bodyPr/>
          <a:lstStyle/>
          <a:p>
            <a:endParaRPr lang="en-US"/>
          </a:p>
        </p:txBody>
      </p:sp>
      <p:sp>
        <p:nvSpPr>
          <p:cNvPr id="6" name="Shape 4"/>
          <p:cNvSpPr/>
          <p:nvPr/>
        </p:nvSpPr>
        <p:spPr>
          <a:xfrm>
            <a:off x="1057275" y="4192414"/>
            <a:ext cx="7410450" cy="504825"/>
          </a:xfrm>
          <a:prstGeom prst="rect">
            <a:avLst/>
          </a:prstGeom>
          <a:solidFill>
            <a:srgbClr val="2A2A34"/>
          </a:solidFill>
          <a:ln/>
        </p:spPr>
        <p:txBody>
          <a:bodyPr/>
          <a:lstStyle/>
          <a:p>
            <a:endParaRPr lang="en-US"/>
          </a:p>
        </p:txBody>
      </p:sp>
      <p:sp>
        <p:nvSpPr>
          <p:cNvPr id="7" name="Shape 5"/>
          <p:cNvSpPr/>
          <p:nvPr/>
        </p:nvSpPr>
        <p:spPr>
          <a:xfrm>
            <a:off x="1228725" y="4382914"/>
            <a:ext cx="123825" cy="123825"/>
          </a:xfrm>
          <a:prstGeom prst="ellipse">
            <a:avLst/>
          </a:prstGeom>
          <a:solidFill>
            <a:srgbClr val="E5695F"/>
          </a:solidFill>
          <a:ln/>
        </p:spPr>
        <p:txBody>
          <a:bodyPr/>
          <a:lstStyle/>
          <a:p>
            <a:endParaRPr lang="en-US"/>
          </a:p>
        </p:txBody>
      </p:sp>
      <p:sp>
        <p:nvSpPr>
          <p:cNvPr id="8" name="Shape 6"/>
          <p:cNvSpPr/>
          <p:nvPr/>
        </p:nvSpPr>
        <p:spPr>
          <a:xfrm>
            <a:off x="1438275" y="4382914"/>
            <a:ext cx="123825" cy="123825"/>
          </a:xfrm>
          <a:prstGeom prst="ellipse">
            <a:avLst/>
          </a:prstGeom>
          <a:solidFill>
            <a:srgbClr val="E6B344"/>
          </a:solidFill>
          <a:ln/>
        </p:spPr>
        <p:txBody>
          <a:bodyPr/>
          <a:lstStyle/>
          <a:p>
            <a:endParaRPr lang="en-US"/>
          </a:p>
        </p:txBody>
      </p:sp>
      <p:sp>
        <p:nvSpPr>
          <p:cNvPr id="9" name="Shape 7"/>
          <p:cNvSpPr/>
          <p:nvPr/>
        </p:nvSpPr>
        <p:spPr>
          <a:xfrm>
            <a:off x="1647825" y="4382914"/>
            <a:ext cx="123825" cy="123825"/>
          </a:xfrm>
          <a:prstGeom prst="ellipse">
            <a:avLst/>
          </a:prstGeom>
          <a:solidFill>
            <a:srgbClr val="69B06A"/>
          </a:solidFill>
          <a:ln/>
        </p:spPr>
        <p:txBody>
          <a:bodyPr/>
          <a:lstStyle/>
          <a:p>
            <a:endParaRPr lang="en-US"/>
          </a:p>
        </p:txBody>
      </p:sp>
      <p:sp>
        <p:nvSpPr>
          <p:cNvPr id="10" name="Text 8"/>
          <p:cNvSpPr/>
          <p:nvPr/>
        </p:nvSpPr>
        <p:spPr>
          <a:xfrm>
            <a:off x="1933575" y="4316239"/>
            <a:ext cx="62492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9A9AA5"/>
                </a:solidFill>
                <a:latin typeface="Courier New" pitchFamily="34" charset="0"/>
                <a:ea typeface="Courier New" pitchFamily="34" charset="-122"/>
                <a:cs typeface="Courier New" pitchFamily="34" charset="-120"/>
              </a:rPr>
              <a:t>bash</a:t>
            </a:r>
            <a:endParaRPr lang="en-US" sz="1800" dirty="0"/>
          </a:p>
        </p:txBody>
      </p:sp>
      <p:sp>
        <p:nvSpPr>
          <p:cNvPr id="11" name="Text 9"/>
          <p:cNvSpPr/>
          <p:nvPr/>
        </p:nvSpPr>
        <p:spPr>
          <a:xfrm>
            <a:off x="1304925" y="4925839"/>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 </a:t>
            </a:r>
            <a:r>
              <a:rPr lang="en-US" sz="1875" dirty="0">
                <a:solidFill>
                  <a:srgbClr val="E6E6EA"/>
                </a:solidFill>
                <a:latin typeface="Courier New" pitchFamily="34" charset="0"/>
                <a:ea typeface="Courier New" pitchFamily="34" charset="-122"/>
                <a:cs typeface="Courier New" pitchFamily="34" charset="-120"/>
              </a:rPr>
              <a:t>git status</a:t>
            </a:r>
            <a:r>
              <a:rPr lang="en-US" sz="1875" dirty="0">
                <a:solidFill>
                  <a:srgbClr val="6A6A75"/>
                </a:solidFill>
                <a:latin typeface="Courier New" pitchFamily="34" charset="0"/>
                <a:ea typeface="Courier New" pitchFamily="34" charset="-122"/>
                <a:cs typeface="Courier New" pitchFamily="34" charset="-120"/>
              </a:rPr>
              <a:t># what changed?</a:t>
            </a:r>
            <a:endParaRPr lang="en-US" sz="1875" dirty="0"/>
          </a:p>
        </p:txBody>
      </p:sp>
      <p:sp>
        <p:nvSpPr>
          <p:cNvPr id="12" name="Text 10"/>
          <p:cNvSpPr/>
          <p:nvPr/>
        </p:nvSpPr>
        <p:spPr>
          <a:xfrm>
            <a:off x="1304925" y="5342558"/>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 </a:t>
            </a:r>
            <a:r>
              <a:rPr lang="en-US" sz="1875" dirty="0">
                <a:solidFill>
                  <a:srgbClr val="E6E6EA"/>
                </a:solidFill>
                <a:latin typeface="Courier New" pitchFamily="34" charset="0"/>
                <a:ea typeface="Courier New" pitchFamily="34" charset="-122"/>
                <a:cs typeface="Courier New" pitchFamily="34" charset="-120"/>
              </a:rPr>
              <a:t>git diff</a:t>
            </a:r>
            <a:r>
              <a:rPr lang="en-US" sz="1875" dirty="0">
                <a:solidFill>
                  <a:srgbClr val="6A6A75"/>
                </a:solidFill>
                <a:latin typeface="Courier New" pitchFamily="34" charset="0"/>
                <a:ea typeface="Courier New" pitchFamily="34" charset="-122"/>
                <a:cs typeface="Courier New" pitchFamily="34" charset="-120"/>
              </a:rPr>
              <a:t># the exact lines</a:t>
            </a:r>
            <a:endParaRPr lang="en-US" sz="1875" dirty="0"/>
          </a:p>
        </p:txBody>
      </p:sp>
      <p:sp>
        <p:nvSpPr>
          <p:cNvPr id="13" name="Text 11"/>
          <p:cNvSpPr/>
          <p:nvPr/>
        </p:nvSpPr>
        <p:spPr>
          <a:xfrm>
            <a:off x="1304925" y="5759276"/>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 </a:t>
            </a:r>
            <a:r>
              <a:rPr lang="en-US" sz="1875" dirty="0">
                <a:solidFill>
                  <a:srgbClr val="E6E6EA"/>
                </a:solidFill>
                <a:latin typeface="Courier New" pitchFamily="34" charset="0"/>
                <a:ea typeface="Courier New" pitchFamily="34" charset="-122"/>
                <a:cs typeface="Courier New" pitchFamily="34" charset="-120"/>
              </a:rPr>
              <a:t>git add .</a:t>
            </a:r>
            <a:endParaRPr lang="en-US" sz="1875" dirty="0"/>
          </a:p>
        </p:txBody>
      </p:sp>
      <p:sp>
        <p:nvSpPr>
          <p:cNvPr id="14" name="Text 12"/>
          <p:cNvSpPr/>
          <p:nvPr/>
        </p:nvSpPr>
        <p:spPr>
          <a:xfrm>
            <a:off x="1304925" y="6175995"/>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7EE787"/>
                </a:solidFill>
                <a:latin typeface="Courier New" pitchFamily="34" charset="0"/>
                <a:ea typeface="Courier New" pitchFamily="34" charset="-122"/>
                <a:cs typeface="Courier New" pitchFamily="34" charset="-120"/>
              </a:rPr>
              <a:t>$ </a:t>
            </a:r>
            <a:r>
              <a:rPr lang="en-US" sz="1875" dirty="0">
                <a:solidFill>
                  <a:srgbClr val="E6E6EA"/>
                </a:solidFill>
                <a:latin typeface="Courier New" pitchFamily="34" charset="0"/>
                <a:ea typeface="Courier New" pitchFamily="34" charset="-122"/>
                <a:cs typeface="Courier New" pitchFamily="34" charset="-120"/>
              </a:rPr>
              <a:t>git commit -m</a:t>
            </a:r>
            <a:r>
              <a:rPr lang="en-US" sz="1875" dirty="0">
                <a:solidFill>
                  <a:srgbClr val="E3B341"/>
                </a:solidFill>
                <a:latin typeface="Courier New" pitchFamily="34" charset="0"/>
                <a:ea typeface="Courier New" pitchFamily="34" charset="-122"/>
                <a:cs typeface="Courier New" pitchFamily="34" charset="-120"/>
              </a:rPr>
              <a:t>"working checkpoint"</a:t>
            </a:r>
            <a:endParaRPr lang="en-US" sz="1875" dirty="0"/>
          </a:p>
        </p:txBody>
      </p:sp>
      <p:sp>
        <p:nvSpPr>
          <p:cNvPr id="15" name="Text 13"/>
          <p:cNvSpPr/>
          <p:nvPr/>
        </p:nvSpPr>
        <p:spPr>
          <a:xfrm>
            <a:off x="1304925" y="6592714"/>
            <a:ext cx="7122605" cy="454819"/>
          </a:xfrm>
          <a:prstGeom prst="rect">
            <a:avLst/>
          </a:prstGeom>
          <a:noFill/>
          <a:ln/>
        </p:spPr>
        <p:txBody>
          <a:bodyPr wrap="square" lIns="25400" tIns="25400" rIns="25400" bIns="25400" rtlCol="0" anchor="t">
            <a:normAutofit/>
          </a:bodyPr>
          <a:lstStyle/>
          <a:p>
            <a:pPr marL="0" indent="0" algn="l">
              <a:lnSpc>
                <a:spcPct val="175000"/>
              </a:lnSpc>
              <a:buNone/>
            </a:pPr>
            <a:r>
              <a:rPr lang="en-US" sz="1875" dirty="0">
                <a:solidFill>
                  <a:srgbClr val="A8A8B3"/>
                </a:solidFill>
                <a:latin typeface="Courier New" pitchFamily="34" charset="0"/>
                <a:ea typeface="Courier New" pitchFamily="34" charset="-122"/>
                <a:cs typeface="Courier New" pitchFamily="34" charset="-120"/>
              </a:rPr>
              <a:t>[main a1b2c3d] working checkpoint</a:t>
            </a:r>
            <a:endParaRPr lang="en-US" sz="1875" dirty="0"/>
          </a:p>
        </p:txBody>
      </p:sp>
      <p:sp>
        <p:nvSpPr>
          <p:cNvPr id="16" name="Text 14"/>
          <p:cNvSpPr/>
          <p:nvPr/>
        </p:nvSpPr>
        <p:spPr>
          <a:xfrm>
            <a:off x="9010650" y="4992291"/>
            <a:ext cx="9052560"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1A1A1A"/>
                </a:solidFill>
                <a:latin typeface="Georgia" pitchFamily="34" charset="0"/>
                <a:ea typeface="Georgia" pitchFamily="34" charset="-122"/>
                <a:cs typeface="Georgia" pitchFamily="34" charset="-120"/>
              </a:rPr>
              <a:t>A checkpoint you can always roll back to.</a:t>
            </a:r>
            <a:endParaRPr lang="en-US" sz="2700" dirty="0"/>
          </a:p>
        </p:txBody>
      </p:sp>
      <p:sp>
        <p:nvSpPr>
          <p:cNvPr id="17" name="Text 15"/>
          <p:cNvSpPr/>
          <p:nvPr/>
        </p:nvSpPr>
        <p:spPr>
          <a:xfrm>
            <a:off x="9010650" y="5647581"/>
            <a:ext cx="8476488" cy="828675"/>
          </a:xfrm>
          <a:prstGeom prst="rect">
            <a:avLst/>
          </a:prstGeom>
          <a:noFill/>
          <a:ln/>
        </p:spPr>
        <p:txBody>
          <a:bodyPr wrap="square" lIns="25400" tIns="25400" rIns="25400" bIns="25400" rtlCol="0" anchor="t">
            <a:normAutofit/>
          </a:bodyPr>
          <a:lstStyle/>
          <a:p>
            <a:pPr marL="0" indent="0" algn="l">
              <a:lnSpc>
                <a:spcPct val="150000"/>
              </a:lnSpc>
              <a:buNone/>
            </a:pPr>
            <a:r>
              <a:rPr lang="en-US" sz="2025" b="1" dirty="0">
                <a:solidFill>
                  <a:srgbClr val="1A1A1A"/>
                </a:solidFill>
                <a:latin typeface="Arial" pitchFamily="34" charset="0"/>
                <a:ea typeface="Arial" pitchFamily="34" charset="-122"/>
                <a:cs typeface="Arial" pitchFamily="34" charset="-120"/>
              </a:rPr>
              <a:t>Commit before </a:t>
            </a:r>
            <a:r>
              <a:rPr lang="en-US" sz="2025" dirty="0">
                <a:solidFill>
                  <a:srgbClr val="3D3D3D"/>
                </a:solidFill>
                <a:latin typeface="Arial" pitchFamily="34" charset="0"/>
                <a:ea typeface="Arial" pitchFamily="34" charset="-122"/>
                <a:cs typeface="Arial" pitchFamily="34" charset="-120"/>
              </a:rPr>
              <a:t>you let an assistant make big changes — then you can never lose work, and </a:t>
            </a:r>
            <a:r>
              <a:rPr lang="en-US" sz="2025" dirty="0">
                <a:solidFill>
                  <a:srgbClr val="3D3D3D"/>
                </a:solidFill>
                <a:latin typeface="Courier New" pitchFamily="34" charset="0"/>
                <a:ea typeface="Courier New" pitchFamily="34" charset="-122"/>
                <a:cs typeface="Courier New" pitchFamily="34" charset="-120"/>
              </a:rPr>
              <a:t>git diff </a:t>
            </a:r>
            <a:r>
              <a:rPr lang="en-US" sz="2025" dirty="0">
                <a:solidFill>
                  <a:srgbClr val="3D3D3D"/>
                </a:solidFill>
                <a:latin typeface="Arial" pitchFamily="34" charset="0"/>
                <a:ea typeface="Arial" pitchFamily="34" charset="-122"/>
                <a:cs typeface="Arial" pitchFamily="34" charset="-120"/>
              </a:rPr>
              <a:t>shows you exactly what it did.</a:t>
            </a:r>
            <a:endParaRPr lang="en-US" sz="2025" dirty="0"/>
          </a:p>
        </p:txBody>
      </p:sp>
      <p:sp>
        <p:nvSpPr>
          <p:cNvPr id="18" name="Shape 16"/>
          <p:cNvSpPr/>
          <p:nvPr/>
        </p:nvSpPr>
        <p:spPr>
          <a:xfrm>
            <a:off x="1047750" y="9520238"/>
            <a:ext cx="16192500" cy="9525"/>
          </a:xfrm>
          <a:prstGeom prst="rect">
            <a:avLst/>
          </a:prstGeom>
          <a:solidFill>
            <a:srgbClr val="E3E1DA"/>
          </a:solidFill>
          <a:ln/>
        </p:spPr>
        <p:txBody>
          <a:bodyPr/>
          <a:lstStyle/>
          <a:p>
            <a:endParaRPr lang="en-US"/>
          </a:p>
        </p:txBody>
      </p:sp>
      <p:sp>
        <p:nvSpPr>
          <p:cNvPr id="19" name="Text 1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0" name="Text 18"/>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293312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WORKSPACE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Set Up VS Code</a:t>
            </a:r>
            <a:endParaRPr lang="en-US" sz="4800" dirty="0"/>
          </a:p>
        </p:txBody>
      </p:sp>
      <p:sp>
        <p:nvSpPr>
          <p:cNvPr id="5" name="Text 3"/>
          <p:cNvSpPr/>
          <p:nvPr/>
        </p:nvSpPr>
        <p:spPr>
          <a:xfrm>
            <a:off x="1047750" y="4124548"/>
            <a:ext cx="525587"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1</a:t>
            </a:r>
            <a:endParaRPr lang="en-US" sz="3150" dirty="0"/>
          </a:p>
        </p:txBody>
      </p:sp>
      <p:sp>
        <p:nvSpPr>
          <p:cNvPr id="6" name="Text 4"/>
          <p:cNvSpPr/>
          <p:nvPr/>
        </p:nvSpPr>
        <p:spPr>
          <a:xfrm>
            <a:off x="1687637" y="4253136"/>
            <a:ext cx="5619797" cy="647700"/>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Download from </a:t>
            </a:r>
            <a:r>
              <a:rPr lang="en-US" sz="2025" dirty="0">
                <a:solidFill>
                  <a:srgbClr val="1A1A1A"/>
                </a:solidFill>
                <a:latin typeface="Courier New" pitchFamily="34" charset="0"/>
                <a:ea typeface="Courier New" pitchFamily="34" charset="-122"/>
                <a:cs typeface="Courier New" pitchFamily="34" charset="-120"/>
              </a:rPr>
              <a:t>code.visualstudio.com </a:t>
            </a:r>
            <a:r>
              <a:rPr lang="en-US" sz="2025" dirty="0">
                <a:solidFill>
                  <a:srgbClr val="3D3D3D"/>
                </a:solidFill>
                <a:latin typeface="Arial" pitchFamily="34" charset="0"/>
                <a:ea typeface="Arial" pitchFamily="34" charset="-122"/>
                <a:cs typeface="Arial" pitchFamily="34" charset="-120"/>
              </a:rPr>
              <a:t>&amp; install</a:t>
            </a:r>
            <a:endParaRPr lang="en-US" sz="2025" dirty="0"/>
          </a:p>
        </p:txBody>
      </p:sp>
      <p:sp>
        <p:nvSpPr>
          <p:cNvPr id="7" name="Text 5"/>
          <p:cNvSpPr/>
          <p:nvPr/>
        </p:nvSpPr>
        <p:spPr>
          <a:xfrm>
            <a:off x="1047750" y="5034186"/>
            <a:ext cx="560636"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2</a:t>
            </a:r>
            <a:endParaRPr lang="en-US" sz="3150" dirty="0"/>
          </a:p>
        </p:txBody>
      </p:sp>
      <p:sp>
        <p:nvSpPr>
          <p:cNvPr id="8" name="Text 6"/>
          <p:cNvSpPr/>
          <p:nvPr/>
        </p:nvSpPr>
        <p:spPr>
          <a:xfrm>
            <a:off x="1722686" y="5162773"/>
            <a:ext cx="5583696" cy="647700"/>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Open your folder — or </a:t>
            </a:r>
            <a:r>
              <a:rPr lang="en-US" sz="2025" dirty="0">
                <a:solidFill>
                  <a:srgbClr val="1A1A1A"/>
                </a:solidFill>
                <a:latin typeface="Courier New" pitchFamily="34" charset="0"/>
                <a:ea typeface="Courier New" pitchFamily="34" charset="-122"/>
                <a:cs typeface="Courier New" pitchFamily="34" charset="-120"/>
              </a:rPr>
              <a:t>code . </a:t>
            </a:r>
            <a:r>
              <a:rPr lang="en-US" sz="2025" dirty="0">
                <a:solidFill>
                  <a:srgbClr val="3D3D3D"/>
                </a:solidFill>
                <a:latin typeface="Arial" pitchFamily="34" charset="0"/>
                <a:ea typeface="Arial" pitchFamily="34" charset="-122"/>
                <a:cs typeface="Arial" pitchFamily="34" charset="-120"/>
              </a:rPr>
              <a:t>from the terminal</a:t>
            </a:r>
            <a:endParaRPr lang="en-US" sz="2025" dirty="0"/>
          </a:p>
        </p:txBody>
      </p:sp>
      <p:sp>
        <p:nvSpPr>
          <p:cNvPr id="9" name="Text 7"/>
          <p:cNvSpPr/>
          <p:nvPr/>
        </p:nvSpPr>
        <p:spPr>
          <a:xfrm>
            <a:off x="1047750" y="5943823"/>
            <a:ext cx="570905"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3</a:t>
            </a:r>
            <a:endParaRPr lang="en-US" sz="3150" dirty="0"/>
          </a:p>
        </p:txBody>
      </p:sp>
      <p:sp>
        <p:nvSpPr>
          <p:cNvPr id="10" name="Text 8"/>
          <p:cNvSpPr/>
          <p:nvPr/>
        </p:nvSpPr>
        <p:spPr>
          <a:xfrm>
            <a:off x="1732955" y="6072411"/>
            <a:ext cx="5573119" cy="628650"/>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Install the </a:t>
            </a:r>
            <a:r>
              <a:rPr lang="en-US" sz="2025" b="1" dirty="0">
                <a:solidFill>
                  <a:srgbClr val="1A1A1A"/>
                </a:solidFill>
                <a:latin typeface="Arial" pitchFamily="34" charset="0"/>
                <a:ea typeface="Arial" pitchFamily="34" charset="-122"/>
                <a:cs typeface="Arial" pitchFamily="34" charset="-120"/>
              </a:rPr>
              <a:t>Python </a:t>
            </a:r>
            <a:r>
              <a:rPr lang="en-US" sz="2025" dirty="0">
                <a:solidFill>
                  <a:srgbClr val="3D3D3D"/>
                </a:solidFill>
                <a:latin typeface="Arial" pitchFamily="34" charset="0"/>
                <a:ea typeface="Arial" pitchFamily="34" charset="-122"/>
                <a:cs typeface="Arial" pitchFamily="34" charset="-120"/>
              </a:rPr>
              <a:t>extension (Extensions panel)</a:t>
            </a:r>
            <a:endParaRPr lang="en-US" sz="2025" dirty="0"/>
          </a:p>
        </p:txBody>
      </p:sp>
      <p:sp>
        <p:nvSpPr>
          <p:cNvPr id="11" name="Text 9"/>
          <p:cNvSpPr/>
          <p:nvPr/>
        </p:nvSpPr>
        <p:spPr>
          <a:xfrm>
            <a:off x="1047750" y="6834411"/>
            <a:ext cx="5715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4</a:t>
            </a:r>
            <a:endParaRPr lang="en-US" sz="3150" dirty="0"/>
          </a:p>
        </p:txBody>
      </p:sp>
      <p:sp>
        <p:nvSpPr>
          <p:cNvPr id="12" name="Text 10"/>
          <p:cNvSpPr/>
          <p:nvPr/>
        </p:nvSpPr>
        <p:spPr>
          <a:xfrm>
            <a:off x="1733550" y="6962998"/>
            <a:ext cx="5824753"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You now have run buttons, linting &amp; debugging</a:t>
            </a:r>
            <a:endParaRPr lang="en-US" sz="2025" dirty="0"/>
          </a:p>
        </p:txBody>
      </p:sp>
      <p:sp>
        <p:nvSpPr>
          <p:cNvPr id="13" name="Text 11"/>
          <p:cNvSpPr/>
          <p:nvPr/>
        </p:nvSpPr>
        <p:spPr>
          <a:xfrm>
            <a:off x="7138988" y="6382271"/>
            <a:ext cx="10582275" cy="300038"/>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7C7A73"/>
                </a:solidFill>
                <a:latin typeface="Arial" pitchFamily="34" charset="0"/>
                <a:ea typeface="Arial" pitchFamily="34" charset="-122"/>
                <a:cs typeface="Arial" pitchFamily="34" charset="-120"/>
              </a:rPr>
              <a:t>screenshot</a:t>
            </a:r>
            <a:endParaRPr lang="en-US" sz="1800" dirty="0"/>
          </a:p>
        </p:txBody>
      </p:sp>
      <p:sp>
        <p:nvSpPr>
          <p:cNvPr id="14" name="Shape 12"/>
          <p:cNvSpPr/>
          <p:nvPr/>
        </p:nvSpPr>
        <p:spPr>
          <a:xfrm>
            <a:off x="1047750" y="9520238"/>
            <a:ext cx="16192500" cy="9525"/>
          </a:xfrm>
          <a:prstGeom prst="rect">
            <a:avLst/>
          </a:prstGeom>
          <a:solidFill>
            <a:srgbClr val="E3E1DA"/>
          </a:solidFill>
          <a:ln/>
        </p:spPr>
        <p:txBody>
          <a:bodyPr/>
          <a:lstStyle/>
          <a:p>
            <a:endParaRPr lang="en-US"/>
          </a:p>
        </p:txBody>
      </p:sp>
      <p:sp>
        <p:nvSpPr>
          <p:cNvPr id="15" name="Text 1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6" name="Text 14"/>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7A4FD0"/>
          </a:solidFill>
          <a:ln/>
        </p:spPr>
        <p:txBody>
          <a:bodyPr/>
          <a:lstStyle/>
          <a:p>
            <a:endParaRPr lang="en-US"/>
          </a:p>
        </p:txBody>
      </p:sp>
      <p:sp>
        <p:nvSpPr>
          <p:cNvPr id="3" name="Text 1"/>
          <p:cNvSpPr/>
          <p:nvPr/>
        </p:nvSpPr>
        <p:spPr>
          <a:xfrm>
            <a:off x="1304925" y="800100"/>
            <a:ext cx="293312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YOUR WORKSPACE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VS Code: Terminal &amp; Python</a:t>
            </a:r>
            <a:endParaRPr lang="en-US" sz="4800" dirty="0"/>
          </a:p>
        </p:txBody>
      </p:sp>
      <p:sp>
        <p:nvSpPr>
          <p:cNvPr id="5" name="Text 3"/>
          <p:cNvSpPr/>
          <p:nvPr/>
        </p:nvSpPr>
        <p:spPr>
          <a:xfrm>
            <a:off x="566738" y="6382271"/>
            <a:ext cx="10582275" cy="300038"/>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7C7A73"/>
                </a:solidFill>
                <a:latin typeface="Arial" pitchFamily="34" charset="0"/>
                <a:ea typeface="Arial" pitchFamily="34" charset="-122"/>
                <a:cs typeface="Arial" pitchFamily="34" charset="-120"/>
              </a:rPr>
              <a:t>screenshot</a:t>
            </a:r>
            <a:endParaRPr lang="en-US" sz="1800" dirty="0"/>
          </a:p>
        </p:txBody>
      </p:sp>
      <p:sp>
        <p:nvSpPr>
          <p:cNvPr id="6" name="Text 4"/>
          <p:cNvSpPr/>
          <p:nvPr/>
        </p:nvSpPr>
        <p:spPr>
          <a:xfrm>
            <a:off x="11144250" y="4634136"/>
            <a:ext cx="178117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1F6FEB"/>
                </a:solidFill>
                <a:latin typeface="Courier New" pitchFamily="34" charset="0"/>
                <a:ea typeface="Courier New" pitchFamily="34" charset="-122"/>
                <a:cs typeface="Courier New" pitchFamily="34" charset="-120"/>
              </a:rPr>
              <a:t>Ctrl + `</a:t>
            </a:r>
            <a:endParaRPr lang="en-US" sz="1800" dirty="0"/>
          </a:p>
        </p:txBody>
      </p:sp>
      <p:sp>
        <p:nvSpPr>
          <p:cNvPr id="7" name="Text 5"/>
          <p:cNvSpPr/>
          <p:nvPr/>
        </p:nvSpPr>
        <p:spPr>
          <a:xfrm>
            <a:off x="12954000" y="4586511"/>
            <a:ext cx="3097902"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open the built-in terminal</a:t>
            </a:r>
            <a:endParaRPr lang="en-US" sz="2025" dirty="0"/>
          </a:p>
        </p:txBody>
      </p:sp>
      <p:sp>
        <p:nvSpPr>
          <p:cNvPr id="8" name="Text 6"/>
          <p:cNvSpPr/>
          <p:nvPr/>
        </p:nvSpPr>
        <p:spPr>
          <a:xfrm>
            <a:off x="11144250" y="5148486"/>
            <a:ext cx="1781175" cy="295275"/>
          </a:xfrm>
          <a:prstGeom prst="rect">
            <a:avLst/>
          </a:prstGeom>
          <a:noFill/>
          <a:ln/>
        </p:spPr>
        <p:txBody>
          <a:bodyPr wrap="square" lIns="25400" tIns="25400" rIns="25400" bIns="25400" rtlCol="0" anchor="t">
            <a:normAutofit/>
          </a:bodyPr>
          <a:lstStyle/>
          <a:p>
            <a:pPr marL="0" indent="0" algn="l">
              <a:buNone/>
            </a:pPr>
            <a:r>
              <a:rPr lang="en-US" sz="1800" b="1" dirty="0">
                <a:solidFill>
                  <a:srgbClr val="1F6FEB"/>
                </a:solidFill>
                <a:latin typeface="Courier New" pitchFamily="34" charset="0"/>
                <a:ea typeface="Courier New" pitchFamily="34" charset="-122"/>
                <a:cs typeface="Courier New" pitchFamily="34" charset="-120"/>
              </a:rPr>
              <a:t>Cmd/Ctrl + P</a:t>
            </a:r>
            <a:endParaRPr lang="en-US" sz="1800" dirty="0"/>
          </a:p>
        </p:txBody>
      </p:sp>
      <p:sp>
        <p:nvSpPr>
          <p:cNvPr id="9" name="Text 7"/>
          <p:cNvSpPr/>
          <p:nvPr/>
        </p:nvSpPr>
        <p:spPr>
          <a:xfrm>
            <a:off x="12954000" y="5100861"/>
            <a:ext cx="2437247"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jump to any file fast</a:t>
            </a:r>
            <a:endParaRPr lang="en-US" sz="2025" dirty="0"/>
          </a:p>
        </p:txBody>
      </p:sp>
      <p:sp>
        <p:nvSpPr>
          <p:cNvPr id="10" name="Text 8"/>
          <p:cNvSpPr/>
          <p:nvPr/>
        </p:nvSpPr>
        <p:spPr>
          <a:xfrm>
            <a:off x="11144250" y="5639023"/>
            <a:ext cx="1434517" cy="319088"/>
          </a:xfrm>
          <a:prstGeom prst="rect">
            <a:avLst/>
          </a:prstGeom>
          <a:noFill/>
          <a:ln/>
        </p:spPr>
        <p:txBody>
          <a:bodyPr wrap="square" lIns="25400" tIns="25400" rIns="25400" bIns="25400" rtlCol="0" anchor="t">
            <a:normAutofit/>
          </a:bodyPr>
          <a:lstStyle/>
          <a:p>
            <a:pPr marL="0" indent="0" algn="l">
              <a:buNone/>
            </a:pPr>
            <a:r>
              <a:rPr lang="en-US" sz="1800" b="1" dirty="0">
                <a:solidFill>
                  <a:srgbClr val="1F6FEB"/>
                </a:solidFill>
                <a:latin typeface="Courier New" pitchFamily="34" charset="0"/>
                <a:ea typeface="Courier New" pitchFamily="34" charset="-122"/>
                <a:cs typeface="Courier New" pitchFamily="34" charset="-120"/>
              </a:rPr>
              <a:t>⌘ Palette</a:t>
            </a:r>
            <a:endParaRPr lang="en-US" sz="1800" dirty="0"/>
          </a:p>
        </p:txBody>
      </p:sp>
      <p:sp>
        <p:nvSpPr>
          <p:cNvPr id="11" name="Text 9"/>
          <p:cNvSpPr/>
          <p:nvPr/>
        </p:nvSpPr>
        <p:spPr>
          <a:xfrm>
            <a:off x="12638856" y="5615211"/>
            <a:ext cx="4739435" cy="666750"/>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Courier New" pitchFamily="34" charset="0"/>
                <a:ea typeface="Courier New" pitchFamily="34" charset="-122"/>
                <a:cs typeface="Courier New" pitchFamily="34" charset="-120"/>
              </a:rPr>
              <a:t>Python: Select Interpreter </a:t>
            </a:r>
            <a:r>
              <a:rPr lang="en-US" sz="2025" dirty="0">
                <a:solidFill>
                  <a:srgbClr val="3D3D3D"/>
                </a:solidFill>
                <a:latin typeface="Arial" pitchFamily="34" charset="0"/>
                <a:ea typeface="Arial" pitchFamily="34" charset="-122"/>
                <a:cs typeface="Arial" pitchFamily="34" charset="-120"/>
              </a:rPr>
              <a:t>→ pick </a:t>
            </a:r>
            <a:r>
              <a:rPr lang="en-US" sz="2025" dirty="0">
                <a:solidFill>
                  <a:srgbClr val="3D3D3D"/>
                </a:solidFill>
                <a:latin typeface="Courier New" pitchFamily="34" charset="0"/>
                <a:ea typeface="Courier New" pitchFamily="34" charset="-122"/>
                <a:cs typeface="Courier New" pitchFamily="34" charset="-120"/>
              </a:rPr>
              <a:t>.venv</a:t>
            </a:r>
            <a:endParaRPr lang="en-US" sz="2025" dirty="0"/>
          </a:p>
        </p:txBody>
      </p:sp>
      <p:sp>
        <p:nvSpPr>
          <p:cNvPr id="12" name="Text 10"/>
          <p:cNvSpPr/>
          <p:nvPr/>
        </p:nvSpPr>
        <p:spPr>
          <a:xfrm>
            <a:off x="11144250" y="6529611"/>
            <a:ext cx="670560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Edit, run &amp; terminal — </a:t>
            </a:r>
            <a:r>
              <a:rPr lang="en-US" sz="2025" dirty="0">
                <a:solidFill>
                  <a:srgbClr val="1A1A1A"/>
                </a:solidFill>
                <a:highlight>
                  <a:srgbClr val="FFF1A8"/>
                </a:highlight>
                <a:latin typeface="Georgia" pitchFamily="34" charset="0"/>
                <a:ea typeface="Georgia" pitchFamily="34" charset="-122"/>
                <a:cs typeface="Georgia" pitchFamily="34" charset="-120"/>
              </a:rPr>
              <a:t>one window</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13" name="Shape 11"/>
          <p:cNvSpPr/>
          <p:nvPr/>
        </p:nvSpPr>
        <p:spPr>
          <a:xfrm>
            <a:off x="1047750" y="9520238"/>
            <a:ext cx="16192500" cy="9525"/>
          </a:xfrm>
          <a:prstGeom prst="rect">
            <a:avLst/>
          </a:prstGeom>
          <a:solidFill>
            <a:srgbClr val="E3E1DA"/>
          </a:solidFill>
          <a:ln/>
        </p:spPr>
        <p:txBody>
          <a:bodyPr/>
          <a:lstStyle/>
          <a:p>
            <a:endParaRPr lang="en-US"/>
          </a:p>
        </p:txBody>
      </p:sp>
      <p:sp>
        <p:nvSpPr>
          <p:cNvPr id="14" name="Text 12"/>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5" name="Text 13"/>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C77D0A"/>
          </a:solidFill>
          <a:ln/>
        </p:spPr>
        <p:txBody>
          <a:bodyPr/>
          <a:lstStyle/>
          <a:p>
            <a:endParaRPr lang="en-US"/>
          </a:p>
        </p:txBody>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04</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C77D0A"/>
                </a:solidFill>
                <a:latin typeface="Georgia" pitchFamily="34" charset="0"/>
                <a:ea typeface="Georgia" pitchFamily="34" charset="-122"/>
                <a:cs typeface="Georgia" pitchFamily="34" charset="-120"/>
              </a:rPr>
              <a:t>04</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Your AI Pair Programmer</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Cursor and Claude Code in your everyday workflow.</a:t>
            </a:r>
            <a:endParaRPr lang="en-US" sz="2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346297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Same Engine, Two Flavors</a:t>
            </a:r>
            <a:endParaRPr lang="en-US" sz="4800" dirty="0"/>
          </a:p>
        </p:txBody>
      </p:sp>
      <p:sp>
        <p:nvSpPr>
          <p:cNvPr id="5" name="Shape 3"/>
          <p:cNvSpPr/>
          <p:nvPr/>
        </p:nvSpPr>
        <p:spPr>
          <a:xfrm>
            <a:off x="1047750" y="6686773"/>
            <a:ext cx="7905750" cy="9525"/>
          </a:xfrm>
          <a:prstGeom prst="rect">
            <a:avLst/>
          </a:prstGeom>
          <a:solidFill>
            <a:srgbClr val="E3E1DA"/>
          </a:solidFill>
          <a:ln/>
        </p:spPr>
        <p:txBody>
          <a:bodyPr/>
          <a:lstStyle/>
          <a:p>
            <a:endParaRPr lang="en-US"/>
          </a:p>
        </p:txBody>
      </p:sp>
      <p:sp>
        <p:nvSpPr>
          <p:cNvPr id="6" name="Shape 4"/>
          <p:cNvSpPr/>
          <p:nvPr/>
        </p:nvSpPr>
        <p:spPr>
          <a:xfrm>
            <a:off x="1047750" y="4267423"/>
            <a:ext cx="7905750" cy="57150"/>
          </a:xfrm>
          <a:prstGeom prst="rect">
            <a:avLst/>
          </a:prstGeom>
          <a:solidFill>
            <a:srgbClr val="1F6FEB"/>
          </a:solidFill>
          <a:ln/>
        </p:spPr>
        <p:txBody>
          <a:bodyPr/>
          <a:lstStyle/>
          <a:p>
            <a:endParaRPr lang="en-US"/>
          </a:p>
        </p:txBody>
      </p:sp>
      <p:sp>
        <p:nvSpPr>
          <p:cNvPr id="7" name="Shape 5"/>
          <p:cNvSpPr/>
          <p:nvPr/>
        </p:nvSpPr>
        <p:spPr>
          <a:xfrm>
            <a:off x="1047750" y="4267423"/>
            <a:ext cx="9525" cy="2428875"/>
          </a:xfrm>
          <a:prstGeom prst="rect">
            <a:avLst/>
          </a:prstGeom>
          <a:solidFill>
            <a:srgbClr val="E3E1DA"/>
          </a:solidFill>
          <a:ln/>
        </p:spPr>
        <p:txBody>
          <a:bodyPr/>
          <a:lstStyle/>
          <a:p>
            <a:endParaRPr lang="en-US"/>
          </a:p>
        </p:txBody>
      </p:sp>
      <p:sp>
        <p:nvSpPr>
          <p:cNvPr id="8" name="Shape 6"/>
          <p:cNvSpPr/>
          <p:nvPr/>
        </p:nvSpPr>
        <p:spPr>
          <a:xfrm>
            <a:off x="8943975" y="4267423"/>
            <a:ext cx="9525" cy="2428875"/>
          </a:xfrm>
          <a:prstGeom prst="rect">
            <a:avLst/>
          </a:prstGeom>
          <a:solidFill>
            <a:srgbClr val="E3E1DA"/>
          </a:solidFill>
          <a:ln/>
        </p:spPr>
        <p:txBody>
          <a:bodyPr/>
          <a:lstStyle/>
          <a:p>
            <a:endParaRPr lang="en-US"/>
          </a:p>
        </p:txBody>
      </p:sp>
      <p:sp>
        <p:nvSpPr>
          <p:cNvPr id="9" name="Text 7"/>
          <p:cNvSpPr/>
          <p:nvPr/>
        </p:nvSpPr>
        <p:spPr>
          <a:xfrm>
            <a:off x="1419225" y="4648423"/>
            <a:ext cx="787908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Cursor</a:t>
            </a:r>
            <a:endParaRPr lang="en-US" sz="2400" dirty="0"/>
          </a:p>
        </p:txBody>
      </p:sp>
      <p:sp>
        <p:nvSpPr>
          <p:cNvPr id="10" name="Text 8"/>
          <p:cNvSpPr/>
          <p:nvPr/>
        </p:nvSpPr>
        <p:spPr>
          <a:xfrm>
            <a:off x="1419225" y="5124673"/>
            <a:ext cx="787908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AI-native editor</a:t>
            </a:r>
            <a:endParaRPr lang="en-US" sz="2400" dirty="0"/>
          </a:p>
        </p:txBody>
      </p:sp>
      <p:sp>
        <p:nvSpPr>
          <p:cNvPr id="11" name="Text 9"/>
          <p:cNvSpPr/>
          <p:nvPr/>
        </p:nvSpPr>
        <p:spPr>
          <a:xfrm>
            <a:off x="1419225" y="5591398"/>
            <a:ext cx="7377684"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A VS Code-style editor with completion, inline edits, and chat that knows your codebase.</a:t>
            </a:r>
            <a:endParaRPr lang="en-US" sz="2025" dirty="0"/>
          </a:p>
        </p:txBody>
      </p:sp>
      <p:sp>
        <p:nvSpPr>
          <p:cNvPr id="12" name="Shape 10"/>
          <p:cNvSpPr/>
          <p:nvPr/>
        </p:nvSpPr>
        <p:spPr>
          <a:xfrm>
            <a:off x="9334500" y="6686773"/>
            <a:ext cx="7905750" cy="9525"/>
          </a:xfrm>
          <a:prstGeom prst="rect">
            <a:avLst/>
          </a:prstGeom>
          <a:solidFill>
            <a:srgbClr val="E3E1DA"/>
          </a:solidFill>
          <a:ln/>
        </p:spPr>
        <p:txBody>
          <a:bodyPr/>
          <a:lstStyle/>
          <a:p>
            <a:endParaRPr lang="en-US"/>
          </a:p>
        </p:txBody>
      </p:sp>
      <p:sp>
        <p:nvSpPr>
          <p:cNvPr id="13" name="Shape 11"/>
          <p:cNvSpPr/>
          <p:nvPr/>
        </p:nvSpPr>
        <p:spPr>
          <a:xfrm>
            <a:off x="9334500" y="4267423"/>
            <a:ext cx="7905750" cy="57150"/>
          </a:xfrm>
          <a:prstGeom prst="rect">
            <a:avLst/>
          </a:prstGeom>
          <a:solidFill>
            <a:srgbClr val="7A4FD0"/>
          </a:solidFill>
          <a:ln/>
        </p:spPr>
        <p:txBody>
          <a:bodyPr/>
          <a:lstStyle/>
          <a:p>
            <a:endParaRPr lang="en-US"/>
          </a:p>
        </p:txBody>
      </p:sp>
      <p:sp>
        <p:nvSpPr>
          <p:cNvPr id="14" name="Shape 12"/>
          <p:cNvSpPr/>
          <p:nvPr/>
        </p:nvSpPr>
        <p:spPr>
          <a:xfrm>
            <a:off x="9334500" y="4267423"/>
            <a:ext cx="9525" cy="2428875"/>
          </a:xfrm>
          <a:prstGeom prst="rect">
            <a:avLst/>
          </a:prstGeom>
          <a:solidFill>
            <a:srgbClr val="E3E1DA"/>
          </a:solidFill>
          <a:ln/>
        </p:spPr>
        <p:txBody>
          <a:bodyPr/>
          <a:lstStyle/>
          <a:p>
            <a:endParaRPr lang="en-US"/>
          </a:p>
        </p:txBody>
      </p:sp>
      <p:sp>
        <p:nvSpPr>
          <p:cNvPr id="15" name="Shape 13"/>
          <p:cNvSpPr/>
          <p:nvPr/>
        </p:nvSpPr>
        <p:spPr>
          <a:xfrm>
            <a:off x="17230725" y="4267423"/>
            <a:ext cx="9525" cy="2428875"/>
          </a:xfrm>
          <a:prstGeom prst="rect">
            <a:avLst/>
          </a:prstGeom>
          <a:solidFill>
            <a:srgbClr val="E3E1DA"/>
          </a:solidFill>
          <a:ln/>
        </p:spPr>
        <p:txBody>
          <a:bodyPr/>
          <a:lstStyle/>
          <a:p>
            <a:endParaRPr lang="en-US"/>
          </a:p>
        </p:txBody>
      </p:sp>
      <p:sp>
        <p:nvSpPr>
          <p:cNvPr id="16" name="Text 14"/>
          <p:cNvSpPr/>
          <p:nvPr/>
        </p:nvSpPr>
        <p:spPr>
          <a:xfrm>
            <a:off x="9705975" y="4648423"/>
            <a:ext cx="7879080"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7A4FD0"/>
                </a:solidFill>
                <a:latin typeface="Courier New" pitchFamily="34" charset="0"/>
                <a:ea typeface="Courier New" pitchFamily="34" charset="-122"/>
                <a:cs typeface="Courier New" pitchFamily="34" charset="-120"/>
              </a:rPr>
              <a:t>Claude Code</a:t>
            </a:r>
            <a:endParaRPr lang="en-US" sz="2400" dirty="0"/>
          </a:p>
        </p:txBody>
      </p:sp>
      <p:sp>
        <p:nvSpPr>
          <p:cNvPr id="17" name="Text 15"/>
          <p:cNvSpPr/>
          <p:nvPr/>
        </p:nvSpPr>
        <p:spPr>
          <a:xfrm>
            <a:off x="9705975" y="5124673"/>
            <a:ext cx="787908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Terminal, agentic</a:t>
            </a:r>
            <a:endParaRPr lang="en-US" sz="2400" dirty="0"/>
          </a:p>
        </p:txBody>
      </p:sp>
      <p:sp>
        <p:nvSpPr>
          <p:cNvPr id="18" name="Text 16"/>
          <p:cNvSpPr/>
          <p:nvPr/>
        </p:nvSpPr>
        <p:spPr>
          <a:xfrm>
            <a:off x="9705975" y="5591398"/>
            <a:ext cx="7377684"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Give it a goal; it reads files, edits across many, and runs commands — checking in with you.</a:t>
            </a:r>
            <a:endParaRPr lang="en-US" sz="2025" dirty="0"/>
          </a:p>
        </p:txBody>
      </p:sp>
      <p:sp>
        <p:nvSpPr>
          <p:cNvPr id="19" name="Text 17"/>
          <p:cNvSpPr/>
          <p:nvPr/>
        </p:nvSpPr>
        <p:spPr>
          <a:xfrm>
            <a:off x="1047750" y="9039225"/>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Editor-integrated vs. terminal-agentic — </a:t>
            </a:r>
            <a:r>
              <a:rPr lang="en-US" sz="2025" dirty="0">
                <a:solidFill>
                  <a:srgbClr val="1A1A1A"/>
                </a:solidFill>
                <a:highlight>
                  <a:srgbClr val="FFF1A8"/>
                </a:highlight>
                <a:latin typeface="Georgia" pitchFamily="34" charset="0"/>
                <a:ea typeface="Georgia" pitchFamily="34" charset="-122"/>
                <a:cs typeface="Georgia" pitchFamily="34" charset="-120"/>
              </a:rPr>
              <a:t>many engineers use both</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20" name="Shape 18"/>
          <p:cNvSpPr/>
          <p:nvPr/>
        </p:nvSpPr>
        <p:spPr>
          <a:xfrm>
            <a:off x="1047750" y="9520238"/>
            <a:ext cx="16192500" cy="9525"/>
          </a:xfrm>
          <a:prstGeom prst="rect">
            <a:avLst/>
          </a:prstGeom>
          <a:solidFill>
            <a:srgbClr val="E3E1DA"/>
          </a:solidFill>
          <a:ln/>
        </p:spPr>
        <p:txBody>
          <a:bodyPr/>
          <a:lstStyle/>
          <a:p>
            <a:endParaRPr lang="en-US"/>
          </a:p>
        </p:txBody>
      </p:sp>
      <p:sp>
        <p:nvSpPr>
          <p:cNvPr id="21" name="Text 19"/>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2" name="Text 20"/>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5092965"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 · CURSOR</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Cursor: Setup &amp; First Look</a:t>
            </a:r>
            <a:endParaRPr lang="en-US" sz="4800" dirty="0"/>
          </a:p>
        </p:txBody>
      </p:sp>
      <p:sp>
        <p:nvSpPr>
          <p:cNvPr id="5" name="Text 3"/>
          <p:cNvSpPr/>
          <p:nvPr/>
        </p:nvSpPr>
        <p:spPr>
          <a:xfrm>
            <a:off x="1047750" y="4460304"/>
            <a:ext cx="5715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1</a:t>
            </a:r>
            <a:endParaRPr lang="en-US" sz="3150" dirty="0"/>
          </a:p>
        </p:txBody>
      </p:sp>
      <p:sp>
        <p:nvSpPr>
          <p:cNvPr id="6" name="Text 4"/>
          <p:cNvSpPr/>
          <p:nvPr/>
        </p:nvSpPr>
        <p:spPr>
          <a:xfrm>
            <a:off x="1733550" y="4588892"/>
            <a:ext cx="4748026" cy="35242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Download from </a:t>
            </a:r>
            <a:r>
              <a:rPr lang="en-US" sz="2025" dirty="0">
                <a:solidFill>
                  <a:srgbClr val="1A1A1A"/>
                </a:solidFill>
                <a:latin typeface="Courier New" pitchFamily="34" charset="0"/>
                <a:ea typeface="Courier New" pitchFamily="34" charset="-122"/>
                <a:cs typeface="Courier New" pitchFamily="34" charset="-120"/>
              </a:rPr>
              <a:t>cursor.com </a:t>
            </a:r>
            <a:r>
              <a:rPr lang="en-US" sz="2025" dirty="0">
                <a:solidFill>
                  <a:srgbClr val="3D3D3D"/>
                </a:solidFill>
                <a:latin typeface="Arial" pitchFamily="34" charset="0"/>
                <a:ea typeface="Arial" pitchFamily="34" charset="-122"/>
                <a:cs typeface="Arial" pitchFamily="34" charset="-120"/>
              </a:rPr>
              <a:t>&amp; install</a:t>
            </a:r>
            <a:endParaRPr lang="en-US" sz="2025" dirty="0"/>
          </a:p>
        </p:txBody>
      </p:sp>
      <p:sp>
        <p:nvSpPr>
          <p:cNvPr id="7" name="Text 5"/>
          <p:cNvSpPr/>
          <p:nvPr/>
        </p:nvSpPr>
        <p:spPr>
          <a:xfrm>
            <a:off x="1047750" y="5084192"/>
            <a:ext cx="542553"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2</a:t>
            </a:r>
            <a:endParaRPr lang="en-US" sz="3150" dirty="0"/>
          </a:p>
        </p:txBody>
      </p:sp>
      <p:sp>
        <p:nvSpPr>
          <p:cNvPr id="8" name="Text 6"/>
          <p:cNvSpPr/>
          <p:nvPr/>
        </p:nvSpPr>
        <p:spPr>
          <a:xfrm>
            <a:off x="1704603" y="5212779"/>
            <a:ext cx="5406106" cy="628650"/>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Import VS Code settings &amp; extensions (one click)</a:t>
            </a:r>
            <a:endParaRPr lang="en-US" sz="2025" dirty="0"/>
          </a:p>
        </p:txBody>
      </p:sp>
      <p:sp>
        <p:nvSpPr>
          <p:cNvPr id="9" name="Text 7"/>
          <p:cNvSpPr/>
          <p:nvPr/>
        </p:nvSpPr>
        <p:spPr>
          <a:xfrm>
            <a:off x="1047750" y="5974779"/>
            <a:ext cx="571500" cy="490538"/>
          </a:xfrm>
          <a:prstGeom prst="rect">
            <a:avLst/>
          </a:prstGeom>
          <a:noFill/>
          <a:ln/>
        </p:spPr>
        <p:txBody>
          <a:bodyPr wrap="square" lIns="25400" tIns="25400" rIns="25400" bIns="25400" rtlCol="0" anchor="t">
            <a:normAutofit/>
          </a:bodyPr>
          <a:lstStyle/>
          <a:p>
            <a:pPr marL="0" indent="0" algn="l">
              <a:buNone/>
            </a:pPr>
            <a:r>
              <a:rPr lang="en-US" sz="3150" b="1" dirty="0">
                <a:solidFill>
                  <a:srgbClr val="1F6FEB"/>
                </a:solidFill>
                <a:latin typeface="Georgia" pitchFamily="34" charset="0"/>
                <a:ea typeface="Georgia" pitchFamily="34" charset="-122"/>
                <a:cs typeface="Georgia" pitchFamily="34" charset="-120"/>
              </a:rPr>
              <a:t>3</a:t>
            </a:r>
            <a:endParaRPr lang="en-US" sz="3150" dirty="0"/>
          </a:p>
        </p:txBody>
      </p:sp>
      <p:sp>
        <p:nvSpPr>
          <p:cNvPr id="10" name="Text 8"/>
          <p:cNvSpPr/>
          <p:nvPr/>
        </p:nvSpPr>
        <p:spPr>
          <a:xfrm>
            <a:off x="1733550" y="6103367"/>
            <a:ext cx="4623524"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Sign in, then open your project folder</a:t>
            </a:r>
            <a:endParaRPr lang="en-US" sz="2025" dirty="0"/>
          </a:p>
        </p:txBody>
      </p:sp>
      <p:sp>
        <p:nvSpPr>
          <p:cNvPr id="11" name="Text 9"/>
          <p:cNvSpPr/>
          <p:nvPr/>
        </p:nvSpPr>
        <p:spPr>
          <a:xfrm>
            <a:off x="1047750" y="6655817"/>
            <a:ext cx="64960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It’s VS Code — </a:t>
            </a:r>
            <a:r>
              <a:rPr lang="en-US" sz="2025" dirty="0">
                <a:solidFill>
                  <a:srgbClr val="1A1A1A"/>
                </a:solidFill>
                <a:highlight>
                  <a:srgbClr val="FFF1A8"/>
                </a:highlight>
                <a:latin typeface="Georgia" pitchFamily="34" charset="0"/>
                <a:ea typeface="Georgia" pitchFamily="34" charset="-122"/>
                <a:cs typeface="Georgia" pitchFamily="34" charset="-120"/>
              </a:rPr>
              <a:t>with AI built in</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12" name="Text 10"/>
          <p:cNvSpPr/>
          <p:nvPr/>
        </p:nvSpPr>
        <p:spPr>
          <a:xfrm>
            <a:off x="6938963" y="6382271"/>
            <a:ext cx="10791825" cy="300038"/>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7C7A73"/>
                </a:solidFill>
                <a:latin typeface="Arial" pitchFamily="34" charset="0"/>
                <a:ea typeface="Arial" pitchFamily="34" charset="-122"/>
                <a:cs typeface="Arial" pitchFamily="34" charset="-120"/>
              </a:rPr>
              <a:t>screenshot</a:t>
            </a:r>
            <a:endParaRPr lang="en-US" sz="1800" dirty="0"/>
          </a:p>
        </p:txBody>
      </p:sp>
      <p:sp>
        <p:nvSpPr>
          <p:cNvPr id="13" name="Shape 11"/>
          <p:cNvSpPr/>
          <p:nvPr/>
        </p:nvSpPr>
        <p:spPr>
          <a:xfrm>
            <a:off x="1047750" y="9520238"/>
            <a:ext cx="16192500" cy="9525"/>
          </a:xfrm>
          <a:prstGeom prst="rect">
            <a:avLst/>
          </a:prstGeom>
          <a:solidFill>
            <a:srgbClr val="E3E1DA"/>
          </a:solidFill>
          <a:ln/>
        </p:spPr>
        <p:txBody>
          <a:bodyPr/>
          <a:lstStyle/>
          <a:p>
            <a:endParaRPr lang="en-US"/>
          </a:p>
        </p:txBody>
      </p:sp>
      <p:sp>
        <p:nvSpPr>
          <p:cNvPr id="14" name="Text 12"/>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5" name="Text 13"/>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5092965"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 · CURSOR</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Cursor: The Four Moves</a:t>
            </a:r>
            <a:endParaRPr lang="en-US" sz="4800" dirty="0"/>
          </a:p>
        </p:txBody>
      </p:sp>
      <p:sp>
        <p:nvSpPr>
          <p:cNvPr id="5" name="Shape 3"/>
          <p:cNvSpPr/>
          <p:nvPr/>
        </p:nvSpPr>
        <p:spPr>
          <a:xfrm>
            <a:off x="1047750" y="5334223"/>
            <a:ext cx="7981950" cy="9525"/>
          </a:xfrm>
          <a:prstGeom prst="rect">
            <a:avLst/>
          </a:prstGeom>
          <a:solidFill>
            <a:srgbClr val="E3E1DA"/>
          </a:solidFill>
          <a:ln/>
        </p:spPr>
        <p:txBody>
          <a:bodyPr/>
          <a:lstStyle/>
          <a:p>
            <a:endParaRPr lang="en-US"/>
          </a:p>
        </p:txBody>
      </p:sp>
      <p:sp>
        <p:nvSpPr>
          <p:cNvPr id="6" name="Shape 4"/>
          <p:cNvSpPr/>
          <p:nvPr/>
        </p:nvSpPr>
        <p:spPr>
          <a:xfrm>
            <a:off x="1047750" y="4086448"/>
            <a:ext cx="7981950" cy="9525"/>
          </a:xfrm>
          <a:prstGeom prst="rect">
            <a:avLst/>
          </a:prstGeom>
          <a:solidFill>
            <a:srgbClr val="E3E1DA"/>
          </a:solidFill>
          <a:ln/>
        </p:spPr>
        <p:txBody>
          <a:bodyPr/>
          <a:lstStyle/>
          <a:p>
            <a:endParaRPr lang="en-US"/>
          </a:p>
        </p:txBody>
      </p:sp>
      <p:sp>
        <p:nvSpPr>
          <p:cNvPr id="7" name="Shape 5"/>
          <p:cNvSpPr/>
          <p:nvPr/>
        </p:nvSpPr>
        <p:spPr>
          <a:xfrm>
            <a:off x="1047750" y="4086448"/>
            <a:ext cx="47625" cy="1257300"/>
          </a:xfrm>
          <a:prstGeom prst="rect">
            <a:avLst/>
          </a:prstGeom>
          <a:solidFill>
            <a:srgbClr val="1F6FEB"/>
          </a:solidFill>
          <a:ln/>
        </p:spPr>
        <p:txBody>
          <a:bodyPr/>
          <a:lstStyle/>
          <a:p>
            <a:endParaRPr lang="en-US"/>
          </a:p>
        </p:txBody>
      </p:sp>
      <p:sp>
        <p:nvSpPr>
          <p:cNvPr id="8" name="Shape 6"/>
          <p:cNvSpPr/>
          <p:nvPr/>
        </p:nvSpPr>
        <p:spPr>
          <a:xfrm>
            <a:off x="9020175" y="4086448"/>
            <a:ext cx="9525" cy="1257300"/>
          </a:xfrm>
          <a:prstGeom prst="rect">
            <a:avLst/>
          </a:prstGeom>
          <a:solidFill>
            <a:srgbClr val="E3E1DA"/>
          </a:solidFill>
          <a:ln/>
        </p:spPr>
        <p:txBody>
          <a:bodyPr/>
          <a:lstStyle/>
          <a:p>
            <a:endParaRPr lang="en-US"/>
          </a:p>
        </p:txBody>
      </p:sp>
      <p:sp>
        <p:nvSpPr>
          <p:cNvPr id="9" name="Text 7"/>
          <p:cNvSpPr/>
          <p:nvPr/>
        </p:nvSpPr>
        <p:spPr>
          <a:xfrm>
            <a:off x="1381125" y="4372198"/>
            <a:ext cx="624929"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F6FEB"/>
                </a:solidFill>
                <a:latin typeface="Courier New" pitchFamily="34" charset="0"/>
                <a:ea typeface="Courier New" pitchFamily="34" charset="-122"/>
                <a:cs typeface="Courier New" pitchFamily="34" charset="-120"/>
              </a:rPr>
              <a:t>Tab</a:t>
            </a:r>
            <a:endParaRPr lang="en-US" sz="2400" dirty="0"/>
          </a:p>
        </p:txBody>
      </p:sp>
      <p:sp>
        <p:nvSpPr>
          <p:cNvPr id="10" name="Text 8"/>
          <p:cNvSpPr/>
          <p:nvPr/>
        </p:nvSpPr>
        <p:spPr>
          <a:xfrm>
            <a:off x="2063204" y="4343623"/>
            <a:ext cx="2441749"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Autocomplete++</a:t>
            </a:r>
            <a:endParaRPr lang="en-US" sz="2400" dirty="0"/>
          </a:p>
        </p:txBody>
      </p:sp>
      <p:sp>
        <p:nvSpPr>
          <p:cNvPr id="11" name="Text 9"/>
          <p:cNvSpPr/>
          <p:nvPr/>
        </p:nvSpPr>
        <p:spPr>
          <a:xfrm>
            <a:off x="1381125" y="4791298"/>
            <a:ext cx="80886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Accept AI completions as you type</a:t>
            </a:r>
            <a:endParaRPr lang="en-US" sz="2025" dirty="0"/>
          </a:p>
        </p:txBody>
      </p:sp>
      <p:sp>
        <p:nvSpPr>
          <p:cNvPr id="12" name="Shape 10"/>
          <p:cNvSpPr/>
          <p:nvPr/>
        </p:nvSpPr>
        <p:spPr>
          <a:xfrm>
            <a:off x="9258300" y="5334223"/>
            <a:ext cx="7981950" cy="9525"/>
          </a:xfrm>
          <a:prstGeom prst="rect">
            <a:avLst/>
          </a:prstGeom>
          <a:solidFill>
            <a:srgbClr val="E3E1DA"/>
          </a:solidFill>
          <a:ln/>
        </p:spPr>
        <p:txBody>
          <a:bodyPr/>
          <a:lstStyle/>
          <a:p>
            <a:endParaRPr lang="en-US"/>
          </a:p>
        </p:txBody>
      </p:sp>
      <p:sp>
        <p:nvSpPr>
          <p:cNvPr id="13" name="Shape 11"/>
          <p:cNvSpPr/>
          <p:nvPr/>
        </p:nvSpPr>
        <p:spPr>
          <a:xfrm>
            <a:off x="9258300" y="4086448"/>
            <a:ext cx="7981950" cy="9525"/>
          </a:xfrm>
          <a:prstGeom prst="rect">
            <a:avLst/>
          </a:prstGeom>
          <a:solidFill>
            <a:srgbClr val="E3E1DA"/>
          </a:solidFill>
          <a:ln/>
        </p:spPr>
        <p:txBody>
          <a:bodyPr/>
          <a:lstStyle/>
          <a:p>
            <a:endParaRPr lang="en-US"/>
          </a:p>
        </p:txBody>
      </p:sp>
      <p:sp>
        <p:nvSpPr>
          <p:cNvPr id="14" name="Shape 12"/>
          <p:cNvSpPr/>
          <p:nvPr/>
        </p:nvSpPr>
        <p:spPr>
          <a:xfrm>
            <a:off x="9258300" y="4086448"/>
            <a:ext cx="47625" cy="1257300"/>
          </a:xfrm>
          <a:prstGeom prst="rect">
            <a:avLst/>
          </a:prstGeom>
          <a:solidFill>
            <a:srgbClr val="178A4C"/>
          </a:solidFill>
          <a:ln/>
        </p:spPr>
        <p:txBody>
          <a:bodyPr/>
          <a:lstStyle/>
          <a:p>
            <a:endParaRPr lang="en-US"/>
          </a:p>
        </p:txBody>
      </p:sp>
      <p:sp>
        <p:nvSpPr>
          <p:cNvPr id="15" name="Shape 13"/>
          <p:cNvSpPr/>
          <p:nvPr/>
        </p:nvSpPr>
        <p:spPr>
          <a:xfrm>
            <a:off x="17230725" y="4086448"/>
            <a:ext cx="9525" cy="1257300"/>
          </a:xfrm>
          <a:prstGeom prst="rect">
            <a:avLst/>
          </a:prstGeom>
          <a:solidFill>
            <a:srgbClr val="E3E1DA"/>
          </a:solidFill>
          <a:ln/>
        </p:spPr>
        <p:txBody>
          <a:bodyPr/>
          <a:lstStyle/>
          <a:p>
            <a:endParaRPr lang="en-US"/>
          </a:p>
        </p:txBody>
      </p:sp>
      <p:sp>
        <p:nvSpPr>
          <p:cNvPr id="16" name="Text 14"/>
          <p:cNvSpPr/>
          <p:nvPr/>
        </p:nvSpPr>
        <p:spPr>
          <a:xfrm>
            <a:off x="9591675" y="4343623"/>
            <a:ext cx="442615" cy="409575"/>
          </a:xfrm>
          <a:prstGeom prst="rect">
            <a:avLst/>
          </a:prstGeom>
          <a:noFill/>
          <a:ln/>
        </p:spPr>
        <p:txBody>
          <a:bodyPr wrap="square" lIns="25400" tIns="25400" rIns="25400" bIns="25400" rtlCol="0" anchor="t">
            <a:normAutofit/>
          </a:bodyPr>
          <a:lstStyle/>
          <a:p>
            <a:pPr marL="0" indent="0" algn="l">
              <a:buNone/>
            </a:pPr>
            <a:r>
              <a:rPr lang="en-US" sz="2400" b="1" dirty="0">
                <a:solidFill>
                  <a:srgbClr val="178A4C"/>
                </a:solidFill>
                <a:latin typeface="Courier New" pitchFamily="34" charset="0"/>
                <a:ea typeface="Courier New" pitchFamily="34" charset="-122"/>
                <a:cs typeface="Courier New" pitchFamily="34" charset="-120"/>
              </a:rPr>
              <a:t>⌘K</a:t>
            </a:r>
            <a:endParaRPr lang="en-US" sz="2400" dirty="0"/>
          </a:p>
        </p:txBody>
      </p:sp>
      <p:sp>
        <p:nvSpPr>
          <p:cNvPr id="17" name="Text 15"/>
          <p:cNvSpPr/>
          <p:nvPr/>
        </p:nvSpPr>
        <p:spPr>
          <a:xfrm>
            <a:off x="10091440" y="4343623"/>
            <a:ext cx="143525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Inline edit</a:t>
            </a:r>
            <a:endParaRPr lang="en-US" sz="2400" dirty="0"/>
          </a:p>
        </p:txBody>
      </p:sp>
      <p:sp>
        <p:nvSpPr>
          <p:cNvPr id="18" name="Text 16"/>
          <p:cNvSpPr/>
          <p:nvPr/>
        </p:nvSpPr>
        <p:spPr>
          <a:xfrm>
            <a:off x="9591675" y="4791298"/>
            <a:ext cx="808863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Select code, describe a change, it rewrites</a:t>
            </a:r>
            <a:endParaRPr lang="en-US" sz="2025" dirty="0"/>
          </a:p>
        </p:txBody>
      </p:sp>
      <p:sp>
        <p:nvSpPr>
          <p:cNvPr id="19" name="Shape 17"/>
          <p:cNvSpPr/>
          <p:nvPr/>
        </p:nvSpPr>
        <p:spPr>
          <a:xfrm>
            <a:off x="1047750" y="6839173"/>
            <a:ext cx="7981950" cy="9525"/>
          </a:xfrm>
          <a:prstGeom prst="rect">
            <a:avLst/>
          </a:prstGeom>
          <a:solidFill>
            <a:srgbClr val="E3E1DA"/>
          </a:solidFill>
          <a:ln/>
        </p:spPr>
        <p:txBody>
          <a:bodyPr/>
          <a:lstStyle/>
          <a:p>
            <a:endParaRPr lang="en-US"/>
          </a:p>
        </p:txBody>
      </p:sp>
      <p:sp>
        <p:nvSpPr>
          <p:cNvPr id="20" name="Shape 18"/>
          <p:cNvSpPr/>
          <p:nvPr/>
        </p:nvSpPr>
        <p:spPr>
          <a:xfrm>
            <a:off x="1047750" y="5572348"/>
            <a:ext cx="7981950" cy="9525"/>
          </a:xfrm>
          <a:prstGeom prst="rect">
            <a:avLst/>
          </a:prstGeom>
          <a:solidFill>
            <a:srgbClr val="E3E1DA"/>
          </a:solidFill>
          <a:ln/>
        </p:spPr>
        <p:txBody>
          <a:bodyPr/>
          <a:lstStyle/>
          <a:p>
            <a:endParaRPr lang="en-US"/>
          </a:p>
        </p:txBody>
      </p:sp>
      <p:sp>
        <p:nvSpPr>
          <p:cNvPr id="21" name="Shape 19"/>
          <p:cNvSpPr/>
          <p:nvPr/>
        </p:nvSpPr>
        <p:spPr>
          <a:xfrm>
            <a:off x="1047750" y="5572348"/>
            <a:ext cx="47625" cy="1276350"/>
          </a:xfrm>
          <a:prstGeom prst="rect">
            <a:avLst/>
          </a:prstGeom>
          <a:solidFill>
            <a:srgbClr val="7A4FD0"/>
          </a:solidFill>
          <a:ln/>
        </p:spPr>
        <p:txBody>
          <a:bodyPr/>
          <a:lstStyle/>
          <a:p>
            <a:endParaRPr lang="en-US"/>
          </a:p>
        </p:txBody>
      </p:sp>
      <p:sp>
        <p:nvSpPr>
          <p:cNvPr id="22" name="Shape 20"/>
          <p:cNvSpPr/>
          <p:nvPr/>
        </p:nvSpPr>
        <p:spPr>
          <a:xfrm>
            <a:off x="9020175" y="5572348"/>
            <a:ext cx="9525" cy="1276350"/>
          </a:xfrm>
          <a:prstGeom prst="rect">
            <a:avLst/>
          </a:prstGeom>
          <a:solidFill>
            <a:srgbClr val="E3E1DA"/>
          </a:solidFill>
          <a:ln/>
        </p:spPr>
        <p:txBody>
          <a:bodyPr/>
          <a:lstStyle/>
          <a:p>
            <a:endParaRPr lang="en-US"/>
          </a:p>
        </p:txBody>
      </p:sp>
      <p:sp>
        <p:nvSpPr>
          <p:cNvPr id="23" name="Text 21"/>
          <p:cNvSpPr/>
          <p:nvPr/>
        </p:nvSpPr>
        <p:spPr>
          <a:xfrm>
            <a:off x="1381125" y="5829523"/>
            <a:ext cx="442615" cy="409575"/>
          </a:xfrm>
          <a:prstGeom prst="rect">
            <a:avLst/>
          </a:prstGeom>
          <a:noFill/>
          <a:ln/>
        </p:spPr>
        <p:txBody>
          <a:bodyPr wrap="square" lIns="25400" tIns="25400" rIns="25400" bIns="25400" rtlCol="0" anchor="t">
            <a:normAutofit/>
          </a:bodyPr>
          <a:lstStyle/>
          <a:p>
            <a:pPr marL="0" indent="0" algn="l">
              <a:buNone/>
            </a:pPr>
            <a:r>
              <a:rPr lang="en-US" sz="2400" b="1" dirty="0">
                <a:solidFill>
                  <a:srgbClr val="7A4FD0"/>
                </a:solidFill>
                <a:latin typeface="Courier New" pitchFamily="34" charset="0"/>
                <a:ea typeface="Courier New" pitchFamily="34" charset="-122"/>
                <a:cs typeface="Courier New" pitchFamily="34" charset="-120"/>
              </a:rPr>
              <a:t>⌘L</a:t>
            </a:r>
            <a:endParaRPr lang="en-US" sz="2400" dirty="0"/>
          </a:p>
        </p:txBody>
      </p:sp>
      <p:sp>
        <p:nvSpPr>
          <p:cNvPr id="24" name="Text 22"/>
          <p:cNvSpPr/>
          <p:nvPr/>
        </p:nvSpPr>
        <p:spPr>
          <a:xfrm>
            <a:off x="1880890" y="5829523"/>
            <a:ext cx="720030"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Chat</a:t>
            </a:r>
            <a:endParaRPr lang="en-US" sz="2400" dirty="0"/>
          </a:p>
        </p:txBody>
      </p:sp>
      <p:sp>
        <p:nvSpPr>
          <p:cNvPr id="25" name="Text 23"/>
          <p:cNvSpPr/>
          <p:nvPr/>
        </p:nvSpPr>
        <p:spPr>
          <a:xfrm>
            <a:off x="1381125" y="6277198"/>
            <a:ext cx="8088630" cy="35242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Ask about the codebase; pull files with </a:t>
            </a:r>
            <a:r>
              <a:rPr lang="en-US" sz="2025" dirty="0">
                <a:solidFill>
                  <a:srgbClr val="7C7A73"/>
                </a:solidFill>
                <a:latin typeface="Courier New" pitchFamily="34" charset="0"/>
                <a:ea typeface="Courier New" pitchFamily="34" charset="-122"/>
                <a:cs typeface="Courier New" pitchFamily="34" charset="-120"/>
              </a:rPr>
              <a:t>@</a:t>
            </a:r>
            <a:endParaRPr lang="en-US" sz="2025" dirty="0"/>
          </a:p>
        </p:txBody>
      </p:sp>
      <p:sp>
        <p:nvSpPr>
          <p:cNvPr id="26" name="Shape 24"/>
          <p:cNvSpPr/>
          <p:nvPr/>
        </p:nvSpPr>
        <p:spPr>
          <a:xfrm>
            <a:off x="9258300" y="5572348"/>
            <a:ext cx="7981950" cy="1276350"/>
          </a:xfrm>
          <a:prstGeom prst="roundRect">
            <a:avLst>
              <a:gd name="adj" fmla="val 11940"/>
            </a:avLst>
          </a:prstGeom>
          <a:solidFill>
            <a:srgbClr val="FBF0D9"/>
          </a:solidFill>
          <a:ln w="19050">
            <a:solidFill>
              <a:srgbClr val="C77D0A"/>
            </a:solidFill>
            <a:prstDash val="solid"/>
          </a:ln>
        </p:spPr>
        <p:txBody>
          <a:bodyPr/>
          <a:lstStyle/>
          <a:p>
            <a:endParaRPr lang="en-US"/>
          </a:p>
        </p:txBody>
      </p:sp>
      <p:sp>
        <p:nvSpPr>
          <p:cNvPr id="27" name="Text 25"/>
          <p:cNvSpPr/>
          <p:nvPr/>
        </p:nvSpPr>
        <p:spPr>
          <a:xfrm>
            <a:off x="9563100" y="5867623"/>
            <a:ext cx="990749"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C77D0A"/>
                </a:solidFill>
                <a:latin typeface="Courier New" pitchFamily="34" charset="0"/>
                <a:ea typeface="Courier New" pitchFamily="34" charset="-122"/>
                <a:cs typeface="Courier New" pitchFamily="34" charset="-120"/>
              </a:rPr>
              <a:t>Agent</a:t>
            </a:r>
            <a:endParaRPr lang="en-US" sz="2400" dirty="0"/>
          </a:p>
        </p:txBody>
      </p:sp>
      <p:sp>
        <p:nvSpPr>
          <p:cNvPr id="28" name="Text 26"/>
          <p:cNvSpPr/>
          <p:nvPr/>
        </p:nvSpPr>
        <p:spPr>
          <a:xfrm>
            <a:off x="10610999" y="5839048"/>
            <a:ext cx="1210866"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Multi-file</a:t>
            </a:r>
            <a:endParaRPr lang="en-US" sz="2400" dirty="0"/>
          </a:p>
        </p:txBody>
      </p:sp>
      <p:sp>
        <p:nvSpPr>
          <p:cNvPr id="29" name="Text 27"/>
          <p:cNvSpPr/>
          <p:nvPr/>
        </p:nvSpPr>
        <p:spPr>
          <a:xfrm>
            <a:off x="9563100" y="6286723"/>
            <a:ext cx="810958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Give a goal; it edits across many files</a:t>
            </a:r>
            <a:endParaRPr lang="en-US" sz="2025" dirty="0"/>
          </a:p>
        </p:txBody>
      </p:sp>
      <p:sp>
        <p:nvSpPr>
          <p:cNvPr id="30" name="Text 28"/>
          <p:cNvSpPr/>
          <p:nvPr/>
        </p:nvSpPr>
        <p:spPr>
          <a:xfrm>
            <a:off x="1047750" y="9029700"/>
            <a:ext cx="17811750" cy="342900"/>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Start with </a:t>
            </a:r>
            <a:r>
              <a:rPr lang="en-US" sz="2025" dirty="0">
                <a:solidFill>
                  <a:srgbClr val="1A1A1A"/>
                </a:solidFill>
                <a:highlight>
                  <a:srgbClr val="FFF1A8"/>
                </a:highlight>
                <a:latin typeface="Georgia" pitchFamily="34" charset="0"/>
                <a:ea typeface="Georgia" pitchFamily="34" charset="-122"/>
                <a:cs typeface="Georgia" pitchFamily="34" charset="-120"/>
              </a:rPr>
              <a:t>Tab &amp; ⌘K</a:t>
            </a:r>
            <a:r>
              <a:rPr lang="en-US" sz="2025" dirty="0">
                <a:solidFill>
                  <a:srgbClr val="1A1A1A"/>
                </a:solidFill>
                <a:latin typeface="Georgia" pitchFamily="34" charset="0"/>
                <a:ea typeface="Georgia" pitchFamily="34" charset="-122"/>
                <a:cs typeface="Georgia" pitchFamily="34" charset="-120"/>
              </a:rPr>
              <a:t>; grow into chat &amp; the agent.</a:t>
            </a:r>
            <a:endParaRPr lang="en-US" sz="2025" dirty="0"/>
          </a:p>
        </p:txBody>
      </p:sp>
      <p:sp>
        <p:nvSpPr>
          <p:cNvPr id="31" name="Shape 29"/>
          <p:cNvSpPr/>
          <p:nvPr/>
        </p:nvSpPr>
        <p:spPr>
          <a:xfrm>
            <a:off x="1047750" y="9520238"/>
            <a:ext cx="16192500" cy="9525"/>
          </a:xfrm>
          <a:prstGeom prst="rect">
            <a:avLst/>
          </a:prstGeom>
          <a:solidFill>
            <a:srgbClr val="E3E1DA"/>
          </a:solidFill>
          <a:ln/>
        </p:spPr>
        <p:txBody>
          <a:bodyPr/>
          <a:lstStyle/>
          <a:p>
            <a:endParaRPr lang="en-US"/>
          </a:p>
        </p:txBody>
      </p:sp>
      <p:sp>
        <p:nvSpPr>
          <p:cNvPr id="32" name="Text 30"/>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3" name="Text 31"/>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602341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 · CLAUDE CODE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Claude Code: Install &amp; Start</a:t>
            </a:r>
            <a:endParaRPr lang="en-US" sz="4800" dirty="0"/>
          </a:p>
        </p:txBody>
      </p:sp>
      <p:sp>
        <p:nvSpPr>
          <p:cNvPr id="5" name="Shape 3"/>
          <p:cNvSpPr/>
          <p:nvPr/>
        </p:nvSpPr>
        <p:spPr>
          <a:xfrm>
            <a:off x="1047750" y="3775174"/>
            <a:ext cx="7810500" cy="3861122"/>
          </a:xfrm>
          <a:prstGeom prst="roundRect">
            <a:avLst>
              <a:gd name="adj" fmla="val 2960"/>
            </a:avLst>
          </a:prstGeom>
          <a:solidFill>
            <a:srgbClr val="1E1E26"/>
          </a:solidFill>
          <a:ln w="9525">
            <a:solidFill>
              <a:srgbClr val="33333C"/>
            </a:solidFill>
            <a:prstDash val="solid"/>
          </a:ln>
        </p:spPr>
        <p:txBody>
          <a:bodyPr/>
          <a:lstStyle/>
          <a:p>
            <a:endParaRPr lang="en-US"/>
          </a:p>
        </p:txBody>
      </p:sp>
      <p:sp>
        <p:nvSpPr>
          <p:cNvPr id="6" name="Shape 4"/>
          <p:cNvSpPr/>
          <p:nvPr/>
        </p:nvSpPr>
        <p:spPr>
          <a:xfrm>
            <a:off x="1057275" y="3784699"/>
            <a:ext cx="7791450" cy="504825"/>
          </a:xfrm>
          <a:prstGeom prst="rect">
            <a:avLst/>
          </a:prstGeom>
          <a:solidFill>
            <a:srgbClr val="2A2A34"/>
          </a:solidFill>
          <a:ln/>
        </p:spPr>
        <p:txBody>
          <a:bodyPr/>
          <a:lstStyle/>
          <a:p>
            <a:endParaRPr lang="en-US"/>
          </a:p>
        </p:txBody>
      </p:sp>
      <p:sp>
        <p:nvSpPr>
          <p:cNvPr id="7" name="Shape 5"/>
          <p:cNvSpPr/>
          <p:nvPr/>
        </p:nvSpPr>
        <p:spPr>
          <a:xfrm>
            <a:off x="1228725" y="3975199"/>
            <a:ext cx="123825" cy="123825"/>
          </a:xfrm>
          <a:prstGeom prst="ellipse">
            <a:avLst/>
          </a:prstGeom>
          <a:solidFill>
            <a:srgbClr val="E5695F"/>
          </a:solidFill>
          <a:ln/>
        </p:spPr>
        <p:txBody>
          <a:bodyPr/>
          <a:lstStyle/>
          <a:p>
            <a:endParaRPr lang="en-US"/>
          </a:p>
        </p:txBody>
      </p:sp>
      <p:sp>
        <p:nvSpPr>
          <p:cNvPr id="8" name="Shape 6"/>
          <p:cNvSpPr/>
          <p:nvPr/>
        </p:nvSpPr>
        <p:spPr>
          <a:xfrm>
            <a:off x="1438275" y="3975199"/>
            <a:ext cx="123825" cy="123825"/>
          </a:xfrm>
          <a:prstGeom prst="ellipse">
            <a:avLst/>
          </a:prstGeom>
          <a:solidFill>
            <a:srgbClr val="E6B344"/>
          </a:solidFill>
          <a:ln/>
        </p:spPr>
        <p:txBody>
          <a:bodyPr/>
          <a:lstStyle/>
          <a:p>
            <a:endParaRPr lang="en-US"/>
          </a:p>
        </p:txBody>
      </p:sp>
      <p:sp>
        <p:nvSpPr>
          <p:cNvPr id="9" name="Shape 7"/>
          <p:cNvSpPr/>
          <p:nvPr/>
        </p:nvSpPr>
        <p:spPr>
          <a:xfrm>
            <a:off x="1647825" y="3975199"/>
            <a:ext cx="123825" cy="123825"/>
          </a:xfrm>
          <a:prstGeom prst="ellipse">
            <a:avLst/>
          </a:prstGeom>
          <a:solidFill>
            <a:srgbClr val="69B06A"/>
          </a:solidFill>
          <a:ln/>
        </p:spPr>
        <p:txBody>
          <a:bodyPr/>
          <a:lstStyle/>
          <a:p>
            <a:endParaRPr lang="en-US"/>
          </a:p>
        </p:txBody>
      </p:sp>
      <p:sp>
        <p:nvSpPr>
          <p:cNvPr id="10" name="Text 8"/>
          <p:cNvSpPr/>
          <p:nvPr/>
        </p:nvSpPr>
        <p:spPr>
          <a:xfrm>
            <a:off x="1933575" y="3908524"/>
            <a:ext cx="62492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9A9AA5"/>
                </a:solidFill>
                <a:latin typeface="Courier New" pitchFamily="34" charset="0"/>
                <a:ea typeface="Courier New" pitchFamily="34" charset="-122"/>
                <a:cs typeface="Courier New" pitchFamily="34" charset="-120"/>
              </a:rPr>
              <a:t>bash</a:t>
            </a:r>
            <a:endParaRPr lang="en-US" sz="1800" dirty="0"/>
          </a:p>
        </p:txBody>
      </p:sp>
      <p:sp>
        <p:nvSpPr>
          <p:cNvPr id="11" name="Text 9"/>
          <p:cNvSpPr/>
          <p:nvPr/>
        </p:nvSpPr>
        <p:spPr>
          <a:xfrm>
            <a:off x="1304925" y="4518124"/>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7EE787"/>
                </a:solidFill>
                <a:latin typeface="Courier New" pitchFamily="34" charset="0"/>
                <a:ea typeface="Courier New" pitchFamily="34" charset="-122"/>
                <a:cs typeface="Courier New" pitchFamily="34" charset="-120"/>
              </a:rPr>
              <a:t>$ </a:t>
            </a:r>
            <a:r>
              <a:rPr lang="en-US" sz="1800" dirty="0">
                <a:solidFill>
                  <a:srgbClr val="E6E6EA"/>
                </a:solidFill>
                <a:latin typeface="Courier New" pitchFamily="34" charset="0"/>
                <a:ea typeface="Courier New" pitchFamily="34" charset="-122"/>
                <a:cs typeface="Courier New" pitchFamily="34" charset="-120"/>
              </a:rPr>
              <a:t>npm install -g @anthropic-ai/claude-code</a:t>
            </a:r>
            <a:endParaRPr lang="en-US" sz="1800" dirty="0"/>
          </a:p>
        </p:txBody>
      </p:sp>
      <p:sp>
        <p:nvSpPr>
          <p:cNvPr id="12" name="Text 10"/>
          <p:cNvSpPr/>
          <p:nvPr/>
        </p:nvSpPr>
        <p:spPr>
          <a:xfrm>
            <a:off x="1304925" y="4929560"/>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added 1 package ✓</a:t>
            </a:r>
            <a:endParaRPr lang="en-US" sz="1800" dirty="0"/>
          </a:p>
        </p:txBody>
      </p:sp>
      <p:sp>
        <p:nvSpPr>
          <p:cNvPr id="13" name="Text 11"/>
          <p:cNvSpPr/>
          <p:nvPr/>
        </p:nvSpPr>
        <p:spPr>
          <a:xfrm>
            <a:off x="1304925" y="5340995"/>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7EE787"/>
                </a:solidFill>
                <a:latin typeface="Courier New" pitchFamily="34" charset="0"/>
                <a:ea typeface="Courier New" pitchFamily="34" charset="-122"/>
                <a:cs typeface="Courier New" pitchFamily="34" charset="-120"/>
              </a:rPr>
              <a:t>$ </a:t>
            </a:r>
            <a:r>
              <a:rPr lang="en-US" sz="1800" dirty="0">
                <a:solidFill>
                  <a:srgbClr val="E6E6EA"/>
                </a:solidFill>
                <a:latin typeface="Courier New" pitchFamily="34" charset="0"/>
                <a:ea typeface="Courier New" pitchFamily="34" charset="-122"/>
                <a:cs typeface="Courier New" pitchFamily="34" charset="-120"/>
              </a:rPr>
              <a:t>cd my-project</a:t>
            </a:r>
            <a:endParaRPr lang="en-US" sz="1800" dirty="0"/>
          </a:p>
        </p:txBody>
      </p:sp>
      <p:sp>
        <p:nvSpPr>
          <p:cNvPr id="14" name="Text 12"/>
          <p:cNvSpPr/>
          <p:nvPr/>
        </p:nvSpPr>
        <p:spPr>
          <a:xfrm>
            <a:off x="1304925" y="5752430"/>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7EE787"/>
                </a:solidFill>
                <a:latin typeface="Courier New" pitchFamily="34" charset="0"/>
                <a:ea typeface="Courier New" pitchFamily="34" charset="-122"/>
                <a:cs typeface="Courier New" pitchFamily="34" charset="-120"/>
              </a:rPr>
              <a:t>$ </a:t>
            </a:r>
            <a:r>
              <a:rPr lang="en-US" sz="1800" dirty="0">
                <a:solidFill>
                  <a:srgbClr val="E6E6EA"/>
                </a:solidFill>
                <a:latin typeface="Courier New" pitchFamily="34" charset="0"/>
                <a:ea typeface="Courier New" pitchFamily="34" charset="-122"/>
                <a:cs typeface="Courier New" pitchFamily="34" charset="-120"/>
              </a:rPr>
              <a:t>claude</a:t>
            </a:r>
            <a:endParaRPr lang="en-US" sz="1800" dirty="0"/>
          </a:p>
        </p:txBody>
      </p:sp>
      <p:sp>
        <p:nvSpPr>
          <p:cNvPr id="15" name="Text 13"/>
          <p:cNvSpPr/>
          <p:nvPr/>
        </p:nvSpPr>
        <p:spPr>
          <a:xfrm>
            <a:off x="1304925" y="6163866"/>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D2A8FF"/>
                </a:solidFill>
                <a:latin typeface="Courier New" pitchFamily="34" charset="0"/>
                <a:ea typeface="Courier New" pitchFamily="34" charset="-122"/>
                <a:cs typeface="Courier New" pitchFamily="34" charset="-120"/>
              </a:rPr>
              <a:t>✦ Welcome to Claude Code</a:t>
            </a:r>
            <a:endParaRPr lang="en-US" sz="1800" dirty="0"/>
          </a:p>
        </p:txBody>
      </p:sp>
      <p:sp>
        <p:nvSpPr>
          <p:cNvPr id="16" name="Text 14"/>
          <p:cNvSpPr/>
          <p:nvPr/>
        </p:nvSpPr>
        <p:spPr>
          <a:xfrm>
            <a:off x="1304925" y="6575301"/>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signed in · working in ~/my-project</a:t>
            </a:r>
            <a:endParaRPr lang="en-US" sz="1800" dirty="0"/>
          </a:p>
        </p:txBody>
      </p:sp>
      <p:sp>
        <p:nvSpPr>
          <p:cNvPr id="17" name="Text 15"/>
          <p:cNvSpPr/>
          <p:nvPr/>
        </p:nvSpPr>
        <p:spPr>
          <a:xfrm>
            <a:off x="1304925" y="6986736"/>
            <a:ext cx="751503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E3B341"/>
                </a:solidFill>
                <a:latin typeface="Courier New" pitchFamily="34" charset="0"/>
                <a:ea typeface="Courier New" pitchFamily="34" charset="-122"/>
                <a:cs typeface="Courier New" pitchFamily="34" charset="-120"/>
              </a:rPr>
              <a:t>› </a:t>
            </a:r>
            <a:r>
              <a:rPr lang="en-US" sz="1800" dirty="0">
                <a:solidFill>
                  <a:srgbClr val="E6E6EA"/>
                </a:solidFill>
                <a:latin typeface="Courier New" pitchFamily="34" charset="0"/>
                <a:ea typeface="Courier New" pitchFamily="34" charset="-122"/>
                <a:cs typeface="Courier New" pitchFamily="34" charset="-120"/>
              </a:rPr>
              <a:t>_</a:t>
            </a:r>
            <a:endParaRPr lang="en-US" sz="1800" dirty="0"/>
          </a:p>
        </p:txBody>
      </p:sp>
      <p:sp>
        <p:nvSpPr>
          <p:cNvPr id="18" name="Text 16"/>
          <p:cNvSpPr/>
          <p:nvPr/>
        </p:nvSpPr>
        <p:spPr>
          <a:xfrm>
            <a:off x="9391650" y="4987528"/>
            <a:ext cx="8633460" cy="512415"/>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1A1A1A"/>
                </a:solidFill>
                <a:latin typeface="Georgia" pitchFamily="34" charset="0"/>
                <a:ea typeface="Georgia" pitchFamily="34" charset="-122"/>
                <a:cs typeface="Georgia" pitchFamily="34" charset="-120"/>
              </a:rPr>
              <a:t>Install once, then just </a:t>
            </a:r>
            <a:r>
              <a:rPr lang="en-US" sz="2700" dirty="0">
                <a:solidFill>
                  <a:srgbClr val="1A1A1A"/>
                </a:solidFill>
                <a:latin typeface="Courier New" pitchFamily="34" charset="0"/>
                <a:ea typeface="Courier New" pitchFamily="34" charset="-122"/>
                <a:cs typeface="Courier New" pitchFamily="34" charset="-120"/>
              </a:rPr>
              <a:t>claude</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19" name="Text 17"/>
          <p:cNvSpPr/>
          <p:nvPr/>
        </p:nvSpPr>
        <p:spPr>
          <a:xfrm>
            <a:off x="9391650" y="5652343"/>
            <a:ext cx="8084058"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It runs </a:t>
            </a:r>
            <a:r>
              <a:rPr lang="en-US" sz="2025" b="1" dirty="0">
                <a:solidFill>
                  <a:srgbClr val="1A1A1A"/>
                </a:solidFill>
                <a:latin typeface="Arial" pitchFamily="34" charset="0"/>
                <a:ea typeface="Arial" pitchFamily="34" charset="-122"/>
                <a:cs typeface="Arial" pitchFamily="34" charset="-120"/>
              </a:rPr>
              <a:t>in your project folder </a:t>
            </a:r>
            <a:r>
              <a:rPr lang="en-US" sz="2025" dirty="0">
                <a:solidFill>
                  <a:srgbClr val="3D3D3D"/>
                </a:solidFill>
                <a:latin typeface="Arial" pitchFamily="34" charset="0"/>
                <a:ea typeface="Arial" pitchFamily="34" charset="-122"/>
                <a:cs typeface="Arial" pitchFamily="34" charset="-120"/>
              </a:rPr>
              <a:t>and can see &amp; change those files. First run walks you through sign-in.</a:t>
            </a:r>
            <a:endParaRPr lang="en-US" sz="2025" dirty="0"/>
          </a:p>
        </p:txBody>
      </p:sp>
      <p:sp>
        <p:nvSpPr>
          <p:cNvPr id="20" name="Shape 18"/>
          <p:cNvSpPr/>
          <p:nvPr/>
        </p:nvSpPr>
        <p:spPr>
          <a:xfrm>
            <a:off x="1047750" y="9520238"/>
            <a:ext cx="16192500" cy="9525"/>
          </a:xfrm>
          <a:prstGeom prst="rect">
            <a:avLst/>
          </a:prstGeom>
          <a:solidFill>
            <a:srgbClr val="E3E1DA"/>
          </a:solidFill>
          <a:ln/>
        </p:spPr>
        <p:txBody>
          <a:bodyPr/>
          <a:lstStyle/>
          <a:p>
            <a:endParaRPr lang="en-US"/>
          </a:p>
        </p:txBody>
      </p:sp>
      <p:sp>
        <p:nvSpPr>
          <p:cNvPr id="21" name="Text 19"/>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2" name="Text 20"/>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602341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 · CLAUDE CODE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Claude Code: A Real Session</a:t>
            </a:r>
            <a:endParaRPr lang="en-US" sz="4800" dirty="0"/>
          </a:p>
        </p:txBody>
      </p:sp>
      <p:sp>
        <p:nvSpPr>
          <p:cNvPr id="5" name="Shape 3"/>
          <p:cNvSpPr/>
          <p:nvPr/>
        </p:nvSpPr>
        <p:spPr>
          <a:xfrm>
            <a:off x="1047750" y="3980855"/>
            <a:ext cx="8572500" cy="3449687"/>
          </a:xfrm>
          <a:prstGeom prst="roundRect">
            <a:avLst>
              <a:gd name="adj" fmla="val 3313"/>
            </a:avLst>
          </a:prstGeom>
          <a:solidFill>
            <a:srgbClr val="1E1E26"/>
          </a:solidFill>
          <a:ln w="9525">
            <a:solidFill>
              <a:srgbClr val="33333C"/>
            </a:solidFill>
            <a:prstDash val="solid"/>
          </a:ln>
        </p:spPr>
        <p:txBody>
          <a:bodyPr/>
          <a:lstStyle/>
          <a:p>
            <a:endParaRPr lang="en-US"/>
          </a:p>
        </p:txBody>
      </p:sp>
      <p:sp>
        <p:nvSpPr>
          <p:cNvPr id="6" name="Shape 4"/>
          <p:cNvSpPr/>
          <p:nvPr/>
        </p:nvSpPr>
        <p:spPr>
          <a:xfrm>
            <a:off x="1057275" y="3990380"/>
            <a:ext cx="8553450" cy="504825"/>
          </a:xfrm>
          <a:prstGeom prst="rect">
            <a:avLst/>
          </a:prstGeom>
          <a:solidFill>
            <a:srgbClr val="2A2A34"/>
          </a:solidFill>
          <a:ln/>
        </p:spPr>
        <p:txBody>
          <a:bodyPr/>
          <a:lstStyle/>
          <a:p>
            <a:endParaRPr lang="en-US"/>
          </a:p>
        </p:txBody>
      </p:sp>
      <p:sp>
        <p:nvSpPr>
          <p:cNvPr id="7" name="Shape 5"/>
          <p:cNvSpPr/>
          <p:nvPr/>
        </p:nvSpPr>
        <p:spPr>
          <a:xfrm>
            <a:off x="1228725" y="4180880"/>
            <a:ext cx="123825" cy="123825"/>
          </a:xfrm>
          <a:prstGeom prst="ellipse">
            <a:avLst/>
          </a:prstGeom>
          <a:solidFill>
            <a:srgbClr val="E5695F"/>
          </a:solidFill>
          <a:ln/>
        </p:spPr>
        <p:txBody>
          <a:bodyPr/>
          <a:lstStyle/>
          <a:p>
            <a:endParaRPr lang="en-US"/>
          </a:p>
        </p:txBody>
      </p:sp>
      <p:sp>
        <p:nvSpPr>
          <p:cNvPr id="8" name="Shape 6"/>
          <p:cNvSpPr/>
          <p:nvPr/>
        </p:nvSpPr>
        <p:spPr>
          <a:xfrm>
            <a:off x="1438275" y="4180880"/>
            <a:ext cx="123825" cy="123825"/>
          </a:xfrm>
          <a:prstGeom prst="ellipse">
            <a:avLst/>
          </a:prstGeom>
          <a:solidFill>
            <a:srgbClr val="E6B344"/>
          </a:solidFill>
          <a:ln/>
        </p:spPr>
        <p:txBody>
          <a:bodyPr/>
          <a:lstStyle/>
          <a:p>
            <a:endParaRPr lang="en-US"/>
          </a:p>
        </p:txBody>
      </p:sp>
      <p:sp>
        <p:nvSpPr>
          <p:cNvPr id="9" name="Shape 7"/>
          <p:cNvSpPr/>
          <p:nvPr/>
        </p:nvSpPr>
        <p:spPr>
          <a:xfrm>
            <a:off x="1647825" y="4180880"/>
            <a:ext cx="123825" cy="123825"/>
          </a:xfrm>
          <a:prstGeom prst="ellipse">
            <a:avLst/>
          </a:prstGeom>
          <a:solidFill>
            <a:srgbClr val="69B06A"/>
          </a:solidFill>
          <a:ln/>
        </p:spPr>
        <p:txBody>
          <a:bodyPr/>
          <a:lstStyle/>
          <a:p>
            <a:endParaRPr lang="en-US"/>
          </a:p>
        </p:txBody>
      </p:sp>
      <p:sp>
        <p:nvSpPr>
          <p:cNvPr id="10" name="Text 8"/>
          <p:cNvSpPr/>
          <p:nvPr/>
        </p:nvSpPr>
        <p:spPr>
          <a:xfrm>
            <a:off x="1933575" y="4114205"/>
            <a:ext cx="2867152" cy="295275"/>
          </a:xfrm>
          <a:prstGeom prst="rect">
            <a:avLst/>
          </a:prstGeom>
          <a:noFill/>
          <a:ln/>
        </p:spPr>
        <p:txBody>
          <a:bodyPr wrap="square" lIns="25400" tIns="25400" rIns="25400" bIns="25400" rtlCol="0" anchor="t">
            <a:normAutofit/>
          </a:bodyPr>
          <a:lstStyle/>
          <a:p>
            <a:pPr marL="0" indent="0" algn="l">
              <a:buNone/>
            </a:pPr>
            <a:r>
              <a:rPr lang="en-US" sz="1800" dirty="0">
                <a:solidFill>
                  <a:srgbClr val="9A9AA5"/>
                </a:solidFill>
                <a:latin typeface="Courier New" pitchFamily="34" charset="0"/>
                <a:ea typeface="Courier New" pitchFamily="34" charset="-122"/>
                <a:cs typeface="Courier New" pitchFamily="34" charset="-120"/>
              </a:rPr>
              <a:t>claude — my-project</a:t>
            </a:r>
            <a:endParaRPr lang="en-US" sz="1800" dirty="0"/>
          </a:p>
        </p:txBody>
      </p:sp>
      <p:sp>
        <p:nvSpPr>
          <p:cNvPr id="11" name="Text 9"/>
          <p:cNvSpPr/>
          <p:nvPr/>
        </p:nvSpPr>
        <p:spPr>
          <a:xfrm>
            <a:off x="1304925" y="4723805"/>
            <a:ext cx="8299894"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E3B341"/>
                </a:solidFill>
                <a:latin typeface="Courier New" pitchFamily="34" charset="0"/>
                <a:ea typeface="Courier New" pitchFamily="34" charset="-122"/>
                <a:cs typeface="Courier New" pitchFamily="34" charset="-120"/>
              </a:rPr>
              <a:t>› </a:t>
            </a:r>
            <a:r>
              <a:rPr lang="en-US" sz="1800" dirty="0">
                <a:solidFill>
                  <a:srgbClr val="E6E6EA"/>
                </a:solidFill>
                <a:latin typeface="Courier New" pitchFamily="34" charset="0"/>
                <a:ea typeface="Courier New" pitchFamily="34" charset="-122"/>
                <a:cs typeface="Courier New" pitchFamily="34" charset="-120"/>
              </a:rPr>
              <a:t>add input validation to signup()</a:t>
            </a:r>
            <a:endParaRPr lang="en-US" sz="1800" dirty="0"/>
          </a:p>
        </p:txBody>
      </p:sp>
      <p:sp>
        <p:nvSpPr>
          <p:cNvPr id="12" name="Text 10"/>
          <p:cNvSpPr/>
          <p:nvPr/>
        </p:nvSpPr>
        <p:spPr>
          <a:xfrm>
            <a:off x="1304925" y="5135240"/>
            <a:ext cx="8299894"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D2A8FF"/>
                </a:solidFill>
                <a:latin typeface="Courier New" pitchFamily="34" charset="0"/>
                <a:ea typeface="Courier New" pitchFamily="34" charset="-122"/>
                <a:cs typeface="Courier New" pitchFamily="34" charset="-120"/>
              </a:rPr>
              <a:t>● I’ll update </a:t>
            </a:r>
            <a:r>
              <a:rPr lang="en-US" sz="1800" dirty="0">
                <a:solidFill>
                  <a:srgbClr val="E6E6EA"/>
                </a:solidFill>
                <a:latin typeface="Courier New" pitchFamily="34" charset="0"/>
                <a:ea typeface="Courier New" pitchFamily="34" charset="-122"/>
                <a:cs typeface="Courier New" pitchFamily="34" charset="-120"/>
              </a:rPr>
              <a:t>auth.py </a:t>
            </a:r>
            <a:r>
              <a:rPr lang="en-US" sz="1800" dirty="0">
                <a:solidFill>
                  <a:srgbClr val="D2A8FF"/>
                </a:solidFill>
                <a:latin typeface="Courier New" pitchFamily="34" charset="0"/>
                <a:ea typeface="Courier New" pitchFamily="34" charset="-122"/>
                <a:cs typeface="Courier New" pitchFamily="34" charset="-120"/>
              </a:rPr>
              <a:t>and add a test.</a:t>
            </a:r>
            <a:endParaRPr lang="en-US" sz="1800" dirty="0"/>
          </a:p>
        </p:txBody>
      </p:sp>
      <p:sp>
        <p:nvSpPr>
          <p:cNvPr id="13" name="Text 11"/>
          <p:cNvSpPr/>
          <p:nvPr/>
        </p:nvSpPr>
        <p:spPr>
          <a:xfrm>
            <a:off x="1304925" y="5546675"/>
            <a:ext cx="8299894"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Edited auth.py </a:t>
            </a:r>
            <a:r>
              <a:rPr lang="en-US" sz="1800" dirty="0">
                <a:solidFill>
                  <a:srgbClr val="7EE787"/>
                </a:solidFill>
                <a:latin typeface="Courier New" pitchFamily="34" charset="0"/>
                <a:ea typeface="Courier New" pitchFamily="34" charset="-122"/>
                <a:cs typeface="Courier New" pitchFamily="34" charset="-120"/>
              </a:rPr>
              <a:t>+14 </a:t>
            </a:r>
            <a:r>
              <a:rPr lang="en-US" sz="1800" dirty="0">
                <a:solidFill>
                  <a:srgbClr val="E5695F"/>
                </a:solidFill>
                <a:latin typeface="Courier New" pitchFamily="34" charset="0"/>
                <a:ea typeface="Courier New" pitchFamily="34" charset="-122"/>
                <a:cs typeface="Courier New" pitchFamily="34" charset="-120"/>
              </a:rPr>
              <a:t>-2</a:t>
            </a:r>
            <a:endParaRPr lang="en-US" sz="1800" dirty="0"/>
          </a:p>
        </p:txBody>
      </p:sp>
      <p:sp>
        <p:nvSpPr>
          <p:cNvPr id="14" name="Text 12"/>
          <p:cNvSpPr/>
          <p:nvPr/>
        </p:nvSpPr>
        <p:spPr>
          <a:xfrm>
            <a:off x="1304925" y="5958111"/>
            <a:ext cx="8299894"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Added tests/test_auth.py </a:t>
            </a:r>
            <a:r>
              <a:rPr lang="en-US" sz="1800" dirty="0">
                <a:solidFill>
                  <a:srgbClr val="7EE787"/>
                </a:solidFill>
                <a:latin typeface="Courier New" pitchFamily="34" charset="0"/>
                <a:ea typeface="Courier New" pitchFamily="34" charset="-122"/>
                <a:cs typeface="Courier New" pitchFamily="34" charset="-120"/>
              </a:rPr>
              <a:t>+21</a:t>
            </a:r>
            <a:endParaRPr lang="en-US" sz="1800" dirty="0"/>
          </a:p>
        </p:txBody>
      </p:sp>
      <p:sp>
        <p:nvSpPr>
          <p:cNvPr id="15" name="Text 13"/>
          <p:cNvSpPr/>
          <p:nvPr/>
        </p:nvSpPr>
        <p:spPr>
          <a:xfrm>
            <a:off x="1304925" y="6369546"/>
            <a:ext cx="8299894"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Ran pytest · </a:t>
            </a:r>
            <a:r>
              <a:rPr lang="en-US" sz="1800" dirty="0">
                <a:solidFill>
                  <a:srgbClr val="7EE787"/>
                </a:solidFill>
                <a:latin typeface="Courier New" pitchFamily="34" charset="0"/>
                <a:ea typeface="Courier New" pitchFamily="34" charset="-122"/>
                <a:cs typeface="Courier New" pitchFamily="34" charset="-120"/>
              </a:rPr>
              <a:t>9 passed ✓</a:t>
            </a:r>
            <a:endParaRPr lang="en-US" sz="1800" dirty="0"/>
          </a:p>
        </p:txBody>
      </p:sp>
      <p:sp>
        <p:nvSpPr>
          <p:cNvPr id="16" name="Text 14"/>
          <p:cNvSpPr/>
          <p:nvPr/>
        </p:nvSpPr>
        <p:spPr>
          <a:xfrm>
            <a:off x="1304925" y="6780981"/>
            <a:ext cx="8299894"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E6B344"/>
                </a:solidFill>
                <a:latin typeface="Courier New" pitchFamily="34" charset="0"/>
                <a:ea typeface="Courier New" pitchFamily="34" charset="-122"/>
                <a:cs typeface="Courier New" pitchFamily="34" charset="-120"/>
              </a:rPr>
              <a:t>Apply these changes? (y/n) </a:t>
            </a:r>
            <a:r>
              <a:rPr lang="en-US" sz="1800" dirty="0">
                <a:solidFill>
                  <a:srgbClr val="E6E6EA"/>
                </a:solidFill>
                <a:latin typeface="Courier New" pitchFamily="34" charset="0"/>
                <a:ea typeface="Courier New" pitchFamily="34" charset="-122"/>
                <a:cs typeface="Courier New" pitchFamily="34" charset="-120"/>
              </a:rPr>
              <a:t>_</a:t>
            </a:r>
            <a:endParaRPr lang="en-US" sz="1800" dirty="0"/>
          </a:p>
        </p:txBody>
      </p:sp>
      <p:sp>
        <p:nvSpPr>
          <p:cNvPr id="17" name="Text 15"/>
          <p:cNvSpPr/>
          <p:nvPr/>
        </p:nvSpPr>
        <p:spPr>
          <a:xfrm>
            <a:off x="10096500" y="5019898"/>
            <a:ext cx="7858125" cy="466725"/>
          </a:xfrm>
          <a:prstGeom prst="rect">
            <a:avLst/>
          </a:prstGeom>
          <a:noFill/>
          <a:ln/>
        </p:spPr>
        <p:txBody>
          <a:bodyPr wrap="square" lIns="25400" tIns="25400" rIns="25400" bIns="25400" rtlCol="0" anchor="t">
            <a:normAutofit/>
          </a:bodyPr>
          <a:lstStyle/>
          <a:p>
            <a:pPr marL="0" indent="0" algn="l">
              <a:lnSpc>
                <a:spcPct val="125000"/>
              </a:lnSpc>
              <a:buNone/>
            </a:pPr>
            <a:r>
              <a:rPr lang="en-US" sz="2700" dirty="0">
                <a:solidFill>
                  <a:srgbClr val="1A1A1A"/>
                </a:solidFill>
                <a:latin typeface="Georgia" pitchFamily="34" charset="0"/>
                <a:ea typeface="Georgia" pitchFamily="34" charset="-122"/>
                <a:cs typeface="Georgia" pitchFamily="34" charset="-120"/>
              </a:rPr>
              <a:t>Plan → edit → verify → </a:t>
            </a:r>
            <a:r>
              <a:rPr lang="en-US" sz="2700" dirty="0">
                <a:solidFill>
                  <a:srgbClr val="1A1A1A"/>
                </a:solidFill>
                <a:highlight>
                  <a:srgbClr val="FFF1A8"/>
                </a:highlight>
                <a:latin typeface="Georgia" pitchFamily="34" charset="0"/>
                <a:ea typeface="Georgia" pitchFamily="34" charset="-122"/>
                <a:cs typeface="Georgia" pitchFamily="34" charset="-120"/>
              </a:rPr>
              <a:t>you approve</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18" name="Text 16"/>
          <p:cNvSpPr/>
          <p:nvPr/>
        </p:nvSpPr>
        <p:spPr>
          <a:xfrm>
            <a:off x="10096500" y="5619973"/>
            <a:ext cx="7358063" cy="809625"/>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It does the typing and runs the tests — nothing is final until you say yes.</a:t>
            </a:r>
            <a:endParaRPr lang="en-US" sz="2025" dirty="0"/>
          </a:p>
        </p:txBody>
      </p:sp>
      <p:sp>
        <p:nvSpPr>
          <p:cNvPr id="19" name="Shape 17"/>
          <p:cNvSpPr/>
          <p:nvPr/>
        </p:nvSpPr>
        <p:spPr>
          <a:xfrm>
            <a:off x="1047750" y="9520238"/>
            <a:ext cx="16192500" cy="9525"/>
          </a:xfrm>
          <a:prstGeom prst="rect">
            <a:avLst/>
          </a:prstGeom>
          <a:solidFill>
            <a:srgbClr val="E3E1DA"/>
          </a:solidFill>
          <a:ln/>
        </p:spPr>
        <p:txBody>
          <a:bodyPr/>
          <a:lstStyle/>
          <a:p>
            <a:endParaRPr lang="en-US"/>
          </a:p>
        </p:txBody>
      </p:sp>
      <p:sp>
        <p:nvSpPr>
          <p:cNvPr id="20" name="Text 1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1" name="Text 19"/>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602341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 · CLAUDE CODE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Claude Code: Everyday Use</a:t>
            </a:r>
            <a:endParaRPr lang="en-US" sz="4800" dirty="0"/>
          </a:p>
        </p:txBody>
      </p:sp>
      <p:sp>
        <p:nvSpPr>
          <p:cNvPr id="5" name="Shape 3"/>
          <p:cNvSpPr/>
          <p:nvPr/>
        </p:nvSpPr>
        <p:spPr>
          <a:xfrm>
            <a:off x="1047750" y="3903092"/>
            <a:ext cx="66675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266825" y="4065017"/>
            <a:ext cx="64293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explain what </a:t>
            </a:r>
            <a:r>
              <a:rPr lang="en-US" sz="2025" dirty="0">
                <a:solidFill>
                  <a:srgbClr val="3D3D3D"/>
                </a:solidFill>
                <a:latin typeface="Courier New" pitchFamily="34" charset="0"/>
                <a:ea typeface="Courier New" pitchFamily="34" charset="-122"/>
                <a:cs typeface="Courier New" pitchFamily="34" charset="-120"/>
              </a:rPr>
              <a:t>payments.py </a:t>
            </a:r>
            <a:r>
              <a:rPr lang="en-US" sz="2025" dirty="0">
                <a:solidFill>
                  <a:srgbClr val="1A1A1A"/>
                </a:solidFill>
                <a:highlight>
                  <a:srgbClr val="F8F7F3"/>
                </a:highlight>
                <a:latin typeface="Courier New" pitchFamily="34" charset="0"/>
                <a:ea typeface="Courier New" pitchFamily="34" charset="-122"/>
                <a:cs typeface="Courier New" pitchFamily="34" charset="-120"/>
              </a:rPr>
              <a:t>does</a:t>
            </a:r>
            <a:endParaRPr lang="en-US" sz="2025" dirty="0"/>
          </a:p>
        </p:txBody>
      </p:sp>
      <p:sp>
        <p:nvSpPr>
          <p:cNvPr id="7" name="Shape 5"/>
          <p:cNvSpPr/>
          <p:nvPr/>
        </p:nvSpPr>
        <p:spPr>
          <a:xfrm>
            <a:off x="1047750" y="4650804"/>
            <a:ext cx="66675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8" name="Text 6"/>
          <p:cNvSpPr/>
          <p:nvPr/>
        </p:nvSpPr>
        <p:spPr>
          <a:xfrm>
            <a:off x="1266825" y="4812729"/>
            <a:ext cx="64293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fix the failing test in </a:t>
            </a:r>
            <a:r>
              <a:rPr lang="en-US" sz="2025" dirty="0">
                <a:solidFill>
                  <a:srgbClr val="3D3D3D"/>
                </a:solidFill>
                <a:latin typeface="Courier New" pitchFamily="34" charset="0"/>
                <a:ea typeface="Courier New" pitchFamily="34" charset="-122"/>
                <a:cs typeface="Courier New" pitchFamily="34" charset="-120"/>
              </a:rPr>
              <a:t>test_cart</a:t>
            </a:r>
            <a:endParaRPr lang="en-US" sz="2025" dirty="0"/>
          </a:p>
        </p:txBody>
      </p:sp>
      <p:sp>
        <p:nvSpPr>
          <p:cNvPr id="9" name="Shape 7"/>
          <p:cNvSpPr/>
          <p:nvPr/>
        </p:nvSpPr>
        <p:spPr>
          <a:xfrm>
            <a:off x="1047750" y="5398517"/>
            <a:ext cx="66675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10" name="Text 8"/>
          <p:cNvSpPr/>
          <p:nvPr/>
        </p:nvSpPr>
        <p:spPr>
          <a:xfrm>
            <a:off x="1266825" y="5560442"/>
            <a:ext cx="64293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add a </a:t>
            </a:r>
            <a:r>
              <a:rPr lang="en-US" sz="2025" dirty="0">
                <a:solidFill>
                  <a:srgbClr val="3D3D3D"/>
                </a:solidFill>
                <a:latin typeface="Courier New" pitchFamily="34" charset="0"/>
                <a:ea typeface="Courier New" pitchFamily="34" charset="-122"/>
                <a:cs typeface="Courier New" pitchFamily="34" charset="-120"/>
              </a:rPr>
              <a:t>/health </a:t>
            </a:r>
            <a:r>
              <a:rPr lang="en-US" sz="2025" dirty="0">
                <a:solidFill>
                  <a:srgbClr val="1A1A1A"/>
                </a:solidFill>
                <a:highlight>
                  <a:srgbClr val="F8F7F3"/>
                </a:highlight>
                <a:latin typeface="Courier New" pitchFamily="34" charset="0"/>
                <a:ea typeface="Courier New" pitchFamily="34" charset="-122"/>
                <a:cs typeface="Courier New" pitchFamily="34" charset="-120"/>
              </a:rPr>
              <a:t>endpoint</a:t>
            </a:r>
            <a:endParaRPr lang="en-US" sz="2025" dirty="0"/>
          </a:p>
        </p:txBody>
      </p:sp>
      <p:sp>
        <p:nvSpPr>
          <p:cNvPr id="11" name="Shape 9"/>
          <p:cNvSpPr/>
          <p:nvPr/>
        </p:nvSpPr>
        <p:spPr>
          <a:xfrm>
            <a:off x="1047750" y="6146229"/>
            <a:ext cx="66675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12" name="Text 10"/>
          <p:cNvSpPr/>
          <p:nvPr/>
        </p:nvSpPr>
        <p:spPr>
          <a:xfrm>
            <a:off x="1266825" y="6308154"/>
            <a:ext cx="64293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refactor this function to be clearer</a:t>
            </a:r>
            <a:endParaRPr lang="en-US" sz="2025" dirty="0"/>
          </a:p>
        </p:txBody>
      </p:sp>
      <p:sp>
        <p:nvSpPr>
          <p:cNvPr id="13" name="Shape 11"/>
          <p:cNvSpPr/>
          <p:nvPr/>
        </p:nvSpPr>
        <p:spPr>
          <a:xfrm>
            <a:off x="1047750" y="6893942"/>
            <a:ext cx="66675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14" name="Text 12"/>
          <p:cNvSpPr/>
          <p:nvPr/>
        </p:nvSpPr>
        <p:spPr>
          <a:xfrm>
            <a:off x="1266825" y="7055867"/>
            <a:ext cx="6429375"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write tests for </a:t>
            </a:r>
            <a:r>
              <a:rPr lang="en-US" sz="2025" dirty="0">
                <a:solidFill>
                  <a:srgbClr val="3D3D3D"/>
                </a:solidFill>
                <a:latin typeface="Courier New" pitchFamily="34" charset="0"/>
                <a:ea typeface="Courier New" pitchFamily="34" charset="-122"/>
                <a:cs typeface="Courier New" pitchFamily="34" charset="-120"/>
              </a:rPr>
              <a:t>utils.py</a:t>
            </a:r>
            <a:endParaRPr lang="en-US" sz="2025" dirty="0"/>
          </a:p>
        </p:txBody>
      </p:sp>
      <p:sp>
        <p:nvSpPr>
          <p:cNvPr id="15" name="Text 13"/>
          <p:cNvSpPr/>
          <p:nvPr/>
        </p:nvSpPr>
        <p:spPr>
          <a:xfrm>
            <a:off x="8191500" y="5829821"/>
            <a:ext cx="995362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One task at a time — </a:t>
            </a:r>
            <a:r>
              <a:rPr lang="en-US" sz="2025" dirty="0">
                <a:solidFill>
                  <a:srgbClr val="1A1A1A"/>
                </a:solidFill>
                <a:highlight>
                  <a:srgbClr val="FFF1A8"/>
                </a:highlight>
                <a:latin typeface="Georgia" pitchFamily="34" charset="0"/>
                <a:ea typeface="Georgia" pitchFamily="34" charset="-122"/>
                <a:cs typeface="Georgia" pitchFamily="34" charset="-120"/>
              </a:rPr>
              <a:t>commit between tasks</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16" name="Shape 14"/>
          <p:cNvSpPr/>
          <p:nvPr/>
        </p:nvSpPr>
        <p:spPr>
          <a:xfrm>
            <a:off x="1047750" y="9520238"/>
            <a:ext cx="16192500" cy="9525"/>
          </a:xfrm>
          <a:prstGeom prst="rect">
            <a:avLst/>
          </a:prstGeom>
          <a:solidFill>
            <a:srgbClr val="E3E1DA"/>
          </a:solidFill>
          <a:ln/>
        </p:spPr>
        <p:txBody>
          <a:bodyPr/>
          <a:lstStyle/>
          <a:p>
            <a:endParaRPr lang="en-US"/>
          </a:p>
        </p:txBody>
      </p:sp>
      <p:sp>
        <p:nvSpPr>
          <p:cNvPr id="17" name="Text 1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8" name="Text 16"/>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346297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The Loop Is Always the Same</a:t>
            </a:r>
            <a:endParaRPr lang="en-US" sz="4800" dirty="0"/>
          </a:p>
        </p:txBody>
      </p:sp>
      <p:sp>
        <p:nvSpPr>
          <p:cNvPr id="5" name="Shape 3"/>
          <p:cNvSpPr/>
          <p:nvPr/>
        </p:nvSpPr>
        <p:spPr>
          <a:xfrm>
            <a:off x="1047750" y="4679379"/>
            <a:ext cx="3337322" cy="1643063"/>
          </a:xfrm>
          <a:prstGeom prst="roundRect">
            <a:avLst>
              <a:gd name="adj" fmla="val 8116"/>
            </a:avLst>
          </a:prstGeom>
          <a:ln w="9525">
            <a:solidFill>
              <a:srgbClr val="E3E1DA"/>
            </a:solidFill>
            <a:prstDash val="solid"/>
          </a:ln>
        </p:spPr>
        <p:txBody>
          <a:bodyPr/>
          <a:lstStyle/>
          <a:p>
            <a:endParaRPr lang="en-US"/>
          </a:p>
        </p:txBody>
      </p:sp>
      <p:sp>
        <p:nvSpPr>
          <p:cNvPr id="6" name="Shape 4"/>
          <p:cNvSpPr/>
          <p:nvPr/>
        </p:nvSpPr>
        <p:spPr>
          <a:xfrm>
            <a:off x="2525911" y="4936554"/>
            <a:ext cx="381000" cy="381000"/>
          </a:xfrm>
          <a:prstGeom prst="ellipse">
            <a:avLst/>
          </a:prstGeom>
          <a:solidFill>
            <a:srgbClr val="1F6FEB"/>
          </a:solidFill>
          <a:ln/>
        </p:spPr>
        <p:txBody>
          <a:bodyPr/>
          <a:lstStyle/>
          <a:p>
            <a:endParaRPr lang="en-US"/>
          </a:p>
        </p:txBody>
      </p:sp>
      <p:sp>
        <p:nvSpPr>
          <p:cNvPr id="7" name="Text 5"/>
          <p:cNvSpPr/>
          <p:nvPr/>
        </p:nvSpPr>
        <p:spPr>
          <a:xfrm>
            <a:off x="2487811" y="4936554"/>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079956" y="5450904"/>
            <a:ext cx="3272909"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Give context</a:t>
            </a:r>
            <a:endParaRPr lang="en-US" sz="2025" dirty="0"/>
          </a:p>
        </p:txBody>
      </p:sp>
      <p:sp>
        <p:nvSpPr>
          <p:cNvPr id="9" name="Text 7"/>
          <p:cNvSpPr/>
          <p:nvPr/>
        </p:nvSpPr>
        <p:spPr>
          <a:xfrm>
            <a:off x="1079956" y="5803329"/>
            <a:ext cx="3272909"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files + goal</a:t>
            </a:r>
            <a:endParaRPr lang="en-US" sz="1800" dirty="0"/>
          </a:p>
        </p:txBody>
      </p:sp>
      <p:sp>
        <p:nvSpPr>
          <p:cNvPr id="10" name="Text 8"/>
          <p:cNvSpPr/>
          <p:nvPr/>
        </p:nvSpPr>
        <p:spPr>
          <a:xfrm>
            <a:off x="4556522"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1" name="Shape 9"/>
          <p:cNvSpPr/>
          <p:nvPr/>
        </p:nvSpPr>
        <p:spPr>
          <a:xfrm>
            <a:off x="5128022" y="4679379"/>
            <a:ext cx="3337396" cy="1643063"/>
          </a:xfrm>
          <a:prstGeom prst="roundRect">
            <a:avLst>
              <a:gd name="adj" fmla="val 8116"/>
            </a:avLst>
          </a:prstGeom>
          <a:ln w="9525">
            <a:solidFill>
              <a:srgbClr val="E3E1DA"/>
            </a:solidFill>
            <a:prstDash val="solid"/>
          </a:ln>
        </p:spPr>
        <p:txBody>
          <a:bodyPr/>
          <a:lstStyle/>
          <a:p>
            <a:endParaRPr lang="en-US"/>
          </a:p>
        </p:txBody>
      </p:sp>
      <p:sp>
        <p:nvSpPr>
          <p:cNvPr id="12" name="Shape 10"/>
          <p:cNvSpPr/>
          <p:nvPr/>
        </p:nvSpPr>
        <p:spPr>
          <a:xfrm>
            <a:off x="6606183" y="4936554"/>
            <a:ext cx="381000" cy="381000"/>
          </a:xfrm>
          <a:prstGeom prst="ellipse">
            <a:avLst/>
          </a:prstGeom>
          <a:solidFill>
            <a:srgbClr val="178A4C"/>
          </a:solidFill>
          <a:ln/>
        </p:spPr>
        <p:txBody>
          <a:bodyPr/>
          <a:lstStyle/>
          <a:p>
            <a:endParaRPr lang="en-US"/>
          </a:p>
        </p:txBody>
      </p:sp>
      <p:sp>
        <p:nvSpPr>
          <p:cNvPr id="13" name="Text 11"/>
          <p:cNvSpPr/>
          <p:nvPr/>
        </p:nvSpPr>
        <p:spPr>
          <a:xfrm>
            <a:off x="6568083" y="4936554"/>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2"/>
          <p:cNvSpPr/>
          <p:nvPr/>
        </p:nvSpPr>
        <p:spPr>
          <a:xfrm>
            <a:off x="5160225" y="5450904"/>
            <a:ext cx="3272991"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Let it draft</a:t>
            </a:r>
            <a:endParaRPr lang="en-US" sz="2025" dirty="0"/>
          </a:p>
        </p:txBody>
      </p:sp>
      <p:sp>
        <p:nvSpPr>
          <p:cNvPr id="15" name="Text 13"/>
          <p:cNvSpPr/>
          <p:nvPr/>
        </p:nvSpPr>
        <p:spPr>
          <a:xfrm>
            <a:off x="5160225" y="5803329"/>
            <a:ext cx="3272991"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the change</a:t>
            </a:r>
            <a:endParaRPr lang="en-US" sz="1800" dirty="0"/>
          </a:p>
        </p:txBody>
      </p:sp>
      <p:sp>
        <p:nvSpPr>
          <p:cNvPr id="16" name="Text 14"/>
          <p:cNvSpPr/>
          <p:nvPr/>
        </p:nvSpPr>
        <p:spPr>
          <a:xfrm>
            <a:off x="8636868"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7" name="Shape 15"/>
          <p:cNvSpPr/>
          <p:nvPr/>
        </p:nvSpPr>
        <p:spPr>
          <a:xfrm>
            <a:off x="9208368" y="4669854"/>
            <a:ext cx="3951536" cy="1662113"/>
          </a:xfrm>
          <a:prstGeom prst="roundRect">
            <a:avLst>
              <a:gd name="adj" fmla="val 8023"/>
            </a:avLst>
          </a:prstGeom>
          <a:solidFill>
            <a:srgbClr val="FBEBEA"/>
          </a:solidFill>
          <a:ln w="19050">
            <a:solidFill>
              <a:srgbClr val="D64545"/>
            </a:solidFill>
            <a:prstDash val="solid"/>
          </a:ln>
        </p:spPr>
        <p:txBody>
          <a:bodyPr/>
          <a:lstStyle/>
          <a:p>
            <a:endParaRPr lang="en-US"/>
          </a:p>
        </p:txBody>
      </p:sp>
      <p:sp>
        <p:nvSpPr>
          <p:cNvPr id="18" name="Shape 16"/>
          <p:cNvSpPr/>
          <p:nvPr/>
        </p:nvSpPr>
        <p:spPr>
          <a:xfrm>
            <a:off x="10993636" y="4936554"/>
            <a:ext cx="381000" cy="381000"/>
          </a:xfrm>
          <a:prstGeom prst="ellipse">
            <a:avLst/>
          </a:prstGeom>
          <a:solidFill>
            <a:srgbClr val="D64545"/>
          </a:solidFill>
          <a:ln/>
        </p:spPr>
        <p:txBody>
          <a:bodyPr/>
          <a:lstStyle/>
          <a:p>
            <a:endParaRPr lang="en-US"/>
          </a:p>
        </p:txBody>
      </p:sp>
      <p:sp>
        <p:nvSpPr>
          <p:cNvPr id="19" name="Text 17"/>
          <p:cNvSpPr/>
          <p:nvPr/>
        </p:nvSpPr>
        <p:spPr>
          <a:xfrm>
            <a:off x="10955536" y="4936554"/>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8"/>
          <p:cNvSpPr/>
          <p:nvPr/>
        </p:nvSpPr>
        <p:spPr>
          <a:xfrm>
            <a:off x="9220341" y="5450904"/>
            <a:ext cx="3927589"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Review every diff</a:t>
            </a:r>
            <a:endParaRPr lang="en-US" sz="2025" dirty="0"/>
          </a:p>
        </p:txBody>
      </p:sp>
      <p:sp>
        <p:nvSpPr>
          <p:cNvPr id="21" name="Text 19"/>
          <p:cNvSpPr/>
          <p:nvPr/>
        </p:nvSpPr>
        <p:spPr>
          <a:xfrm>
            <a:off x="9220341" y="5803329"/>
            <a:ext cx="3927589"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non-negotiable</a:t>
            </a:r>
            <a:endParaRPr lang="en-US" sz="1800" dirty="0"/>
          </a:p>
        </p:txBody>
      </p:sp>
      <p:sp>
        <p:nvSpPr>
          <p:cNvPr id="22" name="Text 20"/>
          <p:cNvSpPr/>
          <p:nvPr/>
        </p:nvSpPr>
        <p:spPr>
          <a:xfrm>
            <a:off x="13331354"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3" name="Shape 21"/>
          <p:cNvSpPr/>
          <p:nvPr/>
        </p:nvSpPr>
        <p:spPr>
          <a:xfrm>
            <a:off x="13902854" y="4679379"/>
            <a:ext cx="3337396" cy="1643063"/>
          </a:xfrm>
          <a:prstGeom prst="roundRect">
            <a:avLst>
              <a:gd name="adj" fmla="val 8116"/>
            </a:avLst>
          </a:prstGeom>
          <a:ln w="9525">
            <a:solidFill>
              <a:srgbClr val="E3E1DA"/>
            </a:solidFill>
            <a:prstDash val="solid"/>
          </a:ln>
        </p:spPr>
        <p:txBody>
          <a:bodyPr/>
          <a:lstStyle/>
          <a:p>
            <a:endParaRPr lang="en-US"/>
          </a:p>
        </p:txBody>
      </p:sp>
      <p:sp>
        <p:nvSpPr>
          <p:cNvPr id="24" name="Shape 22"/>
          <p:cNvSpPr/>
          <p:nvPr/>
        </p:nvSpPr>
        <p:spPr>
          <a:xfrm>
            <a:off x="15381015" y="4936554"/>
            <a:ext cx="381000" cy="381000"/>
          </a:xfrm>
          <a:prstGeom prst="ellipse">
            <a:avLst/>
          </a:prstGeom>
          <a:solidFill>
            <a:srgbClr val="C77D0A"/>
          </a:solidFill>
          <a:ln/>
        </p:spPr>
        <p:txBody>
          <a:bodyPr/>
          <a:lstStyle/>
          <a:p>
            <a:endParaRPr lang="en-US"/>
          </a:p>
        </p:txBody>
      </p:sp>
      <p:sp>
        <p:nvSpPr>
          <p:cNvPr id="25" name="Text 23"/>
          <p:cNvSpPr/>
          <p:nvPr/>
        </p:nvSpPr>
        <p:spPr>
          <a:xfrm>
            <a:off x="15342915" y="4936554"/>
            <a:ext cx="457200" cy="4191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4"/>
          <p:cNvSpPr/>
          <p:nvPr/>
        </p:nvSpPr>
        <p:spPr>
          <a:xfrm>
            <a:off x="13935056" y="5450904"/>
            <a:ext cx="3272991" cy="333375"/>
          </a:xfrm>
          <a:prstGeom prst="rect">
            <a:avLst/>
          </a:prstGeom>
          <a:noFill/>
          <a:ln/>
        </p:spPr>
        <p:txBody>
          <a:bodyPr wrap="square" lIns="25400" tIns="25400" rIns="25400" bIns="25400" rtlCol="0" anchor="t">
            <a:normAutofit/>
          </a:bodyPr>
          <a:lstStyle/>
          <a:p>
            <a:pPr marL="0" indent="0" algn="ctr">
              <a:buNone/>
            </a:pPr>
            <a:r>
              <a:rPr lang="en-US" sz="2025" b="1" dirty="0">
                <a:solidFill>
                  <a:srgbClr val="1A1A1A"/>
                </a:solidFill>
                <a:latin typeface="Arial" pitchFamily="34" charset="0"/>
                <a:ea typeface="Arial" pitchFamily="34" charset="-122"/>
                <a:cs typeface="Arial" pitchFamily="34" charset="-120"/>
              </a:rPr>
              <a:t>Run &amp; test</a:t>
            </a:r>
            <a:endParaRPr lang="en-US" sz="2025" dirty="0"/>
          </a:p>
        </p:txBody>
      </p:sp>
      <p:sp>
        <p:nvSpPr>
          <p:cNvPr id="27" name="Text 25"/>
          <p:cNvSpPr/>
          <p:nvPr/>
        </p:nvSpPr>
        <p:spPr>
          <a:xfrm>
            <a:off x="13935056" y="5803329"/>
            <a:ext cx="3272991" cy="300038"/>
          </a:xfrm>
          <a:prstGeom prst="rect">
            <a:avLst/>
          </a:prstGeom>
          <a:noFill/>
          <a:ln/>
        </p:spPr>
        <p:txBody>
          <a:bodyPr wrap="square" lIns="25400" tIns="25400" rIns="25400" bIns="25400" rtlCol="0" anchor="t">
            <a:normAutofit/>
          </a:bodyPr>
          <a:lstStyle/>
          <a:p>
            <a:pPr marL="0" indent="0" algn="ctr">
              <a:buNone/>
            </a:pPr>
            <a:r>
              <a:rPr lang="en-US" sz="1800" dirty="0">
                <a:solidFill>
                  <a:srgbClr val="7C7A73"/>
                </a:solidFill>
                <a:latin typeface="Arial" pitchFamily="34" charset="0"/>
                <a:ea typeface="Arial" pitchFamily="34" charset="-122"/>
                <a:cs typeface="Arial" pitchFamily="34" charset="-120"/>
              </a:rPr>
              <a:t>prove it works</a:t>
            </a:r>
            <a:endParaRPr lang="en-US" sz="1800" dirty="0"/>
          </a:p>
        </p:txBody>
      </p:sp>
      <p:sp>
        <p:nvSpPr>
          <p:cNvPr id="28" name="Text 26"/>
          <p:cNvSpPr/>
          <p:nvPr/>
        </p:nvSpPr>
        <p:spPr>
          <a:xfrm>
            <a:off x="238125" y="8943975"/>
            <a:ext cx="17811750" cy="428625"/>
          </a:xfrm>
          <a:prstGeom prst="rect">
            <a:avLst/>
          </a:prstGeom>
          <a:noFill/>
          <a:ln/>
        </p:spPr>
        <p:txBody>
          <a:bodyPr wrap="square" lIns="25400" tIns="25400" rIns="25400" bIns="25400" rtlCol="0" anchor="t">
            <a:normAutofit/>
          </a:bodyPr>
          <a:lstStyle/>
          <a:p>
            <a:pPr marL="0" indent="0" algn="ctr">
              <a:buNone/>
            </a:pPr>
            <a:r>
              <a:rPr lang="en-US" sz="2700" dirty="0">
                <a:solidFill>
                  <a:srgbClr val="1A1A1A"/>
                </a:solidFill>
                <a:latin typeface="Georgia" pitchFamily="34" charset="0"/>
                <a:ea typeface="Georgia" pitchFamily="34" charset="-122"/>
                <a:cs typeface="Georgia" pitchFamily="34" charset="-120"/>
              </a:rPr>
              <a:t>It writes fast — </a:t>
            </a:r>
            <a:r>
              <a:rPr lang="en-US" sz="2700" dirty="0">
                <a:solidFill>
                  <a:srgbClr val="1A1A1A"/>
                </a:solidFill>
                <a:highlight>
                  <a:srgbClr val="FFF1A8"/>
                </a:highlight>
                <a:latin typeface="Georgia" pitchFamily="34" charset="0"/>
                <a:ea typeface="Georgia" pitchFamily="34" charset="-122"/>
                <a:cs typeface="Georgia" pitchFamily="34" charset="-120"/>
              </a:rPr>
              <a:t>you stay the engineer </a:t>
            </a:r>
            <a:r>
              <a:rPr lang="en-US" sz="2700" dirty="0">
                <a:solidFill>
                  <a:srgbClr val="1A1A1A"/>
                </a:solidFill>
                <a:latin typeface="Georgia" pitchFamily="34" charset="0"/>
                <a:ea typeface="Georgia" pitchFamily="34" charset="-122"/>
                <a:cs typeface="Georgia" pitchFamily="34" charset="-120"/>
              </a:rPr>
              <a:t>who decides if it’s correct.</a:t>
            </a:r>
            <a:endParaRPr lang="en-US" sz="2700" dirty="0"/>
          </a:p>
        </p:txBody>
      </p:sp>
      <p:sp>
        <p:nvSpPr>
          <p:cNvPr id="29" name="Shape 27"/>
          <p:cNvSpPr/>
          <p:nvPr/>
        </p:nvSpPr>
        <p:spPr>
          <a:xfrm>
            <a:off x="1047750" y="9520238"/>
            <a:ext cx="16192500" cy="9525"/>
          </a:xfrm>
          <a:prstGeom prst="rect">
            <a:avLst/>
          </a:prstGeom>
          <a:solidFill>
            <a:srgbClr val="E3E1DA"/>
          </a:solidFill>
          <a:ln/>
        </p:spPr>
        <p:txBody>
          <a:bodyPr/>
          <a:lstStyle/>
          <a:p>
            <a:endParaRPr lang="en-US"/>
          </a:p>
        </p:txBody>
      </p:sp>
      <p:sp>
        <p:nvSpPr>
          <p:cNvPr id="30" name="Text 28"/>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1" name="Text 29"/>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C77D0A"/>
          </a:solidFill>
          <a:ln/>
        </p:spPr>
        <p:txBody>
          <a:bodyPr/>
          <a:lstStyle/>
          <a:p>
            <a:endParaRPr lang="en-US"/>
          </a:p>
        </p:txBody>
      </p:sp>
      <p:sp>
        <p:nvSpPr>
          <p:cNvPr id="3" name="Text 1"/>
          <p:cNvSpPr/>
          <p:nvPr/>
        </p:nvSpPr>
        <p:spPr>
          <a:xfrm>
            <a:off x="1304925" y="800100"/>
            <a:ext cx="3462977"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AI CODING ASSISTANT</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Where It Shines — and Doesn’t</a:t>
            </a:r>
            <a:endParaRPr lang="en-US" sz="4800" dirty="0"/>
          </a:p>
        </p:txBody>
      </p:sp>
      <p:sp>
        <p:nvSpPr>
          <p:cNvPr id="5" name="Shape 3"/>
          <p:cNvSpPr/>
          <p:nvPr/>
        </p:nvSpPr>
        <p:spPr>
          <a:xfrm>
            <a:off x="1047750" y="2115071"/>
            <a:ext cx="7905750" cy="6733654"/>
          </a:xfrm>
          <a:prstGeom prst="roundRect">
            <a:avLst>
              <a:gd name="adj" fmla="val 2263"/>
            </a:avLst>
          </a:prstGeom>
          <a:solidFill>
            <a:srgbClr val="E4F4EB"/>
          </a:solidFill>
          <a:ln w="19050">
            <a:solidFill>
              <a:srgbClr val="178A4C"/>
            </a:solidFill>
            <a:prstDash val="solid"/>
          </a:ln>
        </p:spPr>
        <p:txBody>
          <a:bodyPr/>
          <a:lstStyle/>
          <a:p>
            <a:endParaRPr lang="en-US"/>
          </a:p>
        </p:txBody>
      </p:sp>
      <p:sp>
        <p:nvSpPr>
          <p:cNvPr id="6" name="Text 4"/>
          <p:cNvSpPr/>
          <p:nvPr/>
        </p:nvSpPr>
        <p:spPr>
          <a:xfrm>
            <a:off x="1409700" y="2438921"/>
            <a:ext cx="7900035"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178A4C"/>
                </a:solidFill>
                <a:latin typeface="Arial" pitchFamily="34" charset="0"/>
                <a:ea typeface="Arial" pitchFamily="34" charset="-122"/>
                <a:cs typeface="Arial" pitchFamily="34" charset="-120"/>
              </a:rPr>
              <a:t>SHINES AT</a:t>
            </a:r>
            <a:endParaRPr lang="en-US" sz="1800" dirty="0"/>
          </a:p>
        </p:txBody>
      </p:sp>
      <p:sp>
        <p:nvSpPr>
          <p:cNvPr id="7" name="Text 5"/>
          <p:cNvSpPr/>
          <p:nvPr/>
        </p:nvSpPr>
        <p:spPr>
          <a:xfrm>
            <a:off x="1409700" y="2872308"/>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Boilerplate &amp; tests</a:t>
            </a:r>
            <a:endParaRPr lang="en-US" sz="2025" dirty="0"/>
          </a:p>
        </p:txBody>
      </p:sp>
      <p:sp>
        <p:nvSpPr>
          <p:cNvPr id="8" name="Text 6"/>
          <p:cNvSpPr/>
          <p:nvPr/>
        </p:nvSpPr>
        <p:spPr>
          <a:xfrm>
            <a:off x="1409700" y="3281883"/>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Refactors</a:t>
            </a:r>
            <a:endParaRPr lang="en-US" sz="2025" dirty="0"/>
          </a:p>
        </p:txBody>
      </p:sp>
      <p:sp>
        <p:nvSpPr>
          <p:cNvPr id="9" name="Text 7"/>
          <p:cNvSpPr/>
          <p:nvPr/>
        </p:nvSpPr>
        <p:spPr>
          <a:xfrm>
            <a:off x="1409700" y="3691458"/>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Explaining unfamiliar code</a:t>
            </a:r>
            <a:endParaRPr lang="en-US" sz="2025" dirty="0"/>
          </a:p>
        </p:txBody>
      </p:sp>
      <p:sp>
        <p:nvSpPr>
          <p:cNvPr id="10" name="Text 8"/>
          <p:cNvSpPr/>
          <p:nvPr/>
        </p:nvSpPr>
        <p:spPr>
          <a:xfrm>
            <a:off x="1409700" y="4101033"/>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One-off scripts</a:t>
            </a:r>
            <a:endParaRPr lang="en-US" sz="2025" dirty="0"/>
          </a:p>
        </p:txBody>
      </p:sp>
      <p:sp>
        <p:nvSpPr>
          <p:cNvPr id="11" name="Shape 9"/>
          <p:cNvSpPr/>
          <p:nvPr/>
        </p:nvSpPr>
        <p:spPr>
          <a:xfrm>
            <a:off x="9334500" y="2115071"/>
            <a:ext cx="7905750" cy="6733654"/>
          </a:xfrm>
          <a:prstGeom prst="roundRect">
            <a:avLst>
              <a:gd name="adj" fmla="val 2263"/>
            </a:avLst>
          </a:prstGeom>
          <a:solidFill>
            <a:srgbClr val="FBEBEA"/>
          </a:solidFill>
          <a:ln w="19050">
            <a:solidFill>
              <a:srgbClr val="D64545"/>
            </a:solidFill>
            <a:prstDash val="solid"/>
          </a:ln>
        </p:spPr>
        <p:txBody>
          <a:bodyPr/>
          <a:lstStyle/>
          <a:p>
            <a:endParaRPr lang="en-US"/>
          </a:p>
        </p:txBody>
      </p:sp>
      <p:sp>
        <p:nvSpPr>
          <p:cNvPr id="12" name="Text 10"/>
          <p:cNvSpPr/>
          <p:nvPr/>
        </p:nvSpPr>
        <p:spPr>
          <a:xfrm>
            <a:off x="9696450" y="2438921"/>
            <a:ext cx="7900035" cy="300038"/>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D64545"/>
                </a:solidFill>
                <a:latin typeface="Arial" pitchFamily="34" charset="0"/>
                <a:ea typeface="Arial" pitchFamily="34" charset="-122"/>
                <a:cs typeface="Arial" pitchFamily="34" charset="-120"/>
              </a:rPr>
              <a:t>BE CAREFUL WITH</a:t>
            </a:r>
            <a:endParaRPr lang="en-US" sz="1800" dirty="0"/>
          </a:p>
        </p:txBody>
      </p:sp>
      <p:sp>
        <p:nvSpPr>
          <p:cNvPr id="13" name="Text 11"/>
          <p:cNvSpPr/>
          <p:nvPr/>
        </p:nvSpPr>
        <p:spPr>
          <a:xfrm>
            <a:off x="9696450" y="2872308"/>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Security-sensitive code</a:t>
            </a:r>
            <a:endParaRPr lang="en-US" sz="2025" dirty="0"/>
          </a:p>
        </p:txBody>
      </p:sp>
      <p:sp>
        <p:nvSpPr>
          <p:cNvPr id="14" name="Text 12"/>
          <p:cNvSpPr/>
          <p:nvPr/>
        </p:nvSpPr>
        <p:spPr>
          <a:xfrm>
            <a:off x="9696450" y="3281883"/>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Subtle correctness</a:t>
            </a:r>
            <a:endParaRPr lang="en-US" sz="2025" dirty="0"/>
          </a:p>
        </p:txBody>
      </p:sp>
      <p:sp>
        <p:nvSpPr>
          <p:cNvPr id="15" name="Text 13"/>
          <p:cNvSpPr/>
          <p:nvPr/>
        </p:nvSpPr>
        <p:spPr>
          <a:xfrm>
            <a:off x="9696450" y="3691458"/>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Licensing</a:t>
            </a:r>
            <a:endParaRPr lang="en-US" sz="2025" dirty="0"/>
          </a:p>
        </p:txBody>
      </p:sp>
      <p:sp>
        <p:nvSpPr>
          <p:cNvPr id="16" name="Text 14"/>
          <p:cNvSpPr/>
          <p:nvPr/>
        </p:nvSpPr>
        <p:spPr>
          <a:xfrm>
            <a:off x="9696450" y="4101033"/>
            <a:ext cx="7900035" cy="333375"/>
          </a:xfrm>
          <a:prstGeom prst="rect">
            <a:avLst/>
          </a:prstGeom>
          <a:noFill/>
          <a:ln/>
        </p:spPr>
        <p:txBody>
          <a:bodyPr wrap="square" lIns="25400" tIns="25400" rIns="25400" bIns="25400" rtlCol="0" anchor="t">
            <a:normAutofit/>
          </a:bodyPr>
          <a:lstStyle/>
          <a:p>
            <a:pPr marL="0" indent="0" algn="l">
              <a:buNone/>
            </a:pPr>
            <a:r>
              <a:rPr lang="en-US" sz="2025" dirty="0">
                <a:solidFill>
                  <a:srgbClr val="3D3D3D"/>
                </a:solidFill>
                <a:latin typeface="Arial" pitchFamily="34" charset="0"/>
                <a:ea typeface="Arial" pitchFamily="34" charset="-122"/>
                <a:cs typeface="Arial" pitchFamily="34" charset="-120"/>
              </a:rPr>
              <a:t>• Large blind changes</a:t>
            </a:r>
            <a:endParaRPr lang="en-US" sz="2025" dirty="0"/>
          </a:p>
        </p:txBody>
      </p:sp>
      <p:sp>
        <p:nvSpPr>
          <p:cNvPr id="17" name="Text 15"/>
          <p:cNvSpPr/>
          <p:nvPr/>
        </p:nvSpPr>
        <p:spPr>
          <a:xfrm>
            <a:off x="1047750" y="9039225"/>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Let it accelerate what you </a:t>
            </a:r>
            <a:r>
              <a:rPr lang="en-US" sz="2025" dirty="0">
                <a:solidFill>
                  <a:srgbClr val="1A1A1A"/>
                </a:solidFill>
                <a:highlight>
                  <a:srgbClr val="FFF1A8"/>
                </a:highlight>
                <a:latin typeface="Georgia" pitchFamily="34" charset="0"/>
                <a:ea typeface="Georgia" pitchFamily="34" charset="-122"/>
                <a:cs typeface="Georgia" pitchFamily="34" charset="-120"/>
              </a:rPr>
              <a:t>could do yourself and would catch when wrong</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18" name="Shape 16"/>
          <p:cNvSpPr/>
          <p:nvPr/>
        </p:nvSpPr>
        <p:spPr>
          <a:xfrm>
            <a:off x="1047750" y="9520238"/>
            <a:ext cx="16192500" cy="9525"/>
          </a:xfrm>
          <a:prstGeom prst="rect">
            <a:avLst/>
          </a:prstGeom>
          <a:solidFill>
            <a:srgbClr val="E3E1DA"/>
          </a:solidFill>
          <a:ln/>
        </p:spPr>
        <p:txBody>
          <a:bodyPr/>
          <a:lstStyle/>
          <a:p>
            <a:endParaRPr lang="en-US"/>
          </a:p>
        </p:txBody>
      </p:sp>
      <p:sp>
        <p:nvSpPr>
          <p:cNvPr id="19" name="Text 1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0" name="Text 18"/>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D64545"/>
          </a:solidFill>
          <a:ln/>
        </p:spPr>
        <p:txBody>
          <a:bodyPr/>
          <a:lstStyle/>
          <a:p>
            <a:endParaRPr lang="en-US"/>
          </a:p>
        </p:txBody>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SECTION 05</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marL="0" indent="0" algn="l">
              <a:lnSpc>
                <a:spcPct val="90000"/>
              </a:lnSpc>
              <a:buNone/>
            </a:pPr>
            <a:r>
              <a:rPr lang="en-US" sz="15000" b="1" dirty="0">
                <a:solidFill>
                  <a:srgbClr val="D64545"/>
                </a:solidFill>
                <a:latin typeface="Georgia" pitchFamily="34" charset="0"/>
                <a:ea typeface="Georgia" pitchFamily="34" charset="-122"/>
                <a:cs typeface="Georgia" pitchFamily="34" charset="-120"/>
              </a:rPr>
              <a:t>05</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marL="0" indent="0" algn="l">
              <a:buNone/>
            </a:pPr>
            <a:r>
              <a:rPr lang="en-US" sz="5700" b="1" dirty="0">
                <a:solidFill>
                  <a:srgbClr val="1A1A1A"/>
                </a:solidFill>
                <a:latin typeface="Georgia" pitchFamily="34" charset="0"/>
                <a:ea typeface="Georgia" pitchFamily="34" charset="-122"/>
                <a:cs typeface="Georgia" pitchFamily="34" charset="-120"/>
              </a:rPr>
              <a:t>Real-World Playbook</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Five patterns you can use on Monday.</a:t>
            </a:r>
            <a:endParaRPr lang="en-US" sz="2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236284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PLAYBOOK · 01</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Turn Messy Text into Data</a:t>
            </a:r>
            <a:endParaRPr lang="en-US" sz="4800" dirty="0"/>
          </a:p>
        </p:txBody>
      </p:sp>
      <p:sp>
        <p:nvSpPr>
          <p:cNvPr id="5" name="Shape 3"/>
          <p:cNvSpPr/>
          <p:nvPr/>
        </p:nvSpPr>
        <p:spPr>
          <a:xfrm>
            <a:off x="1047750" y="4493196"/>
            <a:ext cx="7620000" cy="1939230"/>
          </a:xfrm>
          <a:prstGeom prst="roundRect">
            <a:avLst>
              <a:gd name="adj" fmla="val 6876"/>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304925" y="4731321"/>
            <a:ext cx="7816215" cy="403845"/>
          </a:xfrm>
          <a:prstGeom prst="rect">
            <a:avLst/>
          </a:prstGeom>
          <a:noFill/>
          <a:ln/>
        </p:spPr>
        <p:txBody>
          <a:bodyPr wrap="square" lIns="25400" tIns="25400" rIns="25400" bIns="25400" rtlCol="0" anchor="t">
            <a:normAutofit/>
          </a:bodyPr>
          <a:lstStyle/>
          <a:p>
            <a:pPr marL="0" indent="0" algn="l">
              <a:lnSpc>
                <a:spcPct val="160000"/>
              </a:lnSpc>
              <a:buNone/>
            </a:pPr>
            <a:r>
              <a:rPr lang="en-US" sz="1800" dirty="0">
                <a:solidFill>
                  <a:srgbClr val="7C7A73"/>
                </a:solidFill>
                <a:latin typeface="Courier New" pitchFamily="34" charset="0"/>
                <a:ea typeface="Courier New" pitchFamily="34" charset="-122"/>
                <a:cs typeface="Courier New" pitchFamily="34" charset="-120"/>
              </a:rPr>
              <a:t># a support ticket</a:t>
            </a:r>
            <a:endParaRPr lang="en-US" sz="1800" dirty="0"/>
          </a:p>
        </p:txBody>
      </p:sp>
      <p:sp>
        <p:nvSpPr>
          <p:cNvPr id="7" name="Text 5"/>
          <p:cNvSpPr/>
          <p:nvPr/>
        </p:nvSpPr>
        <p:spPr>
          <a:xfrm>
            <a:off x="1304925" y="5097066"/>
            <a:ext cx="7816215" cy="403845"/>
          </a:xfrm>
          <a:prstGeom prst="rect">
            <a:avLst/>
          </a:prstGeom>
          <a:noFill/>
          <a:ln/>
        </p:spPr>
        <p:txBody>
          <a:bodyPr wrap="square" lIns="25400" tIns="25400" rIns="25400" bIns="25400" rtlCol="0" anchor="t">
            <a:normAutofit/>
          </a:bodyPr>
          <a:lstStyle/>
          <a:p>
            <a:pPr marL="0" indent="0" algn="l">
              <a:lnSpc>
                <a:spcPct val="160000"/>
              </a:lnSpc>
              <a:buNone/>
            </a:pPr>
            <a:r>
              <a:rPr lang="en-US" sz="1800" dirty="0">
                <a:solidFill>
                  <a:srgbClr val="3D3D3D"/>
                </a:solidFill>
                <a:latin typeface="Courier New" pitchFamily="34" charset="0"/>
                <a:ea typeface="Courier New" pitchFamily="34" charset="-122"/>
                <a:cs typeface="Courier New" pitchFamily="34" charset="-120"/>
              </a:rPr>
              <a:t>“App keeps crashing on</a:t>
            </a:r>
            <a:endParaRPr lang="en-US" sz="1800" dirty="0"/>
          </a:p>
        </p:txBody>
      </p:sp>
      <p:sp>
        <p:nvSpPr>
          <p:cNvPr id="8" name="Text 6"/>
          <p:cNvSpPr/>
          <p:nvPr/>
        </p:nvSpPr>
        <p:spPr>
          <a:xfrm>
            <a:off x="1304925" y="5462811"/>
            <a:ext cx="7816215" cy="403845"/>
          </a:xfrm>
          <a:prstGeom prst="rect">
            <a:avLst/>
          </a:prstGeom>
          <a:noFill/>
          <a:ln/>
        </p:spPr>
        <p:txBody>
          <a:bodyPr wrap="square" lIns="25400" tIns="25400" rIns="25400" bIns="25400" rtlCol="0" anchor="t">
            <a:normAutofit/>
          </a:bodyPr>
          <a:lstStyle/>
          <a:p>
            <a:pPr marL="0" indent="0" algn="l">
              <a:lnSpc>
                <a:spcPct val="160000"/>
              </a:lnSpc>
              <a:buNone/>
            </a:pPr>
            <a:r>
              <a:rPr lang="en-US" sz="1800" dirty="0">
                <a:solidFill>
                  <a:srgbClr val="3D3D3D"/>
                </a:solidFill>
                <a:latin typeface="Courier New" pitchFamily="34" charset="0"/>
                <a:ea typeface="Courier New" pitchFamily="34" charset="-122"/>
                <a:cs typeface="Courier New" pitchFamily="34" charset="-120"/>
              </a:rPr>
              <a:t>checkout since the update,</a:t>
            </a:r>
            <a:endParaRPr lang="en-US" sz="1800" dirty="0"/>
          </a:p>
        </p:txBody>
      </p:sp>
      <p:sp>
        <p:nvSpPr>
          <p:cNvPr id="9" name="Text 7"/>
          <p:cNvSpPr/>
          <p:nvPr/>
        </p:nvSpPr>
        <p:spPr>
          <a:xfrm>
            <a:off x="1304925" y="5828556"/>
            <a:ext cx="7816215" cy="403845"/>
          </a:xfrm>
          <a:prstGeom prst="rect">
            <a:avLst/>
          </a:prstGeom>
          <a:noFill/>
          <a:ln/>
        </p:spPr>
        <p:txBody>
          <a:bodyPr wrap="square" lIns="25400" tIns="25400" rIns="25400" bIns="25400" rtlCol="0" anchor="t">
            <a:normAutofit/>
          </a:bodyPr>
          <a:lstStyle/>
          <a:p>
            <a:pPr marL="0" indent="0" algn="l">
              <a:lnSpc>
                <a:spcPct val="160000"/>
              </a:lnSpc>
              <a:buNone/>
            </a:pPr>
            <a:r>
              <a:rPr lang="en-US" sz="1800" dirty="0">
                <a:solidFill>
                  <a:srgbClr val="3D3D3D"/>
                </a:solidFill>
                <a:latin typeface="Courier New" pitchFamily="34" charset="0"/>
                <a:ea typeface="Courier New" pitchFamily="34" charset="-122"/>
                <a:cs typeface="Courier New" pitchFamily="34" charset="-120"/>
              </a:rPr>
              <a:t>I’ve lost two orders!!”</a:t>
            </a:r>
            <a:endParaRPr lang="en-US" sz="1800" dirty="0"/>
          </a:p>
        </p:txBody>
      </p:sp>
      <p:sp>
        <p:nvSpPr>
          <p:cNvPr id="10" name="Text 8"/>
          <p:cNvSpPr/>
          <p:nvPr/>
        </p:nvSpPr>
        <p:spPr>
          <a:xfrm>
            <a:off x="8896350" y="5231829"/>
            <a:ext cx="476250" cy="500063"/>
          </a:xfrm>
          <a:prstGeom prst="rect">
            <a:avLst/>
          </a:prstGeom>
          <a:noFill/>
          <a:ln/>
        </p:spPr>
        <p:txBody>
          <a:bodyPr wrap="square" lIns="25400" tIns="25400" rIns="25400" bIns="25400" rtlCol="0" anchor="t">
            <a:normAutofit/>
          </a:bodyPr>
          <a:lstStyle/>
          <a:p>
            <a:pPr marL="0" indent="0" algn="ctr">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1" name="Shape 9"/>
          <p:cNvSpPr/>
          <p:nvPr/>
        </p:nvSpPr>
        <p:spPr>
          <a:xfrm>
            <a:off x="9601200" y="4243685"/>
            <a:ext cx="7639050" cy="2438251"/>
          </a:xfrm>
          <a:prstGeom prst="roundRect">
            <a:avLst>
              <a:gd name="adj" fmla="val 5469"/>
            </a:avLst>
          </a:prstGeom>
          <a:solidFill>
            <a:srgbClr val="FFFFFF"/>
          </a:solidFill>
          <a:ln w="19050">
            <a:solidFill>
              <a:srgbClr val="178A4C"/>
            </a:solidFill>
            <a:prstDash val="solid"/>
          </a:ln>
        </p:spPr>
        <p:txBody>
          <a:bodyPr/>
          <a:lstStyle/>
          <a:p>
            <a:endParaRPr lang="en-US"/>
          </a:p>
        </p:txBody>
      </p:sp>
      <p:sp>
        <p:nvSpPr>
          <p:cNvPr id="12" name="Text 10"/>
          <p:cNvSpPr/>
          <p:nvPr/>
        </p:nvSpPr>
        <p:spPr>
          <a:xfrm>
            <a:off x="9867900" y="4491335"/>
            <a:ext cx="731882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A1A1A"/>
                </a:solidFill>
                <a:latin typeface="Courier New" pitchFamily="34" charset="0"/>
                <a:ea typeface="Courier New" pitchFamily="34" charset="-122"/>
                <a:cs typeface="Courier New" pitchFamily="34" charset="-120"/>
              </a:rPr>
              <a:t>{</a:t>
            </a:r>
            <a:endParaRPr lang="en-US" sz="1800" dirty="0"/>
          </a:p>
        </p:txBody>
      </p:sp>
      <p:sp>
        <p:nvSpPr>
          <p:cNvPr id="13" name="Text 11"/>
          <p:cNvSpPr/>
          <p:nvPr/>
        </p:nvSpPr>
        <p:spPr>
          <a:xfrm>
            <a:off x="9867900" y="4879925"/>
            <a:ext cx="731882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4FD0"/>
                </a:solidFill>
                <a:latin typeface="Courier New" pitchFamily="34" charset="0"/>
                <a:ea typeface="Courier New" pitchFamily="34" charset="-122"/>
                <a:cs typeface="Courier New" pitchFamily="34" charset="-120"/>
              </a:rPr>
              <a:t>"category"</a:t>
            </a:r>
            <a:r>
              <a:rPr lang="en-US" sz="1800" dirty="0">
                <a:solidFill>
                  <a:srgbClr val="1A1A1A"/>
                </a:solidFill>
                <a:latin typeface="Courier New" pitchFamily="34" charset="0"/>
                <a:ea typeface="Courier New" pitchFamily="34" charset="-122"/>
                <a:cs typeface="Courier New" pitchFamily="34" charset="-120"/>
              </a:rPr>
              <a:t>: </a:t>
            </a:r>
            <a:r>
              <a:rPr lang="en-US" sz="1800" dirty="0">
                <a:solidFill>
                  <a:srgbClr val="178A4C"/>
                </a:solidFill>
                <a:latin typeface="Courier New" pitchFamily="34" charset="0"/>
                <a:ea typeface="Courier New" pitchFamily="34" charset="-122"/>
                <a:cs typeface="Courier New" pitchFamily="34" charset="-120"/>
              </a:rPr>
              <a:t>"bug"</a:t>
            </a:r>
            <a:r>
              <a:rPr lang="en-US" sz="1800" dirty="0">
                <a:solidFill>
                  <a:srgbClr val="1A1A1A"/>
                </a:solidFill>
                <a:latin typeface="Courier New" pitchFamily="34" charset="0"/>
                <a:ea typeface="Courier New" pitchFamily="34" charset="-122"/>
                <a:cs typeface="Courier New" pitchFamily="34" charset="-120"/>
              </a:rPr>
              <a:t>,</a:t>
            </a:r>
            <a:endParaRPr lang="en-US" sz="1800" dirty="0"/>
          </a:p>
        </p:txBody>
      </p:sp>
      <p:sp>
        <p:nvSpPr>
          <p:cNvPr id="14" name="Text 12"/>
          <p:cNvSpPr/>
          <p:nvPr/>
        </p:nvSpPr>
        <p:spPr>
          <a:xfrm>
            <a:off x="9867900" y="5268516"/>
            <a:ext cx="731882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4FD0"/>
                </a:solidFill>
                <a:latin typeface="Courier New" pitchFamily="34" charset="0"/>
                <a:ea typeface="Courier New" pitchFamily="34" charset="-122"/>
                <a:cs typeface="Courier New" pitchFamily="34" charset="-120"/>
              </a:rPr>
              <a:t>"urgency"</a:t>
            </a:r>
            <a:r>
              <a:rPr lang="en-US" sz="1800" dirty="0">
                <a:solidFill>
                  <a:srgbClr val="1A1A1A"/>
                </a:solidFill>
                <a:latin typeface="Courier New" pitchFamily="34" charset="0"/>
                <a:ea typeface="Courier New" pitchFamily="34" charset="-122"/>
                <a:cs typeface="Courier New" pitchFamily="34" charset="-120"/>
              </a:rPr>
              <a:t>: </a:t>
            </a:r>
            <a:r>
              <a:rPr lang="en-US" sz="1800" dirty="0">
                <a:solidFill>
                  <a:srgbClr val="178A4C"/>
                </a:solidFill>
                <a:latin typeface="Courier New" pitchFamily="34" charset="0"/>
                <a:ea typeface="Courier New" pitchFamily="34" charset="-122"/>
                <a:cs typeface="Courier New" pitchFamily="34" charset="-120"/>
              </a:rPr>
              <a:t>"high"</a:t>
            </a:r>
            <a:r>
              <a:rPr lang="en-US" sz="1800" dirty="0">
                <a:solidFill>
                  <a:srgbClr val="1A1A1A"/>
                </a:solidFill>
                <a:latin typeface="Courier New" pitchFamily="34" charset="0"/>
                <a:ea typeface="Courier New" pitchFamily="34" charset="-122"/>
                <a:cs typeface="Courier New" pitchFamily="34" charset="-120"/>
              </a:rPr>
              <a:t>,</a:t>
            </a:r>
            <a:endParaRPr lang="en-US" sz="1800" dirty="0"/>
          </a:p>
        </p:txBody>
      </p:sp>
      <p:sp>
        <p:nvSpPr>
          <p:cNvPr id="15" name="Text 13"/>
          <p:cNvSpPr/>
          <p:nvPr/>
        </p:nvSpPr>
        <p:spPr>
          <a:xfrm>
            <a:off x="9867900" y="5657106"/>
            <a:ext cx="731882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7A4FD0"/>
                </a:solidFill>
                <a:latin typeface="Courier New" pitchFamily="34" charset="0"/>
                <a:ea typeface="Courier New" pitchFamily="34" charset="-122"/>
                <a:cs typeface="Courier New" pitchFamily="34" charset="-120"/>
              </a:rPr>
              <a:t>"summary"</a:t>
            </a:r>
            <a:r>
              <a:rPr lang="en-US" sz="1800" dirty="0">
                <a:solidFill>
                  <a:srgbClr val="1A1A1A"/>
                </a:solidFill>
                <a:latin typeface="Courier New" pitchFamily="34" charset="0"/>
                <a:ea typeface="Courier New" pitchFamily="34" charset="-122"/>
                <a:cs typeface="Courier New" pitchFamily="34" charset="-120"/>
              </a:rPr>
              <a:t>: </a:t>
            </a:r>
            <a:r>
              <a:rPr lang="en-US" sz="1800" dirty="0">
                <a:solidFill>
                  <a:srgbClr val="178A4C"/>
                </a:solidFill>
                <a:latin typeface="Courier New" pitchFamily="34" charset="0"/>
                <a:ea typeface="Courier New" pitchFamily="34" charset="-122"/>
                <a:cs typeface="Courier New" pitchFamily="34" charset="-120"/>
              </a:rPr>
              <a:t>"checkout crash"</a:t>
            </a:r>
            <a:endParaRPr lang="en-US" sz="1800" dirty="0"/>
          </a:p>
        </p:txBody>
      </p:sp>
      <p:sp>
        <p:nvSpPr>
          <p:cNvPr id="16" name="Text 14"/>
          <p:cNvSpPr/>
          <p:nvPr/>
        </p:nvSpPr>
        <p:spPr>
          <a:xfrm>
            <a:off x="9867900" y="6045696"/>
            <a:ext cx="7318820" cy="426690"/>
          </a:xfrm>
          <a:prstGeom prst="rect">
            <a:avLst/>
          </a:prstGeom>
          <a:noFill/>
          <a:ln/>
        </p:spPr>
        <p:txBody>
          <a:bodyPr wrap="square" lIns="25400" tIns="25400" rIns="25400" bIns="25400" rtlCol="0" anchor="t">
            <a:normAutofit/>
          </a:bodyPr>
          <a:lstStyle/>
          <a:p>
            <a:pPr marL="0" indent="0" algn="l">
              <a:lnSpc>
                <a:spcPct val="170000"/>
              </a:lnSpc>
              <a:buNone/>
            </a:pPr>
            <a:r>
              <a:rPr lang="en-US" sz="1800" dirty="0">
                <a:solidFill>
                  <a:srgbClr val="1A1A1A"/>
                </a:solidFill>
                <a:latin typeface="Courier New" pitchFamily="34" charset="0"/>
                <a:ea typeface="Courier New" pitchFamily="34" charset="-122"/>
                <a:cs typeface="Courier New" pitchFamily="34" charset="-120"/>
              </a:rPr>
              <a:t>}</a:t>
            </a:r>
            <a:endParaRPr lang="en-US" sz="1800" dirty="0"/>
          </a:p>
        </p:txBody>
      </p:sp>
      <p:sp>
        <p:nvSpPr>
          <p:cNvPr id="17" name="Text 15"/>
          <p:cNvSpPr/>
          <p:nvPr/>
        </p:nvSpPr>
        <p:spPr>
          <a:xfrm>
            <a:off x="1047750" y="9039225"/>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Replaces brittle regex &amp; manual triage — </a:t>
            </a:r>
            <a:r>
              <a:rPr lang="en-US" sz="2025" dirty="0">
                <a:solidFill>
                  <a:srgbClr val="1A1A1A"/>
                </a:solidFill>
                <a:highlight>
                  <a:srgbClr val="FFF1A8"/>
                </a:highlight>
                <a:latin typeface="Georgia" pitchFamily="34" charset="0"/>
                <a:ea typeface="Georgia" pitchFamily="34" charset="-122"/>
                <a:cs typeface="Georgia" pitchFamily="34" charset="-120"/>
              </a:rPr>
              <a:t>route it automatically</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18" name="Shape 16"/>
          <p:cNvSpPr/>
          <p:nvPr/>
        </p:nvSpPr>
        <p:spPr>
          <a:xfrm>
            <a:off x="1047750" y="9520238"/>
            <a:ext cx="16192500" cy="9525"/>
          </a:xfrm>
          <a:prstGeom prst="rect">
            <a:avLst/>
          </a:prstGeom>
          <a:solidFill>
            <a:srgbClr val="E3E1DA"/>
          </a:solidFill>
          <a:ln/>
        </p:spPr>
        <p:txBody>
          <a:bodyPr/>
          <a:lstStyle/>
          <a:p>
            <a:endParaRPr lang="en-US"/>
          </a:p>
        </p:txBody>
      </p:sp>
      <p:sp>
        <p:nvSpPr>
          <p:cNvPr id="19" name="Text 17"/>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0" name="Text 18"/>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236284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PLAYBOOK · 02</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Add a Feature — Safely</a:t>
            </a:r>
            <a:endParaRPr lang="en-US" sz="4800" dirty="0"/>
          </a:p>
        </p:txBody>
      </p:sp>
      <p:sp>
        <p:nvSpPr>
          <p:cNvPr id="5" name="Shape 3"/>
          <p:cNvSpPr/>
          <p:nvPr/>
        </p:nvSpPr>
        <p:spPr>
          <a:xfrm>
            <a:off x="1047750" y="4919886"/>
            <a:ext cx="2580531" cy="1162050"/>
          </a:xfrm>
          <a:prstGeom prst="roundRect">
            <a:avLst>
              <a:gd name="adj" fmla="val 11475"/>
            </a:avLst>
          </a:prstGeom>
          <a:ln w="9525">
            <a:solidFill>
              <a:srgbClr val="E3E1DA"/>
            </a:solidFill>
            <a:prstDash val="solid"/>
          </a:ln>
        </p:spPr>
        <p:txBody>
          <a:bodyPr/>
          <a:lstStyle/>
          <a:p>
            <a:endParaRPr lang="en-US"/>
          </a:p>
        </p:txBody>
      </p:sp>
      <p:sp>
        <p:nvSpPr>
          <p:cNvPr id="6" name="Text 4"/>
          <p:cNvSpPr/>
          <p:nvPr/>
        </p:nvSpPr>
        <p:spPr>
          <a:xfrm>
            <a:off x="1096841" y="5177061"/>
            <a:ext cx="248234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git commit</a:t>
            </a:r>
            <a:endParaRPr lang="en-US" sz="1800" dirty="0"/>
          </a:p>
        </p:txBody>
      </p:sp>
      <p:sp>
        <p:nvSpPr>
          <p:cNvPr id="7" name="Text 5"/>
          <p:cNvSpPr/>
          <p:nvPr/>
        </p:nvSpPr>
        <p:spPr>
          <a:xfrm>
            <a:off x="1096841" y="5529486"/>
            <a:ext cx="2482349"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Arial" pitchFamily="34" charset="0"/>
                <a:ea typeface="Arial" pitchFamily="34" charset="-122"/>
                <a:cs typeface="Arial" pitchFamily="34" charset="-120"/>
              </a:rPr>
              <a:t>Checkpoint first</a:t>
            </a:r>
            <a:endParaRPr lang="en-US" sz="2025" dirty="0"/>
          </a:p>
        </p:txBody>
      </p:sp>
      <p:sp>
        <p:nvSpPr>
          <p:cNvPr id="8" name="Text 6"/>
          <p:cNvSpPr/>
          <p:nvPr/>
        </p:nvSpPr>
        <p:spPr>
          <a:xfrm>
            <a:off x="3780681"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9" name="Shape 7"/>
          <p:cNvSpPr/>
          <p:nvPr/>
        </p:nvSpPr>
        <p:spPr>
          <a:xfrm>
            <a:off x="4333131" y="4919886"/>
            <a:ext cx="2580531" cy="1162050"/>
          </a:xfrm>
          <a:prstGeom prst="roundRect">
            <a:avLst>
              <a:gd name="adj" fmla="val 11475"/>
            </a:avLst>
          </a:prstGeom>
          <a:ln w="9525">
            <a:solidFill>
              <a:srgbClr val="E3E1DA"/>
            </a:solidFill>
            <a:prstDash val="solid"/>
          </a:ln>
        </p:spPr>
        <p:txBody>
          <a:bodyPr/>
          <a:lstStyle/>
          <a:p>
            <a:endParaRPr lang="en-US"/>
          </a:p>
        </p:txBody>
      </p:sp>
      <p:sp>
        <p:nvSpPr>
          <p:cNvPr id="10" name="Text 8"/>
          <p:cNvSpPr/>
          <p:nvPr/>
        </p:nvSpPr>
        <p:spPr>
          <a:xfrm>
            <a:off x="4382222" y="5177061"/>
            <a:ext cx="248234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C77D0A"/>
                </a:solidFill>
                <a:latin typeface="Courier New" pitchFamily="34" charset="0"/>
                <a:ea typeface="Courier New" pitchFamily="34" charset="-122"/>
                <a:cs typeface="Courier New" pitchFamily="34" charset="-120"/>
              </a:rPr>
              <a:t>› ask</a:t>
            </a:r>
            <a:endParaRPr lang="en-US" sz="1800" dirty="0"/>
          </a:p>
        </p:txBody>
      </p:sp>
      <p:sp>
        <p:nvSpPr>
          <p:cNvPr id="11" name="Text 9"/>
          <p:cNvSpPr/>
          <p:nvPr/>
        </p:nvSpPr>
        <p:spPr>
          <a:xfrm>
            <a:off x="4382222" y="5529486"/>
            <a:ext cx="2482349"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Arial" pitchFamily="34" charset="0"/>
                <a:ea typeface="Arial" pitchFamily="34" charset="-122"/>
                <a:cs typeface="Arial" pitchFamily="34" charset="-120"/>
              </a:rPr>
              <a:t>Scope one task</a:t>
            </a:r>
            <a:endParaRPr lang="en-US" sz="2025" dirty="0"/>
          </a:p>
        </p:txBody>
      </p:sp>
      <p:sp>
        <p:nvSpPr>
          <p:cNvPr id="12" name="Text 10"/>
          <p:cNvSpPr/>
          <p:nvPr/>
        </p:nvSpPr>
        <p:spPr>
          <a:xfrm>
            <a:off x="7066062"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3" name="Shape 11"/>
          <p:cNvSpPr/>
          <p:nvPr/>
        </p:nvSpPr>
        <p:spPr>
          <a:xfrm>
            <a:off x="7618512" y="4910361"/>
            <a:ext cx="3050977" cy="1181100"/>
          </a:xfrm>
          <a:prstGeom prst="roundRect">
            <a:avLst>
              <a:gd name="adj" fmla="val 11290"/>
            </a:avLst>
          </a:prstGeom>
          <a:solidFill>
            <a:srgbClr val="FBEBEA"/>
          </a:solidFill>
          <a:ln w="19050">
            <a:solidFill>
              <a:srgbClr val="D64545"/>
            </a:solidFill>
            <a:prstDash val="solid"/>
          </a:ln>
        </p:spPr>
        <p:txBody>
          <a:bodyPr/>
          <a:lstStyle/>
          <a:p>
            <a:endParaRPr lang="en-US"/>
          </a:p>
        </p:txBody>
      </p:sp>
      <p:sp>
        <p:nvSpPr>
          <p:cNvPr id="14" name="Text 12"/>
          <p:cNvSpPr/>
          <p:nvPr/>
        </p:nvSpPr>
        <p:spPr>
          <a:xfrm>
            <a:off x="7654558" y="5177061"/>
            <a:ext cx="2978884"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D64545"/>
                </a:solidFill>
                <a:latin typeface="Courier New" pitchFamily="34" charset="0"/>
                <a:ea typeface="Courier New" pitchFamily="34" charset="-122"/>
                <a:cs typeface="Courier New" pitchFamily="34" charset="-120"/>
              </a:rPr>
              <a:t>review diff</a:t>
            </a:r>
            <a:endParaRPr lang="en-US" sz="1800" dirty="0"/>
          </a:p>
        </p:txBody>
      </p:sp>
      <p:sp>
        <p:nvSpPr>
          <p:cNvPr id="15" name="Text 13"/>
          <p:cNvSpPr/>
          <p:nvPr/>
        </p:nvSpPr>
        <p:spPr>
          <a:xfrm>
            <a:off x="7654558" y="5529486"/>
            <a:ext cx="2978884"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Arial" pitchFamily="34" charset="0"/>
                <a:ea typeface="Arial" pitchFamily="34" charset="-122"/>
                <a:cs typeface="Arial" pitchFamily="34" charset="-120"/>
              </a:rPr>
              <a:t>Read every line</a:t>
            </a:r>
            <a:endParaRPr lang="en-US" sz="2025" dirty="0"/>
          </a:p>
        </p:txBody>
      </p:sp>
      <p:sp>
        <p:nvSpPr>
          <p:cNvPr id="16" name="Text 14"/>
          <p:cNvSpPr/>
          <p:nvPr/>
        </p:nvSpPr>
        <p:spPr>
          <a:xfrm>
            <a:off x="10821888"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17" name="Shape 15"/>
          <p:cNvSpPr/>
          <p:nvPr/>
        </p:nvSpPr>
        <p:spPr>
          <a:xfrm>
            <a:off x="11374338" y="4919886"/>
            <a:ext cx="2580531" cy="1162050"/>
          </a:xfrm>
          <a:prstGeom prst="roundRect">
            <a:avLst>
              <a:gd name="adj" fmla="val 11475"/>
            </a:avLst>
          </a:prstGeom>
          <a:ln w="9525">
            <a:solidFill>
              <a:srgbClr val="E3E1DA"/>
            </a:solidFill>
            <a:prstDash val="solid"/>
          </a:ln>
        </p:spPr>
        <p:txBody>
          <a:bodyPr/>
          <a:lstStyle/>
          <a:p>
            <a:endParaRPr lang="en-US"/>
          </a:p>
        </p:txBody>
      </p:sp>
      <p:sp>
        <p:nvSpPr>
          <p:cNvPr id="18" name="Text 16"/>
          <p:cNvSpPr/>
          <p:nvPr/>
        </p:nvSpPr>
        <p:spPr>
          <a:xfrm>
            <a:off x="11423429" y="5177061"/>
            <a:ext cx="248234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F6FEB"/>
                </a:solidFill>
                <a:latin typeface="Courier New" pitchFamily="34" charset="0"/>
                <a:ea typeface="Courier New" pitchFamily="34" charset="-122"/>
                <a:cs typeface="Courier New" pitchFamily="34" charset="-120"/>
              </a:rPr>
              <a:t>run tests</a:t>
            </a:r>
            <a:endParaRPr lang="en-US" sz="1800" dirty="0"/>
          </a:p>
        </p:txBody>
      </p:sp>
      <p:sp>
        <p:nvSpPr>
          <p:cNvPr id="19" name="Text 17"/>
          <p:cNvSpPr/>
          <p:nvPr/>
        </p:nvSpPr>
        <p:spPr>
          <a:xfrm>
            <a:off x="11423429" y="5529486"/>
            <a:ext cx="2482349"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Arial" pitchFamily="34" charset="0"/>
                <a:ea typeface="Arial" pitchFamily="34" charset="-122"/>
                <a:cs typeface="Arial" pitchFamily="34" charset="-120"/>
              </a:rPr>
              <a:t>Prove it works</a:t>
            </a:r>
            <a:endParaRPr lang="en-US" sz="2025" dirty="0"/>
          </a:p>
        </p:txBody>
      </p:sp>
      <p:sp>
        <p:nvSpPr>
          <p:cNvPr id="20" name="Text 18"/>
          <p:cNvSpPr/>
          <p:nvPr/>
        </p:nvSpPr>
        <p:spPr>
          <a:xfrm>
            <a:off x="14107269" y="5269929"/>
            <a:ext cx="476250" cy="500063"/>
          </a:xfrm>
          <a:prstGeom prst="rect">
            <a:avLst/>
          </a:prstGeom>
          <a:noFill/>
          <a:ln/>
        </p:spPr>
        <p:txBody>
          <a:bodyPr wrap="square" lIns="25400" tIns="25400" rIns="25400" bIns="25400" rtlCol="0" anchor="t">
            <a:normAutofit/>
          </a:bodyPr>
          <a:lstStyle/>
          <a:p>
            <a:pPr marL="0" indent="0" algn="l">
              <a:buNone/>
            </a:pPr>
            <a:r>
              <a:rPr lang="en-US" sz="3150" dirty="0">
                <a:solidFill>
                  <a:srgbClr val="7C7A73"/>
                </a:solidFill>
                <a:latin typeface="Arial" pitchFamily="34" charset="0"/>
                <a:ea typeface="Arial" pitchFamily="34" charset="-122"/>
                <a:cs typeface="Arial" pitchFamily="34" charset="-120"/>
              </a:rPr>
              <a:t>→</a:t>
            </a:r>
            <a:endParaRPr lang="en-US" sz="3150" dirty="0"/>
          </a:p>
        </p:txBody>
      </p:sp>
      <p:sp>
        <p:nvSpPr>
          <p:cNvPr id="21" name="Shape 19"/>
          <p:cNvSpPr/>
          <p:nvPr/>
        </p:nvSpPr>
        <p:spPr>
          <a:xfrm>
            <a:off x="14659719" y="4919886"/>
            <a:ext cx="2580531" cy="1162050"/>
          </a:xfrm>
          <a:prstGeom prst="roundRect">
            <a:avLst>
              <a:gd name="adj" fmla="val 11475"/>
            </a:avLst>
          </a:prstGeom>
          <a:ln w="9525">
            <a:solidFill>
              <a:srgbClr val="E3E1DA"/>
            </a:solidFill>
            <a:prstDash val="solid"/>
          </a:ln>
        </p:spPr>
        <p:txBody>
          <a:bodyPr/>
          <a:lstStyle/>
          <a:p>
            <a:endParaRPr lang="en-US"/>
          </a:p>
        </p:txBody>
      </p:sp>
      <p:sp>
        <p:nvSpPr>
          <p:cNvPr id="22" name="Text 20"/>
          <p:cNvSpPr/>
          <p:nvPr/>
        </p:nvSpPr>
        <p:spPr>
          <a:xfrm>
            <a:off x="14708810" y="5177061"/>
            <a:ext cx="2482349" cy="295275"/>
          </a:xfrm>
          <a:prstGeom prst="rect">
            <a:avLst/>
          </a:prstGeom>
          <a:noFill/>
          <a:ln/>
        </p:spPr>
        <p:txBody>
          <a:bodyPr wrap="square" lIns="25400" tIns="25400" rIns="25400" bIns="25400" rtlCol="0" anchor="t">
            <a:normAutofit/>
          </a:bodyPr>
          <a:lstStyle/>
          <a:p>
            <a:pPr marL="0" indent="0" algn="ctr">
              <a:buNone/>
            </a:pPr>
            <a:r>
              <a:rPr lang="en-US" sz="1800" dirty="0">
                <a:solidFill>
                  <a:srgbClr val="178A4C"/>
                </a:solidFill>
                <a:latin typeface="Courier New" pitchFamily="34" charset="0"/>
                <a:ea typeface="Courier New" pitchFamily="34" charset="-122"/>
                <a:cs typeface="Courier New" pitchFamily="34" charset="-120"/>
              </a:rPr>
              <a:t>commit</a:t>
            </a:r>
            <a:endParaRPr lang="en-US" sz="1800" dirty="0"/>
          </a:p>
        </p:txBody>
      </p:sp>
      <p:sp>
        <p:nvSpPr>
          <p:cNvPr id="23" name="Text 21"/>
          <p:cNvSpPr/>
          <p:nvPr/>
        </p:nvSpPr>
        <p:spPr>
          <a:xfrm>
            <a:off x="14708810" y="5529486"/>
            <a:ext cx="2482349"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Arial" pitchFamily="34" charset="0"/>
                <a:ea typeface="Arial" pitchFamily="34" charset="-122"/>
                <a:cs typeface="Arial" pitchFamily="34" charset="-120"/>
              </a:rPr>
              <a:t>Ship it</a:t>
            </a:r>
            <a:endParaRPr lang="en-US" sz="2025" dirty="0"/>
          </a:p>
        </p:txBody>
      </p:sp>
      <p:sp>
        <p:nvSpPr>
          <p:cNvPr id="24" name="Text 22"/>
          <p:cNvSpPr/>
          <p:nvPr/>
        </p:nvSpPr>
        <p:spPr>
          <a:xfrm>
            <a:off x="238125" y="9039225"/>
            <a:ext cx="17811750" cy="333375"/>
          </a:xfrm>
          <a:prstGeom prst="rect">
            <a:avLst/>
          </a:prstGeom>
          <a:noFill/>
          <a:ln/>
        </p:spPr>
        <p:txBody>
          <a:bodyPr wrap="square" lIns="25400" tIns="25400" rIns="25400" bIns="25400" rtlCol="0" anchor="t">
            <a:normAutofit/>
          </a:bodyPr>
          <a:lstStyle/>
          <a:p>
            <a:pPr marL="0" indent="0" algn="ctr">
              <a:buNone/>
            </a:pPr>
            <a:r>
              <a:rPr lang="en-US" sz="2025" dirty="0">
                <a:solidFill>
                  <a:srgbClr val="1A1A1A"/>
                </a:solidFill>
                <a:latin typeface="Georgia" pitchFamily="34" charset="0"/>
                <a:ea typeface="Georgia" pitchFamily="34" charset="-122"/>
                <a:cs typeface="Georgia" pitchFamily="34" charset="-120"/>
              </a:rPr>
              <a:t>The assistant types; </a:t>
            </a:r>
            <a:r>
              <a:rPr lang="en-US" sz="2025" dirty="0">
                <a:solidFill>
                  <a:srgbClr val="1A1A1A"/>
                </a:solidFill>
                <a:highlight>
                  <a:srgbClr val="FFF1A8"/>
                </a:highlight>
                <a:latin typeface="Georgia" pitchFamily="34" charset="0"/>
                <a:ea typeface="Georgia" pitchFamily="34" charset="-122"/>
                <a:cs typeface="Georgia" pitchFamily="34" charset="-120"/>
              </a:rPr>
              <a:t>the review &amp; tests keep you responsible</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25" name="Shape 23"/>
          <p:cNvSpPr/>
          <p:nvPr/>
        </p:nvSpPr>
        <p:spPr>
          <a:xfrm>
            <a:off x="1047750" y="9520238"/>
            <a:ext cx="16192500" cy="9525"/>
          </a:xfrm>
          <a:prstGeom prst="rect">
            <a:avLst/>
          </a:prstGeom>
          <a:solidFill>
            <a:srgbClr val="E3E1DA"/>
          </a:solidFill>
          <a:ln/>
        </p:spPr>
        <p:txBody>
          <a:bodyPr/>
          <a:lstStyle/>
          <a:p>
            <a:endParaRPr lang="en-US"/>
          </a:p>
        </p:txBody>
      </p:sp>
      <p:sp>
        <p:nvSpPr>
          <p:cNvPr id="26" name="Text 24"/>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7" name="Text 25"/>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236284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PLAYBOOK · 03</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Understand Code You Didn’t Write</a:t>
            </a:r>
            <a:endParaRPr lang="en-US" sz="4800" dirty="0"/>
          </a:p>
        </p:txBody>
      </p:sp>
      <p:sp>
        <p:nvSpPr>
          <p:cNvPr id="5" name="Shape 3"/>
          <p:cNvSpPr/>
          <p:nvPr/>
        </p:nvSpPr>
        <p:spPr>
          <a:xfrm>
            <a:off x="1047750" y="4650804"/>
            <a:ext cx="72390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6" name="Text 4"/>
          <p:cNvSpPr/>
          <p:nvPr/>
        </p:nvSpPr>
        <p:spPr>
          <a:xfrm>
            <a:off x="1266825" y="4812729"/>
            <a:ext cx="7018020"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give me a tour of this repo</a:t>
            </a:r>
            <a:endParaRPr lang="en-US" sz="2025" dirty="0"/>
          </a:p>
        </p:txBody>
      </p:sp>
      <p:sp>
        <p:nvSpPr>
          <p:cNvPr id="7" name="Shape 5"/>
          <p:cNvSpPr/>
          <p:nvPr/>
        </p:nvSpPr>
        <p:spPr>
          <a:xfrm>
            <a:off x="1047750" y="5398517"/>
            <a:ext cx="72390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8" name="Text 6"/>
          <p:cNvSpPr/>
          <p:nvPr/>
        </p:nvSpPr>
        <p:spPr>
          <a:xfrm>
            <a:off x="1266825" y="5560442"/>
            <a:ext cx="7018020"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how does a request flow through it?</a:t>
            </a:r>
            <a:endParaRPr lang="en-US" sz="2025" dirty="0"/>
          </a:p>
        </p:txBody>
      </p:sp>
      <p:sp>
        <p:nvSpPr>
          <p:cNvPr id="9" name="Shape 7"/>
          <p:cNvSpPr/>
          <p:nvPr/>
        </p:nvSpPr>
        <p:spPr>
          <a:xfrm>
            <a:off x="1047750" y="6146229"/>
            <a:ext cx="7239000" cy="614363"/>
          </a:xfrm>
          <a:prstGeom prst="roundRect">
            <a:avLst>
              <a:gd name="adj" fmla="val 15504"/>
            </a:avLst>
          </a:prstGeom>
          <a:solidFill>
            <a:srgbClr val="F8F7F3"/>
          </a:solidFill>
          <a:ln w="9525">
            <a:solidFill>
              <a:srgbClr val="E3E1DA"/>
            </a:solidFill>
            <a:prstDash val="solid"/>
          </a:ln>
        </p:spPr>
        <p:txBody>
          <a:bodyPr/>
          <a:lstStyle/>
          <a:p>
            <a:endParaRPr lang="en-US"/>
          </a:p>
        </p:txBody>
      </p:sp>
      <p:sp>
        <p:nvSpPr>
          <p:cNvPr id="10" name="Text 8"/>
          <p:cNvSpPr/>
          <p:nvPr/>
        </p:nvSpPr>
        <p:spPr>
          <a:xfrm>
            <a:off x="1266825" y="6308154"/>
            <a:ext cx="7018020" cy="328613"/>
          </a:xfrm>
          <a:prstGeom prst="rect">
            <a:avLst/>
          </a:prstGeom>
          <a:noFill/>
          <a:ln/>
        </p:spPr>
        <p:txBody>
          <a:bodyPr wrap="square" lIns="25400" tIns="25400" rIns="25400" bIns="25400" rtlCol="0" anchor="t">
            <a:normAutofit/>
          </a:bodyPr>
          <a:lstStyle/>
          <a:p>
            <a:pPr marL="0" indent="0" algn="l">
              <a:buNone/>
            </a:pPr>
            <a:r>
              <a:rPr lang="en-US" sz="2025" dirty="0">
                <a:solidFill>
                  <a:srgbClr val="C77D0A"/>
                </a:solidFill>
                <a:latin typeface="Courier New" pitchFamily="34" charset="0"/>
                <a:ea typeface="Courier New" pitchFamily="34" charset="-122"/>
                <a:cs typeface="Courier New" pitchFamily="34" charset="-120"/>
              </a:rPr>
              <a:t>› </a:t>
            </a:r>
            <a:r>
              <a:rPr lang="en-US" sz="2025" dirty="0">
                <a:solidFill>
                  <a:srgbClr val="1A1A1A"/>
                </a:solidFill>
                <a:highlight>
                  <a:srgbClr val="F8F7F3"/>
                </a:highlight>
                <a:latin typeface="Courier New" pitchFamily="34" charset="0"/>
                <a:ea typeface="Courier New" pitchFamily="34" charset="-122"/>
                <a:cs typeface="Courier New" pitchFamily="34" charset="-120"/>
              </a:rPr>
              <a:t>where is </a:t>
            </a:r>
            <a:r>
              <a:rPr lang="en-US" sz="2025" dirty="0">
                <a:solidFill>
                  <a:srgbClr val="3D3D3D"/>
                </a:solidFill>
                <a:latin typeface="Courier New" pitchFamily="34" charset="0"/>
                <a:ea typeface="Courier New" pitchFamily="34" charset="-122"/>
                <a:cs typeface="Courier New" pitchFamily="34" charset="-120"/>
              </a:rPr>
              <a:t>charge() </a:t>
            </a:r>
            <a:r>
              <a:rPr lang="en-US" sz="2025" dirty="0">
                <a:solidFill>
                  <a:srgbClr val="1A1A1A"/>
                </a:solidFill>
                <a:highlight>
                  <a:srgbClr val="F8F7F3"/>
                </a:highlight>
                <a:latin typeface="Courier New" pitchFamily="34" charset="0"/>
                <a:ea typeface="Courier New" pitchFamily="34" charset="-122"/>
                <a:cs typeface="Courier New" pitchFamily="34" charset="-120"/>
              </a:rPr>
              <a:t>called?</a:t>
            </a:r>
            <a:endParaRPr lang="en-US" sz="2025" dirty="0"/>
          </a:p>
        </p:txBody>
      </p:sp>
      <p:sp>
        <p:nvSpPr>
          <p:cNvPr id="11" name="Text 9"/>
          <p:cNvSpPr/>
          <p:nvPr/>
        </p:nvSpPr>
        <p:spPr>
          <a:xfrm>
            <a:off x="8820150" y="5194697"/>
            <a:ext cx="9262110"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1A1A1A"/>
                </a:solidFill>
                <a:latin typeface="Georgia" pitchFamily="34" charset="0"/>
                <a:ea typeface="Georgia" pitchFamily="34" charset="-122"/>
                <a:cs typeface="Georgia" pitchFamily="34" charset="-120"/>
              </a:rPr>
              <a:t>A day of reading → a </a:t>
            </a:r>
            <a:r>
              <a:rPr lang="en-US" sz="2700" dirty="0">
                <a:solidFill>
                  <a:srgbClr val="1A1A1A"/>
                </a:solidFill>
                <a:highlight>
                  <a:srgbClr val="FFF1A8"/>
                </a:highlight>
                <a:latin typeface="Georgia" pitchFamily="34" charset="0"/>
                <a:ea typeface="Georgia" pitchFamily="34" charset="-122"/>
                <a:cs typeface="Georgia" pitchFamily="34" charset="-120"/>
              </a:rPr>
              <a:t>10-minute tour</a:t>
            </a: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12" name="Text 10"/>
          <p:cNvSpPr/>
          <p:nvPr/>
        </p:nvSpPr>
        <p:spPr>
          <a:xfrm>
            <a:off x="8820150" y="5830937"/>
            <a:ext cx="9262110" cy="423863"/>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Huge for onboarding and for safely touching code you didn’t write.</a:t>
            </a:r>
            <a:endParaRPr lang="en-US" sz="2025" dirty="0"/>
          </a:p>
        </p:txBody>
      </p:sp>
      <p:sp>
        <p:nvSpPr>
          <p:cNvPr id="13" name="Shape 11"/>
          <p:cNvSpPr/>
          <p:nvPr/>
        </p:nvSpPr>
        <p:spPr>
          <a:xfrm>
            <a:off x="1047750" y="9520238"/>
            <a:ext cx="16192500" cy="9525"/>
          </a:xfrm>
          <a:prstGeom prst="rect">
            <a:avLst/>
          </a:prstGeom>
          <a:solidFill>
            <a:srgbClr val="E3E1DA"/>
          </a:solidFill>
          <a:ln/>
        </p:spPr>
        <p:txBody>
          <a:bodyPr/>
          <a:lstStyle/>
          <a:p>
            <a:endParaRPr lang="en-US"/>
          </a:p>
        </p:txBody>
      </p:sp>
      <p:sp>
        <p:nvSpPr>
          <p:cNvPr id="14" name="Text 12"/>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5" name="Text 13"/>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236284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PLAYBOOK · 04</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Write the Tests You Keep Skipping</a:t>
            </a:r>
            <a:endParaRPr lang="en-US" sz="4800" dirty="0"/>
          </a:p>
        </p:txBody>
      </p:sp>
      <p:sp>
        <p:nvSpPr>
          <p:cNvPr id="5" name="Shape 3"/>
          <p:cNvSpPr/>
          <p:nvPr/>
        </p:nvSpPr>
        <p:spPr>
          <a:xfrm>
            <a:off x="1047750" y="4458965"/>
            <a:ext cx="7429500" cy="2493466"/>
          </a:xfrm>
          <a:prstGeom prst="roundRect">
            <a:avLst>
              <a:gd name="adj" fmla="val 4584"/>
            </a:avLst>
          </a:prstGeom>
          <a:solidFill>
            <a:srgbClr val="1E1E26"/>
          </a:solidFill>
          <a:ln w="9525">
            <a:solidFill>
              <a:srgbClr val="33333C"/>
            </a:solidFill>
            <a:prstDash val="solid"/>
          </a:ln>
        </p:spPr>
        <p:txBody>
          <a:bodyPr/>
          <a:lstStyle/>
          <a:p>
            <a:endParaRPr lang="en-US"/>
          </a:p>
        </p:txBody>
      </p:sp>
      <p:sp>
        <p:nvSpPr>
          <p:cNvPr id="6" name="Shape 4"/>
          <p:cNvSpPr/>
          <p:nvPr/>
        </p:nvSpPr>
        <p:spPr>
          <a:xfrm>
            <a:off x="1057275" y="4468490"/>
            <a:ext cx="7410450" cy="371475"/>
          </a:xfrm>
          <a:prstGeom prst="rect">
            <a:avLst/>
          </a:prstGeom>
          <a:solidFill>
            <a:srgbClr val="2A2A34"/>
          </a:solidFill>
          <a:ln/>
        </p:spPr>
        <p:txBody>
          <a:bodyPr/>
          <a:lstStyle/>
          <a:p>
            <a:endParaRPr lang="en-US"/>
          </a:p>
        </p:txBody>
      </p:sp>
      <p:sp>
        <p:nvSpPr>
          <p:cNvPr id="7" name="Shape 5"/>
          <p:cNvSpPr/>
          <p:nvPr/>
        </p:nvSpPr>
        <p:spPr>
          <a:xfrm>
            <a:off x="1228725" y="4592315"/>
            <a:ext cx="123825" cy="123825"/>
          </a:xfrm>
          <a:prstGeom prst="ellipse">
            <a:avLst/>
          </a:prstGeom>
          <a:solidFill>
            <a:srgbClr val="E5695F"/>
          </a:solidFill>
          <a:ln/>
        </p:spPr>
        <p:txBody>
          <a:bodyPr/>
          <a:lstStyle/>
          <a:p>
            <a:endParaRPr lang="en-US"/>
          </a:p>
        </p:txBody>
      </p:sp>
      <p:sp>
        <p:nvSpPr>
          <p:cNvPr id="8" name="Shape 6"/>
          <p:cNvSpPr/>
          <p:nvPr/>
        </p:nvSpPr>
        <p:spPr>
          <a:xfrm>
            <a:off x="1438275" y="4592315"/>
            <a:ext cx="123825" cy="123825"/>
          </a:xfrm>
          <a:prstGeom prst="ellipse">
            <a:avLst/>
          </a:prstGeom>
          <a:solidFill>
            <a:srgbClr val="E6B344"/>
          </a:solidFill>
          <a:ln/>
        </p:spPr>
        <p:txBody>
          <a:bodyPr/>
          <a:lstStyle/>
          <a:p>
            <a:endParaRPr lang="en-US"/>
          </a:p>
        </p:txBody>
      </p:sp>
      <p:sp>
        <p:nvSpPr>
          <p:cNvPr id="9" name="Shape 7"/>
          <p:cNvSpPr/>
          <p:nvPr/>
        </p:nvSpPr>
        <p:spPr>
          <a:xfrm>
            <a:off x="1647825" y="4592315"/>
            <a:ext cx="123825" cy="123825"/>
          </a:xfrm>
          <a:prstGeom prst="ellipse">
            <a:avLst/>
          </a:prstGeom>
          <a:solidFill>
            <a:srgbClr val="69B06A"/>
          </a:solidFill>
          <a:ln/>
        </p:spPr>
        <p:txBody>
          <a:bodyPr/>
          <a:lstStyle/>
          <a:p>
            <a:endParaRPr lang="en-US"/>
          </a:p>
        </p:txBody>
      </p:sp>
      <p:sp>
        <p:nvSpPr>
          <p:cNvPr id="10" name="Text 8"/>
          <p:cNvSpPr/>
          <p:nvPr/>
        </p:nvSpPr>
        <p:spPr>
          <a:xfrm>
            <a:off x="1304925" y="5068565"/>
            <a:ext cx="712260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E3B341"/>
                </a:solidFill>
                <a:latin typeface="Courier New" pitchFamily="34" charset="0"/>
                <a:ea typeface="Courier New" pitchFamily="34" charset="-122"/>
                <a:cs typeface="Courier New" pitchFamily="34" charset="-120"/>
              </a:rPr>
              <a:t>› </a:t>
            </a:r>
            <a:r>
              <a:rPr lang="en-US" sz="1800" dirty="0">
                <a:solidFill>
                  <a:srgbClr val="E6E6EA"/>
                </a:solidFill>
                <a:latin typeface="Courier New" pitchFamily="34" charset="0"/>
                <a:ea typeface="Courier New" pitchFamily="34" charset="-122"/>
                <a:cs typeface="Courier New" pitchFamily="34" charset="-120"/>
              </a:rPr>
              <a:t>write tests for parse_date(), edge cases too</a:t>
            </a:r>
            <a:endParaRPr lang="en-US" sz="1800" dirty="0"/>
          </a:p>
        </p:txBody>
      </p:sp>
      <p:sp>
        <p:nvSpPr>
          <p:cNvPr id="11" name="Text 9"/>
          <p:cNvSpPr/>
          <p:nvPr/>
        </p:nvSpPr>
        <p:spPr>
          <a:xfrm>
            <a:off x="1304925" y="5480000"/>
            <a:ext cx="712260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Added tests/test_dates.py </a:t>
            </a:r>
            <a:r>
              <a:rPr lang="en-US" sz="1800" dirty="0">
                <a:solidFill>
                  <a:srgbClr val="7EE787"/>
                </a:solidFill>
                <a:latin typeface="Courier New" pitchFamily="34" charset="0"/>
                <a:ea typeface="Courier New" pitchFamily="34" charset="-122"/>
                <a:cs typeface="Courier New" pitchFamily="34" charset="-120"/>
              </a:rPr>
              <a:t>+34</a:t>
            </a:r>
            <a:endParaRPr lang="en-US" sz="1800" dirty="0"/>
          </a:p>
        </p:txBody>
      </p:sp>
      <p:sp>
        <p:nvSpPr>
          <p:cNvPr id="12" name="Text 10"/>
          <p:cNvSpPr/>
          <p:nvPr/>
        </p:nvSpPr>
        <p:spPr>
          <a:xfrm>
            <a:off x="1304925" y="5891436"/>
            <a:ext cx="712260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A8A8B3"/>
                </a:solidFill>
                <a:latin typeface="Courier New" pitchFamily="34" charset="0"/>
                <a:ea typeface="Courier New" pitchFamily="34" charset="-122"/>
                <a:cs typeface="Courier New" pitchFamily="34" charset="-120"/>
              </a:rPr>
              <a:t>empty · bad format · leap year · tz</a:t>
            </a:r>
            <a:endParaRPr lang="en-US" sz="1800" dirty="0"/>
          </a:p>
        </p:txBody>
      </p:sp>
      <p:sp>
        <p:nvSpPr>
          <p:cNvPr id="13" name="Text 11"/>
          <p:cNvSpPr/>
          <p:nvPr/>
        </p:nvSpPr>
        <p:spPr>
          <a:xfrm>
            <a:off x="1304925" y="6302871"/>
            <a:ext cx="7122605" cy="449535"/>
          </a:xfrm>
          <a:prstGeom prst="rect">
            <a:avLst/>
          </a:prstGeom>
          <a:noFill/>
          <a:ln/>
        </p:spPr>
        <p:txBody>
          <a:bodyPr wrap="square" lIns="25400" tIns="25400" rIns="25400" bIns="25400" rtlCol="0" anchor="t">
            <a:normAutofit/>
          </a:bodyPr>
          <a:lstStyle/>
          <a:p>
            <a:pPr marL="0" indent="0" algn="l">
              <a:lnSpc>
                <a:spcPct val="180000"/>
              </a:lnSpc>
              <a:buNone/>
            </a:pPr>
            <a:r>
              <a:rPr lang="en-US" sz="1800" dirty="0">
                <a:solidFill>
                  <a:srgbClr val="7EE787"/>
                </a:solidFill>
                <a:latin typeface="Courier New" pitchFamily="34" charset="0"/>
                <a:ea typeface="Courier New" pitchFamily="34" charset="-122"/>
                <a:cs typeface="Courier New" pitchFamily="34" charset="-120"/>
              </a:rPr>
              <a:t>12 passed ✓</a:t>
            </a:r>
            <a:endParaRPr lang="en-US" sz="1800" dirty="0"/>
          </a:p>
        </p:txBody>
      </p:sp>
      <p:sp>
        <p:nvSpPr>
          <p:cNvPr id="14" name="Text 12"/>
          <p:cNvSpPr/>
          <p:nvPr/>
        </p:nvSpPr>
        <p:spPr>
          <a:xfrm>
            <a:off x="9010650" y="5194697"/>
            <a:ext cx="9052560" cy="48384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1A1A1A"/>
                </a:solidFill>
                <a:latin typeface="Georgia" pitchFamily="34" charset="0"/>
                <a:ea typeface="Georgia" pitchFamily="34" charset="-122"/>
                <a:cs typeface="Georgia" pitchFamily="34" charset="-120"/>
              </a:rPr>
              <a:t>The blank-page cost is gone.</a:t>
            </a:r>
            <a:endParaRPr lang="en-US" sz="2700" dirty="0"/>
          </a:p>
        </p:txBody>
      </p:sp>
      <p:sp>
        <p:nvSpPr>
          <p:cNvPr id="15" name="Text 13"/>
          <p:cNvSpPr/>
          <p:nvPr/>
        </p:nvSpPr>
        <p:spPr>
          <a:xfrm>
            <a:off x="9010650" y="5830937"/>
            <a:ext cx="9052560" cy="423863"/>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3D3D3D"/>
                </a:solidFill>
                <a:latin typeface="Arial" pitchFamily="34" charset="0"/>
                <a:ea typeface="Arial" pitchFamily="34" charset="-122"/>
                <a:cs typeface="Arial" pitchFamily="34" charset="-120"/>
              </a:rPr>
              <a:t>Review that they assert the </a:t>
            </a:r>
            <a:r>
              <a:rPr lang="en-US" sz="2025" b="1" dirty="0">
                <a:solidFill>
                  <a:srgbClr val="1A1A1A"/>
                </a:solidFill>
                <a:latin typeface="Arial" pitchFamily="34" charset="0"/>
                <a:ea typeface="Arial" pitchFamily="34" charset="-122"/>
                <a:cs typeface="Arial" pitchFamily="34" charset="-120"/>
              </a:rPr>
              <a:t>right </a:t>
            </a:r>
            <a:r>
              <a:rPr lang="en-US" sz="2025" dirty="0">
                <a:solidFill>
                  <a:srgbClr val="3D3D3D"/>
                </a:solidFill>
                <a:latin typeface="Arial" pitchFamily="34" charset="0"/>
                <a:ea typeface="Arial" pitchFamily="34" charset="-122"/>
                <a:cs typeface="Arial" pitchFamily="34" charset="-120"/>
              </a:rPr>
              <a:t>thing — you still own correctness.</a:t>
            </a:r>
            <a:endParaRPr lang="en-US" sz="2025" dirty="0"/>
          </a:p>
        </p:txBody>
      </p:sp>
      <p:sp>
        <p:nvSpPr>
          <p:cNvPr id="16" name="Shape 14"/>
          <p:cNvSpPr/>
          <p:nvPr/>
        </p:nvSpPr>
        <p:spPr>
          <a:xfrm>
            <a:off x="1047750" y="9520238"/>
            <a:ext cx="16192500" cy="9525"/>
          </a:xfrm>
          <a:prstGeom prst="rect">
            <a:avLst/>
          </a:prstGeom>
          <a:solidFill>
            <a:srgbClr val="E3E1DA"/>
          </a:solidFill>
          <a:ln/>
        </p:spPr>
        <p:txBody>
          <a:bodyPr/>
          <a:lstStyle/>
          <a:p>
            <a:endParaRPr lang="en-US"/>
          </a:p>
        </p:txBody>
      </p:sp>
      <p:sp>
        <p:nvSpPr>
          <p:cNvPr id="17" name="Text 15"/>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8" name="Text 16"/>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txBody>
          <a:bodyPr/>
          <a:lstStyle/>
          <a:p>
            <a:endParaRPr lang="en-US"/>
          </a:p>
        </p:txBody>
      </p:sp>
      <p:sp>
        <p:nvSpPr>
          <p:cNvPr id="3" name="Text 1"/>
          <p:cNvSpPr/>
          <p:nvPr/>
        </p:nvSpPr>
        <p:spPr>
          <a:xfrm>
            <a:off x="1304925" y="800100"/>
            <a:ext cx="236284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PLAYBOOK · 05</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Automate the Boring Stuff</a:t>
            </a:r>
            <a:endParaRPr lang="en-US" sz="4800" dirty="0"/>
          </a:p>
        </p:txBody>
      </p:sp>
      <p:sp>
        <p:nvSpPr>
          <p:cNvPr id="5" name="Shape 3"/>
          <p:cNvSpPr/>
          <p:nvPr/>
        </p:nvSpPr>
        <p:spPr>
          <a:xfrm>
            <a:off x="1047750" y="6158136"/>
            <a:ext cx="5245075" cy="9525"/>
          </a:xfrm>
          <a:prstGeom prst="rect">
            <a:avLst/>
          </a:prstGeom>
          <a:solidFill>
            <a:srgbClr val="E3E1DA"/>
          </a:solidFill>
          <a:ln/>
        </p:spPr>
        <p:txBody>
          <a:bodyPr/>
          <a:lstStyle/>
          <a:p>
            <a:endParaRPr lang="en-US"/>
          </a:p>
        </p:txBody>
      </p:sp>
      <p:sp>
        <p:nvSpPr>
          <p:cNvPr id="6" name="Shape 4"/>
          <p:cNvSpPr/>
          <p:nvPr/>
        </p:nvSpPr>
        <p:spPr>
          <a:xfrm>
            <a:off x="1047750" y="4796061"/>
            <a:ext cx="5245075" cy="47625"/>
          </a:xfrm>
          <a:prstGeom prst="rect">
            <a:avLst/>
          </a:prstGeom>
          <a:solidFill>
            <a:srgbClr val="1F6FEB"/>
          </a:solidFill>
          <a:ln/>
        </p:spPr>
        <p:txBody>
          <a:bodyPr/>
          <a:lstStyle/>
          <a:p>
            <a:endParaRPr lang="en-US"/>
          </a:p>
        </p:txBody>
      </p:sp>
      <p:sp>
        <p:nvSpPr>
          <p:cNvPr id="7" name="Shape 5"/>
          <p:cNvSpPr/>
          <p:nvPr/>
        </p:nvSpPr>
        <p:spPr>
          <a:xfrm>
            <a:off x="1047750" y="4796061"/>
            <a:ext cx="9525" cy="1371600"/>
          </a:xfrm>
          <a:prstGeom prst="rect">
            <a:avLst/>
          </a:prstGeom>
          <a:solidFill>
            <a:srgbClr val="E3E1DA"/>
          </a:solidFill>
          <a:ln/>
        </p:spPr>
        <p:txBody>
          <a:bodyPr/>
          <a:lstStyle/>
          <a:p>
            <a:endParaRPr lang="en-US"/>
          </a:p>
        </p:txBody>
      </p:sp>
      <p:sp>
        <p:nvSpPr>
          <p:cNvPr id="8" name="Shape 6"/>
          <p:cNvSpPr/>
          <p:nvPr/>
        </p:nvSpPr>
        <p:spPr>
          <a:xfrm>
            <a:off x="6283300" y="4796061"/>
            <a:ext cx="9525" cy="1371600"/>
          </a:xfrm>
          <a:prstGeom prst="rect">
            <a:avLst/>
          </a:prstGeom>
          <a:solidFill>
            <a:srgbClr val="E3E1DA"/>
          </a:solidFill>
          <a:ln/>
        </p:spPr>
        <p:txBody>
          <a:bodyPr/>
          <a:lstStyle/>
          <a:p>
            <a:endParaRPr lang="en-US"/>
          </a:p>
        </p:txBody>
      </p:sp>
      <p:sp>
        <p:nvSpPr>
          <p:cNvPr id="9" name="Text 7"/>
          <p:cNvSpPr/>
          <p:nvPr/>
        </p:nvSpPr>
        <p:spPr>
          <a:xfrm>
            <a:off x="1362075" y="5129436"/>
            <a:ext cx="5078068"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Rename files</a:t>
            </a:r>
            <a:endParaRPr lang="en-US" sz="2400" dirty="0"/>
          </a:p>
        </p:txBody>
      </p:sp>
      <p:sp>
        <p:nvSpPr>
          <p:cNvPr id="10" name="Text 8"/>
          <p:cNvSpPr/>
          <p:nvPr/>
        </p:nvSpPr>
        <p:spPr>
          <a:xfrm>
            <a:off x="1362075" y="5577111"/>
            <a:ext cx="5078068"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300 files, one pattern</a:t>
            </a:r>
            <a:endParaRPr lang="en-US" sz="2025" dirty="0"/>
          </a:p>
        </p:txBody>
      </p:sp>
      <p:sp>
        <p:nvSpPr>
          <p:cNvPr id="11" name="Shape 9"/>
          <p:cNvSpPr/>
          <p:nvPr/>
        </p:nvSpPr>
        <p:spPr>
          <a:xfrm>
            <a:off x="6521425" y="6158136"/>
            <a:ext cx="5245075" cy="9525"/>
          </a:xfrm>
          <a:prstGeom prst="rect">
            <a:avLst/>
          </a:prstGeom>
          <a:solidFill>
            <a:srgbClr val="E3E1DA"/>
          </a:solidFill>
          <a:ln/>
        </p:spPr>
        <p:txBody>
          <a:bodyPr/>
          <a:lstStyle/>
          <a:p>
            <a:endParaRPr lang="en-US"/>
          </a:p>
        </p:txBody>
      </p:sp>
      <p:sp>
        <p:nvSpPr>
          <p:cNvPr id="12" name="Shape 10"/>
          <p:cNvSpPr/>
          <p:nvPr/>
        </p:nvSpPr>
        <p:spPr>
          <a:xfrm>
            <a:off x="6521425" y="4796061"/>
            <a:ext cx="5245075" cy="47625"/>
          </a:xfrm>
          <a:prstGeom prst="rect">
            <a:avLst/>
          </a:prstGeom>
          <a:solidFill>
            <a:srgbClr val="178A4C"/>
          </a:solidFill>
          <a:ln/>
        </p:spPr>
        <p:txBody>
          <a:bodyPr/>
          <a:lstStyle/>
          <a:p>
            <a:endParaRPr lang="en-US"/>
          </a:p>
        </p:txBody>
      </p:sp>
      <p:sp>
        <p:nvSpPr>
          <p:cNvPr id="13" name="Shape 11"/>
          <p:cNvSpPr/>
          <p:nvPr/>
        </p:nvSpPr>
        <p:spPr>
          <a:xfrm>
            <a:off x="6521425" y="4796061"/>
            <a:ext cx="9525" cy="1371600"/>
          </a:xfrm>
          <a:prstGeom prst="rect">
            <a:avLst/>
          </a:prstGeom>
          <a:solidFill>
            <a:srgbClr val="E3E1DA"/>
          </a:solidFill>
          <a:ln/>
        </p:spPr>
        <p:txBody>
          <a:bodyPr/>
          <a:lstStyle/>
          <a:p>
            <a:endParaRPr lang="en-US"/>
          </a:p>
        </p:txBody>
      </p:sp>
      <p:sp>
        <p:nvSpPr>
          <p:cNvPr id="14" name="Shape 12"/>
          <p:cNvSpPr/>
          <p:nvPr/>
        </p:nvSpPr>
        <p:spPr>
          <a:xfrm>
            <a:off x="11756975" y="4796061"/>
            <a:ext cx="9525" cy="1371600"/>
          </a:xfrm>
          <a:prstGeom prst="rect">
            <a:avLst/>
          </a:prstGeom>
          <a:solidFill>
            <a:srgbClr val="E3E1DA"/>
          </a:solidFill>
          <a:ln/>
        </p:spPr>
        <p:txBody>
          <a:bodyPr/>
          <a:lstStyle/>
          <a:p>
            <a:endParaRPr lang="en-US"/>
          </a:p>
        </p:txBody>
      </p:sp>
      <p:sp>
        <p:nvSpPr>
          <p:cNvPr id="15" name="Text 13"/>
          <p:cNvSpPr/>
          <p:nvPr/>
        </p:nvSpPr>
        <p:spPr>
          <a:xfrm>
            <a:off x="6835750" y="5129436"/>
            <a:ext cx="5078068"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Parse a log</a:t>
            </a:r>
            <a:endParaRPr lang="en-US" sz="2400" dirty="0"/>
          </a:p>
        </p:txBody>
      </p:sp>
      <p:sp>
        <p:nvSpPr>
          <p:cNvPr id="16" name="Text 14"/>
          <p:cNvSpPr/>
          <p:nvPr/>
        </p:nvSpPr>
        <p:spPr>
          <a:xfrm>
            <a:off x="6835750" y="5577111"/>
            <a:ext cx="5078068"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pull out the numbers</a:t>
            </a:r>
            <a:endParaRPr lang="en-US" sz="2025" dirty="0"/>
          </a:p>
        </p:txBody>
      </p:sp>
      <p:sp>
        <p:nvSpPr>
          <p:cNvPr id="17" name="Shape 15"/>
          <p:cNvSpPr/>
          <p:nvPr/>
        </p:nvSpPr>
        <p:spPr>
          <a:xfrm>
            <a:off x="11995100" y="6158136"/>
            <a:ext cx="5245150" cy="9525"/>
          </a:xfrm>
          <a:prstGeom prst="rect">
            <a:avLst/>
          </a:prstGeom>
          <a:solidFill>
            <a:srgbClr val="E3E1DA"/>
          </a:solidFill>
          <a:ln/>
        </p:spPr>
        <p:txBody>
          <a:bodyPr/>
          <a:lstStyle/>
          <a:p>
            <a:endParaRPr lang="en-US"/>
          </a:p>
        </p:txBody>
      </p:sp>
      <p:sp>
        <p:nvSpPr>
          <p:cNvPr id="18" name="Shape 16"/>
          <p:cNvSpPr/>
          <p:nvPr/>
        </p:nvSpPr>
        <p:spPr>
          <a:xfrm>
            <a:off x="11995100" y="4796061"/>
            <a:ext cx="5245150" cy="47625"/>
          </a:xfrm>
          <a:prstGeom prst="rect">
            <a:avLst/>
          </a:prstGeom>
          <a:solidFill>
            <a:srgbClr val="C77D0A"/>
          </a:solidFill>
          <a:ln/>
        </p:spPr>
        <p:txBody>
          <a:bodyPr/>
          <a:lstStyle/>
          <a:p>
            <a:endParaRPr lang="en-US"/>
          </a:p>
        </p:txBody>
      </p:sp>
      <p:sp>
        <p:nvSpPr>
          <p:cNvPr id="19" name="Shape 17"/>
          <p:cNvSpPr/>
          <p:nvPr/>
        </p:nvSpPr>
        <p:spPr>
          <a:xfrm>
            <a:off x="11995100" y="4796061"/>
            <a:ext cx="9525" cy="1371600"/>
          </a:xfrm>
          <a:prstGeom prst="rect">
            <a:avLst/>
          </a:prstGeom>
          <a:solidFill>
            <a:srgbClr val="E3E1DA"/>
          </a:solidFill>
          <a:ln/>
        </p:spPr>
        <p:txBody>
          <a:bodyPr/>
          <a:lstStyle/>
          <a:p>
            <a:endParaRPr lang="en-US"/>
          </a:p>
        </p:txBody>
      </p:sp>
      <p:sp>
        <p:nvSpPr>
          <p:cNvPr id="20" name="Shape 18"/>
          <p:cNvSpPr/>
          <p:nvPr/>
        </p:nvSpPr>
        <p:spPr>
          <a:xfrm>
            <a:off x="17230725" y="4796061"/>
            <a:ext cx="9525" cy="1371600"/>
          </a:xfrm>
          <a:prstGeom prst="rect">
            <a:avLst/>
          </a:prstGeom>
          <a:solidFill>
            <a:srgbClr val="E3E1DA"/>
          </a:solidFill>
          <a:ln/>
        </p:spPr>
        <p:txBody>
          <a:bodyPr/>
          <a:lstStyle/>
          <a:p>
            <a:endParaRPr lang="en-US"/>
          </a:p>
        </p:txBody>
      </p:sp>
      <p:sp>
        <p:nvSpPr>
          <p:cNvPr id="21" name="Text 19"/>
          <p:cNvSpPr/>
          <p:nvPr/>
        </p:nvSpPr>
        <p:spPr>
          <a:xfrm>
            <a:off x="12309425" y="5129436"/>
            <a:ext cx="5078150" cy="390525"/>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CSV → JSON</a:t>
            </a:r>
            <a:endParaRPr lang="en-US" sz="2400" dirty="0"/>
          </a:p>
        </p:txBody>
      </p:sp>
      <p:sp>
        <p:nvSpPr>
          <p:cNvPr id="22" name="Text 20"/>
          <p:cNvSpPr/>
          <p:nvPr/>
        </p:nvSpPr>
        <p:spPr>
          <a:xfrm>
            <a:off x="12309425" y="5577111"/>
            <a:ext cx="50781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7C7A73"/>
                </a:solidFill>
                <a:latin typeface="Arial" pitchFamily="34" charset="0"/>
                <a:ea typeface="Arial" pitchFamily="34" charset="-122"/>
                <a:cs typeface="Arial" pitchFamily="34" charset="-120"/>
              </a:rPr>
              <a:t>convert &amp; clean</a:t>
            </a:r>
            <a:endParaRPr lang="en-US" sz="2025" dirty="0"/>
          </a:p>
        </p:txBody>
      </p:sp>
      <p:sp>
        <p:nvSpPr>
          <p:cNvPr id="23" name="Text 21"/>
          <p:cNvSpPr/>
          <p:nvPr/>
        </p:nvSpPr>
        <p:spPr>
          <a:xfrm>
            <a:off x="1047750" y="9039225"/>
            <a:ext cx="17811750" cy="333375"/>
          </a:xfrm>
          <a:prstGeom prst="rect">
            <a:avLst/>
          </a:prstGeom>
          <a:noFill/>
          <a:ln/>
        </p:spPr>
        <p:txBody>
          <a:bodyPr wrap="square" lIns="25400" tIns="25400" rIns="25400" bIns="25400" rtlCol="0" anchor="t">
            <a:normAutofit/>
          </a:bodyPr>
          <a:lstStyle/>
          <a:p>
            <a:pPr marL="0" indent="0" algn="l">
              <a:buNone/>
            </a:pPr>
            <a:r>
              <a:rPr lang="en-US" sz="2025" dirty="0">
                <a:solidFill>
                  <a:srgbClr val="1A1A1A"/>
                </a:solidFill>
                <a:latin typeface="Georgia" pitchFamily="34" charset="0"/>
                <a:ea typeface="Georgia" pitchFamily="34" charset="-122"/>
                <a:cs typeface="Georgia" pitchFamily="34" charset="-120"/>
              </a:rPr>
              <a:t>A script in two minutes — just </a:t>
            </a:r>
            <a:r>
              <a:rPr lang="en-US" sz="2025" dirty="0">
                <a:solidFill>
                  <a:srgbClr val="1A1A1A"/>
                </a:solidFill>
                <a:highlight>
                  <a:srgbClr val="FFF1A8"/>
                </a:highlight>
                <a:latin typeface="Georgia" pitchFamily="34" charset="0"/>
                <a:ea typeface="Georgia" pitchFamily="34" charset="-122"/>
                <a:cs typeface="Georgia" pitchFamily="34" charset="-120"/>
              </a:rPr>
              <a:t>read it before you run it</a:t>
            </a: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24" name="Shape 22"/>
          <p:cNvSpPr/>
          <p:nvPr/>
        </p:nvSpPr>
        <p:spPr>
          <a:xfrm>
            <a:off x="1047750" y="9520238"/>
            <a:ext cx="16192500" cy="9525"/>
          </a:xfrm>
          <a:prstGeom prst="rect">
            <a:avLst/>
          </a:prstGeom>
          <a:solidFill>
            <a:srgbClr val="E3E1DA"/>
          </a:solidFill>
          <a:ln/>
        </p:spPr>
        <p:txBody>
          <a:bodyPr/>
          <a:lstStyle/>
          <a:p>
            <a:endParaRPr lang="en-US"/>
          </a:p>
        </p:txBody>
      </p:sp>
      <p:sp>
        <p:nvSpPr>
          <p:cNvPr id="25" name="Text 2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6" name="Text 24"/>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txBody>
          <a:bodyPr/>
          <a:lstStyle/>
          <a:p>
            <a:endParaRPr lang="en-US"/>
          </a:p>
        </p:txBody>
      </p:sp>
      <p:sp>
        <p:nvSpPr>
          <p:cNvPr id="3" name="Text 1"/>
          <p:cNvSpPr/>
          <p:nvPr/>
        </p:nvSpPr>
        <p:spPr>
          <a:xfrm>
            <a:off x="1304925" y="800100"/>
            <a:ext cx="4600850" cy="300038"/>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7C7A73"/>
                </a:solidFill>
                <a:latin typeface="Arial" pitchFamily="34" charset="0"/>
                <a:ea typeface="Arial" pitchFamily="34" charset="-122"/>
                <a:cs typeface="Arial" pitchFamily="34" charset="-120"/>
              </a:rPr>
              <a:t>WRAP-UP · ALL THREE PARTS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marL="0" indent="0" algn="l">
              <a:lnSpc>
                <a:spcPct val="104000"/>
              </a:lnSpc>
              <a:buNone/>
            </a:pPr>
            <a:r>
              <a:rPr lang="en-US" sz="4800" b="1" dirty="0">
                <a:solidFill>
                  <a:srgbClr val="1A1A1A"/>
                </a:solidFill>
                <a:latin typeface="Georgia" pitchFamily="34" charset="0"/>
                <a:ea typeface="Georgia" pitchFamily="34" charset="-122"/>
                <a:cs typeface="Georgia" pitchFamily="34" charset="-120"/>
              </a:rPr>
              <a:t>What You Can Now Do</a:t>
            </a:r>
            <a:endParaRPr lang="en-US" sz="4800" dirty="0"/>
          </a:p>
        </p:txBody>
      </p:sp>
      <p:sp>
        <p:nvSpPr>
          <p:cNvPr id="5" name="Shape 3"/>
          <p:cNvSpPr/>
          <p:nvPr/>
        </p:nvSpPr>
        <p:spPr>
          <a:xfrm>
            <a:off x="1047750" y="4624611"/>
            <a:ext cx="14287500" cy="9525"/>
          </a:xfrm>
          <a:prstGeom prst="rect">
            <a:avLst/>
          </a:prstGeom>
          <a:solidFill>
            <a:srgbClr val="E3E1DA"/>
          </a:solidFill>
          <a:ln/>
        </p:spPr>
        <p:txBody>
          <a:bodyPr/>
          <a:lstStyle/>
          <a:p>
            <a:endParaRPr lang="en-US"/>
          </a:p>
        </p:txBody>
      </p:sp>
      <p:sp>
        <p:nvSpPr>
          <p:cNvPr id="6" name="Shape 4"/>
          <p:cNvSpPr/>
          <p:nvPr/>
        </p:nvSpPr>
        <p:spPr>
          <a:xfrm>
            <a:off x="1047750" y="4124548"/>
            <a:ext cx="304800" cy="304800"/>
          </a:xfrm>
          <a:prstGeom prst="roundRect">
            <a:avLst>
              <a:gd name="adj" fmla="val 25000"/>
            </a:avLst>
          </a:prstGeom>
          <a:ln w="19050">
            <a:solidFill>
              <a:srgbClr val="178A4C"/>
            </a:solidFill>
            <a:prstDash val="solid"/>
          </a:ln>
        </p:spPr>
        <p:txBody>
          <a:bodyPr/>
          <a:lstStyle/>
          <a:p>
            <a:endParaRPr lang="en-US"/>
          </a:p>
        </p:txBody>
      </p:sp>
      <p:sp>
        <p:nvSpPr>
          <p:cNvPr id="7" name="Text 5"/>
          <p:cNvSpPr/>
          <p:nvPr/>
        </p:nvSpPr>
        <p:spPr>
          <a:xfrm>
            <a:off x="1028700" y="4143598"/>
            <a:ext cx="342900" cy="304800"/>
          </a:xfrm>
          <a:prstGeom prst="rect">
            <a:avLst/>
          </a:prstGeom>
          <a:noFill/>
          <a:ln/>
        </p:spPr>
        <p:txBody>
          <a:bodyPr wrap="square" lIns="25400" tIns="25400" rIns="25400" bIns="25400" rtlCol="0" anchor="ctr">
            <a:normAutofit/>
          </a:bodyPr>
          <a:lstStyle/>
          <a:p>
            <a:pPr marL="0" indent="0" algn="ctr">
              <a:buNone/>
            </a:pPr>
            <a:r>
              <a:rPr lang="en-US" sz="1200" b="1" dirty="0">
                <a:solidFill>
                  <a:srgbClr val="178A4C"/>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1562100" y="4100736"/>
            <a:ext cx="9094797"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Explain how an LLM works — and answer the hard questions</a:t>
            </a:r>
            <a:endParaRPr lang="en-US" sz="2400" dirty="0"/>
          </a:p>
        </p:txBody>
      </p:sp>
      <p:sp>
        <p:nvSpPr>
          <p:cNvPr id="9" name="Shape 7"/>
          <p:cNvSpPr/>
          <p:nvPr/>
        </p:nvSpPr>
        <p:spPr>
          <a:xfrm>
            <a:off x="1047750" y="5348511"/>
            <a:ext cx="14287500" cy="9525"/>
          </a:xfrm>
          <a:prstGeom prst="rect">
            <a:avLst/>
          </a:prstGeom>
          <a:solidFill>
            <a:srgbClr val="E3E1DA"/>
          </a:solidFill>
          <a:ln/>
        </p:spPr>
        <p:txBody>
          <a:bodyPr/>
          <a:lstStyle/>
          <a:p>
            <a:endParaRPr lang="en-US"/>
          </a:p>
        </p:txBody>
      </p:sp>
      <p:sp>
        <p:nvSpPr>
          <p:cNvPr id="10" name="Shape 8"/>
          <p:cNvSpPr/>
          <p:nvPr/>
        </p:nvSpPr>
        <p:spPr>
          <a:xfrm>
            <a:off x="1047750" y="4848448"/>
            <a:ext cx="304800" cy="304800"/>
          </a:xfrm>
          <a:prstGeom prst="roundRect">
            <a:avLst>
              <a:gd name="adj" fmla="val 25000"/>
            </a:avLst>
          </a:prstGeom>
          <a:ln w="19050">
            <a:solidFill>
              <a:srgbClr val="178A4C"/>
            </a:solidFill>
            <a:prstDash val="solid"/>
          </a:ln>
        </p:spPr>
        <p:txBody>
          <a:bodyPr/>
          <a:lstStyle/>
          <a:p>
            <a:endParaRPr lang="en-US"/>
          </a:p>
        </p:txBody>
      </p:sp>
      <p:sp>
        <p:nvSpPr>
          <p:cNvPr id="11" name="Text 9"/>
          <p:cNvSpPr/>
          <p:nvPr/>
        </p:nvSpPr>
        <p:spPr>
          <a:xfrm>
            <a:off x="1028700" y="4867498"/>
            <a:ext cx="342900" cy="304800"/>
          </a:xfrm>
          <a:prstGeom prst="rect">
            <a:avLst/>
          </a:prstGeom>
          <a:noFill/>
          <a:ln/>
        </p:spPr>
        <p:txBody>
          <a:bodyPr wrap="square" lIns="25400" tIns="25400" rIns="25400" bIns="25400" rtlCol="0" anchor="ctr">
            <a:normAutofit/>
          </a:bodyPr>
          <a:lstStyle/>
          <a:p>
            <a:pPr marL="0" indent="0" algn="ctr">
              <a:buNone/>
            </a:pPr>
            <a:r>
              <a:rPr lang="en-US" sz="1200" b="1" dirty="0">
                <a:solidFill>
                  <a:srgbClr val="178A4C"/>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1562100" y="4824636"/>
            <a:ext cx="6410757"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Reason about tokens, context, cost &amp; limits</a:t>
            </a:r>
            <a:endParaRPr lang="en-US" sz="2400" dirty="0"/>
          </a:p>
        </p:txBody>
      </p:sp>
      <p:sp>
        <p:nvSpPr>
          <p:cNvPr id="13" name="Shape 11"/>
          <p:cNvSpPr/>
          <p:nvPr/>
        </p:nvSpPr>
        <p:spPr>
          <a:xfrm>
            <a:off x="1047750" y="6072411"/>
            <a:ext cx="14287500" cy="9525"/>
          </a:xfrm>
          <a:prstGeom prst="rect">
            <a:avLst/>
          </a:prstGeom>
          <a:solidFill>
            <a:srgbClr val="E3E1DA"/>
          </a:solidFill>
          <a:ln/>
        </p:spPr>
        <p:txBody>
          <a:bodyPr/>
          <a:lstStyle/>
          <a:p>
            <a:endParaRPr lang="en-US"/>
          </a:p>
        </p:txBody>
      </p:sp>
      <p:sp>
        <p:nvSpPr>
          <p:cNvPr id="14" name="Shape 12"/>
          <p:cNvSpPr/>
          <p:nvPr/>
        </p:nvSpPr>
        <p:spPr>
          <a:xfrm>
            <a:off x="1047750" y="5572348"/>
            <a:ext cx="304800" cy="304800"/>
          </a:xfrm>
          <a:prstGeom prst="roundRect">
            <a:avLst>
              <a:gd name="adj" fmla="val 25000"/>
            </a:avLst>
          </a:prstGeom>
          <a:ln w="19050">
            <a:solidFill>
              <a:srgbClr val="178A4C"/>
            </a:solidFill>
            <a:prstDash val="solid"/>
          </a:ln>
        </p:spPr>
        <p:txBody>
          <a:bodyPr/>
          <a:lstStyle/>
          <a:p>
            <a:endParaRPr lang="en-US"/>
          </a:p>
        </p:txBody>
      </p:sp>
      <p:sp>
        <p:nvSpPr>
          <p:cNvPr id="15" name="Text 13"/>
          <p:cNvSpPr/>
          <p:nvPr/>
        </p:nvSpPr>
        <p:spPr>
          <a:xfrm>
            <a:off x="1028700" y="5591398"/>
            <a:ext cx="342900" cy="304800"/>
          </a:xfrm>
          <a:prstGeom prst="rect">
            <a:avLst/>
          </a:prstGeom>
          <a:noFill/>
          <a:ln/>
        </p:spPr>
        <p:txBody>
          <a:bodyPr wrap="square" lIns="25400" tIns="25400" rIns="25400" bIns="25400" rtlCol="0" anchor="ctr">
            <a:normAutofit/>
          </a:bodyPr>
          <a:lstStyle/>
          <a:p>
            <a:pPr marL="0" indent="0" algn="ctr">
              <a:buNone/>
            </a:pPr>
            <a:r>
              <a:rPr lang="en-US" sz="1200" b="1" dirty="0">
                <a:solidFill>
                  <a:srgbClr val="178A4C"/>
                </a:solidFill>
                <a:latin typeface="Arial" pitchFamily="34" charset="0"/>
                <a:ea typeface="Arial" pitchFamily="34" charset="-122"/>
                <a:cs typeface="Arial" pitchFamily="34" charset="-120"/>
              </a:rPr>
              <a:t>✓</a:t>
            </a:r>
            <a:endParaRPr lang="en-US" sz="1200" dirty="0"/>
          </a:p>
        </p:txBody>
      </p:sp>
      <p:sp>
        <p:nvSpPr>
          <p:cNvPr id="16" name="Text 14"/>
          <p:cNvSpPr/>
          <p:nvPr/>
        </p:nvSpPr>
        <p:spPr>
          <a:xfrm>
            <a:off x="1562100" y="5548536"/>
            <a:ext cx="685752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Make an API call that returns structured JSON</a:t>
            </a:r>
            <a:endParaRPr lang="en-US" sz="2400" dirty="0"/>
          </a:p>
        </p:txBody>
      </p:sp>
      <p:sp>
        <p:nvSpPr>
          <p:cNvPr id="17" name="Shape 15"/>
          <p:cNvSpPr/>
          <p:nvPr/>
        </p:nvSpPr>
        <p:spPr>
          <a:xfrm>
            <a:off x="1047750" y="6796311"/>
            <a:ext cx="14287500" cy="9525"/>
          </a:xfrm>
          <a:prstGeom prst="rect">
            <a:avLst/>
          </a:prstGeom>
          <a:solidFill>
            <a:srgbClr val="E3E1DA"/>
          </a:solidFill>
          <a:ln/>
        </p:spPr>
        <p:txBody>
          <a:bodyPr/>
          <a:lstStyle/>
          <a:p>
            <a:endParaRPr lang="en-US"/>
          </a:p>
        </p:txBody>
      </p:sp>
      <p:sp>
        <p:nvSpPr>
          <p:cNvPr id="18" name="Shape 16"/>
          <p:cNvSpPr/>
          <p:nvPr/>
        </p:nvSpPr>
        <p:spPr>
          <a:xfrm>
            <a:off x="1047750" y="6296248"/>
            <a:ext cx="304800" cy="304800"/>
          </a:xfrm>
          <a:prstGeom prst="roundRect">
            <a:avLst>
              <a:gd name="adj" fmla="val 25000"/>
            </a:avLst>
          </a:prstGeom>
          <a:ln w="19050">
            <a:solidFill>
              <a:srgbClr val="178A4C"/>
            </a:solidFill>
            <a:prstDash val="solid"/>
          </a:ln>
        </p:spPr>
        <p:txBody>
          <a:bodyPr/>
          <a:lstStyle/>
          <a:p>
            <a:endParaRPr lang="en-US"/>
          </a:p>
        </p:txBody>
      </p:sp>
      <p:sp>
        <p:nvSpPr>
          <p:cNvPr id="19" name="Text 17"/>
          <p:cNvSpPr/>
          <p:nvPr/>
        </p:nvSpPr>
        <p:spPr>
          <a:xfrm>
            <a:off x="1028700" y="6315298"/>
            <a:ext cx="342900" cy="304800"/>
          </a:xfrm>
          <a:prstGeom prst="rect">
            <a:avLst/>
          </a:prstGeom>
          <a:noFill/>
          <a:ln/>
        </p:spPr>
        <p:txBody>
          <a:bodyPr wrap="square" lIns="25400" tIns="25400" rIns="25400" bIns="25400" rtlCol="0" anchor="ctr">
            <a:normAutofit/>
          </a:bodyPr>
          <a:lstStyle/>
          <a:p>
            <a:pPr marL="0" indent="0" algn="ctr">
              <a:buNone/>
            </a:pPr>
            <a:r>
              <a:rPr lang="en-US" sz="1200" b="1" dirty="0">
                <a:solidFill>
                  <a:srgbClr val="178A4C"/>
                </a:solidFill>
                <a:latin typeface="Arial" pitchFamily="34" charset="0"/>
                <a:ea typeface="Arial" pitchFamily="34" charset="-122"/>
                <a:cs typeface="Arial" pitchFamily="34" charset="-120"/>
              </a:rPr>
              <a:t>✓</a:t>
            </a:r>
            <a:endParaRPr lang="en-US" sz="1200" dirty="0"/>
          </a:p>
        </p:txBody>
      </p:sp>
      <p:sp>
        <p:nvSpPr>
          <p:cNvPr id="20" name="Text 18"/>
          <p:cNvSpPr/>
          <p:nvPr/>
        </p:nvSpPr>
        <p:spPr>
          <a:xfrm>
            <a:off x="1562100" y="6272436"/>
            <a:ext cx="5360224"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Write clear, example-driven prompts</a:t>
            </a:r>
            <a:endParaRPr lang="en-US" sz="2400" dirty="0"/>
          </a:p>
        </p:txBody>
      </p:sp>
      <p:sp>
        <p:nvSpPr>
          <p:cNvPr id="21" name="Shape 19"/>
          <p:cNvSpPr/>
          <p:nvPr/>
        </p:nvSpPr>
        <p:spPr>
          <a:xfrm>
            <a:off x="1047750" y="7020148"/>
            <a:ext cx="304800" cy="304800"/>
          </a:xfrm>
          <a:prstGeom prst="roundRect">
            <a:avLst>
              <a:gd name="adj" fmla="val 25000"/>
            </a:avLst>
          </a:prstGeom>
          <a:ln w="19050">
            <a:solidFill>
              <a:srgbClr val="178A4C"/>
            </a:solidFill>
            <a:prstDash val="solid"/>
          </a:ln>
        </p:spPr>
        <p:txBody>
          <a:bodyPr/>
          <a:lstStyle/>
          <a:p>
            <a:endParaRPr lang="en-US"/>
          </a:p>
        </p:txBody>
      </p:sp>
      <p:sp>
        <p:nvSpPr>
          <p:cNvPr id="22" name="Text 20"/>
          <p:cNvSpPr/>
          <p:nvPr/>
        </p:nvSpPr>
        <p:spPr>
          <a:xfrm>
            <a:off x="1028700" y="7039198"/>
            <a:ext cx="342900" cy="304800"/>
          </a:xfrm>
          <a:prstGeom prst="rect">
            <a:avLst/>
          </a:prstGeom>
          <a:noFill/>
          <a:ln/>
        </p:spPr>
        <p:txBody>
          <a:bodyPr wrap="square" lIns="25400" tIns="25400" rIns="25400" bIns="25400" rtlCol="0" anchor="ctr">
            <a:normAutofit/>
          </a:bodyPr>
          <a:lstStyle/>
          <a:p>
            <a:pPr marL="0" indent="0" algn="ctr">
              <a:buNone/>
            </a:pPr>
            <a:r>
              <a:rPr lang="en-US" sz="1200" b="1" dirty="0">
                <a:solidFill>
                  <a:srgbClr val="178A4C"/>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1562100" y="6996336"/>
            <a:ext cx="6217905" cy="390525"/>
          </a:xfrm>
          <a:prstGeom prst="rect">
            <a:avLst/>
          </a:prstGeom>
          <a:noFill/>
          <a:ln/>
        </p:spPr>
        <p:txBody>
          <a:bodyPr wrap="square" lIns="25400" tIns="25400" rIns="25400" bIns="25400" rtlCol="0" anchor="t">
            <a:normAutofit/>
          </a:bodyPr>
          <a:lstStyle/>
          <a:p>
            <a:pPr marL="0" indent="0" algn="l">
              <a:buNone/>
            </a:pPr>
            <a:r>
              <a:rPr lang="en-US" sz="2400" dirty="0">
                <a:solidFill>
                  <a:srgbClr val="1A1A1A"/>
                </a:solidFill>
                <a:latin typeface="Arial" pitchFamily="34" charset="0"/>
                <a:ea typeface="Arial" pitchFamily="34" charset="-122"/>
                <a:cs typeface="Arial" pitchFamily="34" charset="-120"/>
              </a:rPr>
              <a:t>Work with an AI coding assistant — safely</a:t>
            </a:r>
            <a:endParaRPr lang="en-US" sz="2400" dirty="0"/>
          </a:p>
        </p:txBody>
      </p:sp>
      <p:sp>
        <p:nvSpPr>
          <p:cNvPr id="24" name="Shape 22"/>
          <p:cNvSpPr/>
          <p:nvPr/>
        </p:nvSpPr>
        <p:spPr>
          <a:xfrm>
            <a:off x="1047750" y="9520238"/>
            <a:ext cx="16192500" cy="9525"/>
          </a:xfrm>
          <a:prstGeom prst="rect">
            <a:avLst/>
          </a:prstGeom>
          <a:solidFill>
            <a:srgbClr val="E3E1DA"/>
          </a:solidFill>
          <a:ln/>
        </p:spPr>
        <p:txBody>
          <a:bodyPr/>
          <a:lstStyle/>
          <a:p>
            <a:endParaRPr lang="en-US"/>
          </a:p>
        </p:txBody>
      </p:sp>
      <p:sp>
        <p:nvSpPr>
          <p:cNvPr id="25" name="Text 23"/>
          <p:cNvSpPr/>
          <p:nvPr/>
        </p:nvSpPr>
        <p:spPr>
          <a:xfrm>
            <a:off x="1047750" y="9663113"/>
            <a:ext cx="4458667"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6" name="Text 24"/>
          <p:cNvSpPr/>
          <p:nvPr/>
        </p:nvSpPr>
        <p:spPr>
          <a:xfrm>
            <a:off x="15385331" y="9663113"/>
            <a:ext cx="2040411" cy="300038"/>
          </a:xfrm>
          <a:prstGeom prst="rect">
            <a:avLst/>
          </a:prstGeom>
          <a:noFill/>
          <a:ln/>
        </p:spPr>
        <p:txBody>
          <a:bodyPr wrap="square" lIns="25400" tIns="25400" rIns="25400" bIns="25400" rtlCol="0" anchor="t">
            <a:normAutofit/>
          </a:bodyPr>
          <a:lstStyle/>
          <a:p>
            <a:pPr marL="0" indent="0" algn="l">
              <a:buNone/>
            </a:pPr>
            <a:r>
              <a:rPr lang="en-US" sz="1800" dirty="0">
                <a:solidFill>
                  <a:srgbClr val="7C7A73"/>
                </a:solidFill>
                <a:latin typeface="Arial" pitchFamily="34" charset="0"/>
                <a:ea typeface="Arial" pitchFamily="34" charset="-122"/>
                <a:cs typeface="Arial" pitchFamily="34" charset="-120"/>
              </a:rPr>
              <a:t>Part 3 · Hands-On</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7F3"/>
        </a:solidFill>
        <a:effectLst/>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78A4C"/>
          </a:solidFill>
          <a:ln/>
        </p:spPr>
        <p:txBody>
          <a:bodyPr/>
          <a:lstStyle/>
          <a:p>
            <a:endParaRPr lang="en-US"/>
          </a:p>
        </p:txBody>
      </p:sp>
      <p:sp>
        <p:nvSpPr>
          <p:cNvPr id="3" name="Text 1"/>
          <p:cNvSpPr/>
          <p:nvPr/>
        </p:nvSpPr>
        <p:spPr>
          <a:xfrm>
            <a:off x="1200150" y="3531394"/>
            <a:ext cx="17644110" cy="300038"/>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7C7A73"/>
                </a:solidFill>
                <a:latin typeface="Arial" pitchFamily="34" charset="0"/>
                <a:ea typeface="Arial" pitchFamily="34" charset="-122"/>
                <a:cs typeface="Arial" pitchFamily="34" charset="-120"/>
              </a:rPr>
              <a:t>END OF THE SESSION</a:t>
            </a:r>
            <a:endParaRPr lang="en-US" sz="1800" dirty="0"/>
          </a:p>
        </p:txBody>
      </p:sp>
      <p:sp>
        <p:nvSpPr>
          <p:cNvPr id="4" name="Text 2"/>
          <p:cNvSpPr/>
          <p:nvPr/>
        </p:nvSpPr>
        <p:spPr>
          <a:xfrm>
            <a:off x="1200150" y="3926681"/>
            <a:ext cx="17644110" cy="819150"/>
          </a:xfrm>
          <a:prstGeom prst="rect">
            <a:avLst/>
          </a:prstGeom>
          <a:noFill/>
          <a:ln/>
        </p:spPr>
        <p:txBody>
          <a:bodyPr wrap="square" lIns="25400" tIns="25400" rIns="25400" bIns="25400" rtlCol="0" anchor="t">
            <a:normAutofit/>
          </a:bodyPr>
          <a:lstStyle/>
          <a:p>
            <a:pPr marL="0" indent="0" algn="l">
              <a:buNone/>
            </a:pPr>
            <a:r>
              <a:rPr lang="en-US" sz="5400" b="1" dirty="0">
                <a:solidFill>
                  <a:srgbClr val="1A1A1A"/>
                </a:solidFill>
                <a:latin typeface="Georgia" pitchFamily="34" charset="0"/>
                <a:ea typeface="Georgia" pitchFamily="34" charset="-122"/>
                <a:cs typeface="Georgia" pitchFamily="34" charset="-120"/>
              </a:rPr>
              <a:t>Keep Going</a:t>
            </a:r>
            <a:endParaRPr lang="en-US" sz="5400" dirty="0"/>
          </a:p>
        </p:txBody>
      </p:sp>
      <p:sp>
        <p:nvSpPr>
          <p:cNvPr id="5" name="Shape 3"/>
          <p:cNvSpPr/>
          <p:nvPr/>
        </p:nvSpPr>
        <p:spPr>
          <a:xfrm>
            <a:off x="1200150" y="5179219"/>
            <a:ext cx="133350" cy="133350"/>
          </a:xfrm>
          <a:prstGeom prst="roundRect">
            <a:avLst>
              <a:gd name="adj" fmla="val 28571"/>
            </a:avLst>
          </a:prstGeom>
          <a:solidFill>
            <a:srgbClr val="178A4C"/>
          </a:solidFill>
          <a:ln/>
        </p:spPr>
        <p:txBody>
          <a:bodyPr/>
          <a:lstStyle/>
          <a:p>
            <a:endParaRPr lang="en-US"/>
          </a:p>
        </p:txBody>
      </p:sp>
      <p:sp>
        <p:nvSpPr>
          <p:cNvPr id="6" name="Text 4"/>
          <p:cNvSpPr/>
          <p:nvPr/>
        </p:nvSpPr>
        <p:spPr>
          <a:xfrm>
            <a:off x="1524000" y="5055394"/>
            <a:ext cx="8774183" cy="419100"/>
          </a:xfrm>
          <a:prstGeom prst="rect">
            <a:avLst/>
          </a:prstGeom>
          <a:noFill/>
          <a:ln/>
        </p:spPr>
        <p:txBody>
          <a:bodyPr wrap="square" lIns="0" tIns="0" rIns="0" bIns="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Build one small tool this week — text → JSON is perfect</a:t>
            </a:r>
            <a:endParaRPr lang="en-US" sz="2700" dirty="0"/>
          </a:p>
        </p:txBody>
      </p:sp>
      <p:sp>
        <p:nvSpPr>
          <p:cNvPr id="7" name="Shape 5"/>
          <p:cNvSpPr/>
          <p:nvPr/>
        </p:nvSpPr>
        <p:spPr>
          <a:xfrm>
            <a:off x="1200150" y="5760244"/>
            <a:ext cx="133350" cy="133350"/>
          </a:xfrm>
          <a:prstGeom prst="roundRect">
            <a:avLst>
              <a:gd name="adj" fmla="val 28571"/>
            </a:avLst>
          </a:prstGeom>
          <a:solidFill>
            <a:srgbClr val="1F6FEB"/>
          </a:solidFill>
          <a:ln/>
        </p:spPr>
        <p:txBody>
          <a:bodyPr/>
          <a:lstStyle/>
          <a:p>
            <a:endParaRPr lang="en-US"/>
          </a:p>
        </p:txBody>
      </p:sp>
      <p:sp>
        <p:nvSpPr>
          <p:cNvPr id="8" name="Text 6"/>
          <p:cNvSpPr/>
          <p:nvPr/>
        </p:nvSpPr>
        <p:spPr>
          <a:xfrm>
            <a:off x="1524000" y="5636419"/>
            <a:ext cx="6145822" cy="419100"/>
          </a:xfrm>
          <a:prstGeom prst="rect">
            <a:avLst/>
          </a:prstGeom>
          <a:noFill/>
          <a:ln/>
        </p:spPr>
        <p:txBody>
          <a:bodyPr wrap="square" lIns="0" tIns="0" rIns="0" bIns="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Keep the provider docs open as you go</a:t>
            </a:r>
            <a:endParaRPr lang="en-US" sz="2700" dirty="0"/>
          </a:p>
        </p:txBody>
      </p:sp>
      <p:sp>
        <p:nvSpPr>
          <p:cNvPr id="9" name="Shape 7"/>
          <p:cNvSpPr/>
          <p:nvPr/>
        </p:nvSpPr>
        <p:spPr>
          <a:xfrm>
            <a:off x="1200150" y="6341269"/>
            <a:ext cx="133350" cy="133350"/>
          </a:xfrm>
          <a:prstGeom prst="roundRect">
            <a:avLst>
              <a:gd name="adj" fmla="val 28571"/>
            </a:avLst>
          </a:prstGeom>
          <a:solidFill>
            <a:srgbClr val="C77D0A"/>
          </a:solidFill>
          <a:ln/>
        </p:spPr>
        <p:txBody>
          <a:bodyPr/>
          <a:lstStyle/>
          <a:p>
            <a:endParaRPr lang="en-US"/>
          </a:p>
        </p:txBody>
      </p:sp>
      <p:sp>
        <p:nvSpPr>
          <p:cNvPr id="10" name="Text 8"/>
          <p:cNvSpPr/>
          <p:nvPr/>
        </p:nvSpPr>
        <p:spPr>
          <a:xfrm>
            <a:off x="1524000" y="6217444"/>
            <a:ext cx="7675992" cy="419100"/>
          </a:xfrm>
          <a:prstGeom prst="rect">
            <a:avLst/>
          </a:prstGeom>
          <a:noFill/>
          <a:ln/>
        </p:spPr>
        <p:txBody>
          <a:bodyPr wrap="square" lIns="0" tIns="0" rIns="0" bIns="0" rtlCol="0" anchor="t">
            <a:normAutofit/>
          </a:bodyPr>
          <a:lstStyle/>
          <a:p>
            <a:pPr marL="0" indent="0" algn="l">
              <a:buNone/>
            </a:pPr>
            <a:r>
              <a:rPr lang="en-US" sz="2700" dirty="0">
                <a:solidFill>
                  <a:srgbClr val="3D3D3D"/>
                </a:solidFill>
                <a:latin typeface="Arial" pitchFamily="34" charset="0"/>
                <a:ea typeface="Arial" pitchFamily="34" charset="-122"/>
                <a:cs typeface="Arial" pitchFamily="34" charset="-120"/>
              </a:rPr>
              <a:t>Next in the program: RAG, embeddings &amp; agents</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6405</Words>
  <Application>Microsoft Macintosh PowerPoint</Application>
  <PresentationFormat>Custom</PresentationFormat>
  <Paragraphs>695</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Amit Pandey</cp:lastModifiedBy>
  <cp:revision>2</cp:revision>
  <dcterms:created xsi:type="dcterms:W3CDTF">2026-07-05T22:51:55Z</dcterms:created>
  <dcterms:modified xsi:type="dcterms:W3CDTF">2026-07-05T22:55:49Z</dcterms:modified>
</cp:coreProperties>
</file>